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6" r:id="rId1"/>
  </p:sldMasterIdLst>
  <p:notesMasterIdLst>
    <p:notesMasterId r:id="rId81"/>
  </p:notesMasterIdLst>
  <p:handoutMasterIdLst>
    <p:handoutMasterId r:id="rId82"/>
  </p:handoutMasterIdLst>
  <p:sldIdLst>
    <p:sldId id="542" r:id="rId2"/>
    <p:sldId id="1262" r:id="rId3"/>
    <p:sldId id="309" r:id="rId4"/>
    <p:sldId id="1261" r:id="rId5"/>
    <p:sldId id="1231" r:id="rId6"/>
    <p:sldId id="1219" r:id="rId7"/>
    <p:sldId id="1190" r:id="rId8"/>
    <p:sldId id="1191" r:id="rId9"/>
    <p:sldId id="1192" r:id="rId10"/>
    <p:sldId id="1263" r:id="rId11"/>
    <p:sldId id="1264" r:id="rId12"/>
    <p:sldId id="1265" r:id="rId13"/>
    <p:sldId id="1266" r:id="rId14"/>
    <p:sldId id="1195" r:id="rId15"/>
    <p:sldId id="1220" r:id="rId16"/>
    <p:sldId id="1221" r:id="rId17"/>
    <p:sldId id="1222" r:id="rId18"/>
    <p:sldId id="1198" r:id="rId19"/>
    <p:sldId id="1278" r:id="rId20"/>
    <p:sldId id="1224" r:id="rId21"/>
    <p:sldId id="1267" r:id="rId22"/>
    <p:sldId id="1268" r:id="rId23"/>
    <p:sldId id="1276" r:id="rId24"/>
    <p:sldId id="1245" r:id="rId25"/>
    <p:sldId id="1256" r:id="rId26"/>
    <p:sldId id="1248" r:id="rId27"/>
    <p:sldId id="1241" r:id="rId28"/>
    <p:sldId id="1242" r:id="rId29"/>
    <p:sldId id="1243" r:id="rId30"/>
    <p:sldId id="1244" r:id="rId31"/>
    <p:sldId id="1277" r:id="rId32"/>
    <p:sldId id="1165" r:id="rId33"/>
    <p:sldId id="1166" r:id="rId34"/>
    <p:sldId id="1167" r:id="rId35"/>
    <p:sldId id="1168" r:id="rId36"/>
    <p:sldId id="1169" r:id="rId37"/>
    <p:sldId id="1170" r:id="rId38"/>
    <p:sldId id="1171" r:id="rId39"/>
    <p:sldId id="1269" r:id="rId40"/>
    <p:sldId id="1251" r:id="rId41"/>
    <p:sldId id="1272" r:id="rId42"/>
    <p:sldId id="1273" r:id="rId43"/>
    <p:sldId id="1279" r:id="rId44"/>
    <p:sldId id="1270" r:id="rId45"/>
    <p:sldId id="1201" r:id="rId46"/>
    <p:sldId id="1174" r:id="rId47"/>
    <p:sldId id="1173" r:id="rId48"/>
    <p:sldId id="1177" r:id="rId49"/>
    <p:sldId id="1178" r:id="rId50"/>
    <p:sldId id="1203" r:id="rId51"/>
    <p:sldId id="1204" r:id="rId52"/>
    <p:sldId id="1205" r:id="rId53"/>
    <p:sldId id="1206" r:id="rId54"/>
    <p:sldId id="1207" r:id="rId55"/>
    <p:sldId id="1208" r:id="rId56"/>
    <p:sldId id="1209" r:id="rId57"/>
    <p:sldId id="1210" r:id="rId58"/>
    <p:sldId id="1211" r:id="rId59"/>
    <p:sldId id="1257" r:id="rId60"/>
    <p:sldId id="1258" r:id="rId61"/>
    <p:sldId id="1271" r:id="rId62"/>
    <p:sldId id="1182" r:id="rId63"/>
    <p:sldId id="1183" r:id="rId64"/>
    <p:sldId id="1184" r:id="rId65"/>
    <p:sldId id="1185" r:id="rId66"/>
    <p:sldId id="1280" r:id="rId67"/>
    <p:sldId id="1175" r:id="rId68"/>
    <p:sldId id="1240" r:id="rId69"/>
    <p:sldId id="1176" r:id="rId70"/>
    <p:sldId id="1214" r:id="rId71"/>
    <p:sldId id="1275" r:id="rId72"/>
    <p:sldId id="1260" r:id="rId73"/>
    <p:sldId id="1274" r:id="rId74"/>
    <p:sldId id="1188" r:id="rId75"/>
    <p:sldId id="1164" r:id="rId76"/>
    <p:sldId id="1281" r:id="rId77"/>
    <p:sldId id="1234" r:id="rId78"/>
    <p:sldId id="1247" r:id="rId79"/>
    <p:sldId id="1246" r:id="rId80"/>
  </p:sldIdLst>
  <p:sldSz cx="9144000" cy="6858000" type="screen4x3"/>
  <p:notesSz cx="7302500" cy="9586913"/>
  <p:custDataLst>
    <p:tags r:id="rId8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0E0E0"/>
    <a:srgbClr val="FFFFFF"/>
    <a:srgbClr val="FCFCFC"/>
    <a:srgbClr val="DF9F98"/>
    <a:srgbClr val="D6CDEE"/>
    <a:srgbClr val="F7F5CD"/>
    <a:srgbClr val="FFABAA"/>
    <a:srgbClr val="B2E6B2"/>
    <a:srgbClr val="DED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1765" autoAdjust="0"/>
  </p:normalViewPr>
  <p:slideViewPr>
    <p:cSldViewPr snapToGrid="0" snapToObjects="1">
      <p:cViewPr varScale="1">
        <p:scale>
          <a:sx n="88" d="100"/>
          <a:sy n="88" d="100"/>
        </p:scale>
        <p:origin x="747" y="63"/>
      </p:cViewPr>
      <p:guideLst>
        <p:guide orient="horz" pos="1728"/>
        <p:guide pos="2880"/>
      </p:guideLst>
    </p:cSldViewPr>
  </p:slideViewPr>
  <p:outlineViewPr>
    <p:cViewPr>
      <p:scale>
        <a:sx n="33" d="100"/>
        <a:sy n="33" d="100"/>
      </p:scale>
      <p:origin x="0" y="-25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em:cpumemgap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8880015299171499"/>
          <c:y val="6.0185185185185203E-2"/>
          <c:w val="0.51180020900165302"/>
          <c:h val="0.80722222222222195"/>
        </c:manualLayout>
      </c:layout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Disk seek time</c:v>
                </c:pt>
              </c:strCache>
            </c:strRef>
          </c:tx>
          <c:spPr>
            <a:ln w="12700" cmpd="sng">
              <a:solidFill>
                <a:schemeClr val="tx1"/>
              </a:solidFill>
            </a:ln>
          </c:spPr>
          <c:marker>
            <c:symbol val="diamond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data!$B$2:$B$9</c:f>
              <c:numCache>
                <c:formatCode>#,##0</c:formatCode>
                <c:ptCount val="8"/>
                <c:pt idx="0">
                  <c:v>75000000</c:v>
                </c:pt>
                <c:pt idx="1">
                  <c:v>28000000</c:v>
                </c:pt>
                <c:pt idx="2">
                  <c:v>10000000</c:v>
                </c:pt>
                <c:pt idx="3">
                  <c:v>8000000</c:v>
                </c:pt>
                <c:pt idx="4">
                  <c:v>6000000</c:v>
                </c:pt>
                <c:pt idx="5">
                  <c:v>5000000</c:v>
                </c:pt>
                <c:pt idx="6">
                  <c:v>3000000</c:v>
                </c:pt>
                <c:pt idx="7">
                  <c:v>3000000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3D-4F53-ADEF-057536934544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SSD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triang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data!$C$2:$C$9</c:f>
              <c:numCache>
                <c:formatCode>General</c:formatCode>
                <c:ptCount val="8"/>
                <c:pt idx="7" formatCode="#,##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3D-4F53-ADEF-057536934544}"/>
            </c:ext>
          </c:extLst>
        </c:ser>
        <c:ser>
          <c:idx val="3"/>
          <c:order val="2"/>
          <c:tx>
            <c:strRef>
              <c:f>data!$D$1</c:f>
              <c:strCache>
                <c:ptCount val="1"/>
                <c:pt idx="0">
                  <c:v>DRAM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data!$D$2:$D$9</c:f>
              <c:numCache>
                <c:formatCode>#,##0</c:formatCode>
                <c:ptCount val="8"/>
                <c:pt idx="0" formatCode="General">
                  <c:v>200</c:v>
                </c:pt>
                <c:pt idx="1">
                  <c:v>100</c:v>
                </c:pt>
                <c:pt idx="2" formatCode="General">
                  <c:v>70</c:v>
                </c:pt>
                <c:pt idx="3" formatCode="General">
                  <c:v>60</c:v>
                </c:pt>
                <c:pt idx="4" formatCode="General">
                  <c:v>55</c:v>
                </c:pt>
                <c:pt idx="5" formatCode="General">
                  <c:v>50</c:v>
                </c:pt>
                <c:pt idx="6" formatCode="General">
                  <c:v>40</c:v>
                </c:pt>
                <c:pt idx="7" formatCode="General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53D-4F53-ADEF-057536934544}"/>
            </c:ext>
          </c:extLst>
        </c:ser>
        <c:ser>
          <c:idx val="4"/>
          <c:order val="3"/>
          <c:tx>
            <c:strRef>
              <c:f>data!$E$1</c:f>
              <c:strCache>
                <c:ptCount val="1"/>
                <c:pt idx="0">
                  <c:v>SRAM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data!$E$2:$E$9</c:f>
              <c:numCache>
                <c:formatCode>General</c:formatCode>
                <c:ptCount val="8"/>
                <c:pt idx="0">
                  <c:v>150</c:v>
                </c:pt>
                <c:pt idx="1">
                  <c:v>35</c:v>
                </c:pt>
                <c:pt idx="2">
                  <c:v>15</c:v>
                </c:pt>
                <c:pt idx="3">
                  <c:v>3</c:v>
                </c:pt>
                <c:pt idx="4">
                  <c:v>2.5</c:v>
                </c:pt>
                <c:pt idx="5">
                  <c:v>2</c:v>
                </c:pt>
                <c:pt idx="6">
                  <c:v>1.5</c:v>
                </c:pt>
                <c:pt idx="7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53D-4F53-ADEF-057536934544}"/>
            </c:ext>
          </c:extLst>
        </c:ser>
        <c:ser>
          <c:idx val="5"/>
          <c:order val="4"/>
          <c:tx>
            <c:strRef>
              <c:f>data!$F$1</c:f>
              <c:strCache>
                <c:ptCount val="1"/>
                <c:pt idx="0">
                  <c:v>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data!$F$2:$F$9</c:f>
              <c:numCache>
                <c:formatCode>General</c:formatCode>
                <c:ptCount val="8"/>
                <c:pt idx="0">
                  <c:v>166</c:v>
                </c:pt>
                <c:pt idx="1">
                  <c:v>50</c:v>
                </c:pt>
                <c:pt idx="2">
                  <c:v>6</c:v>
                </c:pt>
                <c:pt idx="3">
                  <c:v>1.6</c:v>
                </c:pt>
                <c:pt idx="4">
                  <c:v>0.3</c:v>
                </c:pt>
                <c:pt idx="5">
                  <c:v>0.5</c:v>
                </c:pt>
                <c:pt idx="6">
                  <c:v>0.4</c:v>
                </c:pt>
                <c:pt idx="7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53D-4F53-ADEF-057536934544}"/>
            </c:ext>
          </c:extLst>
        </c:ser>
        <c:ser>
          <c:idx val="6"/>
          <c:order val="5"/>
          <c:tx>
            <c:strRef>
              <c:f>data!$G$1</c:f>
              <c:strCache>
                <c:ptCount val="1"/>
                <c:pt idx="0">
                  <c:v>Effective 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data!$G$2:$G$9</c:f>
              <c:numCache>
                <c:formatCode>General</c:formatCode>
                <c:ptCount val="8"/>
                <c:pt idx="4">
                  <c:v>0.3</c:v>
                </c:pt>
                <c:pt idx="5">
                  <c:v>0.25</c:v>
                </c:pt>
                <c:pt idx="6">
                  <c:v>0.1</c:v>
                </c:pt>
                <c:pt idx="7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53D-4F53-ADEF-057536934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5329232"/>
        <c:axId val="1385329776"/>
      </c:lineChart>
      <c:catAx>
        <c:axId val="13853292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txPr>
          <a:bodyPr rot="0" vert="horz" anchor="ctr" anchorCtr="1"/>
          <a:lstStyle/>
          <a:p>
            <a:pPr>
              <a:defRPr/>
            </a:pPr>
            <a:endParaRPr lang="zh-CN"/>
          </a:p>
        </c:txPr>
        <c:crossAx val="1385329776"/>
        <c:crossesAt val="0"/>
        <c:auto val="1"/>
        <c:lblAlgn val="ctr"/>
        <c:lblOffset val="100"/>
        <c:noMultiLvlLbl val="0"/>
      </c:catAx>
      <c:valAx>
        <c:axId val="1385329776"/>
        <c:scaling>
          <c:logBase val="10"/>
          <c:orientation val="minMax"/>
          <c:min val="0.0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(ns)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crossAx val="1385329232"/>
        <c:crosses val="autoZero"/>
        <c:crossBetween val="between"/>
        <c:minorUnit val="10"/>
      </c:valAx>
      <c:spPr>
        <a:ln>
          <a:noFill/>
        </a:ln>
      </c:spPr>
    </c:plotArea>
    <c:legend>
      <c:legendPos val="r"/>
      <c:overlay val="0"/>
      <c:spPr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zh-CN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3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24FA-F68E-3B37-34F8-08B813CB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7C003-9A2B-6029-AA3F-D574FF24C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623AD-2BA1-00BE-9A7B-8EA815C2D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03CD6-FA4A-40B0-6FE5-5FF46B87F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23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28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60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68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4979-DD12-B4C4-7BF0-7B25DAEE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4C47E978-F846-4A54-1B2F-5213289C0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10D3315D-7598-4D8A-7BC4-4B442C0F9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00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EAD9-BDA8-30C2-A184-E35135DA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E6D2A-1C7F-0D0C-48DF-FDDC45A02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FBEC1-CF19-93F1-C42B-FDFDD3EEB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E69EF-E447-8DCD-D8C7-D19B04F5C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46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5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77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64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8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6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F7FB3-BBF6-72B4-1BE3-9BC6ABEE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>
            <a:extLst>
              <a:ext uri="{FF2B5EF4-FFF2-40B4-BE49-F238E27FC236}">
                <a16:creationId xmlns:a16="http://schemas.microsoft.com/office/drawing/2014/main" id="{F575416F-B3AF-44BC-94FB-A599E8CC1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AE0E35F-5E8E-BDC0-A0F3-0B84305F37C5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088" tIns="47544" rIns="95088" bIns="47544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3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7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088" tIns="47544" rIns="95088" bIns="47544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41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B99DE-A0DE-0A5C-7A9C-7BE27FE6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17220AF6-46E1-805D-FAE7-73FB1C95E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9BD6C25-550D-13B9-CF29-9772EFD218BC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088" tIns="47544" rIns="95088" bIns="47544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3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02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19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14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72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10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18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64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44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75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38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18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541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400050"/>
            <a:ext cx="4792663" cy="3594100"/>
          </a:xfrm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123" y="4247554"/>
            <a:ext cx="6952232" cy="518034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18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Cylinder</a:t>
            </a:r>
            <a:r>
              <a:rPr lang="zh-CN" altLang="en-US" dirty="0"/>
              <a:t>： 柱面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198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Sector </a:t>
            </a:r>
            <a:r>
              <a:rPr lang="zh-CN" altLang="en-US" dirty="0"/>
              <a:t>扇区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334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7328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461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058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638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529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476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75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977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282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271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0313" y="711200"/>
            <a:ext cx="4833937" cy="3624263"/>
          </a:xfrm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1202" y="4572145"/>
            <a:ext cx="5386817" cy="4331160"/>
          </a:xfrm>
          <a:noFill/>
          <a:ln/>
        </p:spPr>
        <p:txBody>
          <a:bodyPr lIns="94886" tIns="47442" rIns="94886" bIns="47442"/>
          <a:lstStyle/>
          <a:p>
            <a:r>
              <a:rPr lang="en-US"/>
              <a:t>Goal:</a:t>
            </a:r>
          </a:p>
          <a:p>
            <a:r>
              <a:rPr lang="en-US"/>
              <a:t>	Show the inefficeincy of current disk requests.</a:t>
            </a:r>
          </a:p>
          <a:p>
            <a:r>
              <a:rPr lang="en-US"/>
              <a:t>Conveyed Ideas:</a:t>
            </a:r>
          </a:p>
          <a:p>
            <a:r>
              <a:rPr lang="en-US"/>
              <a:t>	Rotational latency is wasted time that can be used to service tasks</a:t>
            </a:r>
          </a:p>
          <a:p>
            <a:r>
              <a:rPr lang="en-US"/>
              <a:t>Background Information:</a:t>
            </a:r>
          </a:p>
          <a:p>
            <a:r>
              <a:rPr lang="en-US"/>
              <a:t>	None.</a:t>
            </a:r>
          </a:p>
          <a:p>
            <a:r>
              <a:rPr lang="en-US"/>
              <a:t>Slide Background:</a:t>
            </a:r>
          </a:p>
          <a:p>
            <a:r>
              <a:rPr lang="en-US"/>
              <a:t>	None.</a:t>
            </a:r>
          </a:p>
          <a:p>
            <a:endParaRPr lang="en-US"/>
          </a:p>
          <a:p>
            <a:r>
              <a:rPr lang="en-US"/>
              <a:t>Kill text and arrows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459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263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15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437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3450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980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527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981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082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885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3253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492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5764-B0DE-3E91-9C4B-CAECFC2B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D9E69-FF08-189E-D182-12CBC314D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4078F-B4B4-79F3-E227-572C9AAD9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A92DD-A2C7-95BC-6AD5-8AAEC78BA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660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14429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09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137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3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30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9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4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6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80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413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089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9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6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、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3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2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486400" y="-26988"/>
            <a:ext cx="3721101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Introduction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to Computer Systems,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Peking University </a:t>
            </a:r>
          </a:p>
        </p:txBody>
      </p:sp>
    </p:spTree>
    <p:extLst>
      <p:ext uri="{BB962C8B-B14F-4D97-AF65-F5344CB8AC3E}">
        <p14:creationId xmlns:p14="http://schemas.microsoft.com/office/powerpoint/2010/main" val="106334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ssd.userbenchmark.com/SpeedTest/711305/Samsung-SSD-970-EVO-Plus-250GB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631950"/>
            <a:ext cx="7772400" cy="1644650"/>
          </a:xfrm>
        </p:spPr>
        <p:txBody>
          <a:bodyPr/>
          <a:lstStyle/>
          <a:p>
            <a:pPr marL="0" indent="0"/>
            <a:r>
              <a:rPr lang="en-US" dirty="0"/>
              <a:t>The Memory Hierarchy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Introduction to Computer Systems</a:t>
            </a:r>
            <a:br>
              <a:rPr lang="en-US" b="0" dirty="0"/>
            </a:br>
            <a:r>
              <a:rPr lang="en-US" sz="2000" b="0" dirty="0"/>
              <a:t>12</a:t>
            </a:r>
            <a:r>
              <a:rPr lang="en-US" sz="2000" b="0" baseline="30000" dirty="0"/>
              <a:t>th</a:t>
            </a:r>
            <a:r>
              <a:rPr lang="en-US" sz="2000" b="0" dirty="0"/>
              <a:t> Lecture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65CA-D41B-F9AE-AE77-65960FC7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ABB3-117E-FADF-DD26-3FC48231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Q</a:t>
            </a:r>
            <a:r>
              <a:rPr lang="zh-CN" altLang="en-US" dirty="0"/>
              <a:t>：为什么</a:t>
            </a:r>
            <a:r>
              <a:rPr lang="en-US" altLang="zh-CN" dirty="0"/>
              <a:t>CSAPP</a:t>
            </a:r>
            <a:r>
              <a:rPr lang="zh-CN" altLang="en-US" dirty="0"/>
              <a:t>把最困难的内容放到课程开始，而把简单的内容放到后面？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：因为作者们深刻理解了浮点数的舍入误差，这样可以最小化课程的总难度。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5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78" y="0"/>
            <a:ext cx="4713766" cy="670113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574DD0-3CB1-894E-0673-B97411015A8B}"/>
              </a:ext>
            </a:extLst>
          </p:cNvPr>
          <p:cNvSpPr txBox="1"/>
          <p:nvPr/>
        </p:nvSpPr>
        <p:spPr>
          <a:xfrm>
            <a:off x="4729074" y="886351"/>
            <a:ext cx="45776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DDR5 memory access latency: avg. 70 ns</a:t>
            </a:r>
          </a:p>
          <a:p>
            <a:endParaRPr lang="en-US" sz="2000" dirty="0">
              <a:latin typeface="Calibri" pitchFamily="34" charset="0"/>
            </a:endParaRPr>
          </a:p>
          <a:p>
            <a:r>
              <a:rPr lang="en-US" altLang="zh-CN" sz="2000" dirty="0">
                <a:latin typeface="Calibri" pitchFamily="34" charset="0"/>
              </a:rPr>
              <a:t>Modern </a:t>
            </a:r>
            <a:r>
              <a:rPr lang="en-US" sz="2000" dirty="0">
                <a:latin typeface="Calibri" pitchFamily="34" charset="0"/>
              </a:rPr>
              <a:t>CPU clock length: 0.3ns</a:t>
            </a:r>
          </a:p>
          <a:p>
            <a:endParaRPr lang="en-US" sz="2000" dirty="0">
              <a:latin typeface="Calibri" pitchFamily="34" charset="0"/>
            </a:endParaRPr>
          </a:p>
          <a:p>
            <a:r>
              <a:rPr lang="en-US" sz="2000" dirty="0">
                <a:latin typeface="Calibri" pitchFamily="34" charset="0"/>
              </a:rPr>
              <a:t>How can the access to DRAM be done </a:t>
            </a:r>
          </a:p>
          <a:p>
            <a:r>
              <a:rPr lang="en-US" sz="2000" dirty="0">
                <a:latin typeface="Calibri" pitchFamily="34" charset="0"/>
              </a:rPr>
              <a:t>in one cycle? </a:t>
            </a:r>
          </a:p>
        </p:txBody>
      </p:sp>
    </p:spTree>
    <p:extLst>
      <p:ext uri="{BB962C8B-B14F-4D97-AF65-F5344CB8AC3E}">
        <p14:creationId xmlns:p14="http://schemas.microsoft.com/office/powerpoint/2010/main" val="126372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38A2-DC1D-6D45-9831-E1976BB5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4E50-A288-C107-766E-8A34B7B6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B933-CF73-43A0-1030-02A41B2F1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/>
              <a:t>Program exhibits locality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Cache exploits locality (more in the next lecture)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Faster storage devices stores less data and are more expensive, and vice versa.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61584-96E2-815B-30ED-6A84435B98B9}"/>
              </a:ext>
            </a:extLst>
          </p:cNvPr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4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177382" cy="762000"/>
          </a:xfrm>
        </p:spPr>
        <p:txBody>
          <a:bodyPr/>
          <a:lstStyle/>
          <a:p>
            <a:r>
              <a:rPr lang="en-US" dirty="0"/>
              <a:t>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rgbClr val="C00000"/>
                </a:solidFill>
              </a:rPr>
              <a:t>The locality Principle:</a:t>
            </a:r>
            <a:r>
              <a:rPr lang="en-US" dirty="0"/>
              <a:t> </a:t>
            </a:r>
            <a:r>
              <a:rPr lang="en-GB" dirty="0"/>
              <a:t>Programs tend to use data and instructions with addresses near or equal to those they have used recently</a:t>
            </a: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Temporal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Recently referenced items are likely </a:t>
            </a:r>
            <a:br>
              <a:rPr lang="en-GB" dirty="0"/>
            </a:br>
            <a:r>
              <a:rPr lang="en-GB" dirty="0"/>
              <a:t>to be referenced again in the near future</a:t>
            </a: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Spatial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Items with nearby addresses tend </a:t>
            </a:r>
            <a:br>
              <a:rPr lang="en-GB" dirty="0"/>
            </a:br>
            <a:r>
              <a:rPr lang="en-GB" dirty="0"/>
              <a:t>to be referenced close together in time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096000" y="3124200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489700" y="312420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6319056" y="2614411"/>
            <a:ext cx="627844" cy="433589"/>
          </a:xfrm>
          <a:custGeom>
            <a:avLst/>
            <a:gdLst>
              <a:gd name="connsiteX0" fmla="*/ 290847 w 627844"/>
              <a:gd name="connsiteY0" fmla="*/ 433589 h 433589"/>
              <a:gd name="connsiteX1" fmla="*/ 46149 w 627844"/>
              <a:gd name="connsiteY1" fmla="*/ 72980 h 433589"/>
              <a:gd name="connsiteX2" fmla="*/ 567743 w 627844"/>
              <a:gd name="connsiteY2" fmla="*/ 60101 h 433589"/>
              <a:gd name="connsiteX3" fmla="*/ 406757 w 627844"/>
              <a:gd name="connsiteY3" fmla="*/ 433589 h 43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844" h="433589">
                <a:moveTo>
                  <a:pt x="290847" y="433589"/>
                </a:moveTo>
                <a:cubicBezTo>
                  <a:pt x="145423" y="284408"/>
                  <a:pt x="0" y="135228"/>
                  <a:pt x="46149" y="72980"/>
                </a:cubicBezTo>
                <a:cubicBezTo>
                  <a:pt x="92298" y="10732"/>
                  <a:pt x="507642" y="0"/>
                  <a:pt x="567743" y="60101"/>
                </a:cubicBezTo>
                <a:cubicBezTo>
                  <a:pt x="627844" y="120202"/>
                  <a:pt x="517300" y="276895"/>
                  <a:pt x="406757" y="433589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6102261" y="4616940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495961" y="461694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870700" y="461694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6416720" y="4186571"/>
            <a:ext cx="841420" cy="359535"/>
          </a:xfrm>
          <a:custGeom>
            <a:avLst/>
            <a:gdLst>
              <a:gd name="connsiteX0" fmla="*/ 200695 w 841420"/>
              <a:gd name="connsiteY0" fmla="*/ 353095 h 359535"/>
              <a:gd name="connsiteX1" fmla="*/ 91225 w 841420"/>
              <a:gd name="connsiteY1" fmla="*/ 56881 h 359535"/>
              <a:gd name="connsiteX2" fmla="*/ 748048 w 841420"/>
              <a:gd name="connsiteY2" fmla="*/ 50442 h 359535"/>
              <a:gd name="connsiteX3" fmla="*/ 651456 w 841420"/>
              <a:gd name="connsiteY3" fmla="*/ 359535 h 35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1420" h="359535">
                <a:moveTo>
                  <a:pt x="200695" y="353095"/>
                </a:moveTo>
                <a:cubicBezTo>
                  <a:pt x="100347" y="230209"/>
                  <a:pt x="0" y="107323"/>
                  <a:pt x="91225" y="56881"/>
                </a:cubicBezTo>
                <a:cubicBezTo>
                  <a:pt x="182450" y="6439"/>
                  <a:pt x="654676" y="0"/>
                  <a:pt x="748048" y="50442"/>
                </a:cubicBezTo>
                <a:cubicBezTo>
                  <a:pt x="841420" y="100884"/>
                  <a:pt x="746438" y="230209"/>
                  <a:pt x="651456" y="359535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6" y="2946142"/>
            <a:ext cx="5318124" cy="2768858"/>
          </a:xfrm>
        </p:spPr>
        <p:txBody>
          <a:bodyPr/>
          <a:lstStyle/>
          <a:p>
            <a:r>
              <a:rPr lang="en-US" dirty="0"/>
              <a:t>Data references</a:t>
            </a:r>
          </a:p>
          <a:p>
            <a:pPr lvl="1"/>
            <a:r>
              <a:rPr lang="en-US" dirty="0"/>
              <a:t>Reference array elements in succession: accessing a[</a:t>
            </a:r>
            <a:r>
              <a:rPr lang="en-US" dirty="0" err="1"/>
              <a:t>i</a:t>
            </a:r>
            <a:r>
              <a:rPr lang="en-US" dirty="0"/>
              <a:t>] means e.g., a[i-1], and a[i+1] are likely to be referenced </a:t>
            </a:r>
          </a:p>
          <a:p>
            <a:pPr lvl="1"/>
            <a:r>
              <a:rPr lang="en-US" dirty="0"/>
              <a:t>Reference variable </a:t>
            </a:r>
            <a:r>
              <a:rPr lang="en-US" dirty="0">
                <a:latin typeface="Courier New"/>
                <a:cs typeface="Courier New"/>
              </a:rPr>
              <a:t>sum</a:t>
            </a:r>
            <a:r>
              <a:rPr lang="en-US" dirty="0"/>
              <a:t> each iteration.</a:t>
            </a:r>
          </a:p>
          <a:p>
            <a:r>
              <a:rPr lang="en-US" dirty="0"/>
              <a:t>Instruction references</a:t>
            </a:r>
          </a:p>
          <a:p>
            <a:pPr lvl="1"/>
            <a:r>
              <a:rPr lang="en-US" dirty="0"/>
              <a:t>Reference instructions in sequence.</a:t>
            </a:r>
          </a:p>
          <a:p>
            <a:pPr lvl="1"/>
            <a:r>
              <a:rPr lang="en-US" dirty="0"/>
              <a:t>Cycle through loop repeatedly. </a:t>
            </a:r>
          </a:p>
          <a:p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049587" y="1651000"/>
            <a:ext cx="3044825" cy="1092200"/>
          </a:xfrm>
          <a:prstGeom prst="rect">
            <a:avLst/>
          </a:prstGeom>
          <a:solidFill>
            <a:srgbClr val="F7F5CD"/>
          </a:solidFill>
          <a:ln w="12700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1600" dirty="0">
                <a:latin typeface="Courier New" charset="0"/>
              </a:rPr>
              <a:t>sum = 0;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1600" dirty="0">
                <a:latin typeface="Courier New" charset="0"/>
              </a:rPr>
              <a:t>for (</a:t>
            </a:r>
            <a:r>
              <a:rPr lang="en-US" sz="1600" dirty="0" err="1">
                <a:latin typeface="Courier New" charset="0"/>
              </a:rPr>
              <a:t>i</a:t>
            </a:r>
            <a:r>
              <a:rPr lang="en-US" sz="1600" dirty="0">
                <a:latin typeface="Courier New" charset="0"/>
              </a:rPr>
              <a:t> = 0; </a:t>
            </a:r>
            <a:r>
              <a:rPr lang="en-US" sz="1600" dirty="0" err="1">
                <a:latin typeface="Courier New" charset="0"/>
              </a:rPr>
              <a:t>i</a:t>
            </a:r>
            <a:r>
              <a:rPr lang="en-US" sz="1600" dirty="0">
                <a:latin typeface="Courier New" charset="0"/>
              </a:rPr>
              <a:t> &lt; </a:t>
            </a:r>
            <a:r>
              <a:rPr lang="en-US" sz="1600" dirty="0" err="1">
                <a:latin typeface="Courier New" charset="0"/>
              </a:rPr>
              <a:t>n</a:t>
            </a:r>
            <a:r>
              <a:rPr lang="en-US" sz="1600" dirty="0">
                <a:latin typeface="Courier New" charset="0"/>
              </a:rPr>
              <a:t>; </a:t>
            </a:r>
            <a:r>
              <a:rPr lang="en-US" sz="1600" dirty="0" err="1">
                <a:latin typeface="Courier New" charset="0"/>
              </a:rPr>
              <a:t>i</a:t>
            </a:r>
            <a:r>
              <a:rPr lang="en-US" sz="16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1600" dirty="0">
                <a:latin typeface="Courier New" charset="0"/>
              </a:rPr>
              <a:t>	sum += </a:t>
            </a:r>
            <a:r>
              <a:rPr lang="en-US" sz="1600" dirty="0" err="1">
                <a:latin typeface="Courier New" charset="0"/>
              </a:rPr>
              <a:t>a[i</a:t>
            </a:r>
            <a:r>
              <a:rPr lang="en-US" sz="1600" dirty="0"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1600" dirty="0">
                <a:latin typeface="Courier New" charset="0"/>
              </a:rPr>
              <a:t>return sum;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999" y="3505200"/>
            <a:ext cx="2045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Spatial locality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329256"/>
            <a:ext cx="2369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Temporal locality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5153312"/>
            <a:ext cx="2045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Spatial locality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607550"/>
            <a:ext cx="2369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Temporal locality</a:t>
            </a:r>
          </a:p>
        </p:txBody>
      </p:sp>
    </p:spTree>
    <p:extLst>
      <p:ext uri="{BB962C8B-B14F-4D97-AF65-F5344CB8AC3E}">
        <p14:creationId xmlns:p14="http://schemas.microsoft.com/office/powerpoint/2010/main" val="34284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1" name="Rectangle 1029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177382" cy="762000"/>
          </a:xfrm>
        </p:spPr>
        <p:txBody>
          <a:bodyPr/>
          <a:lstStyle/>
          <a:p>
            <a:r>
              <a:rPr lang="en-US" dirty="0"/>
              <a:t>Qualitative Estimates of Locality</a:t>
            </a:r>
          </a:p>
        </p:txBody>
      </p:sp>
      <p:sp>
        <p:nvSpPr>
          <p:cNvPr id="132102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Claim:</a:t>
            </a:r>
            <a:r>
              <a:rPr lang="en-US" dirty="0"/>
              <a:t> Being able to look at code and get a qualitative sense of its locality is a key skill for a professional programmer.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Question:</a:t>
            </a:r>
            <a:r>
              <a:rPr lang="en-US" dirty="0"/>
              <a:t> Does this function have good locality with respect to array </a:t>
            </a:r>
            <a:r>
              <a:rPr lang="en-US" b="0" dirty="0">
                <a:latin typeface="Courier New"/>
                <a:cs typeface="Courier New"/>
              </a:rPr>
              <a:t>a</a:t>
            </a:r>
            <a:r>
              <a:rPr lang="en-US" dirty="0"/>
              <a:t>?</a:t>
            </a:r>
          </a:p>
        </p:txBody>
      </p:sp>
      <p:sp>
        <p:nvSpPr>
          <p:cNvPr id="132100" name="Text Box 1028"/>
          <p:cNvSpPr txBox="1">
            <a:spLocks noChangeArrowheads="1"/>
          </p:cNvSpPr>
          <p:nvPr/>
        </p:nvSpPr>
        <p:spPr bwMode="auto">
          <a:xfrm>
            <a:off x="2133600" y="3971820"/>
            <a:ext cx="4441825" cy="258921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sum_array_rows(int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a[M][N</a:t>
            </a:r>
            <a:r>
              <a:rPr lang="en-US" sz="1800" dirty="0">
                <a:latin typeface="Courier New" charset="0"/>
              </a:rPr>
              <a:t>])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</a:t>
            </a: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,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, sum = 0;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&lt; M;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for (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&lt; N;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    sum += </a:t>
            </a:r>
            <a:r>
              <a:rPr lang="en-US" sz="1800" dirty="0" err="1">
                <a:latin typeface="Courier New" charset="0"/>
              </a:rPr>
              <a:t>a[i][j</a:t>
            </a:r>
            <a:r>
              <a:rPr lang="en-US" sz="1800" dirty="0"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return sum;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9954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Locality Example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Question:</a:t>
            </a:r>
            <a:r>
              <a:rPr lang="en-US" dirty="0"/>
              <a:t> Does this function have good locality with respect to array </a:t>
            </a:r>
            <a:r>
              <a:rPr lang="en-US" b="0" dirty="0">
                <a:latin typeface="Courier New"/>
                <a:cs typeface="Courier New"/>
              </a:rPr>
              <a:t>a</a:t>
            </a:r>
            <a:r>
              <a:rPr lang="en-US" dirty="0"/>
              <a:t>?</a:t>
            </a: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817688" y="2484438"/>
            <a:ext cx="4441825" cy="2589212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sum_array_cols(int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a[M][N</a:t>
            </a:r>
            <a:r>
              <a:rPr lang="en-US" sz="1800" dirty="0">
                <a:latin typeface="Courier New" charset="0"/>
              </a:rPr>
              <a:t>])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</a:t>
            </a: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,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, sum = 0;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for (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&lt; N;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&lt; M;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    sum += </a:t>
            </a:r>
            <a:r>
              <a:rPr lang="en-US" sz="1800" dirty="0" err="1">
                <a:latin typeface="Courier New" charset="0"/>
              </a:rPr>
              <a:t>a[i][j</a:t>
            </a:r>
            <a:r>
              <a:rPr lang="en-US" sz="1800" dirty="0"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return sum;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10A75-937C-4D6F-9C78-6B0DF0D10DC9}"/>
              </a:ext>
            </a:extLst>
          </p:cNvPr>
          <p:cNvSpPr txBox="1"/>
          <p:nvPr/>
        </p:nvSpPr>
        <p:spPr>
          <a:xfrm>
            <a:off x="6150709" y="5400000"/>
            <a:ext cx="283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Answer: no, unless…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66AD5-FDF4-45C7-8C7F-7D736D0CB2EF}"/>
              </a:ext>
            </a:extLst>
          </p:cNvPr>
          <p:cNvSpPr txBox="1"/>
          <p:nvPr/>
        </p:nvSpPr>
        <p:spPr>
          <a:xfrm>
            <a:off x="6546623" y="5872460"/>
            <a:ext cx="2090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M is very small</a:t>
            </a:r>
          </a:p>
        </p:txBody>
      </p:sp>
    </p:spTree>
    <p:extLst>
      <p:ext uri="{BB962C8B-B14F-4D97-AF65-F5344CB8AC3E}">
        <p14:creationId xmlns:p14="http://schemas.microsoft.com/office/powerpoint/2010/main" val="98315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9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Locality Example</a:t>
            </a:r>
          </a:p>
        </p:txBody>
      </p:sp>
      <p:sp>
        <p:nvSpPr>
          <p:cNvPr id="134150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</a:t>
            </a:r>
            <a:r>
              <a:rPr lang="en-US" dirty="0"/>
              <a:t>: Can you permute the loops so that the function scans the 3-d array </a:t>
            </a:r>
            <a:r>
              <a:rPr lang="en-US" b="0" dirty="0">
                <a:latin typeface="Courier New"/>
                <a:cs typeface="Courier New"/>
              </a:rPr>
              <a:t>a </a:t>
            </a:r>
            <a:r>
              <a:rPr lang="en-US" dirty="0"/>
              <a:t>with a stride-1 reference pattern (and thus has good spatial locality)?</a:t>
            </a:r>
          </a:p>
        </p:txBody>
      </p:sp>
      <p:sp>
        <p:nvSpPr>
          <p:cNvPr id="134148" name="Text Box 1028"/>
          <p:cNvSpPr txBox="1">
            <a:spLocks noChangeArrowheads="1"/>
          </p:cNvSpPr>
          <p:nvPr/>
        </p:nvSpPr>
        <p:spPr bwMode="auto">
          <a:xfrm>
            <a:off x="1941513" y="3033713"/>
            <a:ext cx="4987925" cy="286385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sum_array_3d(int </a:t>
            </a:r>
            <a:r>
              <a:rPr lang="en-US" sz="1800" dirty="0" err="1">
                <a:latin typeface="Courier New" charset="0"/>
              </a:rPr>
              <a:t>a[M][N][N</a:t>
            </a:r>
            <a:r>
              <a:rPr lang="en-US" sz="1800" dirty="0">
                <a:latin typeface="Courier New" charset="0"/>
              </a:rPr>
              <a:t>])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</a:t>
            </a: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,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,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, sum = 0;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 &lt; M;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for (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 &lt; N;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    for (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 = 0;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 &lt; N;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            sum += </a:t>
            </a:r>
            <a:r>
              <a:rPr lang="en-US" sz="1800" dirty="0" err="1">
                <a:latin typeface="Courier New" charset="0"/>
              </a:rPr>
              <a:t>a[k][i][j</a:t>
            </a:r>
            <a:r>
              <a:rPr lang="en-US" sz="1800" dirty="0"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    return sum;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charset="0"/>
              </a:rPr>
              <a:t>}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24973FF-DDF1-47C3-BAC0-94B193D43655}"/>
              </a:ext>
            </a:extLst>
          </p:cNvPr>
          <p:cNvSpPr txBox="1"/>
          <p:nvPr/>
        </p:nvSpPr>
        <p:spPr>
          <a:xfrm>
            <a:off x="4834793" y="6172510"/>
            <a:ext cx="4022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Answer: make j the inner loop</a:t>
            </a:r>
          </a:p>
        </p:txBody>
      </p:sp>
    </p:spTree>
    <p:extLst>
      <p:ext uri="{BB962C8B-B14F-4D97-AF65-F5344CB8AC3E}">
        <p14:creationId xmlns:p14="http://schemas.microsoft.com/office/powerpoint/2010/main" val="74647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5485-7741-371C-C3B9-5F2446A47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write a program with poor locality in instruction accesses?</a:t>
            </a:r>
          </a:p>
        </p:txBody>
      </p:sp>
    </p:spTree>
    <p:extLst>
      <p:ext uri="{BB962C8B-B14F-4D97-AF65-F5344CB8AC3E}">
        <p14:creationId xmlns:p14="http://schemas.microsoft.com/office/powerpoint/2010/main" val="199764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3698-CC01-D489-F755-C4D452E2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4610-C094-F309-8A4B-3CC6BC92A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9155"/>
            <a:ext cx="8458200" cy="1470025"/>
          </a:xfrm>
        </p:spPr>
        <p:txBody>
          <a:bodyPr/>
          <a:lstStyle/>
          <a:p>
            <a:r>
              <a:rPr lang="en-US" dirty="0"/>
              <a:t>Is locality only applicable to program? Can we have some other examples of locality?</a:t>
            </a:r>
          </a:p>
        </p:txBody>
      </p:sp>
    </p:spTree>
    <p:extLst>
      <p:ext uri="{BB962C8B-B14F-4D97-AF65-F5344CB8AC3E}">
        <p14:creationId xmlns:p14="http://schemas.microsoft.com/office/powerpoint/2010/main" val="750497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55B5-098E-6D80-666B-18A635623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9" name="Rectangle 1029">
            <a:extLst>
              <a:ext uri="{FF2B5EF4-FFF2-40B4-BE49-F238E27FC236}">
                <a16:creationId xmlns:a16="http://schemas.microsoft.com/office/drawing/2014/main" id="{8F9A9FFE-B37C-C362-3C4F-53B547341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427753" cy="762000"/>
          </a:xfrm>
        </p:spPr>
        <p:txBody>
          <a:bodyPr/>
          <a:lstStyle/>
          <a:p>
            <a:r>
              <a:rPr lang="en-US" dirty="0"/>
              <a:t>System design principles: how to optimize</a:t>
            </a:r>
          </a:p>
        </p:txBody>
      </p:sp>
      <p:sp>
        <p:nvSpPr>
          <p:cNvPr id="134150" name="Rectangle 1030">
            <a:extLst>
              <a:ext uri="{FF2B5EF4-FFF2-40B4-BE49-F238E27FC236}">
                <a16:creationId xmlns:a16="http://schemas.microsoft.com/office/drawing/2014/main" id="{5829F573-B648-EFC0-4CFF-678CB0FF4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Optimizing a system layer requires exploiting the properties of the layer above it and the layer below it. </a:t>
            </a:r>
          </a:p>
          <a:p>
            <a:endParaRPr lang="en-US" dirty="0"/>
          </a:p>
          <a:p>
            <a:r>
              <a:rPr lang="en-US" dirty="0"/>
              <a:t>Suppose that we would like to optimize an OS</a:t>
            </a:r>
          </a:p>
          <a:p>
            <a:endParaRPr lang="en-US" dirty="0"/>
          </a:p>
          <a:p>
            <a:r>
              <a:rPr lang="en-US" dirty="0"/>
              <a:t>The layer above it: program, which often exhibits locality </a:t>
            </a:r>
          </a:p>
          <a:p>
            <a:endParaRPr lang="en-US" dirty="0"/>
          </a:p>
          <a:p>
            <a:r>
              <a:rPr lang="en-US" dirty="0"/>
              <a:t>The layer below it: hardware, which is amenable to pipelining.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5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C734-5179-3902-93B6-DDA55C33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7FE6-DACA-4042-1988-0A11D045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9EA0E-D10E-2C0F-20E4-AE809EA90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/>
              <a:t>Program exhibits locality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Cache exploits locality (more in the next lecture)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Faster storage devices stores less data and are more expensive, and vice versa.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1C9AD-034D-7BEB-44A9-95C598FBBCB2}"/>
              </a:ext>
            </a:extLst>
          </p:cNvPr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59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Caches</a:t>
            </a:r>
          </a:p>
        </p:txBody>
      </p:sp>
      <p:sp>
        <p:nvSpPr>
          <p:cNvPr id="136199" name="Rectangle 7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8442325" cy="4972050"/>
          </a:xfrm>
        </p:spPr>
        <p:txBody>
          <a:bodyPr/>
          <a:lstStyle/>
          <a:p>
            <a:r>
              <a:rPr lang="en-US" i="1" dirty="0">
                <a:solidFill>
                  <a:srgbClr val="FF0000"/>
                </a:solidFill>
              </a:rPr>
              <a:t>Cache:</a:t>
            </a:r>
            <a:r>
              <a:rPr lang="en-US" i="1" dirty="0"/>
              <a:t> </a:t>
            </a:r>
            <a:r>
              <a:rPr lang="en-US" dirty="0"/>
              <a:t>A smaller, faster storage device that stores frequently accessed data in a larger, slower device.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does caching work?</a:t>
            </a:r>
          </a:p>
          <a:p>
            <a:pPr lvl="1"/>
            <a:r>
              <a:rPr lang="en-US" dirty="0"/>
              <a:t>Because of locality, programs often access a subset of key data given a time interval.</a:t>
            </a:r>
          </a:p>
          <a:p>
            <a:pPr lvl="1"/>
            <a:r>
              <a:rPr lang="en-US" dirty="0"/>
              <a:t>Cache can just store this subset of key data.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Big Idea</a:t>
            </a:r>
            <a:r>
              <a:rPr lang="en-US" altLang="zh-CN" i="1" dirty="0">
                <a:solidFill>
                  <a:srgbClr val="FF0000"/>
                </a:solidFill>
              </a:rPr>
              <a:t> (Ideal)</a:t>
            </a:r>
            <a:r>
              <a:rPr lang="en-US" i="1" dirty="0">
                <a:solidFill>
                  <a:srgbClr val="FF0000"/>
                </a:solidFill>
              </a:rPr>
              <a:t>:  </a:t>
            </a:r>
            <a:r>
              <a:rPr lang="en-US" dirty="0"/>
              <a:t>Most data stores in the cheap, slow storage, but that access at the rate of the fast storage.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9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Cache Concepts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rgbClr val="DEDFF5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606" y="4327071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Underlying</a:t>
            </a:r>
          </a:p>
          <a:p>
            <a:r>
              <a:rPr lang="en-US" dirty="0">
                <a:latin typeface="Calibri" pitchFamily="34" charset="0"/>
              </a:rPr>
              <a:t>device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50722-71B8-4D81-B7B7-C33728C529B2}"/>
              </a:ext>
            </a:extLst>
          </p:cNvPr>
          <p:cNvSpPr txBox="1"/>
          <p:nvPr/>
        </p:nvSpPr>
        <p:spPr>
          <a:xfrm>
            <a:off x="5736772" y="4291514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Calibri" pitchFamily="34" charset="0"/>
              </a:rPr>
              <a:t>The underlying devices are divided into multiple blocks.</a:t>
            </a:r>
          </a:p>
        </p:txBody>
      </p:sp>
    </p:spTree>
    <p:extLst>
      <p:ext uri="{BB962C8B-B14F-4D97-AF65-F5344CB8AC3E}">
        <p14:creationId xmlns:p14="http://schemas.microsoft.com/office/powerpoint/2010/main" val="40518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1" grpId="1" animBg="1"/>
      <p:bldP spid="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Up-Down Arrow 42"/>
          <p:cNvSpPr/>
          <p:nvPr/>
        </p:nvSpPr>
        <p:spPr bwMode="auto">
          <a:xfrm>
            <a:off x="3352800" y="1295400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Cache Concepts: Hit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5919759" y="1580883"/>
            <a:ext cx="2826906" cy="3961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Data in block b is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7173" y="1619517"/>
            <a:ext cx="11844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14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2425522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48" name="Text Box 29"/>
          <p:cNvSpPr txBox="1">
            <a:spLocks noChangeArrowheads="1"/>
          </p:cNvSpPr>
          <p:nvPr/>
        </p:nvSpPr>
        <p:spPr bwMode="auto">
          <a:xfrm>
            <a:off x="5936094" y="2209800"/>
            <a:ext cx="2154670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in cache: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i="1" dirty="0">
                <a:solidFill>
                  <a:srgbClr val="C00000"/>
                </a:solidFill>
                <a:latin typeface="Calibri" pitchFamily="34" charset="0"/>
              </a:rPr>
              <a:t>Hit!</a:t>
            </a:r>
            <a:endParaRPr lang="en-GB" sz="2000" b="1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A78CEDDA-57ED-89CA-D9BD-9CE52428E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2453" y="3403499"/>
            <a:ext cx="3391547" cy="3961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rgbClr val="000000"/>
                </a:solidFill>
                <a:latin typeface="Calibri" pitchFamily="34" charset="0"/>
              </a:rPr>
              <a:t>How does this exploit locality?</a:t>
            </a:r>
          </a:p>
        </p:txBody>
      </p:sp>
    </p:spTree>
    <p:extLst>
      <p:ext uri="{BB962C8B-B14F-4D97-AF65-F5344CB8AC3E}">
        <p14:creationId xmlns:p14="http://schemas.microsoft.com/office/powerpoint/2010/main" val="295432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 animBg="1"/>
      <p:bldP spid="48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Up-Down Arrow 42"/>
          <p:cNvSpPr/>
          <p:nvPr/>
        </p:nvSpPr>
        <p:spPr bwMode="auto">
          <a:xfrm>
            <a:off x="3352800" y="1295400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Cache Concepts: Miss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5919759" y="1580883"/>
            <a:ext cx="2826906" cy="3961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Data in block b is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7173" y="1619517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48" name="Text Box 29"/>
          <p:cNvSpPr txBox="1">
            <a:spLocks noChangeArrowheads="1"/>
          </p:cNvSpPr>
          <p:nvPr/>
        </p:nvSpPr>
        <p:spPr bwMode="auto">
          <a:xfrm>
            <a:off x="5936094" y="2209800"/>
            <a:ext cx="2569847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not in cache: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Calibri" pitchFamily="34" charset="0"/>
              </a:rPr>
              <a:t>Miss!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943600" y="3200400"/>
            <a:ext cx="2585173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fetched from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i="1" dirty="0">
                <a:latin typeface="Calibri" pitchFamily="34" charset="0"/>
              </a:rPr>
              <a:t>memory</a:t>
            </a:r>
            <a:endParaRPr lang="en-GB" sz="2000" b="1" i="1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97172" y="3395246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895600" y="2425522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5943600" y="4055258"/>
            <a:ext cx="2810939" cy="202504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stored in cache</a:t>
            </a:r>
          </a:p>
          <a:p>
            <a:pPr marL="115888" indent="-115888">
              <a:lnSpc>
                <a:spcPct val="98000"/>
              </a:lnSpc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solidFill>
                  <a:srgbClr val="C00000"/>
                </a:solidFill>
                <a:latin typeface="Calibri" pitchFamily="34" charset="0"/>
              </a:rPr>
              <a:t>Placement policy:</a:t>
            </a:r>
            <a:br>
              <a:rPr lang="en-GB" sz="1800" b="0" dirty="0"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determines where b goes </a:t>
            </a:r>
            <a:br>
              <a:rPr lang="en-GB" sz="1800" b="0" dirty="0"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(more next lecture) </a:t>
            </a:r>
          </a:p>
          <a:p>
            <a:pPr marL="115888" indent="-115888">
              <a:lnSpc>
                <a:spcPct val="98000"/>
              </a:lnSpc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solidFill>
                  <a:srgbClr val="C00000"/>
                </a:solidFill>
                <a:latin typeface="Calibri" pitchFamily="34" charset="0"/>
              </a:rPr>
              <a:t>Replacement policy:</a:t>
            </a:r>
            <a:br>
              <a:rPr lang="en-GB" sz="1800" b="0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determines which block</a:t>
            </a:r>
            <a:br>
              <a:rPr lang="en-GB" sz="1800" b="0" dirty="0"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gets evicted (victim)</a:t>
            </a:r>
          </a:p>
        </p:txBody>
      </p:sp>
    </p:spTree>
    <p:extLst>
      <p:ext uri="{BB962C8B-B14F-4D97-AF65-F5344CB8AC3E}">
        <p14:creationId xmlns:p14="http://schemas.microsoft.com/office/powerpoint/2010/main" val="295849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34" grpId="0"/>
      <p:bldP spid="36" grpId="0"/>
      <p:bldP spid="37" grpId="0" animBg="1"/>
      <p:bldP spid="38" grpId="0" animBg="1"/>
      <p:bldP spid="38" grpId="1" animBg="1"/>
      <p:bldP spid="39" grpId="0" animBg="1"/>
      <p:bldP spid="42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Caching Concepts: </a:t>
            </a:r>
            <a:br>
              <a:rPr lang="en-US" dirty="0"/>
            </a:br>
            <a:r>
              <a:rPr lang="en-US" dirty="0"/>
              <a:t>Types of Cache Misses</a:t>
            </a:r>
          </a:p>
        </p:txBody>
      </p:sp>
      <p:sp>
        <p:nvSpPr>
          <p:cNvPr id="138245" name="Rectangle 5"/>
          <p:cNvSpPr>
            <a:spLocks noGrp="1" noChangeArrowheads="1"/>
          </p:cNvSpPr>
          <p:nvPr>
            <p:ph idx="1"/>
          </p:nvPr>
        </p:nvSpPr>
        <p:spPr>
          <a:xfrm>
            <a:off x="396875" y="1733550"/>
            <a:ext cx="8518525" cy="497205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Cold (compulsory) miss</a:t>
            </a:r>
          </a:p>
          <a:p>
            <a:pPr lvl="1"/>
            <a:r>
              <a:rPr lang="en-US" dirty="0"/>
              <a:t>Cold misses occur because the cache is empty.</a:t>
            </a:r>
          </a:p>
          <a:p>
            <a:r>
              <a:rPr lang="en-US" dirty="0">
                <a:solidFill>
                  <a:srgbClr val="FF0000"/>
                </a:solidFill>
              </a:rPr>
              <a:t>Conflict miss (more next lecture)</a:t>
            </a:r>
          </a:p>
          <a:p>
            <a:pPr lvl="2"/>
            <a:r>
              <a:rPr lang="en-US" dirty="0"/>
              <a:t>Due to block mapping between the caching and the underlying device.  </a:t>
            </a:r>
          </a:p>
          <a:p>
            <a:pPr lvl="2"/>
            <a:r>
              <a:rPr lang="en-US" dirty="0"/>
              <a:t>E.g. Cache block N, stores the block % 4, referencing blocks 0, 8, 0, 8, 0, 8, ... would miss every time.</a:t>
            </a:r>
          </a:p>
          <a:p>
            <a:r>
              <a:rPr lang="en-US" dirty="0">
                <a:solidFill>
                  <a:srgbClr val="FF0000"/>
                </a:solidFill>
              </a:rPr>
              <a:t>Capacity miss</a:t>
            </a:r>
          </a:p>
          <a:p>
            <a:pPr lvl="1"/>
            <a:r>
              <a:rPr lang="en-US" dirty="0"/>
              <a:t>Occurs when the set of active cache blocks (</a:t>
            </a:r>
            <a:r>
              <a:rPr lang="en-US" dirty="0">
                <a:solidFill>
                  <a:srgbClr val="FF0000"/>
                </a:solidFill>
              </a:rPr>
              <a:t>working set</a:t>
            </a:r>
            <a:r>
              <a:rPr lang="en-US" dirty="0"/>
              <a:t>) is larger than the cache.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What to do with different kinds of misses in the system?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7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B7EA-929E-CEA4-91FB-2BEE6285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utoShape 195">
            <a:extLst>
              <a:ext uri="{FF2B5EF4-FFF2-40B4-BE49-F238E27FC236}">
                <a16:creationId xmlns:a16="http://schemas.microsoft.com/office/drawing/2014/main" id="{12A0B5C6-20B1-6F2E-2340-385A5DEB4C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2450" y="342900"/>
            <a:ext cx="6902450" cy="6456363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140000" scaled="0"/>
            <a:tileRect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2" name="Text Box 196">
            <a:extLst>
              <a:ext uri="{FF2B5EF4-FFF2-40B4-BE49-F238E27FC236}">
                <a16:creationId xmlns:a16="http://schemas.microsoft.com/office/drawing/2014/main" id="{04AB5690-1A10-F5F6-7C04-E443622CB17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94391" y="834509"/>
            <a:ext cx="723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Regs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3" name="Text Box 198">
            <a:extLst>
              <a:ext uri="{FF2B5EF4-FFF2-40B4-BE49-F238E27FC236}">
                <a16:creationId xmlns:a16="http://schemas.microsoft.com/office/drawing/2014/main" id="{B409673A-1AF9-C524-0827-2110AF1684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95400" y="1283385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L1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54" name="Text Box 199">
            <a:extLst>
              <a:ext uri="{FF2B5EF4-FFF2-40B4-BE49-F238E27FC236}">
                <a16:creationId xmlns:a16="http://schemas.microsoft.com/office/drawing/2014/main" id="{F7EBF6D2-E3A4-975B-035D-9107DD587D8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64793" y="3821797"/>
            <a:ext cx="158273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Main memory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(DRAM)</a:t>
            </a:r>
          </a:p>
        </p:txBody>
      </p:sp>
      <p:sp>
        <p:nvSpPr>
          <p:cNvPr id="155" name="Text Box 200">
            <a:extLst>
              <a:ext uri="{FF2B5EF4-FFF2-40B4-BE49-F238E27FC236}">
                <a16:creationId xmlns:a16="http://schemas.microsoft.com/office/drawing/2014/main" id="{DF562EA8-C2EF-A433-76B9-94F82245445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06309" y="4847322"/>
            <a:ext cx="26997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Local secondary storage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(local disks)</a:t>
            </a:r>
          </a:p>
        </p:txBody>
      </p:sp>
      <p:sp>
        <p:nvSpPr>
          <p:cNvPr id="156" name="Line 203">
            <a:extLst>
              <a:ext uri="{FF2B5EF4-FFF2-40B4-BE49-F238E27FC236}">
                <a16:creationId xmlns:a16="http://schemas.microsoft.com/office/drawing/2014/main" id="{FC64458E-DA06-BAA5-CB26-4BC202B805D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513138" y="1265238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7" name="Line 204">
            <a:extLst>
              <a:ext uri="{FF2B5EF4-FFF2-40B4-BE49-F238E27FC236}">
                <a16:creationId xmlns:a16="http://schemas.microsoft.com/office/drawing/2014/main" id="{4D1634CD-1F0E-42AC-8D54-8F7C7CF2E24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62300" y="1903413"/>
            <a:ext cx="16716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8" name="Line 205">
            <a:extLst>
              <a:ext uri="{FF2B5EF4-FFF2-40B4-BE49-F238E27FC236}">
                <a16:creationId xmlns:a16="http://schemas.microsoft.com/office/drawing/2014/main" id="{2EE7E38D-AC70-8957-D135-A0DE4240379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79713" y="2655888"/>
            <a:ext cx="2447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9" name="Line 222">
            <a:extLst>
              <a:ext uri="{FF2B5EF4-FFF2-40B4-BE49-F238E27FC236}">
                <a16:creationId xmlns:a16="http://schemas.microsoft.com/office/drawing/2014/main" id="{D69F3519-905F-3BDF-3DA0-92C44F91A1E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200" y="3473450"/>
            <a:ext cx="0" cy="234473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0" name="Text Box 223">
            <a:extLst>
              <a:ext uri="{FF2B5EF4-FFF2-40B4-BE49-F238E27FC236}">
                <a16:creationId xmlns:a16="http://schemas.microsoft.com/office/drawing/2014/main" id="{8F8C39D4-3279-5885-844B-002DD2FD4C7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3825" y="3625166"/>
            <a:ext cx="10627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Larger,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slower,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cheaper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(per byte)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storage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</a:p>
        </p:txBody>
      </p:sp>
      <p:sp>
        <p:nvSpPr>
          <p:cNvPr id="161" name="Line 224">
            <a:extLst>
              <a:ext uri="{FF2B5EF4-FFF2-40B4-BE49-F238E27FC236}">
                <a16:creationId xmlns:a16="http://schemas.microsoft.com/office/drawing/2014/main" id="{C722C346-E245-5FD9-57F3-36C4F192951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55838" y="3586163"/>
            <a:ext cx="3475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2" name="Text Box 225">
            <a:extLst>
              <a:ext uri="{FF2B5EF4-FFF2-40B4-BE49-F238E27FC236}">
                <a16:creationId xmlns:a16="http://schemas.microsoft.com/office/drawing/2014/main" id="{4DEC67D5-EA91-7B74-CD21-957EDBE4A8C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78100" y="5947460"/>
            <a:ext cx="2956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Remote secondary storage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 Web servers)</a:t>
            </a:r>
          </a:p>
        </p:txBody>
      </p:sp>
      <p:sp>
        <p:nvSpPr>
          <p:cNvPr id="166" name="Line 235">
            <a:extLst>
              <a:ext uri="{FF2B5EF4-FFF2-40B4-BE49-F238E27FC236}">
                <a16:creationId xmlns:a16="http://schemas.microsoft.com/office/drawing/2014/main" id="{61B9CA2D-0567-2603-C0ED-4A0B08D922C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08150" y="4632325"/>
            <a:ext cx="45767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7" name="Text Box 236">
            <a:extLst>
              <a:ext uri="{FF2B5EF4-FFF2-40B4-BE49-F238E27FC236}">
                <a16:creationId xmlns:a16="http://schemas.microsoft.com/office/drawing/2014/main" id="{4F30750D-7F4A-F090-3169-4E8AFDDC11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95400" y="1948547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L2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71" name="Text Box 233">
            <a:extLst>
              <a:ext uri="{FF2B5EF4-FFF2-40B4-BE49-F238E27FC236}">
                <a16:creationId xmlns:a16="http://schemas.microsoft.com/office/drawing/2014/main" id="{2712553A-B1AC-8D3E-5574-2227EFC938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20687" y="891957"/>
            <a:ext cx="29194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Each layer caches the </a:t>
            </a:r>
            <a:r>
              <a:rPr kumimoji="0" lang="en-US" sz="18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dat</a:t>
            </a:r>
            <a:r>
              <a:rPr lang="en-US" sz="1800" kern="0" dirty="0">
                <a:solidFill>
                  <a:srgbClr val="FF0000"/>
                </a:solidFill>
                <a:latin typeface="Arial"/>
                <a:cs typeface="Arial"/>
              </a:rPr>
              <a:t>a of the next layer!</a:t>
            </a:r>
            <a:endParaRPr kumimoji="0" lang="en-US" sz="18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6" name="Text Box 247">
            <a:extLst>
              <a:ext uri="{FF2B5EF4-FFF2-40B4-BE49-F238E27FC236}">
                <a16:creationId xmlns:a16="http://schemas.microsoft.com/office/drawing/2014/main" id="{BEA3EBD2-901B-FD03-A000-7F4C1990D7A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35325" y="644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L0:</a:t>
            </a:r>
          </a:p>
        </p:txBody>
      </p:sp>
      <p:sp>
        <p:nvSpPr>
          <p:cNvPr id="177" name="Text Box 248">
            <a:extLst>
              <a:ext uri="{FF2B5EF4-FFF2-40B4-BE49-F238E27FC236}">
                <a16:creationId xmlns:a16="http://schemas.microsoft.com/office/drawing/2014/main" id="{C00D1A4E-EA7F-5B9B-C814-B1E4B936C8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67025" y="13536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L1:</a:t>
            </a:r>
          </a:p>
        </p:txBody>
      </p:sp>
      <p:sp>
        <p:nvSpPr>
          <p:cNvPr id="178" name="Text Box 249">
            <a:extLst>
              <a:ext uri="{FF2B5EF4-FFF2-40B4-BE49-F238E27FC236}">
                <a16:creationId xmlns:a16="http://schemas.microsoft.com/office/drawing/2014/main" id="{E6C81C1B-386C-8034-2DE8-1CC39824F30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86025" y="2041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L2:</a:t>
            </a:r>
          </a:p>
        </p:txBody>
      </p:sp>
      <p:sp>
        <p:nvSpPr>
          <p:cNvPr id="179" name="Text Box 250">
            <a:extLst>
              <a:ext uri="{FF2B5EF4-FFF2-40B4-BE49-F238E27FC236}">
                <a16:creationId xmlns:a16="http://schemas.microsoft.com/office/drawing/2014/main" id="{8AC47925-1EC9-AEEC-B3C6-F3EA14580A7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79625" y="279665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L3:</a:t>
            </a:r>
          </a:p>
        </p:txBody>
      </p:sp>
      <p:sp>
        <p:nvSpPr>
          <p:cNvPr id="180" name="Text Box 251">
            <a:extLst>
              <a:ext uri="{FF2B5EF4-FFF2-40B4-BE49-F238E27FC236}">
                <a16:creationId xmlns:a16="http://schemas.microsoft.com/office/drawing/2014/main" id="{A7CC45D0-4B5D-49C4-E31A-389C0792791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54163" y="37951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L4:</a:t>
            </a:r>
          </a:p>
        </p:txBody>
      </p:sp>
      <p:sp>
        <p:nvSpPr>
          <p:cNvPr id="181" name="Text Box 252">
            <a:extLst>
              <a:ext uri="{FF2B5EF4-FFF2-40B4-BE49-F238E27FC236}">
                <a16:creationId xmlns:a16="http://schemas.microsoft.com/office/drawing/2014/main" id="{304E3DB2-DDA8-60B3-10D0-6D161FDB02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3450" y="49127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L5:</a:t>
            </a:r>
          </a:p>
        </p:txBody>
      </p:sp>
      <p:sp>
        <p:nvSpPr>
          <p:cNvPr id="182" name="Text Box 289">
            <a:extLst>
              <a:ext uri="{FF2B5EF4-FFF2-40B4-BE49-F238E27FC236}">
                <a16:creationId xmlns:a16="http://schemas.microsoft.com/office/drawing/2014/main" id="{E1E2D135-22A4-6303-C4CE-B9F6CA2A32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0175" y="1137553"/>
            <a:ext cx="10627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Smaller,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faster,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costlier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(per byte)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storage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</a:p>
        </p:txBody>
      </p:sp>
      <p:sp>
        <p:nvSpPr>
          <p:cNvPr id="183" name="Line 291">
            <a:extLst>
              <a:ext uri="{FF2B5EF4-FFF2-40B4-BE49-F238E27FC236}">
                <a16:creationId xmlns:a16="http://schemas.microsoft.com/office/drawing/2014/main" id="{C1D3280D-CC31-CF6A-B32A-304198C4CE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488" y="954088"/>
            <a:ext cx="0" cy="215423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4" name="Line 292">
            <a:extLst>
              <a:ext uri="{FF2B5EF4-FFF2-40B4-BE49-F238E27FC236}">
                <a16:creationId xmlns:a16="http://schemas.microsoft.com/office/drawing/2014/main" id="{E8F9616F-4600-E49E-3C7C-9A27C92546C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117600" y="5743575"/>
            <a:ext cx="576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5" name="Text Box 293">
            <a:extLst>
              <a:ext uri="{FF2B5EF4-FFF2-40B4-BE49-F238E27FC236}">
                <a16:creationId xmlns:a16="http://schemas.microsoft.com/office/drawing/2014/main" id="{BBDBE227-12DF-8F3A-19DD-D0B5BCC46D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95400" y="2780397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L3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89" name="Text Box 297">
            <a:extLst>
              <a:ext uri="{FF2B5EF4-FFF2-40B4-BE49-F238E27FC236}">
                <a16:creationId xmlns:a16="http://schemas.microsoft.com/office/drawing/2014/main" id="{F9709733-E7FB-8B45-2CE1-2F49830E18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7350" y="59637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L6:</a:t>
            </a:r>
          </a:p>
        </p:txBody>
      </p:sp>
      <p:sp>
        <p:nvSpPr>
          <p:cNvPr id="35842" name="Rectangle 1">
            <a:extLst>
              <a:ext uri="{FF2B5EF4-FFF2-40B4-BE49-F238E27FC236}">
                <a16:creationId xmlns:a16="http://schemas.microsoft.com/office/drawing/2014/main" id="{03C5EB3F-0BD9-BB05-966C-B549F9E5F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90" y="147102"/>
            <a:ext cx="8716962" cy="782638"/>
          </a:xfrm>
        </p:spPr>
        <p:txBody>
          <a:bodyPr>
            <a:norm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 dirty="0">
                <a:latin typeface="Arial"/>
                <a:cs typeface="Arial"/>
              </a:rPr>
              <a:t>Memory Hierarchy</a:t>
            </a:r>
          </a:p>
        </p:txBody>
      </p:sp>
      <p:sp>
        <p:nvSpPr>
          <p:cNvPr id="3" name="Text Box 233">
            <a:extLst>
              <a:ext uri="{FF2B5EF4-FFF2-40B4-BE49-F238E27FC236}">
                <a16:creationId xmlns:a16="http://schemas.microsoft.com/office/drawing/2014/main" id="{0C3786EB-4181-1EBB-0A7C-2892186511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06098" y="1810347"/>
            <a:ext cx="29194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The two memory modules in the processor figure actually refer to the L1 cache.</a:t>
            </a:r>
          </a:p>
        </p:txBody>
      </p:sp>
    </p:spTree>
    <p:extLst>
      <p:ext uri="{BB962C8B-B14F-4D97-AF65-F5344CB8AC3E}">
        <p14:creationId xmlns:p14="http://schemas.microsoft.com/office/powerpoint/2010/main" val="2354527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659982" cy="7620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Examples of Caching in the </a:t>
            </a:r>
            <a:r>
              <a:rPr lang="en-GB" dirty="0" err="1"/>
              <a:t>Mem</a:t>
            </a:r>
            <a:r>
              <a:rPr lang="en-GB" dirty="0"/>
              <a:t>. Hierarchy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7658100" y="2428875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Hardware MMU</a:t>
            </a:r>
          </a:p>
        </p:txBody>
      </p:sp>
      <p:sp>
        <p:nvSpPr>
          <p:cNvPr id="37894" name="Rectangle 4"/>
          <p:cNvSpPr>
            <a:spLocks noChangeArrowheads="1"/>
          </p:cNvSpPr>
          <p:nvPr/>
        </p:nvSpPr>
        <p:spPr bwMode="auto">
          <a:xfrm>
            <a:off x="5905500" y="2428875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 </a:t>
            </a:r>
            <a:r>
              <a:rPr lang="en-GB" sz="1600" dirty="0">
                <a:solidFill>
                  <a:srgbClr val="C00000"/>
                </a:solidFill>
                <a:latin typeface="Calibri" pitchFamily="34" charset="0"/>
                <a:sym typeface="Wingdings" panose="05000000000000000000" pitchFamily="2" charset="2"/>
              </a:rPr>
              <a:t> &gt; &lt;</a:t>
            </a: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895" name="Rectangle 5"/>
          <p:cNvSpPr>
            <a:spLocks noChangeArrowheads="1"/>
          </p:cNvSpPr>
          <p:nvPr/>
        </p:nvSpPr>
        <p:spPr bwMode="auto">
          <a:xfrm>
            <a:off x="3848100" y="2428875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On-Chip TLB</a:t>
            </a:r>
          </a:p>
        </p:txBody>
      </p:sp>
      <p:sp>
        <p:nvSpPr>
          <p:cNvPr id="37896" name="Rectangle 6"/>
          <p:cNvSpPr>
            <a:spLocks noChangeArrowheads="1"/>
          </p:cNvSpPr>
          <p:nvPr/>
        </p:nvSpPr>
        <p:spPr bwMode="auto">
          <a:xfrm>
            <a:off x="1943100" y="2428875"/>
            <a:ext cx="19050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Address translations</a:t>
            </a:r>
          </a:p>
        </p:txBody>
      </p:sp>
      <p:sp>
        <p:nvSpPr>
          <p:cNvPr id="37897" name="Rectangle 7"/>
          <p:cNvSpPr>
            <a:spLocks noChangeArrowheads="1"/>
          </p:cNvSpPr>
          <p:nvPr/>
        </p:nvSpPr>
        <p:spPr bwMode="auto">
          <a:xfrm>
            <a:off x="114300" y="2428875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TLB</a:t>
            </a:r>
          </a:p>
        </p:txBody>
      </p:sp>
      <p:sp>
        <p:nvSpPr>
          <p:cNvPr id="37898" name="Rectangle 8"/>
          <p:cNvSpPr>
            <a:spLocks noChangeArrowheads="1"/>
          </p:cNvSpPr>
          <p:nvPr/>
        </p:nvSpPr>
        <p:spPr bwMode="auto">
          <a:xfrm>
            <a:off x="7658100" y="5338763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browser</a:t>
            </a:r>
          </a:p>
        </p:txBody>
      </p:sp>
      <p:sp>
        <p:nvSpPr>
          <p:cNvPr id="37899" name="Rectangle 9"/>
          <p:cNvSpPr>
            <a:spLocks noChangeArrowheads="1"/>
          </p:cNvSpPr>
          <p:nvPr/>
        </p:nvSpPr>
        <p:spPr bwMode="auto">
          <a:xfrm>
            <a:off x="5905500" y="5338763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10,000,000</a:t>
            </a:r>
          </a:p>
        </p:txBody>
      </p:sp>
      <p:sp>
        <p:nvSpPr>
          <p:cNvPr id="37900" name="Rectangle 10"/>
          <p:cNvSpPr>
            <a:spLocks noChangeArrowheads="1"/>
          </p:cNvSpPr>
          <p:nvPr/>
        </p:nvSpPr>
        <p:spPr bwMode="auto">
          <a:xfrm>
            <a:off x="3848100" y="5338763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Local disk</a:t>
            </a:r>
          </a:p>
        </p:txBody>
      </p:sp>
      <p:sp>
        <p:nvSpPr>
          <p:cNvPr id="37901" name="Rectangle 11"/>
          <p:cNvSpPr>
            <a:spLocks noChangeArrowheads="1"/>
          </p:cNvSpPr>
          <p:nvPr/>
        </p:nvSpPr>
        <p:spPr bwMode="auto">
          <a:xfrm>
            <a:off x="1943100" y="5338763"/>
            <a:ext cx="19050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pages</a:t>
            </a:r>
          </a:p>
        </p:txBody>
      </p:sp>
      <p:sp>
        <p:nvSpPr>
          <p:cNvPr id="37902" name="Rectangle 12"/>
          <p:cNvSpPr>
            <a:spLocks noChangeArrowheads="1"/>
          </p:cNvSpPr>
          <p:nvPr/>
        </p:nvSpPr>
        <p:spPr bwMode="auto">
          <a:xfrm>
            <a:off x="114300" y="5338763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Browser cache</a:t>
            </a:r>
          </a:p>
        </p:txBody>
      </p:sp>
      <p:sp>
        <p:nvSpPr>
          <p:cNvPr id="37903" name="Rectangle 13"/>
          <p:cNvSpPr>
            <a:spLocks noChangeArrowheads="1"/>
          </p:cNvSpPr>
          <p:nvPr/>
        </p:nvSpPr>
        <p:spPr bwMode="auto">
          <a:xfrm>
            <a:off x="114300" y="5924550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cache</a:t>
            </a:r>
          </a:p>
        </p:txBody>
      </p:sp>
      <p:sp>
        <p:nvSpPr>
          <p:cNvPr id="37904" name="Rectangle 14"/>
          <p:cNvSpPr>
            <a:spLocks noChangeArrowheads="1"/>
          </p:cNvSpPr>
          <p:nvPr/>
        </p:nvSpPr>
        <p:spPr bwMode="auto">
          <a:xfrm>
            <a:off x="114300" y="4752975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Network buffer cache</a:t>
            </a:r>
          </a:p>
        </p:txBody>
      </p:sp>
      <p:sp>
        <p:nvSpPr>
          <p:cNvPr id="37905" name="Rectangle 15"/>
          <p:cNvSpPr>
            <a:spLocks noChangeArrowheads="1"/>
          </p:cNvSpPr>
          <p:nvPr/>
        </p:nvSpPr>
        <p:spPr bwMode="auto">
          <a:xfrm>
            <a:off x="114300" y="4029075"/>
            <a:ext cx="1828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Buffer cache</a:t>
            </a:r>
          </a:p>
        </p:txBody>
      </p:sp>
      <p:sp>
        <p:nvSpPr>
          <p:cNvPr id="37906" name="Rectangle 16"/>
          <p:cNvSpPr>
            <a:spLocks noChangeArrowheads="1"/>
          </p:cNvSpPr>
          <p:nvPr/>
        </p:nvSpPr>
        <p:spPr bwMode="auto">
          <a:xfrm>
            <a:off x="114300" y="3690938"/>
            <a:ext cx="18288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Virtual Memory</a:t>
            </a:r>
          </a:p>
        </p:txBody>
      </p:sp>
      <p:sp>
        <p:nvSpPr>
          <p:cNvPr id="37907" name="Rectangle 17"/>
          <p:cNvSpPr>
            <a:spLocks noChangeArrowheads="1"/>
          </p:cNvSpPr>
          <p:nvPr/>
        </p:nvSpPr>
        <p:spPr bwMode="auto">
          <a:xfrm>
            <a:off x="114300" y="3352800"/>
            <a:ext cx="1828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L2 cache</a:t>
            </a:r>
          </a:p>
        </p:txBody>
      </p:sp>
      <p:sp>
        <p:nvSpPr>
          <p:cNvPr id="37908" name="Rectangle 18"/>
          <p:cNvSpPr>
            <a:spLocks noChangeArrowheads="1"/>
          </p:cNvSpPr>
          <p:nvPr/>
        </p:nvSpPr>
        <p:spPr bwMode="auto">
          <a:xfrm>
            <a:off x="114300" y="3014663"/>
            <a:ext cx="1828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L1 cache</a:t>
            </a:r>
          </a:p>
        </p:txBody>
      </p:sp>
      <p:sp>
        <p:nvSpPr>
          <p:cNvPr id="37909" name="Rectangle 19"/>
          <p:cNvSpPr>
            <a:spLocks noChangeArrowheads="1"/>
          </p:cNvSpPr>
          <p:nvPr/>
        </p:nvSpPr>
        <p:spPr bwMode="auto">
          <a:xfrm>
            <a:off x="114300" y="2078038"/>
            <a:ext cx="18288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Registers</a:t>
            </a:r>
          </a:p>
        </p:txBody>
      </p:sp>
      <p:sp>
        <p:nvSpPr>
          <p:cNvPr id="37910" name="Rectangle 20"/>
          <p:cNvSpPr>
            <a:spLocks noChangeArrowheads="1"/>
          </p:cNvSpPr>
          <p:nvPr/>
        </p:nvSpPr>
        <p:spPr bwMode="auto">
          <a:xfrm>
            <a:off x="114300" y="1438275"/>
            <a:ext cx="18288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Cache Type</a:t>
            </a:r>
          </a:p>
        </p:txBody>
      </p:sp>
      <p:sp>
        <p:nvSpPr>
          <p:cNvPr id="37911" name="Rectangle 21"/>
          <p:cNvSpPr>
            <a:spLocks noChangeArrowheads="1"/>
          </p:cNvSpPr>
          <p:nvPr/>
        </p:nvSpPr>
        <p:spPr bwMode="auto">
          <a:xfrm>
            <a:off x="1943100" y="5924550"/>
            <a:ext cx="19050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pages</a:t>
            </a:r>
          </a:p>
        </p:txBody>
      </p:sp>
      <p:sp>
        <p:nvSpPr>
          <p:cNvPr id="37912" name="Rectangle 22"/>
          <p:cNvSpPr>
            <a:spLocks noChangeArrowheads="1"/>
          </p:cNvSpPr>
          <p:nvPr/>
        </p:nvSpPr>
        <p:spPr bwMode="auto">
          <a:xfrm>
            <a:off x="1943100" y="4752975"/>
            <a:ext cx="19050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Parts of files</a:t>
            </a:r>
          </a:p>
        </p:txBody>
      </p:sp>
      <p:sp>
        <p:nvSpPr>
          <p:cNvPr id="37913" name="Rectangle 23"/>
          <p:cNvSpPr>
            <a:spLocks noChangeArrowheads="1"/>
          </p:cNvSpPr>
          <p:nvPr/>
        </p:nvSpPr>
        <p:spPr bwMode="auto">
          <a:xfrm>
            <a:off x="1943100" y="4029075"/>
            <a:ext cx="19050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Parts of files</a:t>
            </a:r>
          </a:p>
        </p:txBody>
      </p:sp>
      <p:sp>
        <p:nvSpPr>
          <p:cNvPr id="37914" name="Rectangle 24"/>
          <p:cNvSpPr>
            <a:spLocks noChangeArrowheads="1"/>
          </p:cNvSpPr>
          <p:nvPr/>
        </p:nvSpPr>
        <p:spPr bwMode="auto">
          <a:xfrm>
            <a:off x="1943100" y="3690938"/>
            <a:ext cx="19050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4-KB pages</a:t>
            </a:r>
          </a:p>
        </p:txBody>
      </p:sp>
      <p:sp>
        <p:nvSpPr>
          <p:cNvPr id="37915" name="Rectangle 25"/>
          <p:cNvSpPr>
            <a:spLocks noChangeArrowheads="1"/>
          </p:cNvSpPr>
          <p:nvPr/>
        </p:nvSpPr>
        <p:spPr bwMode="auto">
          <a:xfrm>
            <a:off x="1943100" y="3352800"/>
            <a:ext cx="19050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64-byte blocks</a:t>
            </a:r>
          </a:p>
        </p:txBody>
      </p:sp>
      <p:sp>
        <p:nvSpPr>
          <p:cNvPr id="37916" name="Rectangle 26"/>
          <p:cNvSpPr>
            <a:spLocks noChangeArrowheads="1"/>
          </p:cNvSpPr>
          <p:nvPr/>
        </p:nvSpPr>
        <p:spPr bwMode="auto">
          <a:xfrm>
            <a:off x="1943100" y="3014663"/>
            <a:ext cx="19050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64-byte blocks</a:t>
            </a:r>
          </a:p>
        </p:txBody>
      </p:sp>
      <p:sp>
        <p:nvSpPr>
          <p:cNvPr id="37917" name="Rectangle 27"/>
          <p:cNvSpPr>
            <a:spLocks noChangeArrowheads="1"/>
          </p:cNvSpPr>
          <p:nvPr/>
        </p:nvSpPr>
        <p:spPr bwMode="auto">
          <a:xfrm>
            <a:off x="1943100" y="2078038"/>
            <a:ext cx="19050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4-8 bytes words</a:t>
            </a:r>
          </a:p>
        </p:txBody>
      </p:sp>
      <p:sp>
        <p:nvSpPr>
          <p:cNvPr id="37918" name="Rectangle 28"/>
          <p:cNvSpPr>
            <a:spLocks noChangeArrowheads="1"/>
          </p:cNvSpPr>
          <p:nvPr/>
        </p:nvSpPr>
        <p:spPr bwMode="auto">
          <a:xfrm>
            <a:off x="1943100" y="1438275"/>
            <a:ext cx="19050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What is Cached?</a:t>
            </a:r>
          </a:p>
        </p:txBody>
      </p:sp>
      <p:sp>
        <p:nvSpPr>
          <p:cNvPr id="37919" name="Rectangle 29"/>
          <p:cNvSpPr>
            <a:spLocks noChangeArrowheads="1"/>
          </p:cNvSpPr>
          <p:nvPr/>
        </p:nvSpPr>
        <p:spPr bwMode="auto">
          <a:xfrm>
            <a:off x="7658100" y="5924550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proxy server</a:t>
            </a:r>
          </a:p>
        </p:txBody>
      </p:sp>
      <p:sp>
        <p:nvSpPr>
          <p:cNvPr id="37920" name="Rectangle 30"/>
          <p:cNvSpPr>
            <a:spLocks noChangeArrowheads="1"/>
          </p:cNvSpPr>
          <p:nvPr/>
        </p:nvSpPr>
        <p:spPr bwMode="auto">
          <a:xfrm>
            <a:off x="5905500" y="5924550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1,000,000,000</a:t>
            </a:r>
          </a:p>
        </p:txBody>
      </p:sp>
      <p:sp>
        <p:nvSpPr>
          <p:cNvPr id="37921" name="Rectangle 31"/>
          <p:cNvSpPr>
            <a:spLocks noChangeArrowheads="1"/>
          </p:cNvSpPr>
          <p:nvPr/>
        </p:nvSpPr>
        <p:spPr bwMode="auto">
          <a:xfrm>
            <a:off x="3848100" y="5924550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Remote server disks</a:t>
            </a:r>
          </a:p>
        </p:txBody>
      </p:sp>
      <p:sp>
        <p:nvSpPr>
          <p:cNvPr id="37922" name="Rectangle 32"/>
          <p:cNvSpPr>
            <a:spLocks noChangeArrowheads="1"/>
          </p:cNvSpPr>
          <p:nvPr/>
        </p:nvSpPr>
        <p:spPr bwMode="auto">
          <a:xfrm>
            <a:off x="7658100" y="4029075"/>
            <a:ext cx="1447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OS</a:t>
            </a:r>
          </a:p>
        </p:txBody>
      </p:sp>
      <p:sp>
        <p:nvSpPr>
          <p:cNvPr id="37923" name="Rectangle 33"/>
          <p:cNvSpPr>
            <a:spLocks noChangeArrowheads="1"/>
          </p:cNvSpPr>
          <p:nvPr/>
        </p:nvSpPr>
        <p:spPr bwMode="auto">
          <a:xfrm>
            <a:off x="5905500" y="4029075"/>
            <a:ext cx="17526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37924" name="Rectangle 34"/>
          <p:cNvSpPr>
            <a:spLocks noChangeArrowheads="1"/>
          </p:cNvSpPr>
          <p:nvPr/>
        </p:nvSpPr>
        <p:spPr bwMode="auto">
          <a:xfrm>
            <a:off x="3848100" y="4029075"/>
            <a:ext cx="20574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37925" name="Rectangle 35"/>
          <p:cNvSpPr>
            <a:spLocks noChangeArrowheads="1"/>
          </p:cNvSpPr>
          <p:nvPr/>
        </p:nvSpPr>
        <p:spPr bwMode="auto">
          <a:xfrm>
            <a:off x="7658100" y="3014663"/>
            <a:ext cx="1447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37926" name="Rectangle 36"/>
          <p:cNvSpPr>
            <a:spLocks noChangeArrowheads="1"/>
          </p:cNvSpPr>
          <p:nvPr/>
        </p:nvSpPr>
        <p:spPr bwMode="auto">
          <a:xfrm>
            <a:off x="5905500" y="3014663"/>
            <a:ext cx="17526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7" name="Rectangle 37"/>
          <p:cNvSpPr>
            <a:spLocks noChangeArrowheads="1"/>
          </p:cNvSpPr>
          <p:nvPr/>
        </p:nvSpPr>
        <p:spPr bwMode="auto">
          <a:xfrm>
            <a:off x="3848100" y="3014663"/>
            <a:ext cx="20574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On-Chip L1</a:t>
            </a:r>
          </a:p>
        </p:txBody>
      </p:sp>
      <p:sp>
        <p:nvSpPr>
          <p:cNvPr id="37928" name="Rectangle 38"/>
          <p:cNvSpPr>
            <a:spLocks noChangeArrowheads="1"/>
          </p:cNvSpPr>
          <p:nvPr/>
        </p:nvSpPr>
        <p:spPr bwMode="auto">
          <a:xfrm>
            <a:off x="7658100" y="3352800"/>
            <a:ext cx="1447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37929" name="Rectangle 39"/>
          <p:cNvSpPr>
            <a:spLocks noChangeArrowheads="1"/>
          </p:cNvSpPr>
          <p:nvPr/>
        </p:nvSpPr>
        <p:spPr bwMode="auto">
          <a:xfrm>
            <a:off x="5905500" y="3352800"/>
            <a:ext cx="17526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30" name="Rectangle 40"/>
          <p:cNvSpPr>
            <a:spLocks noChangeArrowheads="1"/>
          </p:cNvSpPr>
          <p:nvPr/>
        </p:nvSpPr>
        <p:spPr bwMode="auto">
          <a:xfrm>
            <a:off x="3848100" y="3352800"/>
            <a:ext cx="20574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On-Chip L2</a:t>
            </a:r>
          </a:p>
        </p:txBody>
      </p:sp>
      <p:sp>
        <p:nvSpPr>
          <p:cNvPr id="37931" name="Rectangle 41"/>
          <p:cNvSpPr>
            <a:spLocks noChangeArrowheads="1"/>
          </p:cNvSpPr>
          <p:nvPr/>
        </p:nvSpPr>
        <p:spPr bwMode="auto">
          <a:xfrm>
            <a:off x="7658100" y="4752975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NFS client</a:t>
            </a:r>
          </a:p>
        </p:txBody>
      </p:sp>
      <p:sp>
        <p:nvSpPr>
          <p:cNvPr id="37932" name="Rectangle 42"/>
          <p:cNvSpPr>
            <a:spLocks noChangeArrowheads="1"/>
          </p:cNvSpPr>
          <p:nvPr/>
        </p:nvSpPr>
        <p:spPr bwMode="auto">
          <a:xfrm>
            <a:off x="5905500" y="4752975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10,000,000</a:t>
            </a:r>
          </a:p>
        </p:txBody>
      </p:sp>
      <p:sp>
        <p:nvSpPr>
          <p:cNvPr id="37933" name="Rectangle 43"/>
          <p:cNvSpPr>
            <a:spLocks noChangeArrowheads="1"/>
          </p:cNvSpPr>
          <p:nvPr/>
        </p:nvSpPr>
        <p:spPr bwMode="auto">
          <a:xfrm>
            <a:off x="3848100" y="4752975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Local disk</a:t>
            </a:r>
          </a:p>
        </p:txBody>
      </p:sp>
      <p:sp>
        <p:nvSpPr>
          <p:cNvPr id="37934" name="Rectangle 44"/>
          <p:cNvSpPr>
            <a:spLocks noChangeArrowheads="1"/>
          </p:cNvSpPr>
          <p:nvPr/>
        </p:nvSpPr>
        <p:spPr bwMode="auto">
          <a:xfrm>
            <a:off x="7658100" y="3690938"/>
            <a:ext cx="14478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 + OS</a:t>
            </a:r>
          </a:p>
        </p:txBody>
      </p:sp>
      <p:sp>
        <p:nvSpPr>
          <p:cNvPr id="37935" name="Rectangle 45"/>
          <p:cNvSpPr>
            <a:spLocks noChangeArrowheads="1"/>
          </p:cNvSpPr>
          <p:nvPr/>
        </p:nvSpPr>
        <p:spPr bwMode="auto">
          <a:xfrm>
            <a:off x="5905500" y="3690938"/>
            <a:ext cx="17526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37936" name="Rectangle 46"/>
          <p:cNvSpPr>
            <a:spLocks noChangeArrowheads="1"/>
          </p:cNvSpPr>
          <p:nvPr/>
        </p:nvSpPr>
        <p:spPr bwMode="auto">
          <a:xfrm>
            <a:off x="3848100" y="3690938"/>
            <a:ext cx="20574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37937" name="Rectangle 47"/>
          <p:cNvSpPr>
            <a:spLocks noChangeArrowheads="1"/>
          </p:cNvSpPr>
          <p:nvPr/>
        </p:nvSpPr>
        <p:spPr bwMode="auto">
          <a:xfrm>
            <a:off x="7658100" y="2078038"/>
            <a:ext cx="14478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Compiler</a:t>
            </a:r>
          </a:p>
        </p:txBody>
      </p:sp>
      <p:sp>
        <p:nvSpPr>
          <p:cNvPr id="37938" name="Rectangle 48"/>
          <p:cNvSpPr>
            <a:spLocks noChangeArrowheads="1"/>
          </p:cNvSpPr>
          <p:nvPr/>
        </p:nvSpPr>
        <p:spPr bwMode="auto">
          <a:xfrm>
            <a:off x="5905500" y="2078038"/>
            <a:ext cx="17526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 </a:t>
            </a:r>
            <a:r>
              <a:rPr lang="en-GB" sz="1600" dirty="0">
                <a:solidFill>
                  <a:srgbClr val="C00000"/>
                </a:solidFill>
                <a:latin typeface="Calibri" pitchFamily="34" charset="0"/>
                <a:sym typeface="Wingdings" panose="05000000000000000000" pitchFamily="2" charset="2"/>
              </a:rPr>
              <a:t> &lt;</a:t>
            </a: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9" name="Rectangle 49"/>
          <p:cNvSpPr>
            <a:spLocks noChangeArrowheads="1"/>
          </p:cNvSpPr>
          <p:nvPr/>
        </p:nvSpPr>
        <p:spPr bwMode="auto">
          <a:xfrm>
            <a:off x="3848100" y="2078038"/>
            <a:ext cx="20574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 CPU core</a:t>
            </a:r>
          </a:p>
        </p:txBody>
      </p:sp>
      <p:sp>
        <p:nvSpPr>
          <p:cNvPr id="37940" name="Rectangle 50"/>
          <p:cNvSpPr>
            <a:spLocks noChangeArrowheads="1"/>
          </p:cNvSpPr>
          <p:nvPr/>
        </p:nvSpPr>
        <p:spPr bwMode="auto">
          <a:xfrm>
            <a:off x="7658100" y="1438275"/>
            <a:ext cx="14478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Managed By</a:t>
            </a:r>
          </a:p>
        </p:txBody>
      </p:sp>
      <p:sp>
        <p:nvSpPr>
          <p:cNvPr id="37941" name="Rectangle 51"/>
          <p:cNvSpPr>
            <a:spLocks noChangeArrowheads="1"/>
          </p:cNvSpPr>
          <p:nvPr/>
        </p:nvSpPr>
        <p:spPr bwMode="auto">
          <a:xfrm>
            <a:off x="5905500" y="1438275"/>
            <a:ext cx="1752600" cy="6397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Latency (cycles)</a:t>
            </a:r>
          </a:p>
        </p:txBody>
      </p:sp>
      <p:sp>
        <p:nvSpPr>
          <p:cNvPr id="37942" name="Rectangle 52"/>
          <p:cNvSpPr>
            <a:spLocks noChangeArrowheads="1"/>
          </p:cNvSpPr>
          <p:nvPr/>
        </p:nvSpPr>
        <p:spPr bwMode="auto">
          <a:xfrm>
            <a:off x="3848100" y="1438275"/>
            <a:ext cx="20574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Where is it Cached?</a:t>
            </a:r>
          </a:p>
        </p:txBody>
      </p:sp>
      <p:sp>
        <p:nvSpPr>
          <p:cNvPr id="37948" name="Line 58"/>
          <p:cNvSpPr>
            <a:spLocks noChangeShapeType="1"/>
          </p:cNvSpPr>
          <p:nvPr/>
        </p:nvSpPr>
        <p:spPr bwMode="auto">
          <a:xfrm>
            <a:off x="114300" y="1438275"/>
            <a:ext cx="1588" cy="639763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anchor="ctr" anchorCtr="0"/>
          <a:lstStyle/>
          <a:p>
            <a:endParaRPr lang="en-US"/>
          </a:p>
        </p:txBody>
      </p:sp>
      <p:sp>
        <p:nvSpPr>
          <p:cNvPr id="55" name="Rectangle 15"/>
          <p:cNvSpPr>
            <a:spLocks noChangeArrowheads="1"/>
          </p:cNvSpPr>
          <p:nvPr/>
        </p:nvSpPr>
        <p:spPr bwMode="auto">
          <a:xfrm>
            <a:off x="114300" y="4391025"/>
            <a:ext cx="1828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cache	</a:t>
            </a:r>
          </a:p>
        </p:txBody>
      </p:sp>
      <p:sp>
        <p:nvSpPr>
          <p:cNvPr id="57" name="Rectangle 23"/>
          <p:cNvSpPr>
            <a:spLocks noChangeArrowheads="1"/>
          </p:cNvSpPr>
          <p:nvPr/>
        </p:nvSpPr>
        <p:spPr bwMode="auto">
          <a:xfrm>
            <a:off x="1943100" y="4391025"/>
            <a:ext cx="19050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sectors</a:t>
            </a:r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3848100" y="4391025"/>
            <a:ext cx="20574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controller</a:t>
            </a:r>
          </a:p>
        </p:txBody>
      </p:sp>
      <p:sp>
        <p:nvSpPr>
          <p:cNvPr id="59" name="Rectangle 33"/>
          <p:cNvSpPr>
            <a:spLocks noChangeArrowheads="1"/>
          </p:cNvSpPr>
          <p:nvPr/>
        </p:nvSpPr>
        <p:spPr bwMode="auto">
          <a:xfrm>
            <a:off x="5905500" y="4391025"/>
            <a:ext cx="17526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100,000</a:t>
            </a:r>
          </a:p>
        </p:txBody>
      </p:sp>
      <p:sp>
        <p:nvSpPr>
          <p:cNvPr id="60" name="Rectangle 32"/>
          <p:cNvSpPr>
            <a:spLocks noChangeArrowheads="1"/>
          </p:cNvSpPr>
          <p:nvPr/>
        </p:nvSpPr>
        <p:spPr bwMode="auto">
          <a:xfrm>
            <a:off x="7658100" y="4391025"/>
            <a:ext cx="1447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firmware</a:t>
            </a:r>
          </a:p>
        </p:txBody>
      </p:sp>
    </p:spTree>
    <p:extLst>
      <p:ext uri="{BB962C8B-B14F-4D97-AF65-F5344CB8AC3E}">
        <p14:creationId xmlns:p14="http://schemas.microsoft.com/office/powerpoint/2010/main" val="8268692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2EC2-2D29-A4E7-F057-A87D25EE1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6D34C6D7-91ED-1F91-9349-169BDC6BB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659982" cy="7620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Examples of Caching in the </a:t>
            </a:r>
            <a:r>
              <a:rPr lang="en-GB" dirty="0" err="1"/>
              <a:t>Mem</a:t>
            </a:r>
            <a:r>
              <a:rPr lang="en-GB" dirty="0"/>
              <a:t>. Hierarchy</a:t>
            </a:r>
          </a:p>
        </p:txBody>
      </p:sp>
      <p:sp>
        <p:nvSpPr>
          <p:cNvPr id="37903" name="Rectangle 13">
            <a:extLst>
              <a:ext uri="{FF2B5EF4-FFF2-40B4-BE49-F238E27FC236}">
                <a16:creationId xmlns:a16="http://schemas.microsoft.com/office/drawing/2014/main" id="{C795ACBC-98AB-9A44-B9D5-FE389DA41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4808756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cache</a:t>
            </a:r>
          </a:p>
        </p:txBody>
      </p:sp>
      <p:sp>
        <p:nvSpPr>
          <p:cNvPr id="37904" name="Rectangle 14">
            <a:extLst>
              <a:ext uri="{FF2B5EF4-FFF2-40B4-BE49-F238E27FC236}">
                <a16:creationId xmlns:a16="http://schemas.microsoft.com/office/drawing/2014/main" id="{473A7426-F64E-1689-F8C1-08B274AFB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4197799"/>
            <a:ext cx="1828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Network file systems cache</a:t>
            </a:r>
          </a:p>
        </p:txBody>
      </p:sp>
      <p:sp>
        <p:nvSpPr>
          <p:cNvPr id="37906" name="Rectangle 16">
            <a:extLst>
              <a:ext uri="{FF2B5EF4-FFF2-40B4-BE49-F238E27FC236}">
                <a16:creationId xmlns:a16="http://schemas.microsoft.com/office/drawing/2014/main" id="{12F2FA12-9E74-DA26-9262-88E14107F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3478663"/>
            <a:ext cx="18288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Memory</a:t>
            </a:r>
          </a:p>
        </p:txBody>
      </p:sp>
      <p:sp>
        <p:nvSpPr>
          <p:cNvPr id="37907" name="Rectangle 17">
            <a:extLst>
              <a:ext uri="{FF2B5EF4-FFF2-40B4-BE49-F238E27FC236}">
                <a16:creationId xmlns:a16="http://schemas.microsoft.com/office/drawing/2014/main" id="{DE4CED6E-6192-9CD5-FD3A-AB7A88562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2770408"/>
            <a:ext cx="1828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L2 cache</a:t>
            </a:r>
          </a:p>
        </p:txBody>
      </p:sp>
      <p:sp>
        <p:nvSpPr>
          <p:cNvPr id="37908" name="Rectangle 18">
            <a:extLst>
              <a:ext uri="{FF2B5EF4-FFF2-40B4-BE49-F238E27FC236}">
                <a16:creationId xmlns:a16="http://schemas.microsoft.com/office/drawing/2014/main" id="{1FA31D2E-AD2B-8910-0BB2-A7849D3F6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2432271"/>
            <a:ext cx="1828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L1 cache</a:t>
            </a:r>
          </a:p>
        </p:txBody>
      </p:sp>
      <p:sp>
        <p:nvSpPr>
          <p:cNvPr id="37909" name="Rectangle 19">
            <a:extLst>
              <a:ext uri="{FF2B5EF4-FFF2-40B4-BE49-F238E27FC236}">
                <a16:creationId xmlns:a16="http://schemas.microsoft.com/office/drawing/2014/main" id="{327633A9-8099-0AAD-9658-1E21F0B85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078038"/>
            <a:ext cx="18288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Registers</a:t>
            </a:r>
          </a:p>
        </p:txBody>
      </p:sp>
      <p:sp>
        <p:nvSpPr>
          <p:cNvPr id="37910" name="Rectangle 20">
            <a:extLst>
              <a:ext uri="{FF2B5EF4-FFF2-40B4-BE49-F238E27FC236}">
                <a16:creationId xmlns:a16="http://schemas.microsoft.com/office/drawing/2014/main" id="{39EF45C6-61E4-F9D9-C30B-FCB5E54E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438275"/>
            <a:ext cx="18288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Cache Type</a:t>
            </a:r>
          </a:p>
        </p:txBody>
      </p:sp>
      <p:sp>
        <p:nvSpPr>
          <p:cNvPr id="37919" name="Rectangle 29">
            <a:extLst>
              <a:ext uri="{FF2B5EF4-FFF2-40B4-BE49-F238E27FC236}">
                <a16:creationId xmlns:a16="http://schemas.microsoft.com/office/drawing/2014/main" id="{25DBBCDC-706E-7BEF-65D2-EA3A0D486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4808756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Web proxy server</a:t>
            </a:r>
          </a:p>
        </p:txBody>
      </p:sp>
      <p:sp>
        <p:nvSpPr>
          <p:cNvPr id="37920" name="Rectangle 30">
            <a:extLst>
              <a:ext uri="{FF2B5EF4-FFF2-40B4-BE49-F238E27FC236}">
                <a16:creationId xmlns:a16="http://schemas.microsoft.com/office/drawing/2014/main" id="{87366D5A-8191-919D-D336-6356ADA0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4808756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300,000,000</a:t>
            </a:r>
          </a:p>
        </p:txBody>
      </p:sp>
      <p:sp>
        <p:nvSpPr>
          <p:cNvPr id="37921" name="Rectangle 31">
            <a:extLst>
              <a:ext uri="{FF2B5EF4-FFF2-40B4-BE49-F238E27FC236}">
                <a16:creationId xmlns:a16="http://schemas.microsoft.com/office/drawing/2014/main" id="{B967D5DD-3EFF-0BD6-DA95-73059CCAB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4808756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Remote serves</a:t>
            </a:r>
          </a:p>
        </p:txBody>
      </p:sp>
      <p:sp>
        <p:nvSpPr>
          <p:cNvPr id="37925" name="Rectangle 35">
            <a:extLst>
              <a:ext uri="{FF2B5EF4-FFF2-40B4-BE49-F238E27FC236}">
                <a16:creationId xmlns:a16="http://schemas.microsoft.com/office/drawing/2014/main" id="{ABC211B9-E5ED-C2F0-39A3-D254C5B5F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2432271"/>
            <a:ext cx="1447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37926" name="Rectangle 36">
            <a:extLst>
              <a:ext uri="{FF2B5EF4-FFF2-40B4-BE49-F238E27FC236}">
                <a16:creationId xmlns:a16="http://schemas.microsoft.com/office/drawing/2014/main" id="{72F39D54-B75C-30B8-BDDC-35804F2A2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2432271"/>
            <a:ext cx="17526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7" name="Rectangle 37">
            <a:extLst>
              <a:ext uri="{FF2B5EF4-FFF2-40B4-BE49-F238E27FC236}">
                <a16:creationId xmlns:a16="http://schemas.microsoft.com/office/drawing/2014/main" id="{F989A6D2-C6DF-EA34-A33E-4DD76C2C8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2432271"/>
            <a:ext cx="20574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 CPU core</a:t>
            </a:r>
          </a:p>
        </p:txBody>
      </p:sp>
      <p:sp>
        <p:nvSpPr>
          <p:cNvPr id="37928" name="Rectangle 38">
            <a:extLst>
              <a:ext uri="{FF2B5EF4-FFF2-40B4-BE49-F238E27FC236}">
                <a16:creationId xmlns:a16="http://schemas.microsoft.com/office/drawing/2014/main" id="{9DA662B4-004F-1433-8CBF-CABB62556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2770408"/>
            <a:ext cx="1447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37929" name="Rectangle 39">
            <a:extLst>
              <a:ext uri="{FF2B5EF4-FFF2-40B4-BE49-F238E27FC236}">
                <a16:creationId xmlns:a16="http://schemas.microsoft.com/office/drawing/2014/main" id="{5BB362C4-432F-A1C0-864D-50039274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2770408"/>
            <a:ext cx="17526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37930" name="Rectangle 40">
            <a:extLst>
              <a:ext uri="{FF2B5EF4-FFF2-40B4-BE49-F238E27FC236}">
                <a16:creationId xmlns:a16="http://schemas.microsoft.com/office/drawing/2014/main" id="{0A46591D-173A-2EBD-2D06-DE08D7ACF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2770408"/>
            <a:ext cx="20574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 CPU core</a:t>
            </a:r>
          </a:p>
        </p:txBody>
      </p:sp>
      <p:sp>
        <p:nvSpPr>
          <p:cNvPr id="37931" name="Rectangle 41">
            <a:extLst>
              <a:ext uri="{FF2B5EF4-FFF2-40B4-BE49-F238E27FC236}">
                <a16:creationId xmlns:a16="http://schemas.microsoft.com/office/drawing/2014/main" id="{68B66668-B9E5-5E9D-66F9-6E2C2E75D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4197799"/>
            <a:ext cx="14478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NFS client</a:t>
            </a:r>
          </a:p>
        </p:txBody>
      </p:sp>
      <p:sp>
        <p:nvSpPr>
          <p:cNvPr id="37932" name="Rectangle 42">
            <a:extLst>
              <a:ext uri="{FF2B5EF4-FFF2-40B4-BE49-F238E27FC236}">
                <a16:creationId xmlns:a16="http://schemas.microsoft.com/office/drawing/2014/main" id="{39BF8323-A6C0-8C75-C7CC-B0A002149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4197799"/>
            <a:ext cx="17526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15,000,000</a:t>
            </a:r>
          </a:p>
        </p:txBody>
      </p:sp>
      <p:sp>
        <p:nvSpPr>
          <p:cNvPr id="37933" name="Rectangle 43">
            <a:extLst>
              <a:ext uri="{FF2B5EF4-FFF2-40B4-BE49-F238E27FC236}">
                <a16:creationId xmlns:a16="http://schemas.microsoft.com/office/drawing/2014/main" id="{25AA94C8-4404-9847-2297-CA21CBE8E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4197799"/>
            <a:ext cx="2057400" cy="58578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Local disk</a:t>
            </a:r>
          </a:p>
        </p:txBody>
      </p:sp>
      <p:sp>
        <p:nvSpPr>
          <p:cNvPr id="37934" name="Rectangle 44">
            <a:extLst>
              <a:ext uri="{FF2B5EF4-FFF2-40B4-BE49-F238E27FC236}">
                <a16:creationId xmlns:a16="http://schemas.microsoft.com/office/drawing/2014/main" id="{048CCB24-AAE4-7876-0B39-BAB4026D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3478663"/>
            <a:ext cx="14478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OS</a:t>
            </a:r>
          </a:p>
        </p:txBody>
      </p:sp>
      <p:sp>
        <p:nvSpPr>
          <p:cNvPr id="37935" name="Rectangle 45">
            <a:extLst>
              <a:ext uri="{FF2B5EF4-FFF2-40B4-BE49-F238E27FC236}">
                <a16:creationId xmlns:a16="http://schemas.microsoft.com/office/drawing/2014/main" id="{F1DE28AD-939A-E04A-46B4-B6E3D95A7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3478663"/>
            <a:ext cx="17526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37936" name="Rectangle 46">
            <a:extLst>
              <a:ext uri="{FF2B5EF4-FFF2-40B4-BE49-F238E27FC236}">
                <a16:creationId xmlns:a16="http://schemas.microsoft.com/office/drawing/2014/main" id="{D7FE3987-7C85-5C97-AE62-E5C4EDE0D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3478663"/>
            <a:ext cx="2057400" cy="338137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37937" name="Rectangle 47">
            <a:extLst>
              <a:ext uri="{FF2B5EF4-FFF2-40B4-BE49-F238E27FC236}">
                <a16:creationId xmlns:a16="http://schemas.microsoft.com/office/drawing/2014/main" id="{1EC1BE63-9C74-B59C-A277-C3BED43A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415" y="2078038"/>
            <a:ext cx="14478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Compiler</a:t>
            </a:r>
          </a:p>
        </p:txBody>
      </p:sp>
      <p:sp>
        <p:nvSpPr>
          <p:cNvPr id="37938" name="Rectangle 48">
            <a:extLst>
              <a:ext uri="{FF2B5EF4-FFF2-40B4-BE49-F238E27FC236}">
                <a16:creationId xmlns:a16="http://schemas.microsoft.com/office/drawing/2014/main" id="{23F93F59-B21D-472C-AF75-D6EC16C24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815" y="2078038"/>
            <a:ext cx="17526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9" name="Rectangle 49">
            <a:extLst>
              <a:ext uri="{FF2B5EF4-FFF2-40B4-BE49-F238E27FC236}">
                <a16:creationId xmlns:a16="http://schemas.microsoft.com/office/drawing/2014/main" id="{8F2EC5A5-B78B-EAD9-BDC9-58CEDFEF5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15" y="2078038"/>
            <a:ext cx="2057400" cy="3508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 CPU core</a:t>
            </a:r>
          </a:p>
        </p:txBody>
      </p:sp>
      <p:sp>
        <p:nvSpPr>
          <p:cNvPr id="37940" name="Rectangle 50">
            <a:extLst>
              <a:ext uri="{FF2B5EF4-FFF2-40B4-BE49-F238E27FC236}">
                <a16:creationId xmlns:a16="http://schemas.microsoft.com/office/drawing/2014/main" id="{44531DB0-D01B-88A3-8F59-76C29D5B5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415" y="1438275"/>
            <a:ext cx="14478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Managed By</a:t>
            </a:r>
          </a:p>
        </p:txBody>
      </p:sp>
      <p:sp>
        <p:nvSpPr>
          <p:cNvPr id="37941" name="Rectangle 51">
            <a:extLst>
              <a:ext uri="{FF2B5EF4-FFF2-40B4-BE49-F238E27FC236}">
                <a16:creationId xmlns:a16="http://schemas.microsoft.com/office/drawing/2014/main" id="{BDED5036-C4FD-EFED-63D9-79CC3BED0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815" y="1438275"/>
            <a:ext cx="1752600" cy="6397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Latency (cycles)</a:t>
            </a:r>
          </a:p>
        </p:txBody>
      </p:sp>
      <p:sp>
        <p:nvSpPr>
          <p:cNvPr id="37942" name="Rectangle 52">
            <a:extLst>
              <a:ext uri="{FF2B5EF4-FFF2-40B4-BE49-F238E27FC236}">
                <a16:creationId xmlns:a16="http://schemas.microsoft.com/office/drawing/2014/main" id="{0D7D841E-573D-F594-2E7D-F3616DCC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15" y="1438275"/>
            <a:ext cx="2057400" cy="639763"/>
          </a:xfrm>
          <a:prstGeom prst="rect">
            <a:avLst/>
          </a:prstGeom>
          <a:solidFill>
            <a:srgbClr val="E0E0E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 anchor="ctr" anchorCtr="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Where is it?</a:t>
            </a:r>
          </a:p>
        </p:txBody>
      </p:sp>
      <p:sp>
        <p:nvSpPr>
          <p:cNvPr id="37948" name="Line 58">
            <a:extLst>
              <a:ext uri="{FF2B5EF4-FFF2-40B4-BE49-F238E27FC236}">
                <a16:creationId xmlns:a16="http://schemas.microsoft.com/office/drawing/2014/main" id="{A748E56E-0AF2-37F9-C761-A8AF5A8EC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438275"/>
            <a:ext cx="1588" cy="639763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anchor="ctr" anchorCtr="0"/>
          <a:lstStyle/>
          <a:p>
            <a:endParaRPr lang="en-US"/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919584E6-DB0B-BE64-EEF7-846517BF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3835849"/>
            <a:ext cx="1828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cache	</a:t>
            </a:r>
          </a:p>
        </p:txBody>
      </p:sp>
      <p:sp>
        <p:nvSpPr>
          <p:cNvPr id="58" name="Rectangle 34">
            <a:extLst>
              <a:ext uri="{FF2B5EF4-FFF2-40B4-BE49-F238E27FC236}">
                <a16:creationId xmlns:a16="http://schemas.microsoft.com/office/drawing/2014/main" id="{8AE2AE17-F50E-103B-11C5-EE0A22DF2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58" y="3835849"/>
            <a:ext cx="20574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controller</a:t>
            </a:r>
          </a:p>
        </p:txBody>
      </p:sp>
      <p:sp>
        <p:nvSpPr>
          <p:cNvPr id="59" name="Rectangle 33">
            <a:extLst>
              <a:ext uri="{FF2B5EF4-FFF2-40B4-BE49-F238E27FC236}">
                <a16:creationId xmlns:a16="http://schemas.microsoft.com/office/drawing/2014/main" id="{75ECFD5D-8DF1-1189-8317-800E0C8E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58" y="3835849"/>
            <a:ext cx="17526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150,000</a:t>
            </a: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id="{6CD6098B-123C-8B54-530D-5C8C31C72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58" y="3835849"/>
            <a:ext cx="1447800" cy="36195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Disk firmware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9AC3AB25-D29B-9FF5-A798-1675A441D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69" y="3118752"/>
            <a:ext cx="1828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L3 cache</a:t>
            </a:r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665D0734-A713-125F-65DB-2848D219B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184" y="3118752"/>
            <a:ext cx="14478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Hardware</a:t>
            </a:r>
          </a:p>
        </p:txBody>
      </p:sp>
      <p:sp>
        <p:nvSpPr>
          <p:cNvPr id="8" name="Rectangle 39">
            <a:extLst>
              <a:ext uri="{FF2B5EF4-FFF2-40B4-BE49-F238E27FC236}">
                <a16:creationId xmlns:a16="http://schemas.microsoft.com/office/drawing/2014/main" id="{C9D4A8BB-EDD8-5B9E-7323-EF357FC6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584" y="3118752"/>
            <a:ext cx="17526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50</a:t>
            </a: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E53775F-B33F-AD6C-4973-F9AC309C8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184" y="3118752"/>
            <a:ext cx="2057400" cy="3381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0066"/>
                </a:solidFill>
                <a:latin typeface="Calibri" pitchFamily="34" charset="0"/>
              </a:rPr>
              <a:t> CPU core</a:t>
            </a:r>
          </a:p>
        </p:txBody>
      </p:sp>
    </p:spTree>
    <p:extLst>
      <p:ext uri="{BB962C8B-B14F-4D97-AF65-F5344CB8AC3E}">
        <p14:creationId xmlns:p14="http://schemas.microsoft.com/office/powerpoint/2010/main" val="24222924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8B49-D009-EEF5-FA47-5FD102A2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67A2-75DD-3C3A-5C11-0DACEF08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45C3-897C-3ADE-C422-AAC637CF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学生：老师，我发现</a:t>
            </a:r>
            <a:r>
              <a:rPr lang="en-US" dirty="0"/>
              <a:t> CSAPP </a:t>
            </a:r>
            <a:r>
              <a:rPr lang="en-US" dirty="0" err="1"/>
              <a:t>课件里有错误</a:t>
            </a:r>
            <a:r>
              <a:rPr lang="en-US" dirty="0"/>
              <a:t>。</a:t>
            </a:r>
          </a:p>
          <a:p>
            <a:r>
              <a:rPr lang="en-US" dirty="0" err="1"/>
              <a:t>老师：很好！学习计算机系统就是要有质疑精神</a:t>
            </a:r>
            <a:r>
              <a:rPr lang="en-US" dirty="0"/>
              <a:t>。</a:t>
            </a:r>
          </a:p>
          <a:p>
            <a:r>
              <a:rPr lang="en-US" dirty="0" err="1"/>
              <a:t>学生：所以这道考试题的答案是不是也应该修改</a:t>
            </a:r>
            <a:r>
              <a:rPr lang="en-US" dirty="0"/>
              <a:t>？</a:t>
            </a:r>
          </a:p>
          <a:p>
            <a:r>
              <a:rPr lang="en-US" dirty="0" err="1"/>
              <a:t>老师：学习计算机系统的另一个重要原则，是尊重接口规范</a:t>
            </a:r>
            <a:r>
              <a:rPr lang="en-US" dirty="0"/>
              <a:t>。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315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3B82-0693-1F8D-EAA1-EE25C5DA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CEF3-ADA5-E80B-7B05-A329688BFA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the main memory is slow?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Reason #1: the medium</a:t>
            </a:r>
          </a:p>
        </p:txBody>
      </p:sp>
    </p:spTree>
    <p:extLst>
      <p:ext uri="{BB962C8B-B14F-4D97-AF65-F5344CB8AC3E}">
        <p14:creationId xmlns:p14="http://schemas.microsoft.com/office/powerpoint/2010/main" val="3350083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C9CD87-D6E2-3D4A-93BB-50DE1265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Technologies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2556B-36EB-DD4B-BC94-1931022AB6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DRAM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Implementing the main memory</a:t>
            </a:r>
          </a:p>
          <a:p>
            <a:r>
              <a:rPr lang="en-US" dirty="0"/>
              <a:t>Must refresh state periodically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A2A8C-7489-9143-B443-73A6A030B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2088" y="1347526"/>
            <a:ext cx="3871912" cy="4972050"/>
          </a:xfrm>
        </p:spPr>
        <p:txBody>
          <a:bodyPr/>
          <a:lstStyle/>
          <a:p>
            <a:r>
              <a:rPr lang="en-US" dirty="0"/>
              <a:t>SRAM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Implementing cache</a:t>
            </a:r>
          </a:p>
          <a:p>
            <a:r>
              <a:rPr lang="en-US" dirty="0"/>
              <a:t>Holds state indefinitely (as long as power-on)</a:t>
            </a:r>
          </a:p>
        </p:txBody>
      </p:sp>
      <p:pic>
        <p:nvPicPr>
          <p:cNvPr id="1026" name="Picture 2" descr="http://4.bp.blogspot.com/-1awstTEgn8I/UvU79SAqrlI/AAAAAAAAAbw/tjXY0l4Vnnc/s1600/IBM+45nm_branded.png">
            <a:extLst>
              <a:ext uri="{FF2B5EF4-FFF2-40B4-BE49-F238E27FC236}">
                <a16:creationId xmlns:a16="http://schemas.microsoft.com/office/drawing/2014/main" id="{3B9D5E18-4CDB-5D40-8697-349234C6D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47" y="1862165"/>
            <a:ext cx="2562340" cy="177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1F625-E79E-7B42-8C6E-99842488E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638" y="1927479"/>
            <a:ext cx="1550818" cy="13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88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8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SRAM </a:t>
            </a:r>
            <a:r>
              <a:rPr lang="en-US" dirty="0" err="1"/>
              <a:t>vs</a:t>
            </a:r>
            <a:r>
              <a:rPr lang="en-US" dirty="0"/>
              <a:t> DRAM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2E43-4F6F-3945-B365-A9A98F41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5" y="4012707"/>
            <a:ext cx="8496754" cy="2321418"/>
          </a:xfrm>
        </p:spPr>
        <p:txBody>
          <a:bodyPr/>
          <a:lstStyle/>
          <a:p>
            <a:r>
              <a:rPr lang="en-US" dirty="0"/>
              <a:t>Both SRAM and DRAM reach their limits with semiconductor technology</a:t>
            </a:r>
          </a:p>
          <a:p>
            <a:pPr lvl="1"/>
            <a:r>
              <a:rPr lang="en-US" dirty="0"/>
              <a:t>DRAM scaling limited by need for minimum capacitance </a:t>
            </a:r>
          </a:p>
          <a:p>
            <a:pPr lvl="2"/>
            <a:r>
              <a:rPr lang="en-US" dirty="0"/>
              <a:t>Aspect ratio limits how deep can make capacitor</a:t>
            </a:r>
          </a:p>
          <a:p>
            <a:pPr lvl="2"/>
            <a:r>
              <a:rPr lang="en-US" dirty="0"/>
              <a:t>DRAM cell cannot be made smaller, because then it stops to store data reliably</a:t>
            </a:r>
          </a:p>
        </p:txBody>
      </p:sp>
      <p:sp>
        <p:nvSpPr>
          <p:cNvPr id="120836" name="Text Box 1028"/>
          <p:cNvSpPr txBox="1">
            <a:spLocks noChangeArrowheads="1"/>
          </p:cNvSpPr>
          <p:nvPr/>
        </p:nvSpPr>
        <p:spPr bwMode="auto">
          <a:xfrm>
            <a:off x="357018" y="1197678"/>
            <a:ext cx="8610600" cy="224676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Trans.	Access	Needs	Needs		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per bit	 time	refresh?	ECC?	Cost	Applications</a:t>
            </a:r>
          </a:p>
          <a:p>
            <a:pPr algn="l">
              <a:lnSpc>
                <a:spcPct val="100000"/>
              </a:lnSpc>
            </a:pPr>
            <a:endParaRPr 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SRAM	6 or 8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1x</a:t>
            </a: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Yes	100x	Cache</a:t>
            </a:r>
          </a:p>
          <a:p>
            <a:pPr algn="l">
              <a:lnSpc>
                <a:spcPct val="100000"/>
              </a:lnSpc>
            </a:pPr>
            <a:endParaRPr 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DRAM	1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10x</a:t>
            </a: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Yes	1x	Main memories,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						frame buffers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E318A2-4C13-44C9-B55D-4CC7F5F24463}"/>
              </a:ext>
            </a:extLst>
          </p:cNvPr>
          <p:cNvSpPr txBox="1"/>
          <p:nvPr/>
        </p:nvSpPr>
        <p:spPr>
          <a:xfrm>
            <a:off x="357018" y="3444447"/>
            <a:ext cx="26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Calibri" pitchFamily="34" charset="0"/>
              </a:rPr>
              <a:t>ECC: Error correction code</a:t>
            </a:r>
          </a:p>
        </p:txBody>
      </p:sp>
    </p:spTree>
    <p:extLst>
      <p:ext uri="{BB962C8B-B14F-4D97-AF65-F5344CB8AC3E}">
        <p14:creationId xmlns:p14="http://schemas.microsoft.com/office/powerpoint/2010/main" val="3109767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Enhanced DRAMs</a:t>
            </a:r>
          </a:p>
        </p:txBody>
      </p:sp>
      <p:sp>
        <p:nvSpPr>
          <p:cNvPr id="121861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8594725" cy="51149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 DRAM cell has not changed since its invention in 1966.</a:t>
            </a:r>
          </a:p>
          <a:p>
            <a:pPr lvl="1"/>
            <a:r>
              <a:rPr lang="en-US" dirty="0"/>
              <a:t>Commercialized by Intel in 1970. </a:t>
            </a:r>
          </a:p>
          <a:p>
            <a:r>
              <a:rPr lang="en-US" dirty="0"/>
              <a:t>DRAM cores with better interface logic and faster I/O :</a:t>
            </a:r>
          </a:p>
          <a:p>
            <a:pPr lvl="1"/>
            <a:r>
              <a:rPr lang="en-US" dirty="0"/>
              <a:t>Synchronous DRAM (</a:t>
            </a:r>
            <a:r>
              <a:rPr lang="en-US" dirty="0">
                <a:solidFill>
                  <a:srgbClr val="FF0000"/>
                </a:solidFill>
              </a:rPr>
              <a:t>SDRAM</a:t>
            </a:r>
            <a:r>
              <a:rPr lang="en-US" dirty="0"/>
              <a:t>)</a:t>
            </a:r>
          </a:p>
          <a:p>
            <a:pPr lvl="2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Sends one bit per cycle (rising or falling)</a:t>
            </a:r>
          </a:p>
          <a:p>
            <a:pPr lvl="2"/>
            <a:r>
              <a:rPr lang="en-US" dirty="0"/>
              <a:t>Uses a conventional clock signal instead of asynchronous control</a:t>
            </a:r>
          </a:p>
          <a:p>
            <a:pPr lvl="2"/>
            <a:r>
              <a:rPr lang="en-US" dirty="0"/>
              <a:t>Allows reuse of the row addresses (e.g., RAS, CAS, CAS, CAS)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Double data-rate synchronous DRAM (</a:t>
            </a:r>
            <a:r>
              <a:rPr lang="en-US" dirty="0">
                <a:solidFill>
                  <a:srgbClr val="FF0000"/>
                </a:solidFill>
              </a:rPr>
              <a:t>DDR SDRAM</a:t>
            </a:r>
            <a:r>
              <a:rPr lang="en-US" dirty="0"/>
              <a:t>)</a:t>
            </a:r>
          </a:p>
          <a:p>
            <a:pPr lvl="2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Sends two bits per cycle (rising and falling)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Different types distinguished by size of small </a:t>
            </a:r>
            <a:r>
              <a:rPr lang="en-US" b="1" dirty="0" err="1">
                <a:solidFill>
                  <a:srgbClr val="C00000"/>
                </a:solidFill>
              </a:rPr>
              <a:t>prefetch</a:t>
            </a:r>
            <a:r>
              <a:rPr lang="en-US" b="1" dirty="0">
                <a:solidFill>
                  <a:srgbClr val="C00000"/>
                </a:solidFill>
              </a:rPr>
              <a:t> buffer:</a:t>
            </a:r>
          </a:p>
          <a:p>
            <a:pPr lvl="3"/>
            <a:r>
              <a:rPr lang="en-US" b="1" dirty="0">
                <a:solidFill>
                  <a:srgbClr val="C00000"/>
                </a:solidFill>
              </a:rPr>
              <a:t>DDR (2 bits), DDR2 (4 bits), DDR3 (8 bits), DDR4 (16 bits)</a:t>
            </a:r>
          </a:p>
          <a:p>
            <a:pPr lvl="2"/>
            <a:r>
              <a:rPr lang="en-US" dirty="0"/>
              <a:t>By 2010, standard for most server and desktop systems</a:t>
            </a:r>
          </a:p>
          <a:p>
            <a:pPr lvl="2"/>
            <a:r>
              <a:rPr lang="en-US" dirty="0"/>
              <a:t>Intel Core i7 supports DDR3 and DDR4 SDRAM</a:t>
            </a:r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86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16" name="Rectangle 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Conventional DRAM Organization</a:t>
            </a:r>
          </a:p>
        </p:txBody>
      </p:sp>
      <p:sp>
        <p:nvSpPr>
          <p:cNvPr id="62517" name="Rectangle 5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w</a:t>
            </a:r>
            <a:r>
              <a:rPr lang="en-US" dirty="0"/>
              <a:t> DRAM:</a:t>
            </a:r>
          </a:p>
          <a:p>
            <a:pPr lvl="1"/>
            <a:r>
              <a:rPr lang="en-US" dirty="0" err="1"/>
              <a:t>dw</a:t>
            </a:r>
            <a:r>
              <a:rPr lang="en-US" dirty="0"/>
              <a:t> total bits organized as </a:t>
            </a:r>
            <a:r>
              <a:rPr lang="en-US" dirty="0" err="1"/>
              <a:t>d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supercells</a:t>
            </a:r>
            <a:r>
              <a:rPr lang="en-US" dirty="0"/>
              <a:t> of size </a:t>
            </a:r>
            <a:r>
              <a:rPr lang="en-US" dirty="0" err="1"/>
              <a:t>w</a:t>
            </a:r>
            <a:r>
              <a:rPr lang="en-US" dirty="0"/>
              <a:t> bits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5805488" y="2740025"/>
            <a:ext cx="5905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cols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000500" y="4143375"/>
            <a:ext cx="6651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rows</a:t>
            </a: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4867275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5476875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6086475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6696075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4867275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5476875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6086475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6696075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4867275" y="43275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79" name="Rectangle 15"/>
          <p:cNvSpPr>
            <a:spLocks noChangeArrowheads="1"/>
          </p:cNvSpPr>
          <p:nvPr/>
        </p:nvSpPr>
        <p:spPr bwMode="auto">
          <a:xfrm>
            <a:off x="5476875" y="4327525"/>
            <a:ext cx="609600" cy="5334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80" name="Rectangle 16"/>
          <p:cNvSpPr>
            <a:spLocks noChangeArrowheads="1"/>
          </p:cNvSpPr>
          <p:nvPr/>
        </p:nvSpPr>
        <p:spPr bwMode="auto">
          <a:xfrm>
            <a:off x="6086475" y="43275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6696075" y="43275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4867275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83" name="Rectangle 19"/>
          <p:cNvSpPr>
            <a:spLocks noChangeArrowheads="1"/>
          </p:cNvSpPr>
          <p:nvPr/>
        </p:nvSpPr>
        <p:spPr bwMode="auto">
          <a:xfrm>
            <a:off x="5476875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4" name="Rectangle 20"/>
          <p:cNvSpPr>
            <a:spLocks noChangeArrowheads="1"/>
          </p:cNvSpPr>
          <p:nvPr/>
        </p:nvSpPr>
        <p:spPr bwMode="auto">
          <a:xfrm>
            <a:off x="6086475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5" name="Rectangle 21"/>
          <p:cNvSpPr>
            <a:spLocks noChangeArrowheads="1"/>
          </p:cNvSpPr>
          <p:nvPr/>
        </p:nvSpPr>
        <p:spPr bwMode="auto">
          <a:xfrm>
            <a:off x="6696075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5019675" y="2940050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2487" name="Text Box 23"/>
          <p:cNvSpPr txBox="1">
            <a:spLocks noChangeArrowheads="1"/>
          </p:cNvSpPr>
          <p:nvPr/>
        </p:nvSpPr>
        <p:spPr bwMode="auto">
          <a:xfrm>
            <a:off x="5629275" y="295592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2488" name="Text Box 24"/>
          <p:cNvSpPr txBox="1">
            <a:spLocks noChangeArrowheads="1"/>
          </p:cNvSpPr>
          <p:nvPr/>
        </p:nvSpPr>
        <p:spPr bwMode="auto">
          <a:xfrm>
            <a:off x="6246813" y="2955925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2489" name="Text Box 25"/>
          <p:cNvSpPr txBox="1">
            <a:spLocks noChangeArrowheads="1"/>
          </p:cNvSpPr>
          <p:nvPr/>
        </p:nvSpPr>
        <p:spPr bwMode="auto">
          <a:xfrm>
            <a:off x="6856413" y="2955925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2490" name="Text Box 26"/>
          <p:cNvSpPr txBox="1">
            <a:spLocks noChangeArrowheads="1"/>
          </p:cNvSpPr>
          <p:nvPr/>
        </p:nvSpPr>
        <p:spPr bwMode="auto">
          <a:xfrm>
            <a:off x="4562475" y="33813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2491" name="Text Box 27"/>
          <p:cNvSpPr txBox="1">
            <a:spLocks noChangeArrowheads="1"/>
          </p:cNvSpPr>
          <p:nvPr/>
        </p:nvSpPr>
        <p:spPr bwMode="auto">
          <a:xfrm>
            <a:off x="4562475" y="39147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2492" name="Text Box 28"/>
          <p:cNvSpPr txBox="1">
            <a:spLocks noChangeArrowheads="1"/>
          </p:cNvSpPr>
          <p:nvPr/>
        </p:nvSpPr>
        <p:spPr bwMode="auto">
          <a:xfrm>
            <a:off x="4562475" y="44481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2493" name="Text Box 29"/>
          <p:cNvSpPr txBox="1">
            <a:spLocks noChangeArrowheads="1"/>
          </p:cNvSpPr>
          <p:nvPr/>
        </p:nvSpPr>
        <p:spPr bwMode="auto">
          <a:xfrm>
            <a:off x="4562475" y="49815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2494" name="Rectangle 30"/>
          <p:cNvSpPr>
            <a:spLocks noChangeArrowheads="1"/>
          </p:cNvSpPr>
          <p:nvPr/>
        </p:nvSpPr>
        <p:spPr bwMode="auto">
          <a:xfrm>
            <a:off x="4864100" y="3260725"/>
            <a:ext cx="2438400" cy="2133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5" name="Rectangle 31"/>
          <p:cNvSpPr>
            <a:spLocks noChangeArrowheads="1"/>
          </p:cNvSpPr>
          <p:nvPr/>
        </p:nvSpPr>
        <p:spPr bwMode="auto">
          <a:xfrm>
            <a:off x="4864100" y="5699125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96" name="Rectangle 32"/>
          <p:cNvSpPr>
            <a:spLocks noChangeArrowheads="1"/>
          </p:cNvSpPr>
          <p:nvPr/>
        </p:nvSpPr>
        <p:spPr bwMode="auto">
          <a:xfrm>
            <a:off x="5473700" y="5699125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497" name="Rectangle 33"/>
          <p:cNvSpPr>
            <a:spLocks noChangeArrowheads="1"/>
          </p:cNvSpPr>
          <p:nvPr/>
        </p:nvSpPr>
        <p:spPr bwMode="auto">
          <a:xfrm>
            <a:off x="6083300" y="5699125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8" name="Rectangle 34"/>
          <p:cNvSpPr>
            <a:spLocks noChangeArrowheads="1"/>
          </p:cNvSpPr>
          <p:nvPr/>
        </p:nvSpPr>
        <p:spPr bwMode="auto">
          <a:xfrm>
            <a:off x="6692900" y="5699125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9" name="Rectangle 35"/>
          <p:cNvSpPr>
            <a:spLocks noChangeArrowheads="1"/>
          </p:cNvSpPr>
          <p:nvPr/>
        </p:nvSpPr>
        <p:spPr bwMode="auto">
          <a:xfrm>
            <a:off x="4864100" y="5699125"/>
            <a:ext cx="2438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0" name="Text Box 36"/>
          <p:cNvSpPr txBox="1">
            <a:spLocks noChangeArrowheads="1"/>
          </p:cNvSpPr>
          <p:nvPr/>
        </p:nvSpPr>
        <p:spPr bwMode="auto">
          <a:xfrm>
            <a:off x="5303234" y="6291848"/>
            <a:ext cx="166173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Internal row buffer</a:t>
            </a:r>
          </a:p>
        </p:txBody>
      </p:sp>
      <p:sp>
        <p:nvSpPr>
          <p:cNvPr id="62501" name="Rectangle 37"/>
          <p:cNvSpPr>
            <a:spLocks noChangeArrowheads="1"/>
          </p:cNvSpPr>
          <p:nvPr/>
        </p:nvSpPr>
        <p:spPr bwMode="auto">
          <a:xfrm>
            <a:off x="4029075" y="2667000"/>
            <a:ext cx="3505200" cy="403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2" name="Text Box 38"/>
          <p:cNvSpPr txBox="1">
            <a:spLocks noChangeArrowheads="1"/>
          </p:cNvSpPr>
          <p:nvPr/>
        </p:nvSpPr>
        <p:spPr bwMode="auto">
          <a:xfrm>
            <a:off x="3892550" y="2346325"/>
            <a:ext cx="18891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16 x 8 DRAM chip</a:t>
            </a:r>
          </a:p>
        </p:txBody>
      </p:sp>
      <p:sp>
        <p:nvSpPr>
          <p:cNvPr id="62503" name="Line 39"/>
          <p:cNvSpPr>
            <a:spLocks noChangeShapeType="1"/>
          </p:cNvSpPr>
          <p:nvPr/>
        </p:nvSpPr>
        <p:spPr bwMode="auto">
          <a:xfrm flipV="1">
            <a:off x="2886075" y="3702050"/>
            <a:ext cx="1143000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3160713" y="3762375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addr</a:t>
            </a:r>
          </a:p>
        </p:txBody>
      </p:sp>
      <p:sp>
        <p:nvSpPr>
          <p:cNvPr id="62505" name="Line 41"/>
          <p:cNvSpPr>
            <a:spLocks noChangeShapeType="1"/>
          </p:cNvSpPr>
          <p:nvPr/>
        </p:nvSpPr>
        <p:spPr bwMode="auto">
          <a:xfrm>
            <a:off x="2886075" y="5470525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6" name="Text Box 42"/>
          <p:cNvSpPr txBox="1">
            <a:spLocks noChangeArrowheads="1"/>
          </p:cNvSpPr>
          <p:nvPr/>
        </p:nvSpPr>
        <p:spPr bwMode="auto">
          <a:xfrm>
            <a:off x="3128963" y="5514975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data</a:t>
            </a:r>
          </a:p>
        </p:txBody>
      </p:sp>
      <p:sp>
        <p:nvSpPr>
          <p:cNvPr id="62507" name="Text Box 43"/>
          <p:cNvSpPr txBox="1">
            <a:spLocks noChangeArrowheads="1"/>
          </p:cNvSpPr>
          <p:nvPr/>
        </p:nvSpPr>
        <p:spPr bwMode="auto">
          <a:xfrm>
            <a:off x="7832912" y="4439950"/>
            <a:ext cx="923550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 err="1"/>
              <a:t>supercell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/>
              <a:t>(2,1)</a:t>
            </a:r>
          </a:p>
        </p:txBody>
      </p:sp>
      <p:sp>
        <p:nvSpPr>
          <p:cNvPr id="62508" name="Line 44"/>
          <p:cNvSpPr>
            <a:spLocks noChangeShapeType="1"/>
          </p:cNvSpPr>
          <p:nvPr/>
        </p:nvSpPr>
        <p:spPr bwMode="auto">
          <a:xfrm flipH="1" flipV="1">
            <a:off x="5857875" y="4632325"/>
            <a:ext cx="1981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9" name="Text Box 45"/>
          <p:cNvSpPr txBox="1">
            <a:spLocks noChangeArrowheads="1"/>
          </p:cNvSpPr>
          <p:nvPr/>
        </p:nvSpPr>
        <p:spPr bwMode="auto">
          <a:xfrm>
            <a:off x="3182938" y="3382963"/>
            <a:ext cx="5826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2 bits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2510" name="Text Box 46"/>
          <p:cNvSpPr txBox="1">
            <a:spLocks noChangeArrowheads="1"/>
          </p:cNvSpPr>
          <p:nvPr/>
        </p:nvSpPr>
        <p:spPr bwMode="auto">
          <a:xfrm>
            <a:off x="3189288" y="5165725"/>
            <a:ext cx="5826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8 bits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2511" name="Rectangle 47"/>
          <p:cNvSpPr>
            <a:spLocks noChangeArrowheads="1"/>
          </p:cNvSpPr>
          <p:nvPr/>
        </p:nvSpPr>
        <p:spPr bwMode="auto">
          <a:xfrm>
            <a:off x="1743075" y="3032125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62512" name="AutoShape 48"/>
          <p:cNvSpPr>
            <a:spLocks noChangeArrowheads="1"/>
          </p:cNvSpPr>
          <p:nvPr/>
        </p:nvSpPr>
        <p:spPr bwMode="auto">
          <a:xfrm>
            <a:off x="447675" y="4251325"/>
            <a:ext cx="1295400" cy="457200"/>
          </a:xfrm>
          <a:prstGeom prst="leftRightArrow">
            <a:avLst>
              <a:gd name="adj1" fmla="val 50000"/>
              <a:gd name="adj2" fmla="val 5666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2513" name="Text Box 49"/>
          <p:cNvSpPr txBox="1">
            <a:spLocks noChangeArrowheads="1"/>
          </p:cNvSpPr>
          <p:nvPr/>
        </p:nvSpPr>
        <p:spPr bwMode="auto">
          <a:xfrm>
            <a:off x="457200" y="4783723"/>
            <a:ext cx="12779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(to/from CPU)</a:t>
            </a:r>
          </a:p>
        </p:txBody>
      </p:sp>
    </p:spTree>
    <p:extLst>
      <p:ext uri="{BB962C8B-B14F-4D97-AF65-F5344CB8AC3E}">
        <p14:creationId xmlns:p14="http://schemas.microsoft.com/office/powerpoint/2010/main" val="1196422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50" name="Rectangle 62"/>
          <p:cNvSpPr>
            <a:spLocks noChangeArrowheads="1"/>
          </p:cNvSpPr>
          <p:nvPr/>
        </p:nvSpPr>
        <p:spPr bwMode="auto">
          <a:xfrm>
            <a:off x="4714875" y="5715000"/>
            <a:ext cx="2438400" cy="533400"/>
          </a:xfrm>
          <a:prstGeom prst="rect">
            <a:avLst/>
          </a:prstGeom>
          <a:solidFill>
            <a:srgbClr val="FF99C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40" name="Rectangle 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DRAM Supercell (2,1)</a:t>
            </a:r>
          </a:p>
        </p:txBody>
      </p:sp>
      <p:sp>
        <p:nvSpPr>
          <p:cNvPr id="63541" name="Rectangle 53"/>
          <p:cNvSpPr>
            <a:spLocks noGrp="1" noChangeArrowheads="1"/>
          </p:cNvSpPr>
          <p:nvPr>
            <p:ph idx="1"/>
          </p:nvPr>
        </p:nvSpPr>
        <p:spPr>
          <a:xfrm>
            <a:off x="519112" y="1219200"/>
            <a:ext cx="8167688" cy="990600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Step 1(a): Row access strobe (</a:t>
            </a:r>
            <a:r>
              <a:rPr lang="en-US" sz="2000" dirty="0">
                <a:solidFill>
                  <a:srgbClr val="FF0000"/>
                </a:solidFill>
              </a:rPr>
              <a:t>RAS</a:t>
            </a:r>
            <a:r>
              <a:rPr lang="en-US" sz="2000" dirty="0"/>
              <a:t>) selects row 2.</a:t>
            </a:r>
          </a:p>
          <a:p>
            <a:pPr>
              <a:buNone/>
            </a:pPr>
            <a:r>
              <a:rPr 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Step 1(b): Row 2 copied from DRAM array to row buffer.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5643563" y="2739023"/>
            <a:ext cx="54924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Cols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3838575" y="4142373"/>
            <a:ext cx="63340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Rows</a:t>
            </a: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4705350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5314950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5924550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6534150" y="32607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4705350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5314950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5924550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6534150" y="37941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760663" y="3076575"/>
            <a:ext cx="10398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Courier New" charset="0"/>
              </a:rPr>
              <a:t>RAS = 2</a:t>
            </a:r>
          </a:p>
        </p:txBody>
      </p:sp>
      <p:sp>
        <p:nvSpPr>
          <p:cNvPr id="63503" name="Rectangle 15"/>
          <p:cNvSpPr>
            <a:spLocks noChangeArrowheads="1"/>
          </p:cNvSpPr>
          <p:nvPr/>
        </p:nvSpPr>
        <p:spPr bwMode="auto">
          <a:xfrm>
            <a:off x="4705350" y="43275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04" name="Rectangle 16"/>
          <p:cNvSpPr>
            <a:spLocks noChangeArrowheads="1"/>
          </p:cNvSpPr>
          <p:nvPr/>
        </p:nvSpPr>
        <p:spPr bwMode="auto">
          <a:xfrm>
            <a:off x="5314950" y="43275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05" name="Rectangle 17"/>
          <p:cNvSpPr>
            <a:spLocks noChangeArrowheads="1"/>
          </p:cNvSpPr>
          <p:nvPr/>
        </p:nvSpPr>
        <p:spPr bwMode="auto">
          <a:xfrm>
            <a:off x="5924550" y="43275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06" name="Rectangle 18"/>
          <p:cNvSpPr>
            <a:spLocks noChangeArrowheads="1"/>
          </p:cNvSpPr>
          <p:nvPr/>
        </p:nvSpPr>
        <p:spPr bwMode="auto">
          <a:xfrm>
            <a:off x="6534150" y="43275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11" name="Text Box 23"/>
          <p:cNvSpPr txBox="1">
            <a:spLocks noChangeArrowheads="1"/>
          </p:cNvSpPr>
          <p:nvPr/>
        </p:nvSpPr>
        <p:spPr bwMode="auto">
          <a:xfrm>
            <a:off x="4857750" y="2940050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3512" name="Text Box 24"/>
          <p:cNvSpPr txBox="1">
            <a:spLocks noChangeArrowheads="1"/>
          </p:cNvSpPr>
          <p:nvPr/>
        </p:nvSpPr>
        <p:spPr bwMode="auto">
          <a:xfrm>
            <a:off x="5467350" y="295592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3513" name="Text Box 25"/>
          <p:cNvSpPr txBox="1">
            <a:spLocks noChangeArrowheads="1"/>
          </p:cNvSpPr>
          <p:nvPr/>
        </p:nvSpPr>
        <p:spPr bwMode="auto">
          <a:xfrm>
            <a:off x="6084888" y="2955925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3514" name="Text Box 26"/>
          <p:cNvSpPr txBox="1">
            <a:spLocks noChangeArrowheads="1"/>
          </p:cNvSpPr>
          <p:nvPr/>
        </p:nvSpPr>
        <p:spPr bwMode="auto">
          <a:xfrm>
            <a:off x="6694488" y="2955925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3515" name="Text Box 27"/>
          <p:cNvSpPr txBox="1">
            <a:spLocks noChangeArrowheads="1"/>
          </p:cNvSpPr>
          <p:nvPr/>
        </p:nvSpPr>
        <p:spPr bwMode="auto">
          <a:xfrm>
            <a:off x="4400550" y="33813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3516" name="Text Box 28"/>
          <p:cNvSpPr txBox="1">
            <a:spLocks noChangeArrowheads="1"/>
          </p:cNvSpPr>
          <p:nvPr/>
        </p:nvSpPr>
        <p:spPr bwMode="auto">
          <a:xfrm>
            <a:off x="4400550" y="39147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3517" name="Text Box 29"/>
          <p:cNvSpPr txBox="1">
            <a:spLocks noChangeArrowheads="1"/>
          </p:cNvSpPr>
          <p:nvPr/>
        </p:nvSpPr>
        <p:spPr bwMode="auto">
          <a:xfrm>
            <a:off x="4400550" y="44481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3525" name="Text Box 37"/>
          <p:cNvSpPr txBox="1">
            <a:spLocks noChangeArrowheads="1"/>
          </p:cNvSpPr>
          <p:nvPr/>
        </p:nvSpPr>
        <p:spPr bwMode="auto">
          <a:xfrm>
            <a:off x="5141309" y="6291848"/>
            <a:ext cx="166173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Internal row buffer</a:t>
            </a:r>
          </a:p>
        </p:txBody>
      </p:sp>
      <p:sp>
        <p:nvSpPr>
          <p:cNvPr id="63526" name="Rectangle 38"/>
          <p:cNvSpPr>
            <a:spLocks noChangeArrowheads="1"/>
          </p:cNvSpPr>
          <p:nvPr/>
        </p:nvSpPr>
        <p:spPr bwMode="auto">
          <a:xfrm>
            <a:off x="3867150" y="2667000"/>
            <a:ext cx="3667125" cy="403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27" name="Text Box 39"/>
          <p:cNvSpPr txBox="1">
            <a:spLocks noChangeArrowheads="1"/>
          </p:cNvSpPr>
          <p:nvPr/>
        </p:nvSpPr>
        <p:spPr bwMode="auto">
          <a:xfrm>
            <a:off x="3740150" y="2346325"/>
            <a:ext cx="18891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16 x 8 DRAM chip</a:t>
            </a:r>
          </a:p>
        </p:txBody>
      </p:sp>
      <p:sp>
        <p:nvSpPr>
          <p:cNvPr id="63507" name="Rectangle 19"/>
          <p:cNvSpPr>
            <a:spLocks noChangeArrowheads="1"/>
          </p:cNvSpPr>
          <p:nvPr/>
        </p:nvSpPr>
        <p:spPr bwMode="auto">
          <a:xfrm>
            <a:off x="4705350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08" name="Rectangle 20"/>
          <p:cNvSpPr>
            <a:spLocks noChangeArrowheads="1"/>
          </p:cNvSpPr>
          <p:nvPr/>
        </p:nvSpPr>
        <p:spPr bwMode="auto">
          <a:xfrm>
            <a:off x="5314950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09" name="Rectangle 21"/>
          <p:cNvSpPr>
            <a:spLocks noChangeArrowheads="1"/>
          </p:cNvSpPr>
          <p:nvPr/>
        </p:nvSpPr>
        <p:spPr bwMode="auto">
          <a:xfrm>
            <a:off x="5924550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10" name="Rectangle 22"/>
          <p:cNvSpPr>
            <a:spLocks noChangeArrowheads="1"/>
          </p:cNvSpPr>
          <p:nvPr/>
        </p:nvSpPr>
        <p:spPr bwMode="auto">
          <a:xfrm>
            <a:off x="6534150" y="4860925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18" name="Text Box 30"/>
          <p:cNvSpPr txBox="1">
            <a:spLocks noChangeArrowheads="1"/>
          </p:cNvSpPr>
          <p:nvPr/>
        </p:nvSpPr>
        <p:spPr bwMode="auto">
          <a:xfrm>
            <a:off x="4400550" y="4981575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3520" name="Rectangle 32"/>
          <p:cNvSpPr>
            <a:spLocks noChangeArrowheads="1"/>
          </p:cNvSpPr>
          <p:nvPr/>
        </p:nvSpPr>
        <p:spPr bwMode="auto">
          <a:xfrm>
            <a:off x="4702175" y="56991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21" name="Rectangle 33"/>
          <p:cNvSpPr>
            <a:spLocks noChangeArrowheads="1"/>
          </p:cNvSpPr>
          <p:nvPr/>
        </p:nvSpPr>
        <p:spPr bwMode="auto">
          <a:xfrm>
            <a:off x="5311775" y="56991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3522" name="Rectangle 34"/>
          <p:cNvSpPr>
            <a:spLocks noChangeArrowheads="1"/>
          </p:cNvSpPr>
          <p:nvPr/>
        </p:nvSpPr>
        <p:spPr bwMode="auto">
          <a:xfrm>
            <a:off x="5921375" y="56991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23" name="Rectangle 35"/>
          <p:cNvSpPr>
            <a:spLocks noChangeArrowheads="1"/>
          </p:cNvSpPr>
          <p:nvPr/>
        </p:nvSpPr>
        <p:spPr bwMode="auto">
          <a:xfrm>
            <a:off x="6530975" y="5699125"/>
            <a:ext cx="6096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33" name="Line 45"/>
          <p:cNvSpPr>
            <a:spLocks noChangeShapeType="1"/>
          </p:cNvSpPr>
          <p:nvPr/>
        </p:nvSpPr>
        <p:spPr bwMode="auto">
          <a:xfrm flipV="1">
            <a:off x="2733675" y="3625850"/>
            <a:ext cx="1143000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34" name="Text Box 46"/>
          <p:cNvSpPr txBox="1">
            <a:spLocks noChangeArrowheads="1"/>
          </p:cNvSpPr>
          <p:nvPr/>
        </p:nvSpPr>
        <p:spPr bwMode="auto">
          <a:xfrm>
            <a:off x="3008313" y="3686175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addr</a:t>
            </a:r>
          </a:p>
        </p:txBody>
      </p:sp>
      <p:sp>
        <p:nvSpPr>
          <p:cNvPr id="63535" name="Line 47"/>
          <p:cNvSpPr>
            <a:spLocks noChangeShapeType="1"/>
          </p:cNvSpPr>
          <p:nvPr/>
        </p:nvSpPr>
        <p:spPr bwMode="auto">
          <a:xfrm>
            <a:off x="2733675" y="5394325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536" name="Text Box 48"/>
          <p:cNvSpPr txBox="1">
            <a:spLocks noChangeArrowheads="1"/>
          </p:cNvSpPr>
          <p:nvPr/>
        </p:nvSpPr>
        <p:spPr bwMode="auto">
          <a:xfrm>
            <a:off x="2976563" y="5438775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data</a:t>
            </a:r>
          </a:p>
        </p:txBody>
      </p:sp>
      <p:sp>
        <p:nvSpPr>
          <p:cNvPr id="63537" name="Text Box 49"/>
          <p:cNvSpPr txBox="1">
            <a:spLocks noChangeArrowheads="1"/>
          </p:cNvSpPr>
          <p:nvPr/>
        </p:nvSpPr>
        <p:spPr bwMode="auto">
          <a:xfrm>
            <a:off x="3184525" y="3306763"/>
            <a:ext cx="2682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2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3538" name="Text Box 50"/>
          <p:cNvSpPr txBox="1">
            <a:spLocks noChangeArrowheads="1"/>
          </p:cNvSpPr>
          <p:nvPr/>
        </p:nvSpPr>
        <p:spPr bwMode="auto">
          <a:xfrm>
            <a:off x="3190875" y="5089525"/>
            <a:ext cx="2682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8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3539" name="Rectangle 51"/>
          <p:cNvSpPr>
            <a:spLocks noChangeArrowheads="1"/>
          </p:cNvSpPr>
          <p:nvPr/>
        </p:nvSpPr>
        <p:spPr bwMode="auto">
          <a:xfrm>
            <a:off x="1590675" y="2955925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4705350" y="4324350"/>
            <a:ext cx="2438400" cy="533400"/>
            <a:chOff x="3018" y="2582"/>
            <a:chExt cx="1536" cy="336"/>
          </a:xfrm>
        </p:grpSpPr>
        <p:sp>
          <p:nvSpPr>
            <p:cNvPr id="63554" name="Rectangle 66"/>
            <p:cNvSpPr>
              <a:spLocks noChangeArrowheads="1"/>
            </p:cNvSpPr>
            <p:nvPr/>
          </p:nvSpPr>
          <p:spPr bwMode="auto">
            <a:xfrm>
              <a:off x="3018" y="2582"/>
              <a:ext cx="384" cy="336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600"/>
            </a:p>
          </p:txBody>
        </p:sp>
        <p:sp>
          <p:nvSpPr>
            <p:cNvPr id="63555" name="Rectangle 67"/>
            <p:cNvSpPr>
              <a:spLocks noChangeArrowheads="1"/>
            </p:cNvSpPr>
            <p:nvPr/>
          </p:nvSpPr>
          <p:spPr bwMode="auto">
            <a:xfrm>
              <a:off x="3402" y="2582"/>
              <a:ext cx="384" cy="336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600"/>
            </a:p>
          </p:txBody>
        </p:sp>
        <p:sp>
          <p:nvSpPr>
            <p:cNvPr id="63556" name="Rectangle 68"/>
            <p:cNvSpPr>
              <a:spLocks noChangeArrowheads="1"/>
            </p:cNvSpPr>
            <p:nvPr/>
          </p:nvSpPr>
          <p:spPr bwMode="auto">
            <a:xfrm>
              <a:off x="3786" y="2582"/>
              <a:ext cx="384" cy="336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57" name="Rectangle 69"/>
            <p:cNvSpPr>
              <a:spLocks noChangeArrowheads="1"/>
            </p:cNvSpPr>
            <p:nvPr/>
          </p:nvSpPr>
          <p:spPr bwMode="auto">
            <a:xfrm>
              <a:off x="4170" y="2582"/>
              <a:ext cx="384" cy="336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3519" name="Rectangle 31"/>
          <p:cNvSpPr>
            <a:spLocks noChangeArrowheads="1"/>
          </p:cNvSpPr>
          <p:nvPr/>
        </p:nvSpPr>
        <p:spPr bwMode="auto">
          <a:xfrm>
            <a:off x="4702175" y="3260725"/>
            <a:ext cx="2438400" cy="2133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4857750" y="4708525"/>
            <a:ext cx="2133600" cy="990600"/>
            <a:chOff x="3114" y="2822"/>
            <a:chExt cx="1344" cy="624"/>
          </a:xfrm>
        </p:grpSpPr>
        <p:sp>
          <p:nvSpPr>
            <p:cNvPr id="63528" name="AutoShape 40"/>
            <p:cNvSpPr>
              <a:spLocks noChangeArrowheads="1"/>
            </p:cNvSpPr>
            <p:nvPr/>
          </p:nvSpPr>
          <p:spPr bwMode="auto">
            <a:xfrm>
              <a:off x="3114" y="2822"/>
              <a:ext cx="192" cy="624"/>
            </a:xfrm>
            <a:prstGeom prst="downArrow">
              <a:avLst>
                <a:gd name="adj1" fmla="val 50000"/>
                <a:gd name="adj2" fmla="val 81250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9" name="AutoShape 41"/>
            <p:cNvSpPr>
              <a:spLocks noChangeArrowheads="1"/>
            </p:cNvSpPr>
            <p:nvPr/>
          </p:nvSpPr>
          <p:spPr bwMode="auto">
            <a:xfrm>
              <a:off x="3498" y="2822"/>
              <a:ext cx="192" cy="624"/>
            </a:xfrm>
            <a:prstGeom prst="downArrow">
              <a:avLst>
                <a:gd name="adj1" fmla="val 50000"/>
                <a:gd name="adj2" fmla="val 81250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0" name="AutoShape 42"/>
            <p:cNvSpPr>
              <a:spLocks noChangeArrowheads="1"/>
            </p:cNvSpPr>
            <p:nvPr/>
          </p:nvSpPr>
          <p:spPr bwMode="auto">
            <a:xfrm>
              <a:off x="3882" y="2822"/>
              <a:ext cx="192" cy="624"/>
            </a:xfrm>
            <a:prstGeom prst="downArrow">
              <a:avLst>
                <a:gd name="adj1" fmla="val 50000"/>
                <a:gd name="adj2" fmla="val 81250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1" name="AutoShape 43"/>
            <p:cNvSpPr>
              <a:spLocks noChangeArrowheads="1"/>
            </p:cNvSpPr>
            <p:nvPr/>
          </p:nvSpPr>
          <p:spPr bwMode="auto">
            <a:xfrm>
              <a:off x="4266" y="2822"/>
              <a:ext cx="192" cy="624"/>
            </a:xfrm>
            <a:prstGeom prst="downArrow">
              <a:avLst>
                <a:gd name="adj1" fmla="val 50000"/>
                <a:gd name="adj2" fmla="val 81250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027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50" grpId="0" animBg="1"/>
      <p:bldP spid="6349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62" name="Rectangle 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DRAM Supercell (2,1)</a:t>
            </a:r>
          </a:p>
        </p:txBody>
      </p:sp>
      <p:sp>
        <p:nvSpPr>
          <p:cNvPr id="64563" name="Rectangle 51"/>
          <p:cNvSpPr>
            <a:spLocks noGrp="1" noChangeArrowheads="1"/>
          </p:cNvSpPr>
          <p:nvPr>
            <p:ph idx="1"/>
          </p:nvPr>
        </p:nvSpPr>
        <p:spPr>
          <a:xfrm>
            <a:off x="519113" y="1219200"/>
            <a:ext cx="8091487" cy="1066800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Step 2(a): Column access strobe (</a:t>
            </a:r>
            <a:r>
              <a:rPr lang="en-US" sz="2000" dirty="0">
                <a:solidFill>
                  <a:srgbClr val="FF0000"/>
                </a:solidFill>
              </a:rPr>
              <a:t>CAS</a:t>
            </a:r>
            <a:r>
              <a:rPr lang="en-US" sz="2000" dirty="0"/>
              <a:t>) selects column 1.</a:t>
            </a:r>
          </a:p>
          <a:p>
            <a:pPr>
              <a:buNone/>
            </a:pPr>
            <a:r>
              <a:rPr 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Step 2(b): </a:t>
            </a:r>
            <a:r>
              <a:rPr lang="en-US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Supercell</a:t>
            </a:r>
            <a:r>
              <a:rPr 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(2,1) copied from buffer to data lines, and eventually back to the CPU.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654675" y="2748548"/>
            <a:ext cx="54924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Cols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849688" y="4151898"/>
            <a:ext cx="63340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Rows</a:t>
            </a: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4716463" y="32702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5326063" y="32702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2" name="Rectangle 10"/>
          <p:cNvSpPr>
            <a:spLocks noChangeArrowheads="1"/>
          </p:cNvSpPr>
          <p:nvPr/>
        </p:nvSpPr>
        <p:spPr bwMode="auto">
          <a:xfrm>
            <a:off x="5935663" y="32702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3" name="Rectangle 11"/>
          <p:cNvSpPr>
            <a:spLocks noChangeArrowheads="1"/>
          </p:cNvSpPr>
          <p:nvPr/>
        </p:nvSpPr>
        <p:spPr bwMode="auto">
          <a:xfrm>
            <a:off x="6545263" y="32702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4" name="Rectangle 12"/>
          <p:cNvSpPr>
            <a:spLocks noChangeArrowheads="1"/>
          </p:cNvSpPr>
          <p:nvPr/>
        </p:nvSpPr>
        <p:spPr bwMode="auto">
          <a:xfrm>
            <a:off x="4716463" y="38036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25" name="Rectangle 13"/>
          <p:cNvSpPr>
            <a:spLocks noChangeArrowheads="1"/>
          </p:cNvSpPr>
          <p:nvPr/>
        </p:nvSpPr>
        <p:spPr bwMode="auto">
          <a:xfrm>
            <a:off x="5326063" y="38036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6" name="Rectangle 14"/>
          <p:cNvSpPr>
            <a:spLocks noChangeArrowheads="1"/>
          </p:cNvSpPr>
          <p:nvPr/>
        </p:nvSpPr>
        <p:spPr bwMode="auto">
          <a:xfrm>
            <a:off x="5935663" y="38036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7" name="Rectangle 15"/>
          <p:cNvSpPr>
            <a:spLocks noChangeArrowheads="1"/>
          </p:cNvSpPr>
          <p:nvPr/>
        </p:nvSpPr>
        <p:spPr bwMode="auto">
          <a:xfrm>
            <a:off x="6545263" y="38036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8" name="Rectangle 16"/>
          <p:cNvSpPr>
            <a:spLocks noChangeArrowheads="1"/>
          </p:cNvSpPr>
          <p:nvPr/>
        </p:nvSpPr>
        <p:spPr bwMode="auto">
          <a:xfrm>
            <a:off x="4716463" y="4337050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29" name="Rectangle 17"/>
          <p:cNvSpPr>
            <a:spLocks noChangeArrowheads="1"/>
          </p:cNvSpPr>
          <p:nvPr/>
        </p:nvSpPr>
        <p:spPr bwMode="auto">
          <a:xfrm>
            <a:off x="5326063" y="4337050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30" name="Rectangle 18"/>
          <p:cNvSpPr>
            <a:spLocks noChangeArrowheads="1"/>
          </p:cNvSpPr>
          <p:nvPr/>
        </p:nvSpPr>
        <p:spPr bwMode="auto">
          <a:xfrm>
            <a:off x="5935663" y="4337050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1" name="Rectangle 19"/>
          <p:cNvSpPr>
            <a:spLocks noChangeArrowheads="1"/>
          </p:cNvSpPr>
          <p:nvPr/>
        </p:nvSpPr>
        <p:spPr bwMode="auto">
          <a:xfrm>
            <a:off x="6545263" y="4337050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2" name="Rectangle 20"/>
          <p:cNvSpPr>
            <a:spLocks noChangeArrowheads="1"/>
          </p:cNvSpPr>
          <p:nvPr/>
        </p:nvSpPr>
        <p:spPr bwMode="auto">
          <a:xfrm>
            <a:off x="4716463" y="48704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33" name="Rectangle 21"/>
          <p:cNvSpPr>
            <a:spLocks noChangeArrowheads="1"/>
          </p:cNvSpPr>
          <p:nvPr/>
        </p:nvSpPr>
        <p:spPr bwMode="auto">
          <a:xfrm>
            <a:off x="5326063" y="48704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4" name="Rectangle 22"/>
          <p:cNvSpPr>
            <a:spLocks noChangeArrowheads="1"/>
          </p:cNvSpPr>
          <p:nvPr/>
        </p:nvSpPr>
        <p:spPr bwMode="auto">
          <a:xfrm>
            <a:off x="5935663" y="48704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5" name="Rectangle 23"/>
          <p:cNvSpPr>
            <a:spLocks noChangeArrowheads="1"/>
          </p:cNvSpPr>
          <p:nvPr/>
        </p:nvSpPr>
        <p:spPr bwMode="auto">
          <a:xfrm>
            <a:off x="6545263" y="4870450"/>
            <a:ext cx="609600" cy="533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6" name="Text Box 24"/>
          <p:cNvSpPr txBox="1">
            <a:spLocks noChangeArrowheads="1"/>
          </p:cNvSpPr>
          <p:nvPr/>
        </p:nvSpPr>
        <p:spPr bwMode="auto">
          <a:xfrm>
            <a:off x="4868863" y="2949575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4537" name="Text Box 25"/>
          <p:cNvSpPr txBox="1">
            <a:spLocks noChangeArrowheads="1"/>
          </p:cNvSpPr>
          <p:nvPr/>
        </p:nvSpPr>
        <p:spPr bwMode="auto">
          <a:xfrm>
            <a:off x="5478463" y="2965450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4538" name="Text Box 26"/>
          <p:cNvSpPr txBox="1">
            <a:spLocks noChangeArrowheads="1"/>
          </p:cNvSpPr>
          <p:nvPr/>
        </p:nvSpPr>
        <p:spPr bwMode="auto">
          <a:xfrm>
            <a:off x="6096000" y="2965450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4539" name="Text Box 27"/>
          <p:cNvSpPr txBox="1">
            <a:spLocks noChangeArrowheads="1"/>
          </p:cNvSpPr>
          <p:nvPr/>
        </p:nvSpPr>
        <p:spPr bwMode="auto">
          <a:xfrm>
            <a:off x="6705600" y="2965450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4540" name="Text Box 28"/>
          <p:cNvSpPr txBox="1">
            <a:spLocks noChangeArrowheads="1"/>
          </p:cNvSpPr>
          <p:nvPr/>
        </p:nvSpPr>
        <p:spPr bwMode="auto">
          <a:xfrm>
            <a:off x="4411663" y="3390900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4541" name="Text Box 29"/>
          <p:cNvSpPr txBox="1">
            <a:spLocks noChangeArrowheads="1"/>
          </p:cNvSpPr>
          <p:nvPr/>
        </p:nvSpPr>
        <p:spPr bwMode="auto">
          <a:xfrm>
            <a:off x="4411663" y="3924300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</a:t>
            </a:r>
          </a:p>
        </p:txBody>
      </p:sp>
      <p:sp>
        <p:nvSpPr>
          <p:cNvPr id="64542" name="Text Box 30"/>
          <p:cNvSpPr txBox="1">
            <a:spLocks noChangeArrowheads="1"/>
          </p:cNvSpPr>
          <p:nvPr/>
        </p:nvSpPr>
        <p:spPr bwMode="auto">
          <a:xfrm>
            <a:off x="4411663" y="4457700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2</a:t>
            </a:r>
          </a:p>
        </p:txBody>
      </p:sp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4411663" y="4991100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3</a:t>
            </a:r>
          </a:p>
        </p:txBody>
      </p:sp>
      <p:sp>
        <p:nvSpPr>
          <p:cNvPr id="64544" name="Rectangle 32"/>
          <p:cNvSpPr>
            <a:spLocks noChangeArrowheads="1"/>
          </p:cNvSpPr>
          <p:nvPr/>
        </p:nvSpPr>
        <p:spPr bwMode="auto">
          <a:xfrm>
            <a:off x="4713288" y="3270250"/>
            <a:ext cx="2438400" cy="2133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47" name="Rectangle 35"/>
          <p:cNvSpPr>
            <a:spLocks noChangeArrowheads="1"/>
          </p:cNvSpPr>
          <p:nvPr/>
        </p:nvSpPr>
        <p:spPr bwMode="auto">
          <a:xfrm>
            <a:off x="5932488" y="5699125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48" name="Rectangle 36"/>
          <p:cNvSpPr>
            <a:spLocks noChangeArrowheads="1"/>
          </p:cNvSpPr>
          <p:nvPr/>
        </p:nvSpPr>
        <p:spPr bwMode="auto">
          <a:xfrm>
            <a:off x="6542088" y="5699125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0" name="Text Box 38"/>
          <p:cNvSpPr txBox="1">
            <a:spLocks noChangeArrowheads="1"/>
          </p:cNvSpPr>
          <p:nvPr/>
        </p:nvSpPr>
        <p:spPr bwMode="auto">
          <a:xfrm>
            <a:off x="5152421" y="6301373"/>
            <a:ext cx="166173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Internal row buffer</a:t>
            </a:r>
          </a:p>
        </p:txBody>
      </p:sp>
      <p:sp>
        <p:nvSpPr>
          <p:cNvPr id="64551" name="Rectangle 39"/>
          <p:cNvSpPr>
            <a:spLocks noChangeArrowheads="1"/>
          </p:cNvSpPr>
          <p:nvPr/>
        </p:nvSpPr>
        <p:spPr bwMode="auto">
          <a:xfrm>
            <a:off x="3878263" y="2676525"/>
            <a:ext cx="3644900" cy="403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2" name="Text Box 40"/>
          <p:cNvSpPr txBox="1">
            <a:spLocks noChangeArrowheads="1"/>
          </p:cNvSpPr>
          <p:nvPr/>
        </p:nvSpPr>
        <p:spPr bwMode="auto">
          <a:xfrm>
            <a:off x="3759200" y="2355850"/>
            <a:ext cx="18891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16 </a:t>
            </a:r>
            <a:r>
              <a:rPr lang="en-US" sz="1600" dirty="0" err="1"/>
              <a:t>x</a:t>
            </a:r>
            <a:r>
              <a:rPr lang="en-US" sz="1600" dirty="0"/>
              <a:t> 8 DRAM chip</a:t>
            </a:r>
          </a:p>
        </p:txBody>
      </p:sp>
      <p:sp>
        <p:nvSpPr>
          <p:cNvPr id="64554" name="Text Box 42"/>
          <p:cNvSpPr txBox="1">
            <a:spLocks noChangeArrowheads="1"/>
          </p:cNvSpPr>
          <p:nvPr/>
        </p:nvSpPr>
        <p:spPr bwMode="auto">
          <a:xfrm>
            <a:off x="2778125" y="3086100"/>
            <a:ext cx="10398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CAS = 1</a:t>
            </a:r>
          </a:p>
        </p:txBody>
      </p:sp>
      <p:sp>
        <p:nvSpPr>
          <p:cNvPr id="64555" name="Line 43"/>
          <p:cNvSpPr>
            <a:spLocks noChangeShapeType="1"/>
          </p:cNvSpPr>
          <p:nvPr/>
        </p:nvSpPr>
        <p:spPr bwMode="auto">
          <a:xfrm flipV="1">
            <a:off x="2697163" y="3635375"/>
            <a:ext cx="1143000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6" name="Text Box 44"/>
          <p:cNvSpPr txBox="1">
            <a:spLocks noChangeArrowheads="1"/>
          </p:cNvSpPr>
          <p:nvPr/>
        </p:nvSpPr>
        <p:spPr bwMode="auto">
          <a:xfrm>
            <a:off x="2971800" y="3695700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addr</a:t>
            </a:r>
          </a:p>
        </p:txBody>
      </p:sp>
      <p:sp>
        <p:nvSpPr>
          <p:cNvPr id="64557" name="Line 45"/>
          <p:cNvSpPr>
            <a:spLocks noChangeShapeType="1"/>
          </p:cNvSpPr>
          <p:nvPr/>
        </p:nvSpPr>
        <p:spPr bwMode="auto">
          <a:xfrm>
            <a:off x="2697163" y="540385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8" name="Text Box 46"/>
          <p:cNvSpPr txBox="1">
            <a:spLocks noChangeArrowheads="1"/>
          </p:cNvSpPr>
          <p:nvPr/>
        </p:nvSpPr>
        <p:spPr bwMode="auto">
          <a:xfrm>
            <a:off x="2940050" y="5448300"/>
            <a:ext cx="6731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Courier New" charset="0"/>
              </a:rPr>
              <a:t>data</a:t>
            </a:r>
          </a:p>
        </p:txBody>
      </p:sp>
      <p:sp>
        <p:nvSpPr>
          <p:cNvPr id="64559" name="Text Box 47"/>
          <p:cNvSpPr txBox="1">
            <a:spLocks noChangeArrowheads="1"/>
          </p:cNvSpPr>
          <p:nvPr/>
        </p:nvSpPr>
        <p:spPr bwMode="auto">
          <a:xfrm>
            <a:off x="3148013" y="3316288"/>
            <a:ext cx="2682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2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4560" name="Text Box 48"/>
          <p:cNvSpPr txBox="1">
            <a:spLocks noChangeArrowheads="1"/>
          </p:cNvSpPr>
          <p:nvPr/>
        </p:nvSpPr>
        <p:spPr bwMode="auto">
          <a:xfrm>
            <a:off x="3154363" y="5099050"/>
            <a:ext cx="2682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/>
              <a:t>8</a:t>
            </a:r>
          </a:p>
          <a:p>
            <a:pPr>
              <a:lnSpc>
                <a:spcPct val="100000"/>
              </a:lnSpc>
            </a:pPr>
            <a:r>
              <a:rPr lang="en-US" sz="1200"/>
              <a:t>/</a:t>
            </a:r>
          </a:p>
        </p:txBody>
      </p:sp>
      <p:sp>
        <p:nvSpPr>
          <p:cNvPr id="64561" name="Rectangle 49"/>
          <p:cNvSpPr>
            <a:spLocks noChangeArrowheads="1"/>
          </p:cNvSpPr>
          <p:nvPr/>
        </p:nvSpPr>
        <p:spPr bwMode="auto">
          <a:xfrm>
            <a:off x="1554163" y="296545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64545" name="Rectangle 33"/>
          <p:cNvSpPr>
            <a:spLocks noChangeArrowheads="1"/>
          </p:cNvSpPr>
          <p:nvPr/>
        </p:nvSpPr>
        <p:spPr bwMode="auto">
          <a:xfrm>
            <a:off x="4713288" y="5699125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66" name="Rectangle 54"/>
          <p:cNvSpPr>
            <a:spLocks noChangeArrowheads="1"/>
          </p:cNvSpPr>
          <p:nvPr/>
        </p:nvSpPr>
        <p:spPr bwMode="auto">
          <a:xfrm>
            <a:off x="5322888" y="5689600"/>
            <a:ext cx="609600" cy="5334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46" name="Rectangle 34"/>
          <p:cNvSpPr>
            <a:spLocks noChangeArrowheads="1"/>
          </p:cNvSpPr>
          <p:nvPr/>
        </p:nvSpPr>
        <p:spPr bwMode="auto">
          <a:xfrm>
            <a:off x="5311775" y="5708650"/>
            <a:ext cx="609600" cy="5334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4549" name="Rectangle 37"/>
          <p:cNvSpPr>
            <a:spLocks noChangeArrowheads="1"/>
          </p:cNvSpPr>
          <p:nvPr/>
        </p:nvSpPr>
        <p:spPr bwMode="auto">
          <a:xfrm>
            <a:off x="4703763" y="5697538"/>
            <a:ext cx="2438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3" name="AutoShape 41"/>
          <p:cNvSpPr>
            <a:spLocks noChangeArrowheads="1"/>
          </p:cNvSpPr>
          <p:nvPr/>
        </p:nvSpPr>
        <p:spPr bwMode="auto">
          <a:xfrm rot="27982932">
            <a:off x="4505326" y="4778375"/>
            <a:ext cx="304800" cy="1724025"/>
          </a:xfrm>
          <a:prstGeom prst="downArrow">
            <a:avLst>
              <a:gd name="adj1" fmla="val 58333"/>
              <a:gd name="adj2" fmla="val 10267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852738" y="5748341"/>
            <a:ext cx="923925" cy="1020763"/>
            <a:chOff x="1797" y="3621"/>
            <a:chExt cx="582" cy="643"/>
          </a:xfrm>
        </p:grpSpPr>
        <p:sp>
          <p:nvSpPr>
            <p:cNvPr id="64517" name="Text Box 5"/>
            <p:cNvSpPr txBox="1">
              <a:spLocks noChangeArrowheads="1"/>
            </p:cNvSpPr>
            <p:nvPr/>
          </p:nvSpPr>
          <p:spPr bwMode="auto">
            <a:xfrm>
              <a:off x="1797" y="3896"/>
              <a:ext cx="582" cy="3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dirty="0" err="1">
                  <a:solidFill>
                    <a:srgbClr val="FF0000"/>
                  </a:solidFill>
                </a:rPr>
                <a:t>supercell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FF0000"/>
                  </a:solidFill>
                </a:rPr>
                <a:t>(2,1)</a:t>
              </a:r>
            </a:p>
          </p:txBody>
        </p:sp>
        <p:sp>
          <p:nvSpPr>
            <p:cNvPr id="64567" name="Rectangle 55"/>
            <p:cNvSpPr>
              <a:spLocks noChangeArrowheads="1"/>
            </p:cNvSpPr>
            <p:nvPr/>
          </p:nvSpPr>
          <p:spPr bwMode="auto">
            <a:xfrm>
              <a:off x="1861" y="3621"/>
              <a:ext cx="384" cy="336"/>
            </a:xfrm>
            <a:prstGeom prst="rect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60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15925" y="3886200"/>
            <a:ext cx="1117600" cy="1603379"/>
            <a:chOff x="415925" y="3886200"/>
            <a:chExt cx="1117600" cy="1603379"/>
          </a:xfrm>
        </p:grpSpPr>
        <p:grpSp>
          <p:nvGrpSpPr>
            <p:cNvPr id="4" name="Group 58"/>
            <p:cNvGrpSpPr>
              <a:grpSpLocks/>
            </p:cNvGrpSpPr>
            <p:nvPr/>
          </p:nvGrpSpPr>
          <p:grpSpPr bwMode="auto">
            <a:xfrm>
              <a:off x="527050" y="4468816"/>
              <a:ext cx="923925" cy="1020763"/>
              <a:chOff x="1797" y="3621"/>
              <a:chExt cx="582" cy="643"/>
            </a:xfrm>
          </p:grpSpPr>
          <p:sp>
            <p:nvSpPr>
              <p:cNvPr id="64571" name="Text Box 59"/>
              <p:cNvSpPr txBox="1">
                <a:spLocks noChangeArrowheads="1"/>
              </p:cNvSpPr>
              <p:nvPr/>
            </p:nvSpPr>
            <p:spPr bwMode="auto">
              <a:xfrm>
                <a:off x="1797" y="3896"/>
                <a:ext cx="582" cy="36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 err="1">
                    <a:solidFill>
                      <a:srgbClr val="FF0000"/>
                    </a:solidFill>
                  </a:rPr>
                  <a:t>supercell</a:t>
                </a: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0000"/>
                    </a:solidFill>
                  </a:rPr>
                  <a:t>(2,1)</a:t>
                </a:r>
              </a:p>
            </p:txBody>
          </p:sp>
          <p:sp>
            <p:nvSpPr>
              <p:cNvPr id="64572" name="Rectangle 60"/>
              <p:cNvSpPr>
                <a:spLocks noChangeArrowheads="1"/>
              </p:cNvSpPr>
              <p:nvPr/>
            </p:nvSpPr>
            <p:spPr bwMode="auto">
              <a:xfrm>
                <a:off x="1861" y="3621"/>
                <a:ext cx="384" cy="336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100000"/>
                  </a:lnSpc>
                </a:pPr>
                <a:endParaRPr lang="en-US" sz="1600"/>
              </a:p>
            </p:txBody>
          </p:sp>
        </p:grpSp>
        <p:sp>
          <p:nvSpPr>
            <p:cNvPr id="64573" name="Line 61"/>
            <p:cNvSpPr>
              <a:spLocks noChangeShapeType="1"/>
            </p:cNvSpPr>
            <p:nvPr/>
          </p:nvSpPr>
          <p:spPr bwMode="auto">
            <a:xfrm flipH="1">
              <a:off x="415925" y="4316413"/>
              <a:ext cx="1117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574" name="Text Box 62"/>
            <p:cNvSpPr txBox="1">
              <a:spLocks noChangeArrowheads="1"/>
            </p:cNvSpPr>
            <p:nvPr/>
          </p:nvSpPr>
          <p:spPr bwMode="auto">
            <a:xfrm>
              <a:off x="535373" y="3886200"/>
              <a:ext cx="836227" cy="40011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/>
                <a:t>To 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970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54" grpId="0" autoUpdateAnimBg="0"/>
      <p:bldP spid="64546" grpId="0" animBg="1" autoUpdateAnimBg="0"/>
      <p:bldP spid="6455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22" name="Rectangle 8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Modules</a:t>
            </a:r>
          </a:p>
        </p:txBody>
      </p:sp>
      <p:sp>
        <p:nvSpPr>
          <p:cNvPr id="65540" name="Rectangle 4"/>
          <p:cNvSpPr>
            <a:spLocks noChangeAspect="1" noChangeArrowheads="1"/>
          </p:cNvSpPr>
          <p:nvPr/>
        </p:nvSpPr>
        <p:spPr bwMode="auto">
          <a:xfrm>
            <a:off x="1549400" y="1327150"/>
            <a:ext cx="5062538" cy="269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4">
                <a:alpha val="74998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1" name="Rectangle 5"/>
          <p:cNvSpPr>
            <a:spLocks noChangeAspect="1" noChangeArrowheads="1"/>
          </p:cNvSpPr>
          <p:nvPr/>
        </p:nvSpPr>
        <p:spPr bwMode="auto">
          <a:xfrm>
            <a:off x="2044700" y="4710113"/>
            <a:ext cx="4510088" cy="12795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4">
                <a:alpha val="74998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2" name="Rectangle 6"/>
          <p:cNvSpPr>
            <a:spLocks noChangeAspect="1" noChangeArrowheads="1"/>
          </p:cNvSpPr>
          <p:nvPr/>
        </p:nvSpPr>
        <p:spPr bwMode="auto">
          <a:xfrm>
            <a:off x="5099050" y="2073275"/>
            <a:ext cx="1096963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3" name="Rectangle 7"/>
          <p:cNvSpPr>
            <a:spLocks noChangeAspect="1" noChangeArrowheads="1"/>
          </p:cNvSpPr>
          <p:nvPr/>
        </p:nvSpPr>
        <p:spPr bwMode="auto">
          <a:xfrm>
            <a:off x="4611688" y="2195513"/>
            <a:ext cx="1096962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4" name="Rectangle 8"/>
          <p:cNvSpPr>
            <a:spLocks noChangeAspect="1" noChangeArrowheads="1"/>
          </p:cNvSpPr>
          <p:nvPr/>
        </p:nvSpPr>
        <p:spPr bwMode="auto">
          <a:xfrm>
            <a:off x="4124325" y="2317750"/>
            <a:ext cx="1096963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5" name="Rectangle 9"/>
          <p:cNvSpPr>
            <a:spLocks noChangeAspect="1" noChangeArrowheads="1"/>
          </p:cNvSpPr>
          <p:nvPr/>
        </p:nvSpPr>
        <p:spPr bwMode="auto">
          <a:xfrm>
            <a:off x="3636963" y="2438400"/>
            <a:ext cx="1096962" cy="97631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6" name="Rectangle 10"/>
          <p:cNvSpPr>
            <a:spLocks noChangeAspect="1" noChangeArrowheads="1"/>
          </p:cNvSpPr>
          <p:nvPr/>
        </p:nvSpPr>
        <p:spPr bwMode="auto">
          <a:xfrm>
            <a:off x="3149600" y="2560638"/>
            <a:ext cx="1096963" cy="9763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7" name="Rectangle 11"/>
          <p:cNvSpPr>
            <a:spLocks noChangeAspect="1" noChangeArrowheads="1"/>
          </p:cNvSpPr>
          <p:nvPr/>
        </p:nvSpPr>
        <p:spPr bwMode="auto">
          <a:xfrm>
            <a:off x="2662238" y="2682875"/>
            <a:ext cx="1096962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8" name="Rectangle 12"/>
          <p:cNvSpPr>
            <a:spLocks noChangeAspect="1" noChangeArrowheads="1"/>
          </p:cNvSpPr>
          <p:nvPr/>
        </p:nvSpPr>
        <p:spPr bwMode="auto">
          <a:xfrm>
            <a:off x="2173288" y="2805113"/>
            <a:ext cx="1096962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9" name="Rectangle 13"/>
          <p:cNvSpPr>
            <a:spLocks noChangeAspect="1" noChangeArrowheads="1"/>
          </p:cNvSpPr>
          <p:nvPr/>
        </p:nvSpPr>
        <p:spPr bwMode="auto">
          <a:xfrm>
            <a:off x="1685925" y="2927350"/>
            <a:ext cx="1096963" cy="9747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5551" name="Rectangle 15"/>
          <p:cNvSpPr>
            <a:spLocks noChangeAspect="1" noChangeArrowheads="1"/>
          </p:cNvSpPr>
          <p:nvPr/>
        </p:nvSpPr>
        <p:spPr bwMode="auto">
          <a:xfrm>
            <a:off x="6743700" y="1712913"/>
            <a:ext cx="101600" cy="11112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52" name="Text Box 16"/>
          <p:cNvSpPr txBox="1">
            <a:spLocks noChangeAspect="1" noChangeArrowheads="1"/>
          </p:cNvSpPr>
          <p:nvPr/>
        </p:nvSpPr>
        <p:spPr bwMode="auto">
          <a:xfrm>
            <a:off x="6815138" y="1598613"/>
            <a:ext cx="156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: supercell (i,j)</a:t>
            </a:r>
          </a:p>
        </p:txBody>
      </p:sp>
      <p:sp>
        <p:nvSpPr>
          <p:cNvPr id="65597" name="Text Box 61"/>
          <p:cNvSpPr txBox="1">
            <a:spLocks noChangeAspect="1" noChangeArrowheads="1"/>
          </p:cNvSpPr>
          <p:nvPr/>
        </p:nvSpPr>
        <p:spPr bwMode="auto">
          <a:xfrm>
            <a:off x="6648450" y="2273300"/>
            <a:ext cx="2009775" cy="1069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/>
              <a:t>64 MB  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memory module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consisting of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eight 8Mx8 </a:t>
            </a:r>
            <a:r>
              <a:rPr lang="en-US" sz="1600" dirty="0" err="1"/>
              <a:t>DRAMs</a:t>
            </a:r>
            <a:endParaRPr lang="en-US" sz="1600" dirty="0"/>
          </a:p>
        </p:txBody>
      </p:sp>
      <p:grpSp>
        <p:nvGrpSpPr>
          <p:cNvPr id="2" name="Group 102"/>
          <p:cNvGrpSpPr>
            <a:grpSpLocks/>
          </p:cNvGrpSpPr>
          <p:nvPr/>
        </p:nvGrpSpPr>
        <p:grpSpPr bwMode="auto">
          <a:xfrm>
            <a:off x="1219200" y="1293813"/>
            <a:ext cx="4164013" cy="4035425"/>
            <a:chOff x="768" y="719"/>
            <a:chExt cx="2623" cy="2542"/>
          </a:xfrm>
        </p:grpSpPr>
        <p:sp>
          <p:nvSpPr>
            <p:cNvPr id="65578" name="Line 42"/>
            <p:cNvSpPr>
              <a:spLocks noChangeAspect="1" noChangeShapeType="1"/>
            </p:cNvSpPr>
            <p:nvPr/>
          </p:nvSpPr>
          <p:spPr bwMode="auto">
            <a:xfrm>
              <a:off x="768" y="913"/>
              <a:ext cx="2623" cy="0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99"/>
            <p:cNvGrpSpPr>
              <a:grpSpLocks/>
            </p:cNvGrpSpPr>
            <p:nvPr/>
          </p:nvGrpSpPr>
          <p:grpSpPr bwMode="auto">
            <a:xfrm>
              <a:off x="768" y="719"/>
              <a:ext cx="2610" cy="2542"/>
              <a:chOff x="768" y="719"/>
              <a:chExt cx="2610" cy="2542"/>
            </a:xfrm>
          </p:grpSpPr>
          <p:sp>
            <p:nvSpPr>
              <p:cNvPr id="65579" name="Text Box 43"/>
              <p:cNvSpPr txBox="1">
                <a:spLocks noChangeAspect="1" noChangeArrowheads="1"/>
              </p:cNvSpPr>
              <p:nvPr/>
            </p:nvSpPr>
            <p:spPr bwMode="auto">
              <a:xfrm>
                <a:off x="1433" y="719"/>
                <a:ext cx="1887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 err="1">
                    <a:latin typeface="Courier New" charset="0"/>
                  </a:rPr>
                  <a:t>addr</a:t>
                </a:r>
                <a:r>
                  <a:rPr lang="en-US" sz="1600" dirty="0">
                    <a:latin typeface="Courier New" charset="0"/>
                  </a:rPr>
                  <a:t> (row = </a:t>
                </a:r>
                <a:r>
                  <a:rPr lang="en-US" sz="1600" dirty="0" err="1">
                    <a:latin typeface="Courier New" charset="0"/>
                  </a:rPr>
                  <a:t>i</a:t>
                </a:r>
                <a:r>
                  <a:rPr lang="en-US" sz="1600" dirty="0">
                    <a:latin typeface="Courier New" charset="0"/>
                  </a:rPr>
                  <a:t>, </a:t>
                </a:r>
                <a:r>
                  <a:rPr lang="en-US" sz="1600" dirty="0" err="1">
                    <a:latin typeface="Courier New" charset="0"/>
                  </a:rPr>
                  <a:t>col</a:t>
                </a:r>
                <a:r>
                  <a:rPr lang="en-US" sz="1600" dirty="0">
                    <a:latin typeface="Courier New" charset="0"/>
                  </a:rPr>
                  <a:t> = </a:t>
                </a:r>
                <a:r>
                  <a:rPr lang="en-US" sz="1600" dirty="0" err="1">
                    <a:latin typeface="Courier New" charset="0"/>
                  </a:rPr>
                  <a:t>j</a:t>
                </a:r>
                <a:r>
                  <a:rPr lang="en-US" sz="1600" dirty="0">
                    <a:latin typeface="Courier New" charset="0"/>
                  </a:rPr>
                  <a:t>)</a:t>
                </a:r>
              </a:p>
            </p:txBody>
          </p:sp>
          <p:sp>
            <p:nvSpPr>
              <p:cNvPr id="65589" name="Line 53"/>
              <p:cNvSpPr>
                <a:spLocks noChangeAspect="1" noChangeShapeType="1"/>
              </p:cNvSpPr>
              <p:nvPr/>
            </p:nvSpPr>
            <p:spPr bwMode="auto">
              <a:xfrm>
                <a:off x="3378" y="913"/>
                <a:ext cx="0" cy="30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0" name="Line 54"/>
              <p:cNvSpPr>
                <a:spLocks noChangeAspect="1" noChangeShapeType="1"/>
              </p:cNvSpPr>
              <p:nvPr/>
            </p:nvSpPr>
            <p:spPr bwMode="auto">
              <a:xfrm>
                <a:off x="3033" y="913"/>
                <a:ext cx="0" cy="377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1" name="Line 55"/>
              <p:cNvSpPr>
                <a:spLocks noChangeAspect="1" noChangeShapeType="1"/>
              </p:cNvSpPr>
              <p:nvPr/>
            </p:nvSpPr>
            <p:spPr bwMode="auto">
              <a:xfrm>
                <a:off x="2726" y="913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2" name="Line 56"/>
              <p:cNvSpPr>
                <a:spLocks noChangeAspect="1" noChangeShapeType="1"/>
              </p:cNvSpPr>
              <p:nvPr/>
            </p:nvSpPr>
            <p:spPr bwMode="auto">
              <a:xfrm>
                <a:off x="2419" y="913"/>
                <a:ext cx="0" cy="537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3" name="Line 57"/>
              <p:cNvSpPr>
                <a:spLocks noChangeAspect="1" noChangeShapeType="1"/>
              </p:cNvSpPr>
              <p:nvPr/>
            </p:nvSpPr>
            <p:spPr bwMode="auto">
              <a:xfrm>
                <a:off x="2112" y="913"/>
                <a:ext cx="0" cy="614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4" name="Line 58"/>
              <p:cNvSpPr>
                <a:spLocks noChangeAspect="1" noChangeShapeType="1"/>
              </p:cNvSpPr>
              <p:nvPr/>
            </p:nvSpPr>
            <p:spPr bwMode="auto">
              <a:xfrm>
                <a:off x="1766" y="913"/>
                <a:ext cx="0" cy="691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5" name="Line 59"/>
              <p:cNvSpPr>
                <a:spLocks noChangeAspect="1" noChangeShapeType="1"/>
              </p:cNvSpPr>
              <p:nvPr/>
            </p:nvSpPr>
            <p:spPr bwMode="auto">
              <a:xfrm>
                <a:off x="1497" y="913"/>
                <a:ext cx="0" cy="767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6" name="Line 60"/>
              <p:cNvSpPr>
                <a:spLocks noChangeAspect="1" noChangeShapeType="1"/>
              </p:cNvSpPr>
              <p:nvPr/>
            </p:nvSpPr>
            <p:spPr bwMode="auto">
              <a:xfrm>
                <a:off x="1190" y="913"/>
                <a:ext cx="0" cy="844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8" name="Line 62"/>
              <p:cNvSpPr>
                <a:spLocks noChangeAspect="1" noChangeShapeType="1"/>
              </p:cNvSpPr>
              <p:nvPr/>
            </p:nvSpPr>
            <p:spPr bwMode="auto">
              <a:xfrm flipH="1" flipV="1">
                <a:off x="768" y="3255"/>
                <a:ext cx="518" cy="6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99" name="Line 63"/>
              <p:cNvSpPr>
                <a:spLocks noChangeAspect="1" noChangeShapeType="1"/>
              </p:cNvSpPr>
              <p:nvPr/>
            </p:nvSpPr>
            <p:spPr bwMode="auto">
              <a:xfrm flipV="1">
                <a:off x="768" y="913"/>
                <a:ext cx="0" cy="2342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5600" name="Text Box 64"/>
          <p:cNvSpPr txBox="1">
            <a:spLocks noChangeAspect="1" noChangeArrowheads="1"/>
          </p:cNvSpPr>
          <p:nvPr/>
        </p:nvSpPr>
        <p:spPr bwMode="auto">
          <a:xfrm>
            <a:off x="6578600" y="4994275"/>
            <a:ext cx="1122363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/>
              <a:t>Memory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65601" name="Rectangle 65"/>
          <p:cNvSpPr>
            <a:spLocks noChangeAspect="1" noChangeArrowheads="1"/>
          </p:cNvSpPr>
          <p:nvPr/>
        </p:nvSpPr>
        <p:spPr bwMode="auto">
          <a:xfrm>
            <a:off x="3078163" y="3221038"/>
            <a:ext cx="101600" cy="112712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2" name="Rectangle 66"/>
          <p:cNvSpPr>
            <a:spLocks noChangeAspect="1" noChangeArrowheads="1"/>
          </p:cNvSpPr>
          <p:nvPr/>
        </p:nvSpPr>
        <p:spPr bwMode="auto">
          <a:xfrm>
            <a:off x="2611438" y="3338513"/>
            <a:ext cx="101600" cy="11112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3" name="Rectangle 67"/>
          <p:cNvSpPr>
            <a:spLocks noChangeAspect="1" noChangeArrowheads="1"/>
          </p:cNvSpPr>
          <p:nvPr/>
        </p:nvSpPr>
        <p:spPr bwMode="auto">
          <a:xfrm>
            <a:off x="3565525" y="3094038"/>
            <a:ext cx="101600" cy="112712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4" name="Rectangle 68"/>
          <p:cNvSpPr>
            <a:spLocks noChangeAspect="1" noChangeArrowheads="1"/>
          </p:cNvSpPr>
          <p:nvPr/>
        </p:nvSpPr>
        <p:spPr bwMode="auto">
          <a:xfrm>
            <a:off x="4057650" y="2967038"/>
            <a:ext cx="101600" cy="112712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5" name="Rectangle 69"/>
          <p:cNvSpPr>
            <a:spLocks noChangeAspect="1" noChangeArrowheads="1"/>
          </p:cNvSpPr>
          <p:nvPr/>
        </p:nvSpPr>
        <p:spPr bwMode="auto">
          <a:xfrm>
            <a:off x="4560888" y="2835275"/>
            <a:ext cx="101600" cy="11112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6" name="Rectangle 70"/>
          <p:cNvSpPr>
            <a:spLocks noChangeAspect="1" noChangeArrowheads="1"/>
          </p:cNvSpPr>
          <p:nvPr/>
        </p:nvSpPr>
        <p:spPr bwMode="auto">
          <a:xfrm>
            <a:off x="5038725" y="2724150"/>
            <a:ext cx="101600" cy="11112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7" name="Rectangle 71"/>
          <p:cNvSpPr>
            <a:spLocks noChangeAspect="1" noChangeArrowheads="1"/>
          </p:cNvSpPr>
          <p:nvPr/>
        </p:nvSpPr>
        <p:spPr bwMode="auto">
          <a:xfrm>
            <a:off x="5526088" y="2590800"/>
            <a:ext cx="101600" cy="112713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08" name="Rectangle 72"/>
          <p:cNvSpPr>
            <a:spLocks noChangeAspect="1" noChangeArrowheads="1"/>
          </p:cNvSpPr>
          <p:nvPr/>
        </p:nvSpPr>
        <p:spPr bwMode="auto">
          <a:xfrm>
            <a:off x="6003925" y="2470150"/>
            <a:ext cx="101600" cy="11112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610" name="Text Box 74"/>
          <p:cNvSpPr txBox="1">
            <a:spLocks noChangeAspect="1" noChangeArrowheads="1"/>
          </p:cNvSpPr>
          <p:nvPr/>
        </p:nvSpPr>
        <p:spPr bwMode="auto">
          <a:xfrm>
            <a:off x="2209800" y="2895600"/>
            <a:ext cx="633507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DRAM 7</a:t>
            </a:r>
          </a:p>
        </p:txBody>
      </p:sp>
      <p:sp>
        <p:nvSpPr>
          <p:cNvPr id="65611" name="Text Box 75"/>
          <p:cNvSpPr txBox="1">
            <a:spLocks noChangeAspect="1" noChangeArrowheads="1"/>
          </p:cNvSpPr>
          <p:nvPr/>
        </p:nvSpPr>
        <p:spPr bwMode="auto">
          <a:xfrm>
            <a:off x="5638800" y="2024390"/>
            <a:ext cx="633507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DRAM 0</a:t>
            </a:r>
          </a:p>
        </p:txBody>
      </p:sp>
      <p:grpSp>
        <p:nvGrpSpPr>
          <p:cNvPr id="4" name="Group 138"/>
          <p:cNvGrpSpPr>
            <a:grpSpLocks/>
          </p:cNvGrpSpPr>
          <p:nvPr/>
        </p:nvGrpSpPr>
        <p:grpSpPr bwMode="auto">
          <a:xfrm>
            <a:off x="2330450" y="2576513"/>
            <a:ext cx="4144963" cy="3154362"/>
            <a:chOff x="1468" y="1527"/>
            <a:chExt cx="2611" cy="1987"/>
          </a:xfrm>
        </p:grpSpPr>
        <p:grpSp>
          <p:nvGrpSpPr>
            <p:cNvPr id="5" name="Group 108"/>
            <p:cNvGrpSpPr>
              <a:grpSpLocks/>
            </p:cNvGrpSpPr>
            <p:nvPr/>
          </p:nvGrpSpPr>
          <p:grpSpPr bwMode="auto">
            <a:xfrm>
              <a:off x="1468" y="3023"/>
              <a:ext cx="2581" cy="491"/>
              <a:chOff x="1468" y="3023"/>
              <a:chExt cx="2581" cy="491"/>
            </a:xfrm>
          </p:grpSpPr>
          <p:sp>
            <p:nvSpPr>
              <p:cNvPr id="65553" name="Text Box 17"/>
              <p:cNvSpPr txBox="1">
                <a:spLocks noChangeAspect="1" noChangeArrowheads="1"/>
              </p:cNvSpPr>
              <p:nvPr/>
            </p:nvSpPr>
            <p:spPr bwMode="auto">
              <a:xfrm>
                <a:off x="3889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0</a:t>
                </a:r>
              </a:p>
            </p:txBody>
          </p:sp>
          <p:sp>
            <p:nvSpPr>
              <p:cNvPr id="65554" name="Text Box 18"/>
              <p:cNvSpPr txBox="1">
                <a:spLocks noChangeAspect="1" noChangeArrowheads="1"/>
              </p:cNvSpPr>
              <p:nvPr/>
            </p:nvSpPr>
            <p:spPr bwMode="auto">
              <a:xfrm>
                <a:off x="2695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31</a:t>
                </a:r>
              </a:p>
            </p:txBody>
          </p:sp>
          <p:sp>
            <p:nvSpPr>
              <p:cNvPr id="65559" name="Text Box 23"/>
              <p:cNvSpPr txBox="1">
                <a:spLocks noChangeAspect="1" noChangeArrowheads="1"/>
              </p:cNvSpPr>
              <p:nvPr/>
            </p:nvSpPr>
            <p:spPr bwMode="auto">
              <a:xfrm>
                <a:off x="3645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7</a:t>
                </a:r>
              </a:p>
            </p:txBody>
          </p:sp>
          <p:sp>
            <p:nvSpPr>
              <p:cNvPr id="65560" name="Text Box 24"/>
              <p:cNvSpPr txBox="1">
                <a:spLocks noChangeAspect="1" noChangeArrowheads="1"/>
              </p:cNvSpPr>
              <p:nvPr/>
            </p:nvSpPr>
            <p:spPr bwMode="auto">
              <a:xfrm>
                <a:off x="3554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8</a:t>
                </a:r>
              </a:p>
            </p:txBody>
          </p:sp>
          <p:sp>
            <p:nvSpPr>
              <p:cNvPr id="65561" name="Text Box 25"/>
              <p:cNvSpPr txBox="1">
                <a:spLocks noChangeAspect="1" noChangeArrowheads="1"/>
              </p:cNvSpPr>
              <p:nvPr/>
            </p:nvSpPr>
            <p:spPr bwMode="auto">
              <a:xfrm>
                <a:off x="3309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15</a:t>
                </a:r>
              </a:p>
            </p:txBody>
          </p:sp>
          <p:sp>
            <p:nvSpPr>
              <p:cNvPr id="65562" name="Text Box 26"/>
              <p:cNvSpPr txBox="1">
                <a:spLocks noChangeAspect="1" noChangeArrowheads="1"/>
              </p:cNvSpPr>
              <p:nvPr/>
            </p:nvSpPr>
            <p:spPr bwMode="auto">
              <a:xfrm>
                <a:off x="3194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16</a:t>
                </a:r>
              </a:p>
            </p:txBody>
          </p:sp>
          <p:sp>
            <p:nvSpPr>
              <p:cNvPr id="65563" name="Text Box 27"/>
              <p:cNvSpPr txBox="1">
                <a:spLocks noChangeAspect="1" noChangeArrowheads="1"/>
              </p:cNvSpPr>
              <p:nvPr/>
            </p:nvSpPr>
            <p:spPr bwMode="auto">
              <a:xfrm>
                <a:off x="3030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23</a:t>
                </a:r>
              </a:p>
            </p:txBody>
          </p:sp>
          <p:sp>
            <p:nvSpPr>
              <p:cNvPr id="65564" name="Text Box 28"/>
              <p:cNvSpPr txBox="1">
                <a:spLocks noChangeAspect="1" noChangeArrowheads="1"/>
              </p:cNvSpPr>
              <p:nvPr/>
            </p:nvSpPr>
            <p:spPr bwMode="auto">
              <a:xfrm>
                <a:off x="2925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24</a:t>
                </a:r>
              </a:p>
            </p:txBody>
          </p:sp>
          <p:sp>
            <p:nvSpPr>
              <p:cNvPr id="65565" name="Text Box 29"/>
              <p:cNvSpPr txBox="1">
                <a:spLocks noChangeAspect="1" noChangeArrowheads="1"/>
              </p:cNvSpPr>
              <p:nvPr/>
            </p:nvSpPr>
            <p:spPr bwMode="auto">
              <a:xfrm>
                <a:off x="2591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32</a:t>
                </a:r>
              </a:p>
            </p:txBody>
          </p:sp>
          <p:sp>
            <p:nvSpPr>
              <p:cNvPr id="65566" name="Text Box 30"/>
              <p:cNvSpPr txBox="1">
                <a:spLocks noChangeAspect="1" noChangeArrowheads="1"/>
              </p:cNvSpPr>
              <p:nvPr/>
            </p:nvSpPr>
            <p:spPr bwMode="auto">
              <a:xfrm>
                <a:off x="1468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63</a:t>
                </a:r>
              </a:p>
            </p:txBody>
          </p:sp>
          <p:sp>
            <p:nvSpPr>
              <p:cNvPr id="65571" name="Text Box 35"/>
              <p:cNvSpPr txBox="1">
                <a:spLocks noChangeAspect="1" noChangeArrowheads="1"/>
              </p:cNvSpPr>
              <p:nvPr/>
            </p:nvSpPr>
            <p:spPr bwMode="auto">
              <a:xfrm>
                <a:off x="2407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39</a:t>
                </a:r>
              </a:p>
            </p:txBody>
          </p:sp>
          <p:sp>
            <p:nvSpPr>
              <p:cNvPr id="65572" name="Text Box 36"/>
              <p:cNvSpPr txBox="1">
                <a:spLocks noChangeAspect="1" noChangeArrowheads="1"/>
              </p:cNvSpPr>
              <p:nvPr/>
            </p:nvSpPr>
            <p:spPr bwMode="auto">
              <a:xfrm>
                <a:off x="2283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40</a:t>
                </a:r>
              </a:p>
            </p:txBody>
          </p:sp>
          <p:sp>
            <p:nvSpPr>
              <p:cNvPr id="65573" name="Text Box 37"/>
              <p:cNvSpPr txBox="1">
                <a:spLocks noChangeAspect="1" noChangeArrowheads="1"/>
              </p:cNvSpPr>
              <p:nvPr/>
            </p:nvSpPr>
            <p:spPr bwMode="auto">
              <a:xfrm>
                <a:off x="2082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47</a:t>
                </a:r>
              </a:p>
            </p:txBody>
          </p:sp>
          <p:sp>
            <p:nvSpPr>
              <p:cNvPr id="65574" name="Text Box 38"/>
              <p:cNvSpPr txBox="1">
                <a:spLocks noChangeAspect="1" noChangeArrowheads="1"/>
              </p:cNvSpPr>
              <p:nvPr/>
            </p:nvSpPr>
            <p:spPr bwMode="auto">
              <a:xfrm>
                <a:off x="1976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48</a:t>
                </a:r>
              </a:p>
            </p:txBody>
          </p:sp>
          <p:sp>
            <p:nvSpPr>
              <p:cNvPr id="65575" name="Text Box 39"/>
              <p:cNvSpPr txBox="1">
                <a:spLocks noChangeAspect="1" noChangeArrowheads="1"/>
              </p:cNvSpPr>
              <p:nvPr/>
            </p:nvSpPr>
            <p:spPr bwMode="auto">
              <a:xfrm>
                <a:off x="1784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55</a:t>
                </a:r>
              </a:p>
            </p:txBody>
          </p:sp>
          <p:sp>
            <p:nvSpPr>
              <p:cNvPr id="65576" name="Text Box 40"/>
              <p:cNvSpPr txBox="1">
                <a:spLocks noChangeAspect="1" noChangeArrowheads="1"/>
              </p:cNvSpPr>
              <p:nvPr/>
            </p:nvSpPr>
            <p:spPr bwMode="auto">
              <a:xfrm>
                <a:off x="1658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56</a:t>
                </a:r>
              </a:p>
            </p:txBody>
          </p:sp>
          <p:grpSp>
            <p:nvGrpSpPr>
              <p:cNvPr id="6" name="Group 107"/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361"/>
                <a:chOff x="1536" y="3153"/>
                <a:chExt cx="2446" cy="361"/>
              </a:xfrm>
            </p:grpSpPr>
            <p:grpSp>
              <p:nvGrpSpPr>
                <p:cNvPr id="7" name="Group 97"/>
                <p:cNvGrpSpPr>
                  <a:grpSpLocks/>
                </p:cNvGrpSpPr>
                <p:nvPr/>
              </p:nvGrpSpPr>
              <p:grpSpPr bwMode="auto">
                <a:xfrm>
                  <a:off x="1536" y="3153"/>
                  <a:ext cx="2446" cy="154"/>
                  <a:chOff x="1536" y="3153"/>
                  <a:chExt cx="2446" cy="154"/>
                </a:xfrm>
              </p:grpSpPr>
              <p:sp>
                <p:nvSpPr>
                  <p:cNvPr id="65555" name="Rectangle 1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5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56" name="Rectangle 20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06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57" name="Rectangle 2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6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58" name="Rectangle 2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674" y="3153"/>
                    <a:ext cx="308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67" name="Rectangle 3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36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68" name="Rectangle 3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4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69" name="Rectangle 3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5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570" name="Rectangle 3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45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65577" name="Text Box 41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733" y="3301"/>
                  <a:ext cx="1958" cy="21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600" dirty="0"/>
                    <a:t>64-bit word main memory address </a:t>
                  </a:r>
                  <a:r>
                    <a:rPr lang="en-US" sz="1600" i="1" dirty="0"/>
                    <a:t>A</a:t>
                  </a:r>
                </a:p>
              </p:txBody>
            </p:sp>
          </p:grpSp>
        </p:grpSp>
        <p:grpSp>
          <p:nvGrpSpPr>
            <p:cNvPr id="8" name="Group 106"/>
            <p:cNvGrpSpPr>
              <a:grpSpLocks/>
            </p:cNvGrpSpPr>
            <p:nvPr/>
          </p:nvGrpSpPr>
          <p:grpSpPr bwMode="auto">
            <a:xfrm>
              <a:off x="1651" y="1527"/>
              <a:ext cx="2428" cy="1497"/>
              <a:chOff x="1651" y="1527"/>
              <a:chExt cx="2428" cy="1497"/>
            </a:xfrm>
          </p:grpSpPr>
          <p:grpSp>
            <p:nvGrpSpPr>
              <p:cNvPr id="9" name="Group 100"/>
              <p:cNvGrpSpPr>
                <a:grpSpLocks/>
              </p:cNvGrpSpPr>
              <p:nvPr/>
            </p:nvGrpSpPr>
            <p:grpSpPr bwMode="auto">
              <a:xfrm>
                <a:off x="1677" y="1527"/>
                <a:ext cx="2137" cy="1497"/>
                <a:chOff x="1677" y="1527"/>
                <a:chExt cx="2137" cy="1497"/>
              </a:xfrm>
            </p:grpSpPr>
            <p:sp>
              <p:nvSpPr>
                <p:cNvPr id="65580" name="Line 44"/>
                <p:cNvSpPr>
                  <a:spLocks noChangeAspect="1" noChangeShapeType="1"/>
                </p:cNvSpPr>
                <p:nvPr/>
              </p:nvSpPr>
              <p:spPr bwMode="auto">
                <a:xfrm>
                  <a:off x="3814" y="1527"/>
                  <a:ext cx="0" cy="149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1" name="Line 45"/>
                <p:cNvSpPr>
                  <a:spLocks noChangeAspect="1" noChangeShapeType="1"/>
                </p:cNvSpPr>
                <p:nvPr/>
              </p:nvSpPr>
              <p:spPr bwMode="auto">
                <a:xfrm>
                  <a:off x="3513" y="1604"/>
                  <a:ext cx="0" cy="141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2" name="Line 46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206" y="1680"/>
                  <a:ext cx="0" cy="134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3" name="Line 47"/>
                <p:cNvSpPr>
                  <a:spLocks noChangeAspect="1" noChangeShapeType="1"/>
                </p:cNvSpPr>
                <p:nvPr/>
              </p:nvSpPr>
              <p:spPr bwMode="auto">
                <a:xfrm>
                  <a:off x="2905" y="1757"/>
                  <a:ext cx="0" cy="1261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4" name="Line 48"/>
                <p:cNvSpPr>
                  <a:spLocks noChangeAspect="1" noChangeShapeType="1"/>
                </p:cNvSpPr>
                <p:nvPr/>
              </p:nvSpPr>
              <p:spPr bwMode="auto">
                <a:xfrm>
                  <a:off x="2592" y="1834"/>
                  <a:ext cx="0" cy="119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5" name="Line 49"/>
                <p:cNvSpPr>
                  <a:spLocks noChangeAspect="1" noChangeShapeType="1"/>
                </p:cNvSpPr>
                <p:nvPr/>
              </p:nvSpPr>
              <p:spPr bwMode="auto">
                <a:xfrm>
                  <a:off x="2278" y="1911"/>
                  <a:ext cx="0" cy="1113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6" name="Line 50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971" y="1988"/>
                  <a:ext cx="0" cy="1036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87" name="Line 51"/>
                <p:cNvSpPr>
                  <a:spLocks noChangeAspect="1" noChangeShapeType="1"/>
                </p:cNvSpPr>
                <p:nvPr/>
              </p:nvSpPr>
              <p:spPr bwMode="auto">
                <a:xfrm>
                  <a:off x="1677" y="2064"/>
                  <a:ext cx="0" cy="95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5609" name="Text Box 73"/>
              <p:cNvSpPr txBox="1">
                <a:spLocks noChangeAspect="1" noChangeArrowheads="1"/>
              </p:cNvSpPr>
              <p:nvPr/>
            </p:nvSpPr>
            <p:spPr bwMode="auto">
              <a:xfrm>
                <a:off x="3792" y="2497"/>
                <a:ext cx="287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0-7</a:t>
                </a:r>
              </a:p>
            </p:txBody>
          </p:sp>
          <p:sp>
            <p:nvSpPr>
              <p:cNvPr id="65612" name="Text Box 76"/>
              <p:cNvSpPr txBox="1">
                <a:spLocks noChangeAspect="1" noChangeArrowheads="1"/>
              </p:cNvSpPr>
              <p:nvPr/>
            </p:nvSpPr>
            <p:spPr bwMode="auto">
              <a:xfrm>
                <a:off x="3494" y="2497"/>
                <a:ext cx="307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8-15</a:t>
                </a:r>
              </a:p>
            </p:txBody>
          </p:sp>
          <p:sp>
            <p:nvSpPr>
              <p:cNvPr id="65613" name="Text Box 77"/>
              <p:cNvSpPr txBox="1">
                <a:spLocks noChangeAspect="1" noChangeArrowheads="1"/>
              </p:cNvSpPr>
              <p:nvPr/>
            </p:nvSpPr>
            <p:spPr bwMode="auto">
              <a:xfrm>
                <a:off x="3186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16-23</a:t>
                </a:r>
              </a:p>
            </p:txBody>
          </p:sp>
          <p:sp>
            <p:nvSpPr>
              <p:cNvPr id="65614" name="Text Box 78"/>
              <p:cNvSpPr txBox="1">
                <a:spLocks noChangeAspect="1" noChangeArrowheads="1"/>
              </p:cNvSpPr>
              <p:nvPr/>
            </p:nvSpPr>
            <p:spPr bwMode="auto">
              <a:xfrm>
                <a:off x="2879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24-31</a:t>
                </a:r>
              </a:p>
            </p:txBody>
          </p:sp>
          <p:sp>
            <p:nvSpPr>
              <p:cNvPr id="65615" name="Text Box 79"/>
              <p:cNvSpPr txBox="1">
                <a:spLocks noChangeAspect="1" noChangeArrowheads="1"/>
              </p:cNvSpPr>
              <p:nvPr/>
            </p:nvSpPr>
            <p:spPr bwMode="auto">
              <a:xfrm>
                <a:off x="2572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32-39</a:t>
                </a:r>
              </a:p>
            </p:txBody>
          </p:sp>
          <p:sp>
            <p:nvSpPr>
              <p:cNvPr id="65616" name="Text Box 80"/>
              <p:cNvSpPr txBox="1">
                <a:spLocks noChangeAspect="1" noChangeArrowheads="1"/>
              </p:cNvSpPr>
              <p:nvPr/>
            </p:nvSpPr>
            <p:spPr bwMode="auto">
              <a:xfrm>
                <a:off x="2245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40-47</a:t>
                </a:r>
              </a:p>
            </p:txBody>
          </p:sp>
          <p:sp>
            <p:nvSpPr>
              <p:cNvPr id="65617" name="Text Box 81"/>
              <p:cNvSpPr txBox="1">
                <a:spLocks noChangeAspect="1" noChangeArrowheads="1"/>
              </p:cNvSpPr>
              <p:nvPr/>
            </p:nvSpPr>
            <p:spPr bwMode="auto">
              <a:xfrm>
                <a:off x="1938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48-55</a:t>
                </a:r>
              </a:p>
            </p:txBody>
          </p:sp>
          <p:sp>
            <p:nvSpPr>
              <p:cNvPr id="65618" name="Text Box 82"/>
              <p:cNvSpPr txBox="1">
                <a:spLocks noChangeAspect="1" noChangeArrowheads="1"/>
              </p:cNvSpPr>
              <p:nvPr/>
            </p:nvSpPr>
            <p:spPr bwMode="auto">
              <a:xfrm>
                <a:off x="1651" y="2497"/>
                <a:ext cx="36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200"/>
                  <a:t>bits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1200"/>
                  <a:t>56-63</a:t>
                </a:r>
              </a:p>
            </p:txBody>
          </p:sp>
        </p:grpSp>
      </p:grp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2330450" y="4951413"/>
            <a:ext cx="4097338" cy="1830387"/>
            <a:chOff x="1468" y="3023"/>
            <a:chExt cx="2581" cy="1153"/>
          </a:xfrm>
        </p:grpSpPr>
        <p:grpSp>
          <p:nvGrpSpPr>
            <p:cNvPr id="11" name="Group 105"/>
            <p:cNvGrpSpPr>
              <a:grpSpLocks/>
            </p:cNvGrpSpPr>
            <p:nvPr/>
          </p:nvGrpSpPr>
          <p:grpSpPr bwMode="auto">
            <a:xfrm>
              <a:off x="2476" y="3677"/>
              <a:ext cx="1158" cy="499"/>
              <a:chOff x="2476" y="3677"/>
              <a:chExt cx="1158" cy="499"/>
            </a:xfrm>
          </p:grpSpPr>
          <p:sp>
            <p:nvSpPr>
              <p:cNvPr id="65619" name="AutoShape 83"/>
              <p:cNvSpPr>
                <a:spLocks noChangeAspect="1" noChangeArrowheads="1"/>
              </p:cNvSpPr>
              <p:nvPr/>
            </p:nvSpPr>
            <p:spPr bwMode="auto">
              <a:xfrm>
                <a:off x="2476" y="3677"/>
                <a:ext cx="538" cy="499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99CC"/>
              </a:solidFill>
              <a:ln w="12700">
                <a:solidFill>
                  <a:srgbClr val="000004"/>
                </a:solidFill>
                <a:miter lim="800000"/>
                <a:headEnd/>
                <a:tailEnd/>
              </a:ln>
              <a:effectLst>
                <a:outerShdw blurRad="63500" dist="38099" dir="2700000" algn="ctr" rotWithShape="0">
                  <a:srgbClr val="000004">
                    <a:alpha val="74998"/>
                  </a:srgb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620" name="Text Box 84"/>
              <p:cNvSpPr txBox="1">
                <a:spLocks noChangeAspect="1" noChangeArrowheads="1"/>
              </p:cNvSpPr>
              <p:nvPr/>
            </p:nvSpPr>
            <p:spPr bwMode="auto">
              <a:xfrm>
                <a:off x="2952" y="3754"/>
                <a:ext cx="682" cy="21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/>
                  <a:t>64-bit word</a:t>
                </a:r>
              </a:p>
            </p:txBody>
          </p:sp>
        </p:grpSp>
        <p:grpSp>
          <p:nvGrpSpPr>
            <p:cNvPr id="12" name="Group 110"/>
            <p:cNvGrpSpPr>
              <a:grpSpLocks/>
            </p:cNvGrpSpPr>
            <p:nvPr/>
          </p:nvGrpSpPr>
          <p:grpSpPr bwMode="auto">
            <a:xfrm>
              <a:off x="1468" y="3023"/>
              <a:ext cx="2581" cy="284"/>
              <a:chOff x="1468" y="3023"/>
              <a:chExt cx="2581" cy="284"/>
            </a:xfrm>
          </p:grpSpPr>
          <p:sp>
            <p:nvSpPr>
              <p:cNvPr id="65647" name="Text Box 111"/>
              <p:cNvSpPr txBox="1">
                <a:spLocks noChangeAspect="1" noChangeArrowheads="1"/>
              </p:cNvSpPr>
              <p:nvPr/>
            </p:nvSpPr>
            <p:spPr bwMode="auto">
              <a:xfrm>
                <a:off x="3889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0</a:t>
                </a:r>
              </a:p>
            </p:txBody>
          </p:sp>
          <p:sp>
            <p:nvSpPr>
              <p:cNvPr id="65648" name="Text Box 112"/>
              <p:cNvSpPr txBox="1">
                <a:spLocks noChangeAspect="1" noChangeArrowheads="1"/>
              </p:cNvSpPr>
              <p:nvPr/>
            </p:nvSpPr>
            <p:spPr bwMode="auto">
              <a:xfrm>
                <a:off x="2695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31</a:t>
                </a:r>
              </a:p>
            </p:txBody>
          </p:sp>
          <p:sp>
            <p:nvSpPr>
              <p:cNvPr id="65649" name="Text Box 113"/>
              <p:cNvSpPr txBox="1">
                <a:spLocks noChangeAspect="1" noChangeArrowheads="1"/>
              </p:cNvSpPr>
              <p:nvPr/>
            </p:nvSpPr>
            <p:spPr bwMode="auto">
              <a:xfrm>
                <a:off x="3645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7</a:t>
                </a:r>
              </a:p>
            </p:txBody>
          </p:sp>
          <p:sp>
            <p:nvSpPr>
              <p:cNvPr id="65650" name="Text Box 114"/>
              <p:cNvSpPr txBox="1">
                <a:spLocks noChangeAspect="1" noChangeArrowheads="1"/>
              </p:cNvSpPr>
              <p:nvPr/>
            </p:nvSpPr>
            <p:spPr bwMode="auto">
              <a:xfrm>
                <a:off x="3554" y="3023"/>
                <a:ext cx="160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8</a:t>
                </a:r>
              </a:p>
            </p:txBody>
          </p:sp>
          <p:sp>
            <p:nvSpPr>
              <p:cNvPr id="65651" name="Text Box 115"/>
              <p:cNvSpPr txBox="1">
                <a:spLocks noChangeAspect="1" noChangeArrowheads="1"/>
              </p:cNvSpPr>
              <p:nvPr/>
            </p:nvSpPr>
            <p:spPr bwMode="auto">
              <a:xfrm>
                <a:off x="3309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15</a:t>
                </a:r>
              </a:p>
            </p:txBody>
          </p:sp>
          <p:sp>
            <p:nvSpPr>
              <p:cNvPr id="65652" name="Text Box 116"/>
              <p:cNvSpPr txBox="1">
                <a:spLocks noChangeAspect="1" noChangeArrowheads="1"/>
              </p:cNvSpPr>
              <p:nvPr/>
            </p:nvSpPr>
            <p:spPr bwMode="auto">
              <a:xfrm>
                <a:off x="3194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16</a:t>
                </a:r>
              </a:p>
            </p:txBody>
          </p:sp>
          <p:sp>
            <p:nvSpPr>
              <p:cNvPr id="65653" name="Text Box 117"/>
              <p:cNvSpPr txBox="1">
                <a:spLocks noChangeAspect="1" noChangeArrowheads="1"/>
              </p:cNvSpPr>
              <p:nvPr/>
            </p:nvSpPr>
            <p:spPr bwMode="auto">
              <a:xfrm>
                <a:off x="3030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23</a:t>
                </a:r>
              </a:p>
            </p:txBody>
          </p:sp>
          <p:sp>
            <p:nvSpPr>
              <p:cNvPr id="65654" name="Text Box 118"/>
              <p:cNvSpPr txBox="1">
                <a:spLocks noChangeAspect="1" noChangeArrowheads="1"/>
              </p:cNvSpPr>
              <p:nvPr/>
            </p:nvSpPr>
            <p:spPr bwMode="auto">
              <a:xfrm>
                <a:off x="2925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24</a:t>
                </a:r>
              </a:p>
            </p:txBody>
          </p:sp>
          <p:sp>
            <p:nvSpPr>
              <p:cNvPr id="65655" name="Text Box 119"/>
              <p:cNvSpPr txBox="1">
                <a:spLocks noChangeAspect="1" noChangeArrowheads="1"/>
              </p:cNvSpPr>
              <p:nvPr/>
            </p:nvSpPr>
            <p:spPr bwMode="auto">
              <a:xfrm>
                <a:off x="2591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32</a:t>
                </a:r>
              </a:p>
            </p:txBody>
          </p:sp>
          <p:sp>
            <p:nvSpPr>
              <p:cNvPr id="65656" name="Text Box 120"/>
              <p:cNvSpPr txBox="1">
                <a:spLocks noChangeAspect="1" noChangeArrowheads="1"/>
              </p:cNvSpPr>
              <p:nvPr/>
            </p:nvSpPr>
            <p:spPr bwMode="auto">
              <a:xfrm>
                <a:off x="1468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63</a:t>
                </a:r>
              </a:p>
            </p:txBody>
          </p:sp>
          <p:sp>
            <p:nvSpPr>
              <p:cNvPr id="65657" name="Text Box 121"/>
              <p:cNvSpPr txBox="1">
                <a:spLocks noChangeAspect="1" noChangeArrowheads="1"/>
              </p:cNvSpPr>
              <p:nvPr/>
            </p:nvSpPr>
            <p:spPr bwMode="auto">
              <a:xfrm>
                <a:off x="2407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39</a:t>
                </a:r>
              </a:p>
            </p:txBody>
          </p:sp>
          <p:sp>
            <p:nvSpPr>
              <p:cNvPr id="65658" name="Text Box 122"/>
              <p:cNvSpPr txBox="1">
                <a:spLocks noChangeAspect="1" noChangeArrowheads="1"/>
              </p:cNvSpPr>
              <p:nvPr/>
            </p:nvSpPr>
            <p:spPr bwMode="auto">
              <a:xfrm>
                <a:off x="2283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40</a:t>
                </a:r>
              </a:p>
            </p:txBody>
          </p:sp>
          <p:sp>
            <p:nvSpPr>
              <p:cNvPr id="65659" name="Text Box 123"/>
              <p:cNvSpPr txBox="1">
                <a:spLocks noChangeAspect="1" noChangeArrowheads="1"/>
              </p:cNvSpPr>
              <p:nvPr/>
            </p:nvSpPr>
            <p:spPr bwMode="auto">
              <a:xfrm>
                <a:off x="2082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47</a:t>
                </a:r>
              </a:p>
            </p:txBody>
          </p:sp>
          <p:sp>
            <p:nvSpPr>
              <p:cNvPr id="65660" name="Text Box 124"/>
              <p:cNvSpPr txBox="1">
                <a:spLocks noChangeAspect="1" noChangeArrowheads="1"/>
              </p:cNvSpPr>
              <p:nvPr/>
            </p:nvSpPr>
            <p:spPr bwMode="auto">
              <a:xfrm>
                <a:off x="1976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48</a:t>
                </a:r>
              </a:p>
            </p:txBody>
          </p:sp>
          <p:sp>
            <p:nvSpPr>
              <p:cNvPr id="65661" name="Text Box 125"/>
              <p:cNvSpPr txBox="1">
                <a:spLocks noChangeAspect="1" noChangeArrowheads="1"/>
              </p:cNvSpPr>
              <p:nvPr/>
            </p:nvSpPr>
            <p:spPr bwMode="auto">
              <a:xfrm>
                <a:off x="1784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55</a:t>
                </a:r>
              </a:p>
            </p:txBody>
          </p:sp>
          <p:sp>
            <p:nvSpPr>
              <p:cNvPr id="65662" name="Text Box 126"/>
              <p:cNvSpPr txBox="1">
                <a:spLocks noChangeAspect="1" noChangeArrowheads="1"/>
              </p:cNvSpPr>
              <p:nvPr/>
            </p:nvSpPr>
            <p:spPr bwMode="auto">
              <a:xfrm>
                <a:off x="1658" y="3023"/>
                <a:ext cx="204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/>
                  <a:t>56</a:t>
                </a:r>
              </a:p>
            </p:txBody>
          </p:sp>
          <p:grpSp>
            <p:nvGrpSpPr>
              <p:cNvPr id="14" name="Group 128"/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154"/>
                <a:chOff x="1536" y="3153"/>
                <a:chExt cx="2446" cy="154"/>
              </a:xfrm>
            </p:grpSpPr>
            <p:sp>
              <p:nvSpPr>
                <p:cNvPr id="65665" name="Rectangle 129"/>
                <p:cNvSpPr>
                  <a:spLocks noChangeAspect="1" noChangeArrowheads="1"/>
                </p:cNvSpPr>
                <p:nvPr/>
              </p:nvSpPr>
              <p:spPr bwMode="auto">
                <a:xfrm>
                  <a:off x="2753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66" name="Rectangle 130"/>
                <p:cNvSpPr>
                  <a:spLocks noChangeAspect="1" noChangeArrowheads="1"/>
                </p:cNvSpPr>
                <p:nvPr/>
              </p:nvSpPr>
              <p:spPr bwMode="auto">
                <a:xfrm>
                  <a:off x="3060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67" name="Rectangle 131"/>
                <p:cNvSpPr>
                  <a:spLocks noChangeAspect="1" noChangeArrowheads="1"/>
                </p:cNvSpPr>
                <p:nvPr/>
              </p:nvSpPr>
              <p:spPr bwMode="auto">
                <a:xfrm>
                  <a:off x="3367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68" name="Rectangle 132"/>
                <p:cNvSpPr>
                  <a:spLocks noChangeAspect="1" noChangeArrowheads="1"/>
                </p:cNvSpPr>
                <p:nvPr/>
              </p:nvSpPr>
              <p:spPr bwMode="auto">
                <a:xfrm>
                  <a:off x="3674" y="3153"/>
                  <a:ext cx="308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69" name="Rectangle 133"/>
                <p:cNvSpPr>
                  <a:spLocks noChangeAspect="1" noChangeArrowheads="1"/>
                </p:cNvSpPr>
                <p:nvPr/>
              </p:nvSpPr>
              <p:spPr bwMode="auto">
                <a:xfrm>
                  <a:off x="1536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70" name="Rectangle 134"/>
                <p:cNvSpPr>
                  <a:spLocks noChangeAspect="1" noChangeArrowheads="1"/>
                </p:cNvSpPr>
                <p:nvPr/>
              </p:nvSpPr>
              <p:spPr bwMode="auto">
                <a:xfrm>
                  <a:off x="1843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71" name="Rectangle 135"/>
                <p:cNvSpPr>
                  <a:spLocks noChangeAspect="1" noChangeArrowheads="1"/>
                </p:cNvSpPr>
                <p:nvPr/>
              </p:nvSpPr>
              <p:spPr bwMode="auto">
                <a:xfrm>
                  <a:off x="2150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72" name="Rectangle 136"/>
                <p:cNvSpPr>
                  <a:spLocks noChangeAspect="1" noChangeArrowheads="1"/>
                </p:cNvSpPr>
                <p:nvPr/>
              </p:nvSpPr>
              <p:spPr bwMode="auto">
                <a:xfrm>
                  <a:off x="2457" y="3153"/>
                  <a:ext cx="307" cy="154"/>
                </a:xfrm>
                <a:prstGeom prst="rect">
                  <a:avLst/>
                </a:prstGeom>
                <a:solidFill>
                  <a:srgbClr val="FF99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0308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2EBA-A027-4F19-FA07-F28B1701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E2DE-4608-E93E-83F3-725FCBE39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the main memory is slow?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Reason #2: the bus</a:t>
            </a:r>
          </a:p>
        </p:txBody>
      </p:sp>
    </p:spTree>
    <p:extLst>
      <p:ext uri="{BB962C8B-B14F-4D97-AF65-F5344CB8AC3E}">
        <p14:creationId xmlns:p14="http://schemas.microsoft.com/office/powerpoint/2010/main" val="2407195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6" name="Rectangle 26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Traditional Bus Structure Connecting </a:t>
            </a:r>
            <a:br>
              <a:rPr lang="en-US" dirty="0"/>
            </a:br>
            <a:r>
              <a:rPr lang="en-US" dirty="0"/>
              <a:t>CPU and Memory</a:t>
            </a:r>
          </a:p>
        </p:txBody>
      </p:sp>
      <p:sp>
        <p:nvSpPr>
          <p:cNvPr id="66587" name="Rectangle 27"/>
          <p:cNvSpPr>
            <a:spLocks noGrp="1" noChangeArrowheads="1"/>
          </p:cNvSpPr>
          <p:nvPr>
            <p:ph idx="1"/>
          </p:nvPr>
        </p:nvSpPr>
        <p:spPr>
          <a:xfrm>
            <a:off x="396875" y="1504950"/>
            <a:ext cx="7896225" cy="497205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bus</a:t>
            </a:r>
            <a:r>
              <a:rPr lang="en-US" dirty="0"/>
              <a:t> is a collection of parallel wires that carry address, data, and control signals.</a:t>
            </a:r>
          </a:p>
          <a:p>
            <a:r>
              <a:rPr lang="en-US" dirty="0"/>
              <a:t>Buses are typically shared by multiple devices.</a:t>
            </a:r>
          </a:p>
        </p:txBody>
      </p:sp>
      <p:sp>
        <p:nvSpPr>
          <p:cNvPr id="66565" name="Rectangle 5"/>
          <p:cNvSpPr>
            <a:spLocks noChangeAspect="1" noChangeArrowheads="1"/>
          </p:cNvSpPr>
          <p:nvPr/>
        </p:nvSpPr>
        <p:spPr bwMode="auto">
          <a:xfrm>
            <a:off x="7637463" y="5337175"/>
            <a:ext cx="1049337" cy="1054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</p:txBody>
      </p:sp>
      <p:sp>
        <p:nvSpPr>
          <p:cNvPr id="66566" name="AutoShape 6"/>
          <p:cNvSpPr>
            <a:spLocks noChangeAspect="1" noChangeArrowheads="1"/>
          </p:cNvSpPr>
          <p:nvPr/>
        </p:nvSpPr>
        <p:spPr bwMode="auto">
          <a:xfrm>
            <a:off x="5880100" y="5511800"/>
            <a:ext cx="1720850" cy="615950"/>
          </a:xfrm>
          <a:prstGeom prst="leftRightArrow">
            <a:avLst>
              <a:gd name="adj1" fmla="val 50000"/>
              <a:gd name="adj2" fmla="val 55876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67" name="Rectangle 7"/>
          <p:cNvSpPr>
            <a:spLocks noChangeAspect="1" noChangeArrowheads="1"/>
          </p:cNvSpPr>
          <p:nvPr/>
        </p:nvSpPr>
        <p:spPr bwMode="auto">
          <a:xfrm>
            <a:off x="4824413" y="5548313"/>
            <a:ext cx="1049337" cy="666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I/O 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bridge</a:t>
            </a:r>
          </a:p>
        </p:txBody>
      </p:sp>
      <p:sp>
        <p:nvSpPr>
          <p:cNvPr id="66568" name="AutoShape 8"/>
          <p:cNvSpPr>
            <a:spLocks noChangeAspect="1" noChangeArrowheads="1"/>
          </p:cNvSpPr>
          <p:nvPr/>
        </p:nvSpPr>
        <p:spPr bwMode="auto">
          <a:xfrm>
            <a:off x="3143250" y="5511800"/>
            <a:ext cx="1676400" cy="615950"/>
          </a:xfrm>
          <a:prstGeom prst="leftRightArrow">
            <a:avLst>
              <a:gd name="adj1" fmla="val 50000"/>
              <a:gd name="adj2" fmla="val 54433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69" name="Rectangle 9"/>
          <p:cNvSpPr>
            <a:spLocks noChangeAspect="1" noChangeArrowheads="1"/>
          </p:cNvSpPr>
          <p:nvPr/>
        </p:nvSpPr>
        <p:spPr bwMode="auto">
          <a:xfrm>
            <a:off x="950913" y="5548313"/>
            <a:ext cx="2162175" cy="666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66570" name="Rectangle 10"/>
          <p:cNvSpPr>
            <a:spLocks noChangeAspect="1" noChangeArrowheads="1"/>
          </p:cNvSpPr>
          <p:nvPr/>
        </p:nvSpPr>
        <p:spPr bwMode="auto">
          <a:xfrm>
            <a:off x="2008188" y="4017963"/>
            <a:ext cx="788987" cy="176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1" name="Rectangle 11"/>
          <p:cNvSpPr>
            <a:spLocks noChangeAspect="1" noChangeArrowheads="1"/>
          </p:cNvSpPr>
          <p:nvPr/>
        </p:nvSpPr>
        <p:spPr bwMode="auto">
          <a:xfrm>
            <a:off x="2008188" y="4194175"/>
            <a:ext cx="788987" cy="176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2" name="Rectangle 12"/>
          <p:cNvSpPr>
            <a:spLocks noChangeAspect="1" noChangeArrowheads="1"/>
          </p:cNvSpPr>
          <p:nvPr/>
        </p:nvSpPr>
        <p:spPr bwMode="auto">
          <a:xfrm>
            <a:off x="2008188" y="4370388"/>
            <a:ext cx="788987" cy="174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3" name="Rectangle 13"/>
          <p:cNvSpPr>
            <a:spLocks noChangeAspect="1" noChangeArrowheads="1"/>
          </p:cNvSpPr>
          <p:nvPr/>
        </p:nvSpPr>
        <p:spPr bwMode="auto">
          <a:xfrm>
            <a:off x="2008188" y="4545013"/>
            <a:ext cx="788987" cy="176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4" name="Rectangle 14"/>
          <p:cNvSpPr>
            <a:spLocks noChangeAspect="1" noChangeArrowheads="1"/>
          </p:cNvSpPr>
          <p:nvPr/>
        </p:nvSpPr>
        <p:spPr bwMode="auto">
          <a:xfrm>
            <a:off x="2008188" y="4721225"/>
            <a:ext cx="788987" cy="176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5" name="AutoShape 15"/>
          <p:cNvSpPr>
            <a:spLocks noChangeAspect="1" noChangeArrowheads="1"/>
          </p:cNvSpPr>
          <p:nvPr/>
        </p:nvSpPr>
        <p:spPr bwMode="auto">
          <a:xfrm>
            <a:off x="2900363" y="4017963"/>
            <a:ext cx="512762" cy="439737"/>
          </a:xfrm>
          <a:prstGeom prst="rightArrow">
            <a:avLst>
              <a:gd name="adj1" fmla="val 50000"/>
              <a:gd name="adj2" fmla="val 291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6" name="AutoShape 16"/>
          <p:cNvSpPr>
            <a:spLocks noChangeAspect="1" noChangeArrowheads="1"/>
          </p:cNvSpPr>
          <p:nvPr/>
        </p:nvSpPr>
        <p:spPr bwMode="auto">
          <a:xfrm flipH="1">
            <a:off x="2797175" y="4457700"/>
            <a:ext cx="512763" cy="439738"/>
          </a:xfrm>
          <a:prstGeom prst="rightArrow">
            <a:avLst>
              <a:gd name="adj1" fmla="val 50000"/>
              <a:gd name="adj2" fmla="val 291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77" name="Rectangle 17"/>
          <p:cNvSpPr>
            <a:spLocks noChangeAspect="1" noChangeArrowheads="1"/>
          </p:cNvSpPr>
          <p:nvPr/>
        </p:nvSpPr>
        <p:spPr bwMode="auto">
          <a:xfrm>
            <a:off x="3413125" y="3843338"/>
            <a:ext cx="614363" cy="1230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ALU</a:t>
            </a:r>
          </a:p>
        </p:txBody>
      </p:sp>
      <p:sp>
        <p:nvSpPr>
          <p:cNvPr id="66578" name="Text Box 18"/>
          <p:cNvSpPr txBox="1">
            <a:spLocks noChangeAspect="1" noChangeArrowheads="1"/>
          </p:cNvSpPr>
          <p:nvPr/>
        </p:nvSpPr>
        <p:spPr bwMode="auto">
          <a:xfrm>
            <a:off x="1841500" y="3671680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66579" name="AutoShape 19"/>
          <p:cNvSpPr>
            <a:spLocks noChangeAspect="1" noChangeArrowheads="1"/>
          </p:cNvSpPr>
          <p:nvPr/>
        </p:nvSpPr>
        <p:spPr bwMode="auto">
          <a:xfrm>
            <a:off x="2093913" y="4984750"/>
            <a:ext cx="703262" cy="52705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80" name="Rectangle 20"/>
          <p:cNvSpPr>
            <a:spLocks noChangeAspect="1" noChangeArrowheads="1"/>
          </p:cNvSpPr>
          <p:nvPr/>
        </p:nvSpPr>
        <p:spPr bwMode="auto">
          <a:xfrm>
            <a:off x="776288" y="3578225"/>
            <a:ext cx="3427412" cy="281305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81" name="Text Box 21"/>
          <p:cNvSpPr txBox="1">
            <a:spLocks noChangeAspect="1" noChangeArrowheads="1"/>
          </p:cNvSpPr>
          <p:nvPr/>
        </p:nvSpPr>
        <p:spPr bwMode="auto">
          <a:xfrm>
            <a:off x="744538" y="3251200"/>
            <a:ext cx="1085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CPU chip</a:t>
            </a:r>
          </a:p>
        </p:txBody>
      </p:sp>
      <p:sp>
        <p:nvSpPr>
          <p:cNvPr id="66582" name="Text Box 22"/>
          <p:cNvSpPr txBox="1">
            <a:spLocks noChangeAspect="1" noChangeArrowheads="1"/>
          </p:cNvSpPr>
          <p:nvPr/>
        </p:nvSpPr>
        <p:spPr bwMode="auto">
          <a:xfrm>
            <a:off x="4348163" y="4746417"/>
            <a:ext cx="112913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System bus</a:t>
            </a:r>
          </a:p>
        </p:txBody>
      </p:sp>
      <p:sp>
        <p:nvSpPr>
          <p:cNvPr id="66583" name="Line 23"/>
          <p:cNvSpPr>
            <a:spLocks noChangeAspect="1" noChangeShapeType="1"/>
          </p:cNvSpPr>
          <p:nvPr/>
        </p:nvSpPr>
        <p:spPr bwMode="auto">
          <a:xfrm flipH="1">
            <a:off x="4027488" y="5073650"/>
            <a:ext cx="792162" cy="527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584" name="Text Box 24"/>
          <p:cNvSpPr txBox="1">
            <a:spLocks noChangeAspect="1" noChangeArrowheads="1"/>
          </p:cNvSpPr>
          <p:nvPr/>
        </p:nvSpPr>
        <p:spPr bwMode="auto">
          <a:xfrm>
            <a:off x="6019800" y="4746417"/>
            <a:ext cx="117572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Memory bus</a:t>
            </a:r>
          </a:p>
        </p:txBody>
      </p:sp>
      <p:sp>
        <p:nvSpPr>
          <p:cNvPr id="66585" name="Line 25"/>
          <p:cNvSpPr>
            <a:spLocks noChangeAspect="1" noChangeShapeType="1"/>
          </p:cNvSpPr>
          <p:nvPr/>
        </p:nvSpPr>
        <p:spPr bwMode="auto">
          <a:xfrm>
            <a:off x="6664325" y="5073650"/>
            <a:ext cx="0" cy="527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16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Read Transaction (1)</a:t>
            </a:r>
          </a:p>
        </p:txBody>
      </p:sp>
      <p:sp>
        <p:nvSpPr>
          <p:cNvPr id="67617" name="Rectangle 3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places address A on the memory bus.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6767513" y="3810000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7589" name="AutoShape 5"/>
          <p:cNvSpPr>
            <a:spLocks noChangeArrowheads="1"/>
          </p:cNvSpPr>
          <p:nvPr/>
        </p:nvSpPr>
        <p:spPr bwMode="auto">
          <a:xfrm>
            <a:off x="5243513" y="39624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329113" y="3994150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/>
              <a:t> </a:t>
            </a:r>
          </a:p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7591" name="AutoShape 7"/>
          <p:cNvSpPr>
            <a:spLocks noChangeArrowheads="1"/>
          </p:cNvSpPr>
          <p:nvPr/>
        </p:nvSpPr>
        <p:spPr bwMode="auto">
          <a:xfrm>
            <a:off x="2871788" y="3962400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1887538" y="26670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1887538" y="28194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1887538" y="29718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5" name="Rectangle 11"/>
          <p:cNvSpPr>
            <a:spLocks noChangeArrowheads="1"/>
          </p:cNvSpPr>
          <p:nvPr/>
        </p:nvSpPr>
        <p:spPr bwMode="auto">
          <a:xfrm>
            <a:off x="1887538" y="31242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1887538" y="32766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7" name="AutoShape 13"/>
          <p:cNvSpPr>
            <a:spLocks noChangeArrowheads="1"/>
          </p:cNvSpPr>
          <p:nvPr/>
        </p:nvSpPr>
        <p:spPr bwMode="auto">
          <a:xfrm>
            <a:off x="2660650" y="2667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8" name="AutoShape 14"/>
          <p:cNvSpPr>
            <a:spLocks noChangeArrowheads="1"/>
          </p:cNvSpPr>
          <p:nvPr/>
        </p:nvSpPr>
        <p:spPr bwMode="auto">
          <a:xfrm flipH="1">
            <a:off x="2571750" y="3048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9" name="Rectangle 15"/>
          <p:cNvSpPr>
            <a:spLocks noChangeArrowheads="1"/>
          </p:cNvSpPr>
          <p:nvPr/>
        </p:nvSpPr>
        <p:spPr bwMode="auto">
          <a:xfrm>
            <a:off x="3105150" y="25146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ALU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auto">
          <a:xfrm>
            <a:off x="1676400" y="23453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67601" name="AutoShape 17"/>
          <p:cNvSpPr>
            <a:spLocks noChangeArrowheads="1"/>
          </p:cNvSpPr>
          <p:nvPr/>
        </p:nvSpPr>
        <p:spPr bwMode="auto">
          <a:xfrm>
            <a:off x="1962150" y="35052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602" name="Line 18"/>
          <p:cNvSpPr>
            <a:spLocks noChangeShapeType="1"/>
          </p:cNvSpPr>
          <p:nvPr/>
        </p:nvSpPr>
        <p:spPr bwMode="auto">
          <a:xfrm>
            <a:off x="2800350" y="4191000"/>
            <a:ext cx="3962400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603" name="Rectangle 19"/>
          <p:cNvSpPr>
            <a:spLocks noChangeArrowheads="1"/>
          </p:cNvSpPr>
          <p:nvPr/>
        </p:nvSpPr>
        <p:spPr bwMode="auto">
          <a:xfrm>
            <a:off x="971550" y="3994150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67604" name="Text Box 20"/>
          <p:cNvSpPr txBox="1">
            <a:spLocks noChangeArrowheads="1"/>
          </p:cNvSpPr>
          <p:nvPr/>
        </p:nvSpPr>
        <p:spPr bwMode="auto">
          <a:xfrm>
            <a:off x="5757169" y="3808998"/>
            <a:ext cx="33793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i="1"/>
              <a:t>A</a:t>
            </a:r>
          </a:p>
        </p:txBody>
      </p:sp>
      <p:sp>
        <p:nvSpPr>
          <p:cNvPr id="67605" name="Text Box 21"/>
          <p:cNvSpPr txBox="1">
            <a:spLocks noChangeArrowheads="1"/>
          </p:cNvSpPr>
          <p:nvPr/>
        </p:nvSpPr>
        <p:spPr bwMode="auto">
          <a:xfrm>
            <a:off x="7673975" y="3687763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7606" name="Text Box 22"/>
          <p:cNvSpPr txBox="1">
            <a:spLocks noChangeArrowheads="1"/>
          </p:cNvSpPr>
          <p:nvPr/>
        </p:nvSpPr>
        <p:spPr bwMode="auto">
          <a:xfrm>
            <a:off x="7658100" y="4191000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67607" name="Rectangle 23"/>
          <p:cNvSpPr>
            <a:spLocks noChangeArrowheads="1"/>
          </p:cNvSpPr>
          <p:nvPr/>
        </p:nvSpPr>
        <p:spPr bwMode="auto">
          <a:xfrm>
            <a:off x="6762750" y="4283075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/>
              <a:t>x</a:t>
            </a:r>
          </a:p>
        </p:txBody>
      </p:sp>
      <p:sp>
        <p:nvSpPr>
          <p:cNvPr id="67608" name="Text Box 24"/>
          <p:cNvSpPr txBox="1">
            <a:spLocks noChangeArrowheads="1"/>
          </p:cNvSpPr>
          <p:nvPr/>
        </p:nvSpPr>
        <p:spPr bwMode="auto">
          <a:xfrm>
            <a:off x="6553200" y="3472448"/>
            <a:ext cx="12692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 memory</a:t>
            </a:r>
          </a:p>
        </p:txBody>
      </p:sp>
      <p:sp>
        <p:nvSpPr>
          <p:cNvPr id="67609" name="Text Box 25"/>
          <p:cNvSpPr txBox="1">
            <a:spLocks noChangeArrowheads="1"/>
          </p:cNvSpPr>
          <p:nvPr/>
        </p:nvSpPr>
        <p:spPr bwMode="auto">
          <a:xfrm>
            <a:off x="4302038" y="3701048"/>
            <a:ext cx="97013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I/O bridge</a:t>
            </a:r>
          </a:p>
        </p:txBody>
      </p: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1247259" y="2999373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67612" name="Text Box 28"/>
          <p:cNvSpPr txBox="1">
            <a:spLocks noChangeArrowheads="1"/>
          </p:cNvSpPr>
          <p:nvPr/>
        </p:nvSpPr>
        <p:spPr bwMode="auto">
          <a:xfrm>
            <a:off x="4629150" y="2438400"/>
            <a:ext cx="2984811" cy="58477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Load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A, %</a:t>
            </a:r>
            <a:r>
              <a:rPr lang="en-US" sz="1600" dirty="0" err="1">
                <a:latin typeface="Courier New" charset="0"/>
              </a:rPr>
              <a:t>rax</a:t>
            </a:r>
            <a:endParaRPr lang="en-US" sz="1600" dirty="0">
              <a:latin typeface="Times" charset="0"/>
            </a:endParaRPr>
          </a:p>
          <a:p>
            <a:pPr algn="l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36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Read Transaction (2)</a:t>
            </a:r>
          </a:p>
        </p:txBody>
      </p:sp>
      <p:sp>
        <p:nvSpPr>
          <p:cNvPr id="68637" name="Rectangle 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memory reads A from the memory bus, retrieves word </a:t>
            </a:r>
            <a:r>
              <a:rPr lang="en-US" dirty="0" err="1"/>
              <a:t>x</a:t>
            </a:r>
            <a:r>
              <a:rPr lang="en-US" dirty="0"/>
              <a:t>, and places it on the bus.</a:t>
            </a:r>
          </a:p>
        </p:txBody>
      </p:sp>
      <p:sp>
        <p:nvSpPr>
          <p:cNvPr id="68612" name="AutoShape 4"/>
          <p:cNvSpPr>
            <a:spLocks noChangeArrowheads="1"/>
          </p:cNvSpPr>
          <p:nvPr/>
        </p:nvSpPr>
        <p:spPr bwMode="auto">
          <a:xfrm>
            <a:off x="5248275" y="3959225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4333875" y="3990975"/>
            <a:ext cx="909638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8614" name="AutoShape 6"/>
          <p:cNvSpPr>
            <a:spLocks noChangeArrowheads="1"/>
          </p:cNvSpPr>
          <p:nvPr/>
        </p:nvSpPr>
        <p:spPr bwMode="auto">
          <a:xfrm>
            <a:off x="2876550" y="3959225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1892300" y="26638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1892300" y="28162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1892300" y="29686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8" name="Rectangle 10"/>
          <p:cNvSpPr>
            <a:spLocks noChangeArrowheads="1"/>
          </p:cNvSpPr>
          <p:nvPr/>
        </p:nvSpPr>
        <p:spPr bwMode="auto">
          <a:xfrm>
            <a:off x="1892300" y="31210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1892300" y="32734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20" name="AutoShape 12"/>
          <p:cNvSpPr>
            <a:spLocks noChangeArrowheads="1"/>
          </p:cNvSpPr>
          <p:nvPr/>
        </p:nvSpPr>
        <p:spPr bwMode="auto">
          <a:xfrm>
            <a:off x="2665413" y="2663825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21" name="AutoShape 13"/>
          <p:cNvSpPr>
            <a:spLocks noChangeArrowheads="1"/>
          </p:cNvSpPr>
          <p:nvPr/>
        </p:nvSpPr>
        <p:spPr bwMode="auto">
          <a:xfrm flipH="1">
            <a:off x="2576513" y="3044825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22" name="Rectangle 14"/>
          <p:cNvSpPr>
            <a:spLocks noChangeArrowheads="1"/>
          </p:cNvSpPr>
          <p:nvPr/>
        </p:nvSpPr>
        <p:spPr bwMode="auto">
          <a:xfrm>
            <a:off x="3109913" y="2511425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68623" name="Text Box 15"/>
          <p:cNvSpPr txBox="1">
            <a:spLocks noChangeArrowheads="1"/>
          </p:cNvSpPr>
          <p:nvPr/>
        </p:nvSpPr>
        <p:spPr bwMode="auto">
          <a:xfrm>
            <a:off x="1689100" y="2342148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68624" name="AutoShape 16"/>
          <p:cNvSpPr>
            <a:spLocks noChangeArrowheads="1"/>
          </p:cNvSpPr>
          <p:nvPr/>
        </p:nvSpPr>
        <p:spPr bwMode="auto">
          <a:xfrm>
            <a:off x="1966913" y="3502025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25" name="Line 17"/>
          <p:cNvSpPr>
            <a:spLocks noChangeShapeType="1"/>
          </p:cNvSpPr>
          <p:nvPr/>
        </p:nvSpPr>
        <p:spPr bwMode="auto">
          <a:xfrm>
            <a:off x="2805113" y="4187825"/>
            <a:ext cx="3962400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976313" y="3990975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68627" name="Text Box 19"/>
          <p:cNvSpPr txBox="1">
            <a:spLocks noChangeArrowheads="1"/>
          </p:cNvSpPr>
          <p:nvPr/>
        </p:nvSpPr>
        <p:spPr bwMode="auto">
          <a:xfrm>
            <a:off x="5772844" y="3729623"/>
            <a:ext cx="3177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i="1"/>
              <a:t>x</a:t>
            </a:r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6772275" y="3806825"/>
            <a:ext cx="909638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7678738" y="3684588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8630" name="Text Box 22"/>
          <p:cNvSpPr txBox="1">
            <a:spLocks noChangeArrowheads="1"/>
          </p:cNvSpPr>
          <p:nvPr/>
        </p:nvSpPr>
        <p:spPr bwMode="auto">
          <a:xfrm>
            <a:off x="7662863" y="4187825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68631" name="Rectangle 23"/>
          <p:cNvSpPr>
            <a:spLocks noChangeArrowheads="1"/>
          </p:cNvSpPr>
          <p:nvPr/>
        </p:nvSpPr>
        <p:spPr bwMode="auto">
          <a:xfrm>
            <a:off x="6767513" y="4279900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 dirty="0" err="1"/>
              <a:t>x</a:t>
            </a:r>
            <a:endParaRPr lang="en-US" sz="1000" dirty="0"/>
          </a:p>
        </p:txBody>
      </p:sp>
      <p:sp>
        <p:nvSpPr>
          <p:cNvPr id="68632" name="Text Box 24"/>
          <p:cNvSpPr txBox="1">
            <a:spLocks noChangeArrowheads="1"/>
          </p:cNvSpPr>
          <p:nvPr/>
        </p:nvSpPr>
        <p:spPr bwMode="auto">
          <a:xfrm>
            <a:off x="6553200" y="3471446"/>
            <a:ext cx="131971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 memory</a:t>
            </a:r>
          </a:p>
        </p:txBody>
      </p:sp>
      <p:sp>
        <p:nvSpPr>
          <p:cNvPr id="68633" name="Text Box 25"/>
          <p:cNvSpPr txBox="1">
            <a:spLocks noChangeArrowheads="1"/>
          </p:cNvSpPr>
          <p:nvPr/>
        </p:nvSpPr>
        <p:spPr bwMode="auto">
          <a:xfrm>
            <a:off x="1252021" y="3012073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68634" name="Text Box 26"/>
          <p:cNvSpPr txBox="1">
            <a:spLocks noChangeArrowheads="1"/>
          </p:cNvSpPr>
          <p:nvPr/>
        </p:nvSpPr>
        <p:spPr bwMode="auto">
          <a:xfrm>
            <a:off x="4306800" y="3713748"/>
            <a:ext cx="97013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I/O bridge</a:t>
            </a:r>
          </a:p>
        </p:txBody>
      </p:sp>
      <p:sp>
        <p:nvSpPr>
          <p:cNvPr id="68635" name="Text Box 27"/>
          <p:cNvSpPr txBox="1">
            <a:spLocks noChangeArrowheads="1"/>
          </p:cNvSpPr>
          <p:nvPr/>
        </p:nvSpPr>
        <p:spPr bwMode="auto">
          <a:xfrm>
            <a:off x="4648200" y="2466975"/>
            <a:ext cx="2984811" cy="58477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Load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A, %</a:t>
            </a:r>
            <a:r>
              <a:rPr lang="en-US" sz="1600" dirty="0" err="1">
                <a:latin typeface="Courier New" charset="0"/>
              </a:rPr>
              <a:t>rax</a:t>
            </a:r>
            <a:endParaRPr lang="en-US" sz="1600" dirty="0">
              <a:latin typeface="Times" charset="0"/>
            </a:endParaRPr>
          </a:p>
          <a:p>
            <a:pPr algn="l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59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Read Transaction (3)</a:t>
            </a:r>
          </a:p>
        </p:txBody>
      </p:sp>
      <p:sp>
        <p:nvSpPr>
          <p:cNvPr id="69660" name="Rectangle 2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read word x from the bus and copies it into register %</a:t>
            </a:r>
            <a:r>
              <a:rPr lang="en-US" dirty="0" err="1"/>
              <a:t>rax</a:t>
            </a:r>
            <a:r>
              <a:rPr lang="en-US" dirty="0"/>
              <a:t>.</a:t>
            </a:r>
          </a:p>
        </p:txBody>
      </p:sp>
      <p:sp>
        <p:nvSpPr>
          <p:cNvPr id="69636" name="AutoShape 4"/>
          <p:cNvSpPr>
            <a:spLocks noChangeArrowheads="1"/>
          </p:cNvSpPr>
          <p:nvPr/>
        </p:nvSpPr>
        <p:spPr bwMode="auto">
          <a:xfrm>
            <a:off x="5248275" y="39624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4333875" y="3994150"/>
            <a:ext cx="909638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9638" name="AutoShape 6"/>
          <p:cNvSpPr>
            <a:spLocks noChangeArrowheads="1"/>
          </p:cNvSpPr>
          <p:nvPr/>
        </p:nvSpPr>
        <p:spPr bwMode="auto">
          <a:xfrm>
            <a:off x="2876550" y="3962400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1892300" y="26670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892300" y="28194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1892300" y="29718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2" name="Rectangle 10"/>
          <p:cNvSpPr>
            <a:spLocks noChangeArrowheads="1"/>
          </p:cNvSpPr>
          <p:nvPr/>
        </p:nvSpPr>
        <p:spPr bwMode="auto">
          <a:xfrm>
            <a:off x="1892300" y="31242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 dirty="0" err="1"/>
              <a:t>x</a:t>
            </a:r>
            <a:endParaRPr lang="en-US" sz="1000" dirty="0"/>
          </a:p>
        </p:txBody>
      </p:sp>
      <p:sp>
        <p:nvSpPr>
          <p:cNvPr id="69643" name="Rectangle 11"/>
          <p:cNvSpPr>
            <a:spLocks noChangeArrowheads="1"/>
          </p:cNvSpPr>
          <p:nvPr/>
        </p:nvSpPr>
        <p:spPr bwMode="auto">
          <a:xfrm>
            <a:off x="1892300" y="32766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4" name="AutoShape 12"/>
          <p:cNvSpPr>
            <a:spLocks noChangeArrowheads="1"/>
          </p:cNvSpPr>
          <p:nvPr/>
        </p:nvSpPr>
        <p:spPr bwMode="auto">
          <a:xfrm>
            <a:off x="2665413" y="2667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5" name="AutoShape 13"/>
          <p:cNvSpPr>
            <a:spLocks noChangeArrowheads="1"/>
          </p:cNvSpPr>
          <p:nvPr/>
        </p:nvSpPr>
        <p:spPr bwMode="auto">
          <a:xfrm flipH="1">
            <a:off x="2576513" y="3048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6" name="Rectangle 14"/>
          <p:cNvSpPr>
            <a:spLocks noChangeArrowheads="1"/>
          </p:cNvSpPr>
          <p:nvPr/>
        </p:nvSpPr>
        <p:spPr bwMode="auto">
          <a:xfrm>
            <a:off x="3109913" y="25146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69647" name="Text Box 15"/>
          <p:cNvSpPr txBox="1">
            <a:spLocks noChangeArrowheads="1"/>
          </p:cNvSpPr>
          <p:nvPr/>
        </p:nvSpPr>
        <p:spPr bwMode="auto">
          <a:xfrm>
            <a:off x="1689100" y="23453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69648" name="AutoShape 16"/>
          <p:cNvSpPr>
            <a:spLocks noChangeArrowheads="1"/>
          </p:cNvSpPr>
          <p:nvPr/>
        </p:nvSpPr>
        <p:spPr bwMode="auto">
          <a:xfrm>
            <a:off x="1966913" y="35052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9" name="Rectangle 17"/>
          <p:cNvSpPr>
            <a:spLocks noChangeArrowheads="1"/>
          </p:cNvSpPr>
          <p:nvPr/>
        </p:nvSpPr>
        <p:spPr bwMode="auto">
          <a:xfrm>
            <a:off x="976313" y="3994150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69650" name="Line 18"/>
          <p:cNvSpPr>
            <a:spLocks noChangeShapeType="1"/>
          </p:cNvSpPr>
          <p:nvPr/>
        </p:nvSpPr>
        <p:spPr bwMode="auto">
          <a:xfrm flipV="1">
            <a:off x="2271713" y="3276600"/>
            <a:ext cx="0" cy="76200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51" name="Rectangle 19"/>
          <p:cNvSpPr>
            <a:spLocks noChangeArrowheads="1"/>
          </p:cNvSpPr>
          <p:nvPr/>
        </p:nvSpPr>
        <p:spPr bwMode="auto">
          <a:xfrm>
            <a:off x="6772275" y="3810000"/>
            <a:ext cx="909638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69652" name="Rectangle 20"/>
          <p:cNvSpPr>
            <a:spLocks noChangeArrowheads="1"/>
          </p:cNvSpPr>
          <p:nvPr/>
        </p:nvSpPr>
        <p:spPr bwMode="auto">
          <a:xfrm>
            <a:off x="6767513" y="4283075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/>
              <a:t>x</a:t>
            </a:r>
            <a:endParaRPr lang="en-US" sz="1000"/>
          </a:p>
        </p:txBody>
      </p:sp>
      <p:sp>
        <p:nvSpPr>
          <p:cNvPr id="69653" name="Text Box 21"/>
          <p:cNvSpPr txBox="1">
            <a:spLocks noChangeArrowheads="1"/>
          </p:cNvSpPr>
          <p:nvPr/>
        </p:nvSpPr>
        <p:spPr bwMode="auto">
          <a:xfrm>
            <a:off x="6477000" y="3471446"/>
            <a:ext cx="149909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 memory</a:t>
            </a:r>
          </a:p>
        </p:txBody>
      </p:sp>
      <p:sp>
        <p:nvSpPr>
          <p:cNvPr id="69654" name="Text Box 22"/>
          <p:cNvSpPr txBox="1">
            <a:spLocks noChangeArrowheads="1"/>
          </p:cNvSpPr>
          <p:nvPr/>
        </p:nvSpPr>
        <p:spPr bwMode="auto">
          <a:xfrm>
            <a:off x="7678738" y="3671888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auto">
          <a:xfrm>
            <a:off x="7662863" y="4175125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69656" name="Text Box 24"/>
          <p:cNvSpPr txBox="1">
            <a:spLocks noChangeArrowheads="1"/>
          </p:cNvSpPr>
          <p:nvPr/>
        </p:nvSpPr>
        <p:spPr bwMode="auto">
          <a:xfrm>
            <a:off x="1252021" y="2999373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69657" name="Text Box 25"/>
          <p:cNvSpPr txBox="1">
            <a:spLocks noChangeArrowheads="1"/>
          </p:cNvSpPr>
          <p:nvPr/>
        </p:nvSpPr>
        <p:spPr bwMode="auto">
          <a:xfrm>
            <a:off x="4306800" y="3701048"/>
            <a:ext cx="97013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I/O bridge</a:t>
            </a:r>
          </a:p>
        </p:txBody>
      </p:sp>
      <p:sp>
        <p:nvSpPr>
          <p:cNvPr id="69658" name="Text Box 26"/>
          <p:cNvSpPr txBox="1">
            <a:spLocks noChangeArrowheads="1"/>
          </p:cNvSpPr>
          <p:nvPr/>
        </p:nvSpPr>
        <p:spPr bwMode="auto">
          <a:xfrm>
            <a:off x="4648200" y="2438400"/>
            <a:ext cx="2984811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Load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A, %</a:t>
            </a:r>
            <a:r>
              <a:rPr lang="en-US" sz="1600" dirty="0" err="1">
                <a:latin typeface="Courier New" charset="0"/>
              </a:rPr>
              <a:t>rax</a:t>
            </a:r>
            <a:endParaRPr lang="en-US" sz="1600" dirty="0">
              <a:latin typeface="Times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4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Write Transaction (1)</a:t>
            </a:r>
          </a:p>
        </p:txBody>
      </p:sp>
      <p:sp>
        <p:nvSpPr>
          <p:cNvPr id="90141" name="Rectangle 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CPU places address A on bus. Main memory reads it and waits for the corresponding data word to arrive.</a:t>
            </a:r>
          </a:p>
        </p:txBody>
      </p:sp>
      <p:sp>
        <p:nvSpPr>
          <p:cNvPr id="90116" name="AutoShape 4"/>
          <p:cNvSpPr>
            <a:spLocks noChangeArrowheads="1"/>
          </p:cNvSpPr>
          <p:nvPr/>
        </p:nvSpPr>
        <p:spPr bwMode="auto">
          <a:xfrm>
            <a:off x="5248275" y="39624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4333875" y="3994150"/>
            <a:ext cx="909638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0118" name="AutoShape 6"/>
          <p:cNvSpPr>
            <a:spLocks noChangeArrowheads="1"/>
          </p:cNvSpPr>
          <p:nvPr/>
        </p:nvSpPr>
        <p:spPr bwMode="auto">
          <a:xfrm>
            <a:off x="2876550" y="3962400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1892300" y="26670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auto">
          <a:xfrm>
            <a:off x="1892300" y="28194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1892300" y="29718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1892300" y="31242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/>
              <a:t>y</a:t>
            </a:r>
            <a:endParaRPr lang="en-US" sz="1000"/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1892300" y="327660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4" name="AutoShape 12"/>
          <p:cNvSpPr>
            <a:spLocks noChangeArrowheads="1"/>
          </p:cNvSpPr>
          <p:nvPr/>
        </p:nvSpPr>
        <p:spPr bwMode="auto">
          <a:xfrm>
            <a:off x="2665413" y="2667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5" name="AutoShape 13"/>
          <p:cNvSpPr>
            <a:spLocks noChangeArrowheads="1"/>
          </p:cNvSpPr>
          <p:nvPr/>
        </p:nvSpPr>
        <p:spPr bwMode="auto">
          <a:xfrm flipH="1">
            <a:off x="2576513" y="3048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6" name="Rectangle 14"/>
          <p:cNvSpPr>
            <a:spLocks noChangeArrowheads="1"/>
          </p:cNvSpPr>
          <p:nvPr/>
        </p:nvSpPr>
        <p:spPr bwMode="auto">
          <a:xfrm>
            <a:off x="3109913" y="25146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0127" name="Text Box 15"/>
          <p:cNvSpPr txBox="1">
            <a:spLocks noChangeArrowheads="1"/>
          </p:cNvSpPr>
          <p:nvPr/>
        </p:nvSpPr>
        <p:spPr bwMode="auto">
          <a:xfrm>
            <a:off x="1677190" y="23453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0128" name="AutoShape 16"/>
          <p:cNvSpPr>
            <a:spLocks noChangeArrowheads="1"/>
          </p:cNvSpPr>
          <p:nvPr/>
        </p:nvSpPr>
        <p:spPr bwMode="auto">
          <a:xfrm>
            <a:off x="1966913" y="35052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29" name="Line 17"/>
          <p:cNvSpPr>
            <a:spLocks noChangeShapeType="1"/>
          </p:cNvSpPr>
          <p:nvPr/>
        </p:nvSpPr>
        <p:spPr bwMode="auto">
          <a:xfrm>
            <a:off x="2805113" y="4191000"/>
            <a:ext cx="3962400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130" name="Rectangle 18"/>
          <p:cNvSpPr>
            <a:spLocks noChangeArrowheads="1"/>
          </p:cNvSpPr>
          <p:nvPr/>
        </p:nvSpPr>
        <p:spPr bwMode="auto">
          <a:xfrm>
            <a:off x="976313" y="3994150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90131" name="Text Box 19"/>
          <p:cNvSpPr txBox="1">
            <a:spLocks noChangeArrowheads="1"/>
          </p:cNvSpPr>
          <p:nvPr/>
        </p:nvSpPr>
        <p:spPr bwMode="auto">
          <a:xfrm>
            <a:off x="5761931" y="3808998"/>
            <a:ext cx="33793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i="1"/>
              <a:t>A</a:t>
            </a:r>
          </a:p>
        </p:txBody>
      </p:sp>
      <p:sp>
        <p:nvSpPr>
          <p:cNvPr id="90132" name="Rectangle 20"/>
          <p:cNvSpPr>
            <a:spLocks noChangeArrowheads="1"/>
          </p:cNvSpPr>
          <p:nvPr/>
        </p:nvSpPr>
        <p:spPr bwMode="auto">
          <a:xfrm>
            <a:off x="6772275" y="3810000"/>
            <a:ext cx="909638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0133" name="Rectangle 21"/>
          <p:cNvSpPr>
            <a:spLocks noChangeArrowheads="1"/>
          </p:cNvSpPr>
          <p:nvPr/>
        </p:nvSpPr>
        <p:spPr bwMode="auto">
          <a:xfrm>
            <a:off x="6767513" y="4283075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000"/>
          </a:p>
        </p:txBody>
      </p:sp>
      <p:sp>
        <p:nvSpPr>
          <p:cNvPr id="90134" name="Text Box 22"/>
          <p:cNvSpPr txBox="1">
            <a:spLocks noChangeArrowheads="1"/>
          </p:cNvSpPr>
          <p:nvPr/>
        </p:nvSpPr>
        <p:spPr bwMode="auto">
          <a:xfrm>
            <a:off x="6644833" y="3471446"/>
            <a:ext cx="12692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 memory</a:t>
            </a:r>
          </a:p>
        </p:txBody>
      </p:sp>
      <p:sp>
        <p:nvSpPr>
          <p:cNvPr id="90135" name="Text Box 23"/>
          <p:cNvSpPr txBox="1">
            <a:spLocks noChangeArrowheads="1"/>
          </p:cNvSpPr>
          <p:nvPr/>
        </p:nvSpPr>
        <p:spPr bwMode="auto">
          <a:xfrm>
            <a:off x="7678738" y="3671888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90136" name="Text Box 24"/>
          <p:cNvSpPr txBox="1">
            <a:spLocks noChangeArrowheads="1"/>
          </p:cNvSpPr>
          <p:nvPr/>
        </p:nvSpPr>
        <p:spPr bwMode="auto">
          <a:xfrm>
            <a:off x="7662863" y="4175125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90137" name="Text Box 25"/>
          <p:cNvSpPr txBox="1">
            <a:spLocks noChangeArrowheads="1"/>
          </p:cNvSpPr>
          <p:nvPr/>
        </p:nvSpPr>
        <p:spPr bwMode="auto">
          <a:xfrm>
            <a:off x="1252021" y="2999373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90138" name="Text Box 26"/>
          <p:cNvSpPr txBox="1">
            <a:spLocks noChangeArrowheads="1"/>
          </p:cNvSpPr>
          <p:nvPr/>
        </p:nvSpPr>
        <p:spPr bwMode="auto">
          <a:xfrm>
            <a:off x="4306800" y="3701048"/>
            <a:ext cx="97013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I/O bridge</a:t>
            </a:r>
          </a:p>
        </p:txBody>
      </p:sp>
      <p:sp>
        <p:nvSpPr>
          <p:cNvPr id="90139" name="Text Box 27"/>
          <p:cNvSpPr txBox="1">
            <a:spLocks noChangeArrowheads="1"/>
          </p:cNvSpPr>
          <p:nvPr/>
        </p:nvSpPr>
        <p:spPr bwMode="auto">
          <a:xfrm>
            <a:off x="4648200" y="2438400"/>
            <a:ext cx="3018775" cy="58477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Store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%</a:t>
            </a:r>
            <a:r>
              <a:rPr lang="en-US" sz="1600" dirty="0" err="1">
                <a:latin typeface="Courier New" charset="0"/>
              </a:rPr>
              <a:t>rax</a:t>
            </a:r>
            <a:r>
              <a:rPr lang="en-US" sz="1600" dirty="0">
                <a:latin typeface="Courier New" charset="0"/>
              </a:rPr>
              <a:t>, A</a:t>
            </a:r>
            <a:endParaRPr lang="en-US" sz="1600" dirty="0">
              <a:latin typeface="Times" charset="0"/>
            </a:endParaRPr>
          </a:p>
          <a:p>
            <a:pPr algn="l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65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Write Transaction (2)</a:t>
            </a:r>
          </a:p>
        </p:txBody>
      </p:sp>
      <p:sp>
        <p:nvSpPr>
          <p:cNvPr id="91166" name="Rectangle 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CPU places data word </a:t>
            </a:r>
            <a:r>
              <a:rPr lang="en-US" dirty="0" err="1"/>
              <a:t>y</a:t>
            </a:r>
            <a:r>
              <a:rPr lang="en-US" dirty="0"/>
              <a:t> on the bus.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6767513" y="3810000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1141" name="AutoShape 5"/>
          <p:cNvSpPr>
            <a:spLocks noChangeArrowheads="1"/>
          </p:cNvSpPr>
          <p:nvPr/>
        </p:nvSpPr>
        <p:spPr bwMode="auto">
          <a:xfrm>
            <a:off x="5243513" y="39624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4329113" y="3994150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1143" name="AutoShape 7"/>
          <p:cNvSpPr>
            <a:spLocks noChangeArrowheads="1"/>
          </p:cNvSpPr>
          <p:nvPr/>
        </p:nvSpPr>
        <p:spPr bwMode="auto">
          <a:xfrm>
            <a:off x="2871788" y="3962400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1887538" y="26670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1887538" y="28194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1887538" y="29718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1887538" y="31242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 dirty="0" err="1"/>
              <a:t>y</a:t>
            </a:r>
            <a:endParaRPr lang="en-US" sz="1000" dirty="0"/>
          </a:p>
        </p:txBody>
      </p:sp>
      <p:sp>
        <p:nvSpPr>
          <p:cNvPr id="91148" name="Rectangle 12"/>
          <p:cNvSpPr>
            <a:spLocks noChangeArrowheads="1"/>
          </p:cNvSpPr>
          <p:nvPr/>
        </p:nvSpPr>
        <p:spPr bwMode="auto">
          <a:xfrm>
            <a:off x="1887538" y="32766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9" name="AutoShape 13"/>
          <p:cNvSpPr>
            <a:spLocks noChangeArrowheads="1"/>
          </p:cNvSpPr>
          <p:nvPr/>
        </p:nvSpPr>
        <p:spPr bwMode="auto">
          <a:xfrm>
            <a:off x="2660650" y="2667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0" name="AutoShape 14"/>
          <p:cNvSpPr>
            <a:spLocks noChangeArrowheads="1"/>
          </p:cNvSpPr>
          <p:nvPr/>
        </p:nvSpPr>
        <p:spPr bwMode="auto">
          <a:xfrm flipH="1">
            <a:off x="2571750" y="30480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1" name="Rectangle 15"/>
          <p:cNvSpPr>
            <a:spLocks noChangeArrowheads="1"/>
          </p:cNvSpPr>
          <p:nvPr/>
        </p:nvSpPr>
        <p:spPr bwMode="auto">
          <a:xfrm>
            <a:off x="3105150" y="25146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1152" name="Text Box 16"/>
          <p:cNvSpPr txBox="1">
            <a:spLocks noChangeArrowheads="1"/>
          </p:cNvSpPr>
          <p:nvPr/>
        </p:nvSpPr>
        <p:spPr bwMode="auto">
          <a:xfrm>
            <a:off x="1672428" y="23453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1153" name="AutoShape 17"/>
          <p:cNvSpPr>
            <a:spLocks noChangeArrowheads="1"/>
          </p:cNvSpPr>
          <p:nvPr/>
        </p:nvSpPr>
        <p:spPr bwMode="auto">
          <a:xfrm>
            <a:off x="1962150" y="35052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971550" y="3994150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5783263" y="3825875"/>
            <a:ext cx="2825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i="1"/>
              <a:t>y</a:t>
            </a:r>
          </a:p>
        </p:txBody>
      </p:sp>
      <p:sp>
        <p:nvSpPr>
          <p:cNvPr id="91156" name="Line 20"/>
          <p:cNvSpPr>
            <a:spLocks noChangeShapeType="1"/>
          </p:cNvSpPr>
          <p:nvPr/>
        </p:nvSpPr>
        <p:spPr bwMode="auto">
          <a:xfrm>
            <a:off x="2266950" y="3276600"/>
            <a:ext cx="0" cy="91440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7" name="Line 21"/>
          <p:cNvSpPr>
            <a:spLocks noChangeShapeType="1"/>
          </p:cNvSpPr>
          <p:nvPr/>
        </p:nvSpPr>
        <p:spPr bwMode="auto">
          <a:xfrm>
            <a:off x="2266950" y="4191000"/>
            <a:ext cx="4495800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8" name="Rectangle 22"/>
          <p:cNvSpPr>
            <a:spLocks noChangeArrowheads="1"/>
          </p:cNvSpPr>
          <p:nvPr/>
        </p:nvSpPr>
        <p:spPr bwMode="auto">
          <a:xfrm>
            <a:off x="6762750" y="4267200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59" name="Text Box 23"/>
          <p:cNvSpPr txBox="1">
            <a:spLocks noChangeArrowheads="1"/>
          </p:cNvSpPr>
          <p:nvPr/>
        </p:nvSpPr>
        <p:spPr bwMode="auto">
          <a:xfrm>
            <a:off x="6579302" y="3471446"/>
            <a:ext cx="12692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 memory</a:t>
            </a:r>
          </a:p>
        </p:txBody>
      </p:sp>
      <p:sp>
        <p:nvSpPr>
          <p:cNvPr id="91160" name="Text Box 24"/>
          <p:cNvSpPr txBox="1">
            <a:spLocks noChangeArrowheads="1"/>
          </p:cNvSpPr>
          <p:nvPr/>
        </p:nvSpPr>
        <p:spPr bwMode="auto">
          <a:xfrm>
            <a:off x="7673975" y="3687763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91161" name="Text Box 25"/>
          <p:cNvSpPr txBox="1">
            <a:spLocks noChangeArrowheads="1"/>
          </p:cNvSpPr>
          <p:nvPr/>
        </p:nvSpPr>
        <p:spPr bwMode="auto">
          <a:xfrm>
            <a:off x="7658100" y="4191000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91162" name="Text Box 26"/>
          <p:cNvSpPr txBox="1">
            <a:spLocks noChangeArrowheads="1"/>
          </p:cNvSpPr>
          <p:nvPr/>
        </p:nvSpPr>
        <p:spPr bwMode="auto">
          <a:xfrm>
            <a:off x="1247259" y="3015248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91163" name="Text Box 27"/>
          <p:cNvSpPr txBox="1">
            <a:spLocks noChangeArrowheads="1"/>
          </p:cNvSpPr>
          <p:nvPr/>
        </p:nvSpPr>
        <p:spPr bwMode="auto">
          <a:xfrm>
            <a:off x="4302038" y="3716923"/>
            <a:ext cx="97013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I/O bridge</a:t>
            </a:r>
          </a:p>
        </p:txBody>
      </p:sp>
      <p:sp>
        <p:nvSpPr>
          <p:cNvPr id="91164" name="Text Box 28"/>
          <p:cNvSpPr txBox="1">
            <a:spLocks noChangeArrowheads="1"/>
          </p:cNvSpPr>
          <p:nvPr/>
        </p:nvSpPr>
        <p:spPr bwMode="auto">
          <a:xfrm>
            <a:off x="4652962" y="2438400"/>
            <a:ext cx="3018775" cy="58477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Store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%</a:t>
            </a:r>
            <a:r>
              <a:rPr lang="en-US" sz="1600" dirty="0" err="1">
                <a:latin typeface="Courier New" charset="0"/>
              </a:rPr>
              <a:t>rax</a:t>
            </a:r>
            <a:r>
              <a:rPr lang="en-US" sz="1600" dirty="0">
                <a:latin typeface="Courier New" charset="0"/>
              </a:rPr>
              <a:t>, A</a:t>
            </a:r>
            <a:endParaRPr lang="en-US" sz="1600" dirty="0">
              <a:latin typeface="Times" charset="0"/>
            </a:endParaRPr>
          </a:p>
          <a:p>
            <a:pPr algn="l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6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Write Transaction (3)</a:t>
            </a:r>
          </a:p>
        </p:txBody>
      </p:sp>
      <p:sp>
        <p:nvSpPr>
          <p:cNvPr id="92187" name="Rectangle 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Main memory reads data word </a:t>
            </a:r>
            <a:r>
              <a:rPr lang="en-US" dirty="0" err="1"/>
              <a:t>y</a:t>
            </a:r>
            <a:r>
              <a:rPr lang="en-US" dirty="0"/>
              <a:t> from the bus and stores it at address A.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6772275" y="3806825"/>
            <a:ext cx="909638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2165" name="AutoShape 5"/>
          <p:cNvSpPr>
            <a:spLocks noChangeArrowheads="1"/>
          </p:cNvSpPr>
          <p:nvPr/>
        </p:nvSpPr>
        <p:spPr bwMode="auto">
          <a:xfrm>
            <a:off x="5248275" y="3959225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4333875" y="3990975"/>
            <a:ext cx="909638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2167" name="AutoShape 7"/>
          <p:cNvSpPr>
            <a:spLocks noChangeArrowheads="1"/>
          </p:cNvSpPr>
          <p:nvPr/>
        </p:nvSpPr>
        <p:spPr bwMode="auto">
          <a:xfrm>
            <a:off x="2876550" y="3959225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1892300" y="26638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892300" y="28162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1892300" y="29686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1892300" y="31210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 dirty="0" err="1"/>
              <a:t>y</a:t>
            </a:r>
            <a:endParaRPr lang="en-US" sz="1000" dirty="0"/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1892300" y="3273425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3" name="AutoShape 13"/>
          <p:cNvSpPr>
            <a:spLocks noChangeArrowheads="1"/>
          </p:cNvSpPr>
          <p:nvPr/>
        </p:nvSpPr>
        <p:spPr bwMode="auto">
          <a:xfrm>
            <a:off x="2665413" y="2663825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4" name="AutoShape 14"/>
          <p:cNvSpPr>
            <a:spLocks noChangeArrowheads="1"/>
          </p:cNvSpPr>
          <p:nvPr/>
        </p:nvSpPr>
        <p:spPr bwMode="auto">
          <a:xfrm flipH="1">
            <a:off x="2576513" y="3044825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3109913" y="2511425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1609725" y="2342148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2177" name="AutoShape 17"/>
          <p:cNvSpPr>
            <a:spLocks noChangeArrowheads="1"/>
          </p:cNvSpPr>
          <p:nvPr/>
        </p:nvSpPr>
        <p:spPr bwMode="auto">
          <a:xfrm>
            <a:off x="1966913" y="3502025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78" name="Rectangle 18"/>
          <p:cNvSpPr>
            <a:spLocks noChangeArrowheads="1"/>
          </p:cNvSpPr>
          <p:nvPr/>
        </p:nvSpPr>
        <p:spPr bwMode="auto">
          <a:xfrm>
            <a:off x="976313" y="3990975"/>
            <a:ext cx="1873250" cy="577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</a:rPr>
              <a:t>Bus interface</a:t>
            </a:r>
          </a:p>
        </p:txBody>
      </p:sp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6767513" y="4264025"/>
            <a:ext cx="914400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400" dirty="0" err="1">
                <a:solidFill>
                  <a:srgbClr val="000000"/>
                </a:solidFill>
              </a:rPr>
              <a:t>y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6526213" y="3409950"/>
            <a:ext cx="150653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main memory</a:t>
            </a:r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7678738" y="3668713"/>
            <a:ext cx="2968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0</a:t>
            </a:r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7662863" y="4171950"/>
            <a:ext cx="3302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</a:t>
            </a:r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1241981" y="3014246"/>
            <a:ext cx="58681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%</a:t>
            </a:r>
            <a:r>
              <a:rPr lang="en-US" sz="1600" dirty="0" err="1"/>
              <a:t>rax</a:t>
            </a:r>
            <a:endParaRPr lang="en-US" sz="1600" dirty="0"/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4224338" y="3698875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I/O bridge</a:t>
            </a:r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4638675" y="2466975"/>
            <a:ext cx="3018775" cy="58477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Store operation</a:t>
            </a:r>
            <a:r>
              <a:rPr lang="en-US" sz="1600" dirty="0"/>
              <a:t>:</a:t>
            </a:r>
            <a:r>
              <a:rPr lang="en-US" sz="1600" dirty="0">
                <a:latin typeface="Times" charset="0"/>
              </a:rPr>
              <a:t> </a:t>
            </a:r>
            <a:r>
              <a:rPr lang="en-US" sz="1600" dirty="0" err="1">
                <a:latin typeface="Courier New" charset="0"/>
              </a:rPr>
              <a:t>movq</a:t>
            </a:r>
            <a:r>
              <a:rPr lang="en-US" sz="1600" dirty="0">
                <a:latin typeface="Courier New" charset="0"/>
              </a:rPr>
              <a:t> %</a:t>
            </a:r>
            <a:r>
              <a:rPr lang="en-US" sz="1600" dirty="0" err="1">
                <a:latin typeface="Courier New" charset="0"/>
              </a:rPr>
              <a:t>rax</a:t>
            </a:r>
            <a:r>
              <a:rPr lang="en-US" sz="1600" dirty="0">
                <a:latin typeface="Courier New" charset="0"/>
              </a:rPr>
              <a:t>, A</a:t>
            </a:r>
            <a:endParaRPr lang="en-US" sz="1600" dirty="0">
              <a:latin typeface="Times" charset="0"/>
            </a:endParaRPr>
          </a:p>
          <a:p>
            <a:pPr algn="l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0AA4-50B3-5E5C-65AE-E8AB58B79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disks are slow?</a:t>
            </a:r>
          </a:p>
        </p:txBody>
      </p:sp>
    </p:spTree>
    <p:extLst>
      <p:ext uri="{BB962C8B-B14F-4D97-AF65-F5344CB8AC3E}">
        <p14:creationId xmlns:p14="http://schemas.microsoft.com/office/powerpoint/2010/main" val="3607900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5A53-7405-6143-9F3C-7F0AB949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Technologies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CFA18-21DF-A54A-9887-FD892C043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175" y="1133182"/>
            <a:ext cx="3871913" cy="5200943"/>
          </a:xfrm>
        </p:spPr>
        <p:txBody>
          <a:bodyPr/>
          <a:lstStyle/>
          <a:p>
            <a:r>
              <a:rPr lang="en-US" dirty="0"/>
              <a:t>HDD: hard disk drive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Store on magnetic medium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F0D6F7-AA6E-E644-94B7-4C704EBB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8" y="1065320"/>
            <a:ext cx="3871912" cy="5268805"/>
          </a:xfrm>
        </p:spPr>
        <p:txBody>
          <a:bodyPr/>
          <a:lstStyle/>
          <a:p>
            <a:r>
              <a:rPr lang="en-US" dirty="0"/>
              <a:t>SSD: solid state drive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Non-volatile (Flash) Memory</a:t>
            </a:r>
          </a:p>
        </p:txBody>
      </p:sp>
      <p:pic>
        <p:nvPicPr>
          <p:cNvPr id="6" name="Picture 2" descr="disk">
            <a:extLst>
              <a:ext uri="{FF2B5EF4-FFF2-40B4-BE49-F238E27FC236}">
                <a16:creationId xmlns:a16="http://schemas.microsoft.com/office/drawing/2014/main" id="{A8316EE2-C94C-2E44-83AB-62ACCA6BE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1427" t="11632" b="8240"/>
          <a:stretch>
            <a:fillRect/>
          </a:stretch>
        </p:blipFill>
        <p:spPr bwMode="auto">
          <a:xfrm>
            <a:off x="834501" y="1981774"/>
            <a:ext cx="3118837" cy="2212924"/>
          </a:xfrm>
          <a:prstGeom prst="rect">
            <a:avLst/>
          </a:prstGeom>
          <a:noFill/>
        </p:spPr>
      </p:pic>
      <p:pic>
        <p:nvPicPr>
          <p:cNvPr id="2050" name="Picture 2" descr="https://3uzly11fn22f2ax25l6snwb1-wpengine.netdna-ssl.com/wp-content/uploads/blog9_fig1.jpg">
            <a:extLst>
              <a:ext uri="{FF2B5EF4-FFF2-40B4-BE49-F238E27FC236}">
                <a16:creationId xmlns:a16="http://schemas.microsoft.com/office/drawing/2014/main" id="{F3FEDDCA-028E-7F4A-A5A5-5E58A321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84" y="1486798"/>
            <a:ext cx="3204762" cy="221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79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49FD00-D1FB-4B55-0CE6-935DB960D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0" y="1322596"/>
            <a:ext cx="8570686" cy="474618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9D1B808-24BB-D44F-0E29-AD047B982A01}"/>
              </a:ext>
            </a:extLst>
          </p:cNvPr>
          <p:cNvSpPr txBox="1">
            <a:spLocks/>
          </p:cNvSpPr>
          <p:nvPr/>
        </p:nvSpPr>
        <p:spPr>
          <a:xfrm>
            <a:off x="374090" y="371182"/>
            <a:ext cx="7591425" cy="762000"/>
          </a:xfrm>
          <a:prstGeom prst="rect">
            <a:avLst/>
          </a:prstGeom>
        </p:spPr>
        <p:txBody>
          <a:bodyPr/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/>
              <a:t>Comments: SSD actually dominates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095536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249F-0FB3-979E-E608-FF4E554D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38C0EE-525F-E5BE-FCA6-4F280CDB7861}"/>
              </a:ext>
            </a:extLst>
          </p:cNvPr>
          <p:cNvSpPr txBox="1">
            <a:spLocks/>
          </p:cNvSpPr>
          <p:nvPr/>
        </p:nvSpPr>
        <p:spPr>
          <a:xfrm>
            <a:off x="374090" y="371182"/>
            <a:ext cx="7591425" cy="762000"/>
          </a:xfrm>
          <a:prstGeom prst="rect">
            <a:avLst/>
          </a:prstGeom>
        </p:spPr>
        <p:txBody>
          <a:bodyPr/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/>
              <a:t>Comments: SSD actually dominates</a:t>
            </a:r>
            <a:endParaRPr lang="en-US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8C22B-0EA9-1F04-422E-27F56F6DF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182"/>
            <a:ext cx="9242645" cy="35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78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580E-3BFC-D701-96B9-2B6E295F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3B22-6AA0-BC64-BE1A-78AF7BE4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FABF-7DEB-C63C-6723-8EFCF317A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学生</a:t>
            </a:r>
            <a:r>
              <a:rPr lang="en-US" dirty="0"/>
              <a:t>：“</a:t>
            </a:r>
            <a:r>
              <a:rPr lang="en-US" dirty="0" err="1"/>
              <a:t>老师，都</a:t>
            </a:r>
            <a:r>
              <a:rPr lang="en-US" dirty="0"/>
              <a:t> 2026 </a:t>
            </a:r>
            <a:r>
              <a:rPr lang="en-US" dirty="0" err="1"/>
              <a:t>年了，为什么</a:t>
            </a:r>
            <a:r>
              <a:rPr lang="en-US" dirty="0"/>
              <a:t> CSAPP </a:t>
            </a:r>
            <a:r>
              <a:rPr lang="en-US" dirty="0" err="1"/>
              <a:t>课件中的数据还停留在</a:t>
            </a:r>
            <a:r>
              <a:rPr lang="en-US" dirty="0"/>
              <a:t> 2015 年？”</a:t>
            </a:r>
          </a:p>
          <a:p>
            <a:r>
              <a:rPr lang="en-US" dirty="0" err="1"/>
              <a:t>老师</a:t>
            </a:r>
            <a:r>
              <a:rPr lang="en-US" dirty="0"/>
              <a:t>：“</a:t>
            </a:r>
            <a:r>
              <a:rPr lang="en-US" dirty="0" err="1"/>
              <a:t>这是为了让你们更好地理解局部性</a:t>
            </a:r>
            <a:r>
              <a:rPr lang="en-US" dirty="0"/>
              <a:t>。”</a:t>
            </a:r>
          </a:p>
          <a:p>
            <a:r>
              <a:rPr lang="en-US" dirty="0" err="1"/>
              <a:t>学生</a:t>
            </a:r>
            <a:r>
              <a:rPr lang="en-US" dirty="0"/>
              <a:t>：“</a:t>
            </a:r>
            <a:r>
              <a:rPr lang="en-US" dirty="0" err="1"/>
              <a:t>什么局部性</a:t>
            </a:r>
            <a:r>
              <a:rPr lang="en-US" dirty="0"/>
              <a:t>？”</a:t>
            </a:r>
          </a:p>
          <a:p>
            <a:r>
              <a:rPr lang="en-US" dirty="0" err="1"/>
              <a:t>老师</a:t>
            </a:r>
            <a:r>
              <a:rPr lang="en-US" dirty="0"/>
              <a:t>：“</a:t>
            </a:r>
            <a:r>
              <a:rPr lang="en-US" dirty="0" err="1"/>
              <a:t>时间局部性。CSAPP</a:t>
            </a:r>
            <a:r>
              <a:rPr lang="en-US" dirty="0"/>
              <a:t> 的作者认为，2015 </a:t>
            </a:r>
            <a:r>
              <a:rPr lang="en-US" dirty="0" err="1"/>
              <a:t>年的数据将来还会经常被访问</a:t>
            </a:r>
            <a:r>
              <a:rPr lang="en-US" dirty="0"/>
              <a:t>。”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555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81C0-EC9D-4FDB-6D44-72ECD5F3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932D-4A3A-49A5-2593-1E66DF665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disks are slow?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Reason #1: the medium itself</a:t>
            </a:r>
          </a:p>
        </p:txBody>
      </p:sp>
    </p:spTree>
    <p:extLst>
      <p:ext uri="{BB962C8B-B14F-4D97-AF65-F5344CB8AC3E}">
        <p14:creationId xmlns:p14="http://schemas.microsoft.com/office/powerpoint/2010/main" val="3463623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 descr="disk"/>
          <p:cNvPicPr>
            <a:picLocks noChangeAspect="1" noChangeArrowheads="1"/>
          </p:cNvPicPr>
          <p:nvPr/>
        </p:nvPicPr>
        <p:blipFill>
          <a:blip r:embed="rId3"/>
          <a:srcRect l="11427" t="11632" b="8240"/>
          <a:stretch>
            <a:fillRect/>
          </a:stretch>
        </p:blipFill>
        <p:spPr bwMode="auto">
          <a:xfrm>
            <a:off x="1828800" y="1219200"/>
            <a:ext cx="6496050" cy="4724400"/>
          </a:xfrm>
          <a:prstGeom prst="rect">
            <a:avLst/>
          </a:prstGeom>
          <a:noFill/>
        </p:spPr>
      </p:pic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Inside A Disk Drive?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3733800" y="1219200"/>
            <a:ext cx="1203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>
                <a:solidFill>
                  <a:schemeClr val="tx1"/>
                </a:solidFill>
                <a:latin typeface="Arial" charset="0"/>
              </a:rPr>
              <a:t>Spindle</a:t>
            </a:r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>
            <a:off x="2590800" y="1752600"/>
            <a:ext cx="1828800" cy="1600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2286000" y="1371600"/>
            <a:ext cx="742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>
                <a:solidFill>
                  <a:schemeClr val="tx1"/>
                </a:solidFill>
                <a:latin typeface="Arial" charset="0"/>
              </a:rPr>
              <a:t>Arm</a:t>
            </a:r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1600200" y="2819400"/>
            <a:ext cx="22098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914400" y="2362200"/>
            <a:ext cx="1319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Actuator</a:t>
            </a:r>
          </a:p>
        </p:txBody>
      </p:sp>
      <p:sp>
        <p:nvSpPr>
          <p:cNvPr id="106505" name="Line 9"/>
          <p:cNvSpPr>
            <a:spLocks noChangeShapeType="1"/>
          </p:cNvSpPr>
          <p:nvPr/>
        </p:nvSpPr>
        <p:spPr bwMode="auto">
          <a:xfrm flipH="1">
            <a:off x="6629400" y="1981200"/>
            <a:ext cx="9144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7315200" y="1524000"/>
            <a:ext cx="12176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>
                <a:solidFill>
                  <a:schemeClr val="tx1"/>
                </a:solidFill>
                <a:latin typeface="Arial" charset="0"/>
              </a:rPr>
              <a:t>Platters</a:t>
            </a:r>
          </a:p>
        </p:txBody>
      </p:sp>
      <p:sp>
        <p:nvSpPr>
          <p:cNvPr id="106507" name="Line 11"/>
          <p:cNvSpPr>
            <a:spLocks noChangeShapeType="1"/>
          </p:cNvSpPr>
          <p:nvPr/>
        </p:nvSpPr>
        <p:spPr bwMode="auto">
          <a:xfrm flipV="1">
            <a:off x="2286000" y="4572000"/>
            <a:ext cx="2286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08" name="AutoShape 12"/>
          <p:cNvSpPr>
            <a:spLocks noChangeArrowheads="1"/>
          </p:cNvSpPr>
          <p:nvPr/>
        </p:nvSpPr>
        <p:spPr bwMode="auto">
          <a:xfrm flipH="1">
            <a:off x="5638800" y="4724400"/>
            <a:ext cx="1200498" cy="609600"/>
          </a:xfrm>
          <a:prstGeom prst="curvedUpArrow">
            <a:avLst>
              <a:gd name="adj1" fmla="val 57500"/>
              <a:gd name="adj2" fmla="val 98466"/>
              <a:gd name="adj3" fmla="val 33333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6839298" y="4192588"/>
            <a:ext cx="2219778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Electronics</a:t>
            </a: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latin typeface="Arial" charset="0"/>
              </a:rPr>
              <a:t>(including a </a:t>
            </a: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latin typeface="Arial" charset="0"/>
              </a:rPr>
              <a:t>processor </a:t>
            </a: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latin typeface="Arial" charset="0"/>
              </a:rPr>
              <a:t>and memory!)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6510" name="Line 14"/>
          <p:cNvSpPr>
            <a:spLocks noChangeShapeType="1"/>
          </p:cNvSpPr>
          <p:nvPr/>
        </p:nvSpPr>
        <p:spPr bwMode="auto">
          <a:xfrm>
            <a:off x="4419600" y="1676400"/>
            <a:ext cx="1219200" cy="1066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11" name="Text Box 15"/>
          <p:cNvSpPr txBox="1">
            <a:spLocks noChangeArrowheads="1"/>
          </p:cNvSpPr>
          <p:nvPr/>
        </p:nvSpPr>
        <p:spPr bwMode="auto">
          <a:xfrm>
            <a:off x="1524000" y="5181600"/>
            <a:ext cx="15240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>
                <a:solidFill>
                  <a:schemeClr val="tx1"/>
                </a:solidFill>
                <a:latin typeface="Arial" charset="0"/>
              </a:rPr>
              <a:t>SCSI</a:t>
            </a: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>
                <a:solidFill>
                  <a:schemeClr val="tx1"/>
                </a:solidFill>
                <a:latin typeface="Arial" charset="0"/>
              </a:rPr>
              <a:t>connector</a:t>
            </a:r>
          </a:p>
        </p:txBody>
      </p:sp>
      <p:sp>
        <p:nvSpPr>
          <p:cNvPr id="106512" name="Text Box 16"/>
          <p:cNvSpPr txBox="1">
            <a:spLocks noChangeArrowheads="1"/>
          </p:cNvSpPr>
          <p:nvPr/>
        </p:nvSpPr>
        <p:spPr bwMode="auto">
          <a:xfrm>
            <a:off x="5410200" y="6216650"/>
            <a:ext cx="33385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 i="1" dirty="0">
                <a:solidFill>
                  <a:schemeClr val="tx1"/>
                </a:solidFill>
              </a:rPr>
              <a:t>Image courtesy of Seagate Technology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2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Geometry (Muliple-Platter View)</a:t>
            </a:r>
          </a:p>
        </p:txBody>
      </p:sp>
      <p:sp>
        <p:nvSpPr>
          <p:cNvPr id="94243" name="Rectangle 3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Disks consist of </a:t>
            </a:r>
            <a:r>
              <a:rPr lang="en-US" dirty="0">
                <a:solidFill>
                  <a:srgbClr val="FF0000"/>
                </a:solidFill>
              </a:rPr>
              <a:t>platters</a:t>
            </a:r>
            <a:r>
              <a:rPr lang="en-US" dirty="0"/>
              <a:t>, each with two </a:t>
            </a:r>
            <a:r>
              <a:rPr lang="en-US" dirty="0">
                <a:solidFill>
                  <a:srgbClr val="FF0000"/>
                </a:solidFill>
              </a:rPr>
              <a:t>surfaces</a:t>
            </a:r>
            <a:r>
              <a:rPr lang="en-US" dirty="0"/>
              <a:t>. </a:t>
            </a:r>
          </a:p>
        </p:txBody>
      </p:sp>
      <p:sp>
        <p:nvSpPr>
          <p:cNvPr id="94212" name="Line 4"/>
          <p:cNvSpPr>
            <a:spLocks noChangeShapeType="1"/>
          </p:cNvSpPr>
          <p:nvPr/>
        </p:nvSpPr>
        <p:spPr bwMode="auto">
          <a:xfrm flipV="1">
            <a:off x="2914650" y="41170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3" name="Line 5"/>
          <p:cNvSpPr>
            <a:spLocks noChangeShapeType="1"/>
          </p:cNvSpPr>
          <p:nvPr/>
        </p:nvSpPr>
        <p:spPr bwMode="auto">
          <a:xfrm flipV="1">
            <a:off x="2914650" y="47012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4" name="AutoShape 6"/>
          <p:cNvSpPr>
            <a:spLocks noChangeArrowheads="1"/>
          </p:cNvSpPr>
          <p:nvPr/>
        </p:nvSpPr>
        <p:spPr bwMode="auto">
          <a:xfrm>
            <a:off x="4146550" y="4650473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5" name="Oval 7"/>
          <p:cNvSpPr>
            <a:spLocks noChangeArrowheads="1"/>
          </p:cNvSpPr>
          <p:nvPr/>
        </p:nvSpPr>
        <p:spPr bwMode="auto">
          <a:xfrm>
            <a:off x="3117850" y="4459973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6" name="Line 8"/>
          <p:cNvSpPr>
            <a:spLocks noChangeShapeType="1"/>
          </p:cNvSpPr>
          <p:nvPr/>
        </p:nvSpPr>
        <p:spPr bwMode="auto">
          <a:xfrm flipV="1">
            <a:off x="2914650" y="35455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1866900" y="3144521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0</a:t>
            </a: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1866900" y="3490596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1</a:t>
            </a:r>
          </a:p>
        </p:txBody>
      </p:sp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1866900" y="3716021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2</a:t>
            </a: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1866900" y="4062096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3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1866900" y="4300221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4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1866900" y="4646296"/>
            <a:ext cx="9421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Surface 5</a:t>
            </a:r>
          </a:p>
        </p:txBody>
      </p:sp>
      <p:sp>
        <p:nvSpPr>
          <p:cNvPr id="94223" name="Line 15"/>
          <p:cNvSpPr>
            <a:spLocks noChangeShapeType="1"/>
          </p:cNvSpPr>
          <p:nvPr/>
        </p:nvSpPr>
        <p:spPr bwMode="auto">
          <a:xfrm>
            <a:off x="2914650" y="44599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4" name="Oval 16"/>
          <p:cNvSpPr>
            <a:spLocks noChangeArrowheads="1"/>
          </p:cNvSpPr>
          <p:nvPr/>
        </p:nvSpPr>
        <p:spPr bwMode="auto">
          <a:xfrm>
            <a:off x="3765550" y="4612373"/>
            <a:ext cx="1193800" cy="165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5" name="AutoShape 17"/>
          <p:cNvSpPr>
            <a:spLocks noChangeArrowheads="1"/>
          </p:cNvSpPr>
          <p:nvPr/>
        </p:nvSpPr>
        <p:spPr bwMode="auto">
          <a:xfrm>
            <a:off x="4146550" y="4078973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6" name="Oval 18"/>
          <p:cNvSpPr>
            <a:spLocks noChangeArrowheads="1"/>
          </p:cNvSpPr>
          <p:nvPr/>
        </p:nvSpPr>
        <p:spPr bwMode="auto">
          <a:xfrm>
            <a:off x="3143250" y="3850373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7" name="Oval 19"/>
          <p:cNvSpPr>
            <a:spLocks noChangeArrowheads="1"/>
          </p:cNvSpPr>
          <p:nvPr/>
        </p:nvSpPr>
        <p:spPr bwMode="auto">
          <a:xfrm>
            <a:off x="3752850" y="4040873"/>
            <a:ext cx="1193800" cy="165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8" name="AutoShape 20"/>
          <p:cNvSpPr>
            <a:spLocks noChangeArrowheads="1"/>
          </p:cNvSpPr>
          <p:nvPr/>
        </p:nvSpPr>
        <p:spPr bwMode="auto">
          <a:xfrm>
            <a:off x="4146550" y="3507473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29" name="Oval 21"/>
          <p:cNvSpPr>
            <a:spLocks noChangeArrowheads="1"/>
          </p:cNvSpPr>
          <p:nvPr/>
        </p:nvSpPr>
        <p:spPr bwMode="auto">
          <a:xfrm>
            <a:off x="3105150" y="3304273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0" name="Oval 22"/>
          <p:cNvSpPr>
            <a:spLocks noChangeArrowheads="1"/>
          </p:cNvSpPr>
          <p:nvPr/>
        </p:nvSpPr>
        <p:spPr bwMode="auto">
          <a:xfrm>
            <a:off x="3752850" y="3431273"/>
            <a:ext cx="1193800" cy="165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1" name="AutoShape 23"/>
          <p:cNvSpPr>
            <a:spLocks noChangeArrowheads="1"/>
          </p:cNvSpPr>
          <p:nvPr/>
        </p:nvSpPr>
        <p:spPr bwMode="auto">
          <a:xfrm>
            <a:off x="4146550" y="2910573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2" name="Line 24"/>
          <p:cNvSpPr>
            <a:spLocks noChangeShapeType="1"/>
          </p:cNvSpPr>
          <p:nvPr/>
        </p:nvSpPr>
        <p:spPr bwMode="auto">
          <a:xfrm>
            <a:off x="2914650" y="33042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3" name="Line 25"/>
          <p:cNvSpPr>
            <a:spLocks noChangeShapeType="1"/>
          </p:cNvSpPr>
          <p:nvPr/>
        </p:nvSpPr>
        <p:spPr bwMode="auto">
          <a:xfrm>
            <a:off x="2914650" y="3875773"/>
            <a:ext cx="520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4" name="Line 26"/>
          <p:cNvSpPr>
            <a:spLocks noChangeShapeType="1"/>
          </p:cNvSpPr>
          <p:nvPr/>
        </p:nvSpPr>
        <p:spPr bwMode="auto">
          <a:xfrm>
            <a:off x="3765550" y="3507473"/>
            <a:ext cx="0" cy="1193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5" name="Line 27"/>
          <p:cNvSpPr>
            <a:spLocks noChangeShapeType="1"/>
          </p:cNvSpPr>
          <p:nvPr/>
        </p:nvSpPr>
        <p:spPr bwMode="auto">
          <a:xfrm>
            <a:off x="4946650" y="3520173"/>
            <a:ext cx="0" cy="1193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38" name="Text Box 30"/>
          <p:cNvSpPr txBox="1">
            <a:spLocks noChangeArrowheads="1"/>
          </p:cNvSpPr>
          <p:nvPr/>
        </p:nvSpPr>
        <p:spPr bwMode="auto">
          <a:xfrm>
            <a:off x="3905250" y="5230496"/>
            <a:ext cx="79240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4239" name="Text Box 31"/>
          <p:cNvSpPr txBox="1">
            <a:spLocks noChangeArrowheads="1"/>
          </p:cNvSpPr>
          <p:nvPr/>
        </p:nvSpPr>
        <p:spPr bwMode="auto">
          <a:xfrm>
            <a:off x="5529263" y="3338196"/>
            <a:ext cx="84861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Platter 0</a:t>
            </a:r>
          </a:p>
        </p:txBody>
      </p:sp>
      <p:sp>
        <p:nvSpPr>
          <p:cNvPr id="94240" name="Text Box 32"/>
          <p:cNvSpPr txBox="1">
            <a:spLocks noChangeArrowheads="1"/>
          </p:cNvSpPr>
          <p:nvPr/>
        </p:nvSpPr>
        <p:spPr bwMode="auto">
          <a:xfrm>
            <a:off x="5529263" y="3896996"/>
            <a:ext cx="84861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Platter 1</a:t>
            </a:r>
          </a:p>
        </p:txBody>
      </p:sp>
      <p:sp>
        <p:nvSpPr>
          <p:cNvPr id="94241" name="Text Box 33"/>
          <p:cNvSpPr txBox="1">
            <a:spLocks noChangeArrowheads="1"/>
          </p:cNvSpPr>
          <p:nvPr/>
        </p:nvSpPr>
        <p:spPr bwMode="auto">
          <a:xfrm>
            <a:off x="5529263" y="4506596"/>
            <a:ext cx="84861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Platter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29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Geometry</a:t>
            </a:r>
          </a:p>
        </p:txBody>
      </p:sp>
      <p:sp>
        <p:nvSpPr>
          <p:cNvPr id="93230" name="Rectangle 46"/>
          <p:cNvSpPr>
            <a:spLocks noGrp="1" noChangeArrowheads="1"/>
          </p:cNvSpPr>
          <p:nvPr>
            <p:ph idx="1"/>
          </p:nvPr>
        </p:nvSpPr>
        <p:spPr>
          <a:xfrm>
            <a:off x="396875" y="1371600"/>
            <a:ext cx="7896225" cy="4972050"/>
          </a:xfrm>
        </p:spPr>
        <p:txBody>
          <a:bodyPr/>
          <a:lstStyle/>
          <a:p>
            <a:r>
              <a:rPr lang="en-US" dirty="0"/>
              <a:t>Each surface consists of concentric rings called </a:t>
            </a:r>
            <a:r>
              <a:rPr lang="en-US" dirty="0">
                <a:solidFill>
                  <a:srgbClr val="FF0000"/>
                </a:solidFill>
              </a:rPr>
              <a:t>tracks</a:t>
            </a:r>
            <a:r>
              <a:rPr lang="en-US" dirty="0"/>
              <a:t>.</a:t>
            </a:r>
          </a:p>
        </p:txBody>
      </p:sp>
      <p:sp>
        <p:nvSpPr>
          <p:cNvPr id="93188" name="Oval 4"/>
          <p:cNvSpPr>
            <a:spLocks noChangeArrowheads="1"/>
          </p:cNvSpPr>
          <p:nvPr/>
        </p:nvSpPr>
        <p:spPr bwMode="auto">
          <a:xfrm>
            <a:off x="2036763" y="3136217"/>
            <a:ext cx="1851025" cy="18129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89" name="Oval 5"/>
          <p:cNvSpPr>
            <a:spLocks noChangeArrowheads="1"/>
          </p:cNvSpPr>
          <p:nvPr/>
        </p:nvSpPr>
        <p:spPr bwMode="auto">
          <a:xfrm>
            <a:off x="1066800" y="2186892"/>
            <a:ext cx="3790950" cy="371316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0" name="Oval 6"/>
          <p:cNvSpPr>
            <a:spLocks noChangeArrowheads="1"/>
          </p:cNvSpPr>
          <p:nvPr/>
        </p:nvSpPr>
        <p:spPr bwMode="auto">
          <a:xfrm>
            <a:off x="1257300" y="2372630"/>
            <a:ext cx="3409950" cy="3340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1" name="Oval 7"/>
          <p:cNvSpPr>
            <a:spLocks noChangeArrowheads="1"/>
          </p:cNvSpPr>
          <p:nvPr/>
        </p:nvSpPr>
        <p:spPr bwMode="auto">
          <a:xfrm>
            <a:off x="1447800" y="2558367"/>
            <a:ext cx="3030538" cy="29686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2" name="Oval 8"/>
          <p:cNvSpPr>
            <a:spLocks noChangeArrowheads="1"/>
          </p:cNvSpPr>
          <p:nvPr/>
        </p:nvSpPr>
        <p:spPr bwMode="auto">
          <a:xfrm>
            <a:off x="1638300" y="2745692"/>
            <a:ext cx="2649538" cy="25955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3" name="Oval 9"/>
          <p:cNvSpPr>
            <a:spLocks noChangeArrowheads="1"/>
          </p:cNvSpPr>
          <p:nvPr/>
        </p:nvSpPr>
        <p:spPr bwMode="auto">
          <a:xfrm>
            <a:off x="1827213" y="2931430"/>
            <a:ext cx="2270125" cy="22225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4" name="Oval 10"/>
          <p:cNvSpPr>
            <a:spLocks noChangeArrowheads="1"/>
          </p:cNvSpPr>
          <p:nvPr/>
        </p:nvSpPr>
        <p:spPr bwMode="auto">
          <a:xfrm>
            <a:off x="2208213" y="3304492"/>
            <a:ext cx="1508125" cy="14779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195" name="Oval 11"/>
          <p:cNvSpPr>
            <a:spLocks noChangeArrowheads="1"/>
          </p:cNvSpPr>
          <p:nvPr/>
        </p:nvSpPr>
        <p:spPr bwMode="auto">
          <a:xfrm>
            <a:off x="2408238" y="3469592"/>
            <a:ext cx="1128712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2535238" y="2513917"/>
            <a:ext cx="801822" cy="338554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/>
              <a:t>Surface</a:t>
            </a:r>
          </a:p>
        </p:txBody>
      </p:sp>
      <p:sp>
        <p:nvSpPr>
          <p:cNvPr id="93197" name="Line 13"/>
          <p:cNvSpPr>
            <a:spLocks noChangeShapeType="1"/>
          </p:cNvSpPr>
          <p:nvPr/>
        </p:nvSpPr>
        <p:spPr bwMode="auto">
          <a:xfrm>
            <a:off x="1163638" y="2594880"/>
            <a:ext cx="990600" cy="676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3198" name="Line 14"/>
          <p:cNvSpPr>
            <a:spLocks noChangeShapeType="1"/>
          </p:cNvSpPr>
          <p:nvPr/>
        </p:nvSpPr>
        <p:spPr bwMode="auto">
          <a:xfrm>
            <a:off x="1436688" y="2594880"/>
            <a:ext cx="67310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793750" y="2304953"/>
            <a:ext cx="7179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Tracks</a:t>
            </a:r>
          </a:p>
        </p:txBody>
      </p:sp>
      <p:sp>
        <p:nvSpPr>
          <p:cNvPr id="93200" name="Oval 16"/>
          <p:cNvSpPr>
            <a:spLocks noChangeArrowheads="1"/>
          </p:cNvSpPr>
          <p:nvPr/>
        </p:nvSpPr>
        <p:spPr bwMode="auto">
          <a:xfrm>
            <a:off x="5675313" y="3164792"/>
            <a:ext cx="1851025" cy="181292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6224588" y="2742517"/>
            <a:ext cx="79763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/>
              <a:t>Track </a:t>
            </a:r>
            <a:r>
              <a:rPr lang="en-US" sz="1600" i="1" dirty="0" err="1"/>
              <a:t>k</a:t>
            </a:r>
            <a:endParaRPr lang="en-US" sz="1600" i="1" dirty="0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611938" y="3109230"/>
            <a:ext cx="1066800" cy="990600"/>
            <a:chOff x="4320" y="690"/>
            <a:chExt cx="672" cy="624"/>
          </a:xfrm>
        </p:grpSpPr>
        <p:sp>
          <p:nvSpPr>
            <p:cNvPr id="93203" name="Line 19"/>
            <p:cNvSpPr>
              <a:spLocks noChangeShapeType="1"/>
            </p:cNvSpPr>
            <p:nvPr/>
          </p:nvSpPr>
          <p:spPr bwMode="auto">
            <a:xfrm flipV="1">
              <a:off x="4320" y="690"/>
              <a:ext cx="0" cy="62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04" name="Line 20"/>
            <p:cNvSpPr>
              <a:spLocks noChangeShapeType="1"/>
            </p:cNvSpPr>
            <p:nvPr/>
          </p:nvSpPr>
          <p:spPr bwMode="auto">
            <a:xfrm flipV="1">
              <a:off x="4320" y="720"/>
              <a:ext cx="336" cy="57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05" name="Line 21"/>
            <p:cNvSpPr>
              <a:spLocks noChangeShapeType="1"/>
            </p:cNvSpPr>
            <p:nvPr/>
          </p:nvSpPr>
          <p:spPr bwMode="auto">
            <a:xfrm flipV="1">
              <a:off x="4320" y="1296"/>
              <a:ext cx="672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06" name="Line 22"/>
            <p:cNvSpPr>
              <a:spLocks noChangeShapeType="1"/>
            </p:cNvSpPr>
            <p:nvPr/>
          </p:nvSpPr>
          <p:spPr bwMode="auto">
            <a:xfrm flipV="1">
              <a:off x="4320" y="960"/>
              <a:ext cx="576" cy="336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 flipV="1">
            <a:off x="6611938" y="4042680"/>
            <a:ext cx="1066800" cy="990600"/>
            <a:chOff x="4320" y="690"/>
            <a:chExt cx="672" cy="624"/>
          </a:xfrm>
        </p:grpSpPr>
        <p:sp>
          <p:nvSpPr>
            <p:cNvPr id="93208" name="Line 24"/>
            <p:cNvSpPr>
              <a:spLocks noChangeShapeType="1"/>
            </p:cNvSpPr>
            <p:nvPr/>
          </p:nvSpPr>
          <p:spPr bwMode="auto">
            <a:xfrm flipV="1">
              <a:off x="4320" y="690"/>
              <a:ext cx="0" cy="62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09" name="Line 25"/>
            <p:cNvSpPr>
              <a:spLocks noChangeShapeType="1"/>
            </p:cNvSpPr>
            <p:nvPr/>
          </p:nvSpPr>
          <p:spPr bwMode="auto">
            <a:xfrm flipV="1">
              <a:off x="4320" y="720"/>
              <a:ext cx="336" cy="57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0" name="Line 26"/>
            <p:cNvSpPr>
              <a:spLocks noChangeShapeType="1"/>
            </p:cNvSpPr>
            <p:nvPr/>
          </p:nvSpPr>
          <p:spPr bwMode="auto">
            <a:xfrm flipV="1">
              <a:off x="4320" y="1296"/>
              <a:ext cx="672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1" name="Line 27"/>
            <p:cNvSpPr>
              <a:spLocks noChangeShapeType="1"/>
            </p:cNvSpPr>
            <p:nvPr/>
          </p:nvSpPr>
          <p:spPr bwMode="auto">
            <a:xfrm flipV="1">
              <a:off x="4320" y="960"/>
              <a:ext cx="576" cy="336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 flipH="1" flipV="1">
            <a:off x="5545138" y="4042680"/>
            <a:ext cx="1066800" cy="990600"/>
            <a:chOff x="4320" y="690"/>
            <a:chExt cx="672" cy="624"/>
          </a:xfrm>
        </p:grpSpPr>
        <p:sp>
          <p:nvSpPr>
            <p:cNvPr id="93213" name="Line 29"/>
            <p:cNvSpPr>
              <a:spLocks noChangeShapeType="1"/>
            </p:cNvSpPr>
            <p:nvPr/>
          </p:nvSpPr>
          <p:spPr bwMode="auto">
            <a:xfrm flipV="1">
              <a:off x="4320" y="690"/>
              <a:ext cx="0" cy="62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4" name="Line 30"/>
            <p:cNvSpPr>
              <a:spLocks noChangeShapeType="1"/>
            </p:cNvSpPr>
            <p:nvPr/>
          </p:nvSpPr>
          <p:spPr bwMode="auto">
            <a:xfrm flipV="1">
              <a:off x="4320" y="720"/>
              <a:ext cx="336" cy="57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5" name="Line 31"/>
            <p:cNvSpPr>
              <a:spLocks noChangeShapeType="1"/>
            </p:cNvSpPr>
            <p:nvPr/>
          </p:nvSpPr>
          <p:spPr bwMode="auto">
            <a:xfrm flipV="1">
              <a:off x="4320" y="1296"/>
              <a:ext cx="672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6" name="Line 32"/>
            <p:cNvSpPr>
              <a:spLocks noChangeShapeType="1"/>
            </p:cNvSpPr>
            <p:nvPr/>
          </p:nvSpPr>
          <p:spPr bwMode="auto">
            <a:xfrm flipV="1">
              <a:off x="4320" y="960"/>
              <a:ext cx="576" cy="336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 flipH="1">
            <a:off x="5545138" y="3109230"/>
            <a:ext cx="1066800" cy="990600"/>
            <a:chOff x="4320" y="690"/>
            <a:chExt cx="672" cy="624"/>
          </a:xfrm>
        </p:grpSpPr>
        <p:sp>
          <p:nvSpPr>
            <p:cNvPr id="93218" name="Line 34"/>
            <p:cNvSpPr>
              <a:spLocks noChangeShapeType="1"/>
            </p:cNvSpPr>
            <p:nvPr/>
          </p:nvSpPr>
          <p:spPr bwMode="auto">
            <a:xfrm flipV="1">
              <a:off x="4320" y="690"/>
              <a:ext cx="0" cy="62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19" name="Line 35"/>
            <p:cNvSpPr>
              <a:spLocks noChangeShapeType="1"/>
            </p:cNvSpPr>
            <p:nvPr/>
          </p:nvSpPr>
          <p:spPr bwMode="auto">
            <a:xfrm flipV="1">
              <a:off x="4320" y="720"/>
              <a:ext cx="336" cy="57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20" name="Line 36"/>
            <p:cNvSpPr>
              <a:spLocks noChangeShapeType="1"/>
            </p:cNvSpPr>
            <p:nvPr/>
          </p:nvSpPr>
          <p:spPr bwMode="auto">
            <a:xfrm flipV="1">
              <a:off x="4320" y="1296"/>
              <a:ext cx="672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3221" name="Line 37"/>
            <p:cNvSpPr>
              <a:spLocks noChangeShapeType="1"/>
            </p:cNvSpPr>
            <p:nvPr/>
          </p:nvSpPr>
          <p:spPr bwMode="auto">
            <a:xfrm flipV="1">
              <a:off x="4320" y="960"/>
              <a:ext cx="576" cy="336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93222" name="Text Box 38"/>
          <p:cNvSpPr txBox="1">
            <a:spLocks noChangeArrowheads="1"/>
          </p:cNvSpPr>
          <p:nvPr/>
        </p:nvSpPr>
        <p:spPr bwMode="auto">
          <a:xfrm>
            <a:off x="6149975" y="5441853"/>
            <a:ext cx="80182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Sectors</a:t>
            </a:r>
          </a:p>
        </p:txBody>
      </p:sp>
      <p:sp>
        <p:nvSpPr>
          <p:cNvPr id="93223" name="Line 39"/>
          <p:cNvSpPr>
            <a:spLocks noChangeShapeType="1"/>
          </p:cNvSpPr>
          <p:nvPr/>
        </p:nvSpPr>
        <p:spPr bwMode="auto">
          <a:xfrm flipV="1">
            <a:off x="6383338" y="498565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3224" name="Line 40"/>
          <p:cNvSpPr>
            <a:spLocks noChangeShapeType="1"/>
          </p:cNvSpPr>
          <p:nvPr/>
        </p:nvSpPr>
        <p:spPr bwMode="auto">
          <a:xfrm flipV="1">
            <a:off x="6840538" y="498565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3225" name="AutoShape 41"/>
          <p:cNvSpPr>
            <a:spLocks noChangeArrowheads="1"/>
          </p:cNvSpPr>
          <p:nvPr/>
        </p:nvSpPr>
        <p:spPr bwMode="auto">
          <a:xfrm>
            <a:off x="4097338" y="3918855"/>
            <a:ext cx="1524000" cy="3048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59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Operation (Single-Platter View)</a:t>
            </a:r>
          </a:p>
        </p:txBody>
      </p:sp>
      <p:sp>
        <p:nvSpPr>
          <p:cNvPr id="95236" name="Oval 4"/>
          <p:cNvSpPr>
            <a:spLocks noChangeArrowheads="1"/>
          </p:cNvSpPr>
          <p:nvPr/>
        </p:nvSpPr>
        <p:spPr bwMode="auto">
          <a:xfrm>
            <a:off x="2962275" y="2722563"/>
            <a:ext cx="1851025" cy="18129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38" name="Oval 6"/>
          <p:cNvSpPr>
            <a:spLocks noChangeArrowheads="1"/>
          </p:cNvSpPr>
          <p:nvPr/>
        </p:nvSpPr>
        <p:spPr bwMode="auto">
          <a:xfrm>
            <a:off x="1992313" y="1773238"/>
            <a:ext cx="3790950" cy="371316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39" name="Oval 7"/>
          <p:cNvSpPr>
            <a:spLocks noChangeArrowheads="1"/>
          </p:cNvSpPr>
          <p:nvPr/>
        </p:nvSpPr>
        <p:spPr bwMode="auto">
          <a:xfrm>
            <a:off x="2182813" y="1958975"/>
            <a:ext cx="3409950" cy="3340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0" name="Oval 8"/>
          <p:cNvSpPr>
            <a:spLocks noChangeArrowheads="1"/>
          </p:cNvSpPr>
          <p:nvPr/>
        </p:nvSpPr>
        <p:spPr bwMode="auto">
          <a:xfrm>
            <a:off x="2373313" y="2144713"/>
            <a:ext cx="3030537" cy="29686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1" name="Oval 9"/>
          <p:cNvSpPr>
            <a:spLocks noChangeArrowheads="1"/>
          </p:cNvSpPr>
          <p:nvPr/>
        </p:nvSpPr>
        <p:spPr bwMode="auto">
          <a:xfrm>
            <a:off x="2563813" y="2332038"/>
            <a:ext cx="2649537" cy="25955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2" name="Oval 10"/>
          <p:cNvSpPr>
            <a:spLocks noChangeArrowheads="1"/>
          </p:cNvSpPr>
          <p:nvPr/>
        </p:nvSpPr>
        <p:spPr bwMode="auto">
          <a:xfrm>
            <a:off x="2752725" y="2517775"/>
            <a:ext cx="2270125" cy="2222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3" name="Oval 11"/>
          <p:cNvSpPr>
            <a:spLocks noChangeArrowheads="1"/>
          </p:cNvSpPr>
          <p:nvPr/>
        </p:nvSpPr>
        <p:spPr bwMode="auto">
          <a:xfrm>
            <a:off x="3133725" y="2890838"/>
            <a:ext cx="1508125" cy="14779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5" name="Arc 13"/>
          <p:cNvSpPr>
            <a:spLocks/>
          </p:cNvSpPr>
          <p:nvPr/>
        </p:nvSpPr>
        <p:spPr bwMode="auto">
          <a:xfrm rot="-1879939">
            <a:off x="1814513" y="2114550"/>
            <a:ext cx="1231900" cy="508000"/>
          </a:xfrm>
          <a:custGeom>
            <a:avLst/>
            <a:gdLst>
              <a:gd name="G0" fmla="+- 19775 0 0"/>
              <a:gd name="G1" fmla="+- 21600 0 0"/>
              <a:gd name="G2" fmla="+- 21600 0 0"/>
              <a:gd name="T0" fmla="*/ 0 w 19775"/>
              <a:gd name="T1" fmla="*/ 12910 h 21600"/>
              <a:gd name="T2" fmla="*/ 19750 w 19775"/>
              <a:gd name="T3" fmla="*/ 0 h 21600"/>
              <a:gd name="T4" fmla="*/ 19775 w 1977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75" h="21600" fill="none" extrusionOk="0">
                <a:moveTo>
                  <a:pt x="0" y="12910"/>
                </a:moveTo>
                <a:cubicBezTo>
                  <a:pt x="3443" y="5073"/>
                  <a:pt x="11190" y="9"/>
                  <a:pt x="19750" y="0"/>
                </a:cubicBezTo>
              </a:path>
              <a:path w="19775" h="21600" stroke="0" extrusionOk="0">
                <a:moveTo>
                  <a:pt x="0" y="12910"/>
                </a:moveTo>
                <a:cubicBezTo>
                  <a:pt x="3443" y="5073"/>
                  <a:pt x="11190" y="9"/>
                  <a:pt x="19750" y="0"/>
                </a:cubicBezTo>
                <a:lnTo>
                  <a:pt x="19775" y="21600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6" name="Rectangle 14"/>
          <p:cNvSpPr>
            <a:spLocks noChangeArrowheads="1"/>
          </p:cNvSpPr>
          <p:nvPr/>
        </p:nvSpPr>
        <p:spPr bwMode="auto">
          <a:xfrm>
            <a:off x="457200" y="1647825"/>
            <a:ext cx="1735138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/>
              <a:t>The disk surface 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spins at a fixed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rotational rate</a:t>
            </a:r>
          </a:p>
        </p:txBody>
      </p:sp>
      <p:sp>
        <p:nvSpPr>
          <p:cNvPr id="95264" name="Oval 32"/>
          <p:cNvSpPr>
            <a:spLocks noChangeArrowheads="1"/>
          </p:cNvSpPr>
          <p:nvPr/>
        </p:nvSpPr>
        <p:spPr bwMode="auto">
          <a:xfrm rot="21600000">
            <a:off x="3302793" y="3098800"/>
            <a:ext cx="1128713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4394200" y="1787525"/>
            <a:ext cx="4140200" cy="3629025"/>
            <a:chOff x="2768" y="1126"/>
            <a:chExt cx="2608" cy="2286"/>
          </a:xfrm>
        </p:grpSpPr>
        <p:grpSp>
          <p:nvGrpSpPr>
            <p:cNvPr id="3" name="Group 67"/>
            <p:cNvGrpSpPr>
              <a:grpSpLocks/>
            </p:cNvGrpSpPr>
            <p:nvPr/>
          </p:nvGrpSpPr>
          <p:grpSpPr bwMode="auto">
            <a:xfrm>
              <a:off x="2768" y="2607"/>
              <a:ext cx="2608" cy="805"/>
              <a:chOff x="2768" y="2607"/>
              <a:chExt cx="2608" cy="805"/>
            </a:xfrm>
          </p:grpSpPr>
          <p:sp>
            <p:nvSpPr>
              <p:cNvPr id="95237" name="Rectangle 5"/>
              <p:cNvSpPr>
                <a:spLocks noChangeArrowheads="1"/>
              </p:cNvSpPr>
              <p:nvPr/>
            </p:nvSpPr>
            <p:spPr bwMode="auto">
              <a:xfrm>
                <a:off x="3520" y="2894"/>
                <a:ext cx="1856" cy="51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90487" tIns="44450" rIns="90487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1600" dirty="0"/>
                  <a:t>seek: b</a:t>
                </a:r>
                <a:r>
                  <a:rPr lang="en-US" sz="1600" dirty="0"/>
                  <a:t>y moving radially, the arm can position the read/write head over any track. </a:t>
                </a:r>
              </a:p>
            </p:txBody>
          </p:sp>
          <p:sp>
            <p:nvSpPr>
              <p:cNvPr id="95248" name="Arc 16"/>
              <p:cNvSpPr>
                <a:spLocks noChangeAspect="1"/>
              </p:cNvSpPr>
              <p:nvPr/>
            </p:nvSpPr>
            <p:spPr bwMode="auto">
              <a:xfrm rot="2822162" flipV="1">
                <a:off x="2493" y="2882"/>
                <a:ext cx="713" cy="163"/>
              </a:xfrm>
              <a:custGeom>
                <a:avLst/>
                <a:gdLst>
                  <a:gd name="G0" fmla="+- 18756 0 0"/>
                  <a:gd name="G1" fmla="+- 21600 0 0"/>
                  <a:gd name="G2" fmla="+- 21600 0 0"/>
                  <a:gd name="T0" fmla="*/ 0 w 37393"/>
                  <a:gd name="T1" fmla="*/ 10887 h 21600"/>
                  <a:gd name="T2" fmla="*/ 37393 w 37393"/>
                  <a:gd name="T3" fmla="*/ 10681 h 21600"/>
                  <a:gd name="T4" fmla="*/ 18756 w 3739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393" h="21600" fill="none" extrusionOk="0">
                    <a:moveTo>
                      <a:pt x="-1" y="10886"/>
                    </a:moveTo>
                    <a:cubicBezTo>
                      <a:pt x="3845" y="4154"/>
                      <a:pt x="11003" y="-1"/>
                      <a:pt x="18756" y="-1"/>
                    </a:cubicBezTo>
                    <a:cubicBezTo>
                      <a:pt x="26423" y="-1"/>
                      <a:pt x="33516" y="4065"/>
                      <a:pt x="37392" y="10681"/>
                    </a:cubicBezTo>
                  </a:path>
                  <a:path w="37393" h="21600" stroke="0" extrusionOk="0">
                    <a:moveTo>
                      <a:pt x="-1" y="10886"/>
                    </a:moveTo>
                    <a:cubicBezTo>
                      <a:pt x="3845" y="4154"/>
                      <a:pt x="11003" y="-1"/>
                      <a:pt x="18756" y="-1"/>
                    </a:cubicBezTo>
                    <a:cubicBezTo>
                      <a:pt x="26423" y="-1"/>
                      <a:pt x="33516" y="4065"/>
                      <a:pt x="37392" y="10681"/>
                    </a:cubicBezTo>
                    <a:lnTo>
                      <a:pt x="18756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FFFF"/>
                </a:solidFill>
                <a:prstDash val="dash"/>
                <a:round/>
                <a:headEnd type="triangle" w="med" len="med"/>
                <a:tailEnd type="triangle" w="med" len="med"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5247" name="Rectangle 15"/>
            <p:cNvSpPr>
              <a:spLocks noChangeArrowheads="1"/>
            </p:cNvSpPr>
            <p:nvPr/>
          </p:nvSpPr>
          <p:spPr bwMode="auto">
            <a:xfrm>
              <a:off x="3604" y="1126"/>
              <a:ext cx="1594" cy="8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/>
                <a:t>The read/write </a:t>
              </a:r>
              <a:r>
                <a:rPr lang="en-US" sz="1600" i="1"/>
                <a:t>head</a:t>
              </a:r>
            </a:p>
            <a:p>
              <a:pPr algn="l">
                <a:lnSpc>
                  <a:spcPct val="100000"/>
                </a:lnSpc>
              </a:pPr>
              <a:r>
                <a:rPr lang="en-US" sz="1600"/>
                <a:t>is attached to the end</a:t>
              </a:r>
            </a:p>
            <a:p>
              <a:pPr algn="l">
                <a:lnSpc>
                  <a:spcPct val="100000"/>
                </a:lnSpc>
              </a:pPr>
              <a:r>
                <a:rPr lang="en-US" sz="1600"/>
                <a:t>of the </a:t>
              </a:r>
              <a:r>
                <a:rPr lang="en-US" sz="1600" i="1"/>
                <a:t>arm</a:t>
              </a:r>
              <a:r>
                <a:rPr lang="en-US" sz="1600"/>
                <a:t> and flies over</a:t>
              </a:r>
            </a:p>
            <a:p>
              <a:pPr algn="l">
                <a:lnSpc>
                  <a:spcPct val="100000"/>
                </a:lnSpc>
              </a:pPr>
              <a:r>
                <a:rPr lang="en-US" sz="1600"/>
                <a:t> the disk surface on</a:t>
              </a:r>
            </a:p>
            <a:p>
              <a:pPr algn="l">
                <a:lnSpc>
                  <a:spcPct val="100000"/>
                </a:lnSpc>
              </a:pPr>
              <a:r>
                <a:rPr lang="en-US" sz="1600"/>
                <a:t>a thin cushion of air.</a:t>
              </a:r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4287838" y="3209925"/>
            <a:ext cx="2205037" cy="850900"/>
            <a:chOff x="2701" y="2022"/>
            <a:chExt cx="1389" cy="536"/>
          </a:xfrm>
        </p:grpSpPr>
        <p:grpSp>
          <p:nvGrpSpPr>
            <p:cNvPr id="5" name="Group 23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256" name="Oval 24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257" name="Rectangle 25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258" name="Oval 26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 rot="-809166">
            <a:off x="4383088" y="3343275"/>
            <a:ext cx="2205037" cy="850900"/>
            <a:chOff x="2701" y="2022"/>
            <a:chExt cx="1389" cy="536"/>
          </a:xfrm>
        </p:grpSpPr>
        <p:grpSp>
          <p:nvGrpSpPr>
            <p:cNvPr id="7" name="Group 48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281" name="Oval 49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282" name="Rectangle 50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283" name="Oval 51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62"/>
          <p:cNvGrpSpPr>
            <a:grpSpLocks/>
          </p:cNvGrpSpPr>
          <p:nvPr/>
        </p:nvGrpSpPr>
        <p:grpSpPr bwMode="auto">
          <a:xfrm rot="905387">
            <a:off x="4211638" y="2960688"/>
            <a:ext cx="2205037" cy="850900"/>
            <a:chOff x="2701" y="2022"/>
            <a:chExt cx="1389" cy="536"/>
          </a:xfrm>
        </p:grpSpPr>
        <p:grpSp>
          <p:nvGrpSpPr>
            <p:cNvPr id="9" name="Group 63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296" name="Oval 64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297" name="Rectangle 65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298" name="Oval 66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95261" name="Oval 29"/>
          <p:cNvSpPr>
            <a:spLocks noChangeArrowheads="1"/>
          </p:cNvSpPr>
          <p:nvPr/>
        </p:nvSpPr>
        <p:spPr bwMode="auto">
          <a:xfrm rot="5400000">
            <a:off x="3302793" y="3098800"/>
            <a:ext cx="1128712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5262" name="Oval 30"/>
          <p:cNvSpPr>
            <a:spLocks noChangeArrowheads="1"/>
          </p:cNvSpPr>
          <p:nvPr/>
        </p:nvSpPr>
        <p:spPr bwMode="auto">
          <a:xfrm rot="10800000">
            <a:off x="3302793" y="3098800"/>
            <a:ext cx="1128713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5263" name="Oval 31"/>
          <p:cNvSpPr>
            <a:spLocks noChangeArrowheads="1"/>
          </p:cNvSpPr>
          <p:nvPr/>
        </p:nvSpPr>
        <p:spPr bwMode="auto">
          <a:xfrm rot="16200000">
            <a:off x="3302793" y="3098801"/>
            <a:ext cx="1128712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5244" name="Oval 12"/>
          <p:cNvSpPr>
            <a:spLocks noChangeArrowheads="1"/>
          </p:cNvSpPr>
          <p:nvPr/>
        </p:nvSpPr>
        <p:spPr bwMode="auto">
          <a:xfrm>
            <a:off x="3302793" y="3098800"/>
            <a:ext cx="1128713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grpSp>
        <p:nvGrpSpPr>
          <p:cNvPr id="10" name="Group 68"/>
          <p:cNvGrpSpPr>
            <a:grpSpLocks/>
          </p:cNvGrpSpPr>
          <p:nvPr/>
        </p:nvGrpSpPr>
        <p:grpSpPr bwMode="auto">
          <a:xfrm rot="905387">
            <a:off x="4202113" y="2960688"/>
            <a:ext cx="2205037" cy="850900"/>
            <a:chOff x="2701" y="2022"/>
            <a:chExt cx="1389" cy="536"/>
          </a:xfrm>
        </p:grpSpPr>
        <p:grpSp>
          <p:nvGrpSpPr>
            <p:cNvPr id="11" name="Group 69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302" name="Oval 70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303" name="Rectangle 71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304" name="Oval 72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12" name="Group 73"/>
          <p:cNvGrpSpPr>
            <a:grpSpLocks/>
          </p:cNvGrpSpPr>
          <p:nvPr/>
        </p:nvGrpSpPr>
        <p:grpSpPr bwMode="auto">
          <a:xfrm rot="905387">
            <a:off x="4202113" y="2960688"/>
            <a:ext cx="2205037" cy="850900"/>
            <a:chOff x="2701" y="2022"/>
            <a:chExt cx="1389" cy="536"/>
          </a:xfrm>
        </p:grpSpPr>
        <p:grpSp>
          <p:nvGrpSpPr>
            <p:cNvPr id="13" name="Group 74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307" name="Oval 75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308" name="Rectangle 76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309" name="Oval 77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14" name="Group 83"/>
          <p:cNvGrpSpPr>
            <a:grpSpLocks/>
          </p:cNvGrpSpPr>
          <p:nvPr/>
        </p:nvGrpSpPr>
        <p:grpSpPr bwMode="auto">
          <a:xfrm rot="-809166">
            <a:off x="4384675" y="3341688"/>
            <a:ext cx="2205038" cy="850900"/>
            <a:chOff x="2701" y="2022"/>
            <a:chExt cx="1389" cy="536"/>
          </a:xfrm>
        </p:grpSpPr>
        <p:grpSp>
          <p:nvGrpSpPr>
            <p:cNvPr id="15" name="Group 84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317" name="Oval 85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318" name="Rectangle 86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319" name="Oval 87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16" name="Group 88"/>
          <p:cNvGrpSpPr>
            <a:grpSpLocks/>
          </p:cNvGrpSpPr>
          <p:nvPr/>
        </p:nvGrpSpPr>
        <p:grpSpPr bwMode="auto">
          <a:xfrm rot="-809166">
            <a:off x="4383088" y="3341688"/>
            <a:ext cx="2205037" cy="850900"/>
            <a:chOff x="2701" y="2022"/>
            <a:chExt cx="1389" cy="536"/>
          </a:xfrm>
        </p:grpSpPr>
        <p:grpSp>
          <p:nvGrpSpPr>
            <p:cNvPr id="17" name="Group 89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322" name="Oval 90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323" name="Rectangle 91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324" name="Oval 92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18" name="Group 93"/>
          <p:cNvGrpSpPr>
            <a:grpSpLocks/>
          </p:cNvGrpSpPr>
          <p:nvPr/>
        </p:nvGrpSpPr>
        <p:grpSpPr bwMode="auto">
          <a:xfrm rot="-809166">
            <a:off x="4383088" y="3341688"/>
            <a:ext cx="2205037" cy="850900"/>
            <a:chOff x="2701" y="2022"/>
            <a:chExt cx="1389" cy="536"/>
          </a:xfrm>
        </p:grpSpPr>
        <p:grpSp>
          <p:nvGrpSpPr>
            <p:cNvPr id="19" name="Group 94"/>
            <p:cNvGrpSpPr>
              <a:grpSpLocks/>
            </p:cNvGrpSpPr>
            <p:nvPr/>
          </p:nvGrpSpPr>
          <p:grpSpPr bwMode="auto">
            <a:xfrm rot="-2659851">
              <a:off x="2701" y="2430"/>
              <a:ext cx="1389" cy="128"/>
              <a:chOff x="2264" y="2992"/>
              <a:chExt cx="1389" cy="128"/>
            </a:xfrm>
          </p:grpSpPr>
          <p:sp>
            <p:nvSpPr>
              <p:cNvPr id="95327" name="Oval 95"/>
              <p:cNvSpPr>
                <a:spLocks noChangeArrowheads="1"/>
              </p:cNvSpPr>
              <p:nvPr/>
            </p:nvSpPr>
            <p:spPr bwMode="auto">
              <a:xfrm>
                <a:off x="2264" y="2992"/>
                <a:ext cx="128" cy="128"/>
              </a:xfrm>
              <a:prstGeom prst="ellipse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328" name="Rectangle 96"/>
              <p:cNvSpPr>
                <a:spLocks noChangeArrowheads="1"/>
              </p:cNvSpPr>
              <p:nvPr/>
            </p:nvSpPr>
            <p:spPr bwMode="auto">
              <a:xfrm>
                <a:off x="2371" y="3022"/>
                <a:ext cx="1282" cy="63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5329" name="Oval 97"/>
            <p:cNvSpPr>
              <a:spLocks noChangeAspect="1" noChangeArrowheads="1"/>
            </p:cNvSpPr>
            <p:nvPr/>
          </p:nvSpPr>
          <p:spPr bwMode="auto">
            <a:xfrm>
              <a:off x="3859" y="202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63" name="Oval 32"/>
          <p:cNvSpPr>
            <a:spLocks noChangeArrowheads="1"/>
          </p:cNvSpPr>
          <p:nvPr/>
        </p:nvSpPr>
        <p:spPr bwMode="auto">
          <a:xfrm>
            <a:off x="3302793" y="3098800"/>
            <a:ext cx="1128713" cy="11049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</p:spTree>
    <p:extLst>
      <p:ext uri="{BB962C8B-B14F-4D97-AF65-F5344CB8AC3E}">
        <p14:creationId xmlns:p14="http://schemas.microsoft.com/office/powerpoint/2010/main" val="367163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64" grpId="0" animBg="1"/>
      <p:bldP spid="95261" grpId="0" animBg="1" autoUpdateAnimBg="0"/>
      <p:bldP spid="95262" grpId="0" animBg="1" autoUpdateAnimBg="0"/>
      <p:bldP spid="95263" grpId="0" animBg="1" autoUpdateAnimBg="0"/>
      <p:bldP spid="95244" grpId="0" animBg="1" autoUpdateAnimBg="0"/>
      <p:bldP spid="6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86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Operation (Multi-Platter View)</a:t>
            </a:r>
          </a:p>
        </p:txBody>
      </p:sp>
      <p:sp>
        <p:nvSpPr>
          <p:cNvPr id="96260" name="Line 4"/>
          <p:cNvSpPr>
            <a:spLocks noChangeShapeType="1"/>
          </p:cNvSpPr>
          <p:nvPr/>
        </p:nvSpPr>
        <p:spPr bwMode="auto">
          <a:xfrm flipH="1">
            <a:off x="5218113" y="27209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1" name="Oval 5"/>
          <p:cNvSpPr>
            <a:spLocks noChangeArrowheads="1"/>
          </p:cNvSpPr>
          <p:nvPr/>
        </p:nvSpPr>
        <p:spPr bwMode="auto">
          <a:xfrm>
            <a:off x="5078413" y="26828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2" name="Line 6"/>
          <p:cNvSpPr>
            <a:spLocks noChangeShapeType="1"/>
          </p:cNvSpPr>
          <p:nvPr/>
        </p:nvSpPr>
        <p:spPr bwMode="auto">
          <a:xfrm flipH="1">
            <a:off x="5221288" y="32797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3" name="Oval 7"/>
          <p:cNvSpPr>
            <a:spLocks noChangeArrowheads="1"/>
          </p:cNvSpPr>
          <p:nvPr/>
        </p:nvSpPr>
        <p:spPr bwMode="auto">
          <a:xfrm>
            <a:off x="5081588" y="32416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4" name="Line 8"/>
          <p:cNvSpPr>
            <a:spLocks noChangeShapeType="1"/>
          </p:cNvSpPr>
          <p:nvPr/>
        </p:nvSpPr>
        <p:spPr bwMode="auto">
          <a:xfrm flipH="1">
            <a:off x="5218113" y="38893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5" name="Oval 9"/>
          <p:cNvSpPr>
            <a:spLocks noChangeArrowheads="1"/>
          </p:cNvSpPr>
          <p:nvPr/>
        </p:nvSpPr>
        <p:spPr bwMode="auto">
          <a:xfrm>
            <a:off x="5078413" y="38512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6" name="AutoShape 10"/>
          <p:cNvSpPr>
            <a:spLocks noChangeArrowheads="1"/>
          </p:cNvSpPr>
          <p:nvPr/>
        </p:nvSpPr>
        <p:spPr bwMode="auto">
          <a:xfrm>
            <a:off x="4103688" y="3736975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7" name="Oval 11"/>
          <p:cNvSpPr>
            <a:spLocks noChangeArrowheads="1"/>
          </p:cNvSpPr>
          <p:nvPr/>
        </p:nvSpPr>
        <p:spPr bwMode="auto">
          <a:xfrm>
            <a:off x="3074988" y="3546475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8" name="Line 12"/>
          <p:cNvSpPr>
            <a:spLocks noChangeShapeType="1"/>
          </p:cNvSpPr>
          <p:nvPr/>
        </p:nvSpPr>
        <p:spPr bwMode="auto">
          <a:xfrm>
            <a:off x="5675313" y="2479675"/>
            <a:ext cx="3175" cy="140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9" name="Line 13"/>
          <p:cNvSpPr>
            <a:spLocks noChangeShapeType="1"/>
          </p:cNvSpPr>
          <p:nvPr/>
        </p:nvSpPr>
        <p:spPr bwMode="auto">
          <a:xfrm flipH="1">
            <a:off x="5218113" y="36607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0" name="Oval 14"/>
          <p:cNvSpPr>
            <a:spLocks noChangeArrowheads="1"/>
          </p:cNvSpPr>
          <p:nvPr/>
        </p:nvSpPr>
        <p:spPr bwMode="auto">
          <a:xfrm>
            <a:off x="5078413" y="36226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1" name="Line 15"/>
          <p:cNvSpPr>
            <a:spLocks noChangeShapeType="1"/>
          </p:cNvSpPr>
          <p:nvPr/>
        </p:nvSpPr>
        <p:spPr bwMode="auto">
          <a:xfrm>
            <a:off x="5678488" y="3165475"/>
            <a:ext cx="6397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2" name="AutoShape 16"/>
          <p:cNvSpPr>
            <a:spLocks noChangeArrowheads="1"/>
          </p:cNvSpPr>
          <p:nvPr/>
        </p:nvSpPr>
        <p:spPr bwMode="auto">
          <a:xfrm>
            <a:off x="4103688" y="3165475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3" name="Oval 17"/>
          <p:cNvSpPr>
            <a:spLocks noChangeArrowheads="1"/>
          </p:cNvSpPr>
          <p:nvPr/>
        </p:nvSpPr>
        <p:spPr bwMode="auto">
          <a:xfrm>
            <a:off x="3100388" y="2936875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4" name="AutoShape 18"/>
          <p:cNvSpPr>
            <a:spLocks noChangeArrowheads="1"/>
          </p:cNvSpPr>
          <p:nvPr/>
        </p:nvSpPr>
        <p:spPr bwMode="auto">
          <a:xfrm>
            <a:off x="4103688" y="2593975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5" name="Oval 19"/>
          <p:cNvSpPr>
            <a:spLocks noChangeArrowheads="1"/>
          </p:cNvSpPr>
          <p:nvPr/>
        </p:nvSpPr>
        <p:spPr bwMode="auto">
          <a:xfrm>
            <a:off x="3062288" y="2390775"/>
            <a:ext cx="2387600" cy="431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6" name="AutoShape 20"/>
          <p:cNvSpPr>
            <a:spLocks noChangeArrowheads="1"/>
          </p:cNvSpPr>
          <p:nvPr/>
        </p:nvSpPr>
        <p:spPr bwMode="auto">
          <a:xfrm>
            <a:off x="4103688" y="1997075"/>
            <a:ext cx="381000" cy="635000"/>
          </a:xfrm>
          <a:prstGeom prst="can">
            <a:avLst>
              <a:gd name="adj" fmla="val 14244"/>
            </a:avLst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7" name="Line 21"/>
          <p:cNvSpPr>
            <a:spLocks noChangeShapeType="1"/>
          </p:cNvSpPr>
          <p:nvPr/>
        </p:nvSpPr>
        <p:spPr bwMode="auto">
          <a:xfrm flipH="1">
            <a:off x="5218113" y="24796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8" name="Oval 22"/>
          <p:cNvSpPr>
            <a:spLocks noChangeArrowheads="1"/>
          </p:cNvSpPr>
          <p:nvPr/>
        </p:nvSpPr>
        <p:spPr bwMode="auto">
          <a:xfrm>
            <a:off x="5065713" y="24415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79" name="Line 23"/>
          <p:cNvSpPr>
            <a:spLocks noChangeShapeType="1"/>
          </p:cNvSpPr>
          <p:nvPr/>
        </p:nvSpPr>
        <p:spPr bwMode="auto">
          <a:xfrm flipH="1">
            <a:off x="5218113" y="30384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80" name="Oval 24"/>
          <p:cNvSpPr>
            <a:spLocks noChangeArrowheads="1"/>
          </p:cNvSpPr>
          <p:nvPr/>
        </p:nvSpPr>
        <p:spPr bwMode="auto">
          <a:xfrm>
            <a:off x="5078413" y="3000375"/>
            <a:ext cx="304800" cy="762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81" name="Text Box 25"/>
          <p:cNvSpPr txBox="1">
            <a:spLocks noChangeArrowheads="1"/>
          </p:cNvSpPr>
          <p:nvPr/>
        </p:nvSpPr>
        <p:spPr bwMode="auto">
          <a:xfrm>
            <a:off x="5772150" y="2827923"/>
            <a:ext cx="52109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Arm</a:t>
            </a:r>
          </a:p>
        </p:txBody>
      </p:sp>
      <p:sp>
        <p:nvSpPr>
          <p:cNvPr id="96282" name="Text Box 26"/>
          <p:cNvSpPr txBox="1">
            <a:spLocks noChangeArrowheads="1"/>
          </p:cNvSpPr>
          <p:nvPr/>
        </p:nvSpPr>
        <p:spPr bwMode="auto">
          <a:xfrm>
            <a:off x="4581525" y="1322815"/>
            <a:ext cx="220027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Read/write heads 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move in unison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from cylinder to cylinder</a:t>
            </a:r>
          </a:p>
        </p:txBody>
      </p:sp>
      <p:sp>
        <p:nvSpPr>
          <p:cNvPr id="96283" name="Line 27"/>
          <p:cNvSpPr>
            <a:spLocks noChangeShapeType="1"/>
          </p:cNvSpPr>
          <p:nvPr/>
        </p:nvSpPr>
        <p:spPr bwMode="auto">
          <a:xfrm flipH="1">
            <a:off x="5360988" y="2165350"/>
            <a:ext cx="317500" cy="225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84" name="Text Box 28"/>
          <p:cNvSpPr txBox="1">
            <a:spLocks noChangeArrowheads="1"/>
          </p:cNvSpPr>
          <p:nvPr/>
        </p:nvSpPr>
        <p:spPr bwMode="auto">
          <a:xfrm>
            <a:off x="4463136" y="4034423"/>
            <a:ext cx="79240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Spindle</a:t>
            </a:r>
          </a:p>
        </p:txBody>
      </p:sp>
      <p:sp>
        <p:nvSpPr>
          <p:cNvPr id="96285" name="Line 29"/>
          <p:cNvSpPr>
            <a:spLocks noChangeShapeType="1"/>
          </p:cNvSpPr>
          <p:nvPr/>
        </p:nvSpPr>
        <p:spPr bwMode="auto">
          <a:xfrm flipH="1">
            <a:off x="5284788" y="2165350"/>
            <a:ext cx="390525" cy="84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500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735013" y="2090738"/>
            <a:ext cx="1727200" cy="1722437"/>
            <a:chOff x="525" y="1152"/>
            <a:chExt cx="1449" cy="1446"/>
          </a:xfrm>
        </p:grpSpPr>
        <p:sp>
          <p:nvSpPr>
            <p:cNvPr id="116740" name="Oval 4"/>
            <p:cNvSpPr>
              <a:spLocks noChangeAspect="1" noChangeArrowheads="1"/>
            </p:cNvSpPr>
            <p:nvPr/>
          </p:nvSpPr>
          <p:spPr bwMode="auto">
            <a:xfrm>
              <a:off x="528" y="1152"/>
              <a:ext cx="1440" cy="143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9399" name="Oval 5"/>
            <p:cNvSpPr>
              <a:spLocks noChangeAspect="1" noChangeArrowheads="1"/>
            </p:cNvSpPr>
            <p:nvPr/>
          </p:nvSpPr>
          <p:spPr bwMode="auto">
            <a:xfrm>
              <a:off x="687" y="1302"/>
              <a:ext cx="1152" cy="115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0" name="Oval 6"/>
            <p:cNvSpPr>
              <a:spLocks noChangeAspect="1" noChangeArrowheads="1"/>
            </p:cNvSpPr>
            <p:nvPr/>
          </p:nvSpPr>
          <p:spPr bwMode="auto">
            <a:xfrm>
              <a:off x="831" y="1446"/>
              <a:ext cx="864" cy="8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1" name="Oval 7"/>
            <p:cNvSpPr>
              <a:spLocks noChangeAspect="1" noChangeArrowheads="1"/>
            </p:cNvSpPr>
            <p:nvPr/>
          </p:nvSpPr>
          <p:spPr bwMode="auto">
            <a:xfrm>
              <a:off x="963" y="1605"/>
              <a:ext cx="576" cy="5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2" name="Line 8"/>
            <p:cNvSpPr>
              <a:spLocks noChangeAspect="1" noChangeShapeType="1"/>
            </p:cNvSpPr>
            <p:nvPr/>
          </p:nvSpPr>
          <p:spPr bwMode="auto">
            <a:xfrm>
              <a:off x="1248" y="115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3" name="Line 9"/>
            <p:cNvSpPr>
              <a:spLocks noChangeAspect="1" noChangeShapeType="1"/>
            </p:cNvSpPr>
            <p:nvPr/>
          </p:nvSpPr>
          <p:spPr bwMode="auto">
            <a:xfrm rot="1800000">
              <a:off x="1251" y="1155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4" name="Line 10"/>
            <p:cNvSpPr>
              <a:spLocks noChangeAspect="1" noChangeShapeType="1"/>
            </p:cNvSpPr>
            <p:nvPr/>
          </p:nvSpPr>
          <p:spPr bwMode="auto">
            <a:xfrm rot="3600000">
              <a:off x="1245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5" name="Line 11"/>
            <p:cNvSpPr>
              <a:spLocks noChangeAspect="1" noChangeShapeType="1"/>
            </p:cNvSpPr>
            <p:nvPr/>
          </p:nvSpPr>
          <p:spPr bwMode="auto">
            <a:xfrm rot="5400000">
              <a:off x="1245" y="114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6" name="Line 12"/>
            <p:cNvSpPr>
              <a:spLocks noChangeAspect="1" noChangeShapeType="1"/>
            </p:cNvSpPr>
            <p:nvPr/>
          </p:nvSpPr>
          <p:spPr bwMode="auto">
            <a:xfrm rot="7200000">
              <a:off x="1254" y="1131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7" name="Line 13"/>
            <p:cNvSpPr>
              <a:spLocks noChangeAspect="1" noChangeShapeType="1"/>
            </p:cNvSpPr>
            <p:nvPr/>
          </p:nvSpPr>
          <p:spPr bwMode="auto">
            <a:xfrm rot="9000000">
              <a:off x="1263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8" name="Oval 14"/>
            <p:cNvSpPr>
              <a:spLocks noChangeAspect="1" noChangeArrowheads="1"/>
            </p:cNvSpPr>
            <p:nvPr/>
          </p:nvSpPr>
          <p:spPr bwMode="auto">
            <a:xfrm>
              <a:off x="1107" y="1749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9396" name="AutoShape 15"/>
          <p:cNvSpPr>
            <a:spLocks noChangeAspect="1" noChangeArrowheads="1"/>
          </p:cNvSpPr>
          <p:nvPr/>
        </p:nvSpPr>
        <p:spPr bwMode="auto">
          <a:xfrm>
            <a:off x="1460500" y="1962150"/>
            <a:ext cx="290513" cy="555625"/>
          </a:xfrm>
          <a:prstGeom prst="downArrow">
            <a:avLst>
              <a:gd name="adj1" fmla="val 50000"/>
              <a:gd name="adj2" fmla="val 47814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397" name="Rectangle 16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Head in position above a track</a:t>
            </a:r>
          </a:p>
        </p:txBody>
      </p:sp>
    </p:spTree>
    <p:extLst>
      <p:ext uri="{BB962C8B-B14F-4D97-AF65-F5344CB8AC3E}">
        <p14:creationId xmlns:p14="http://schemas.microsoft.com/office/powerpoint/2010/main" val="701548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735013" y="2090738"/>
            <a:ext cx="1727200" cy="1722437"/>
            <a:chOff x="525" y="1152"/>
            <a:chExt cx="1449" cy="1446"/>
          </a:xfrm>
        </p:grpSpPr>
        <p:sp>
          <p:nvSpPr>
            <p:cNvPr id="118788" name="Oval 4"/>
            <p:cNvSpPr>
              <a:spLocks noChangeAspect="1" noChangeArrowheads="1"/>
            </p:cNvSpPr>
            <p:nvPr/>
          </p:nvSpPr>
          <p:spPr bwMode="auto">
            <a:xfrm>
              <a:off x="528" y="1152"/>
              <a:ext cx="1440" cy="143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448" name="Oval 5"/>
            <p:cNvSpPr>
              <a:spLocks noChangeAspect="1" noChangeArrowheads="1"/>
            </p:cNvSpPr>
            <p:nvPr/>
          </p:nvSpPr>
          <p:spPr bwMode="auto">
            <a:xfrm>
              <a:off x="687" y="1302"/>
              <a:ext cx="1152" cy="115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49" name="Oval 6"/>
            <p:cNvSpPr>
              <a:spLocks noChangeAspect="1" noChangeArrowheads="1"/>
            </p:cNvSpPr>
            <p:nvPr/>
          </p:nvSpPr>
          <p:spPr bwMode="auto">
            <a:xfrm>
              <a:off x="831" y="1446"/>
              <a:ext cx="864" cy="8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0" name="Oval 7"/>
            <p:cNvSpPr>
              <a:spLocks noChangeAspect="1" noChangeArrowheads="1"/>
            </p:cNvSpPr>
            <p:nvPr/>
          </p:nvSpPr>
          <p:spPr bwMode="auto">
            <a:xfrm>
              <a:off x="963" y="1605"/>
              <a:ext cx="576" cy="5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1" name="Line 8"/>
            <p:cNvSpPr>
              <a:spLocks noChangeAspect="1" noChangeShapeType="1"/>
            </p:cNvSpPr>
            <p:nvPr/>
          </p:nvSpPr>
          <p:spPr bwMode="auto">
            <a:xfrm>
              <a:off x="1248" y="115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2" name="Line 9"/>
            <p:cNvSpPr>
              <a:spLocks noChangeAspect="1" noChangeShapeType="1"/>
            </p:cNvSpPr>
            <p:nvPr/>
          </p:nvSpPr>
          <p:spPr bwMode="auto">
            <a:xfrm rot="1800000">
              <a:off x="1251" y="1155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3" name="Line 10"/>
            <p:cNvSpPr>
              <a:spLocks noChangeAspect="1" noChangeShapeType="1"/>
            </p:cNvSpPr>
            <p:nvPr/>
          </p:nvSpPr>
          <p:spPr bwMode="auto">
            <a:xfrm rot="3600000">
              <a:off x="1245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4" name="Line 11"/>
            <p:cNvSpPr>
              <a:spLocks noChangeAspect="1" noChangeShapeType="1"/>
            </p:cNvSpPr>
            <p:nvPr/>
          </p:nvSpPr>
          <p:spPr bwMode="auto">
            <a:xfrm rot="5400000">
              <a:off x="1245" y="114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5" name="Line 12"/>
            <p:cNvSpPr>
              <a:spLocks noChangeAspect="1" noChangeShapeType="1"/>
            </p:cNvSpPr>
            <p:nvPr/>
          </p:nvSpPr>
          <p:spPr bwMode="auto">
            <a:xfrm rot="7200000">
              <a:off x="1254" y="1131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6" name="Line 13"/>
            <p:cNvSpPr>
              <a:spLocks noChangeAspect="1" noChangeShapeType="1"/>
            </p:cNvSpPr>
            <p:nvPr/>
          </p:nvSpPr>
          <p:spPr bwMode="auto">
            <a:xfrm rot="9000000">
              <a:off x="1263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7" name="Oval 14"/>
            <p:cNvSpPr>
              <a:spLocks noChangeAspect="1" noChangeArrowheads="1"/>
            </p:cNvSpPr>
            <p:nvPr/>
          </p:nvSpPr>
          <p:spPr bwMode="auto">
            <a:xfrm>
              <a:off x="1107" y="1749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1444" name="AutoShape 15"/>
          <p:cNvSpPr>
            <a:spLocks noChangeAspect="1" noChangeArrowheads="1"/>
          </p:cNvSpPr>
          <p:nvPr/>
        </p:nvSpPr>
        <p:spPr bwMode="auto">
          <a:xfrm>
            <a:off x="1460500" y="1962150"/>
            <a:ext cx="290513" cy="555625"/>
          </a:xfrm>
          <a:prstGeom prst="downArrow">
            <a:avLst>
              <a:gd name="adj1" fmla="val 50000"/>
              <a:gd name="adj2" fmla="val 47814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445" name="AutoShape 16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446" name="Rectangle 17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Rotation is counter-clockwise</a:t>
            </a:r>
          </a:p>
        </p:txBody>
      </p:sp>
    </p:spTree>
    <p:extLst>
      <p:ext uri="{BB962C8B-B14F-4D97-AF65-F5344CB8AC3E}">
        <p14:creationId xmlns:p14="http://schemas.microsoft.com/office/powerpoint/2010/main" val="2380136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Read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35013" y="1962150"/>
            <a:ext cx="1727200" cy="1851025"/>
            <a:chOff x="463" y="1236"/>
            <a:chExt cx="1088" cy="116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63" y="1317"/>
              <a:ext cx="1088" cy="1085"/>
              <a:chOff x="463" y="1317"/>
              <a:chExt cx="1088" cy="1085"/>
            </a:xfrm>
          </p:grpSpPr>
          <p:grpSp>
            <p:nvGrpSpPr>
              <p:cNvPr id="4" name="Group 5"/>
              <p:cNvGrpSpPr>
                <a:grpSpLocks noChangeAspect="1"/>
              </p:cNvGrpSpPr>
              <p:nvPr/>
            </p:nvGrpSpPr>
            <p:grpSpPr bwMode="auto">
              <a:xfrm>
                <a:off x="463" y="1317"/>
                <a:ext cx="1088" cy="1085"/>
                <a:chOff x="525" y="1152"/>
                <a:chExt cx="1449" cy="1446"/>
              </a:xfrm>
            </p:grpSpPr>
            <p:sp>
              <p:nvSpPr>
                <p:cNvPr id="120838" name="Oval 6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3499" name="Oval 7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0" name="Oval 8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1" name="Oval 9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2" name="Line 10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3" name="Line 11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4" name="Line 12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5" name="Line 13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6" name="Line 14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7" name="Line 15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08" name="Oval 16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3497" name="Freeform 17"/>
              <p:cNvSpPr>
                <a:spLocks noChangeAspect="1"/>
              </p:cNvSpPr>
              <p:nvPr/>
            </p:nvSpPr>
            <p:spPr bwMode="auto">
              <a:xfrm rot="1766421">
                <a:off x="982" y="1526"/>
                <a:ext cx="161" cy="153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3495" name="AutoShape 18"/>
            <p:cNvSpPr>
              <a:spLocks noChangeAspect="1" noChangeArrowheads="1"/>
            </p:cNvSpPr>
            <p:nvPr/>
          </p:nvSpPr>
          <p:spPr bwMode="auto">
            <a:xfrm>
              <a:off x="920" y="1236"/>
              <a:ext cx="183" cy="350"/>
            </a:xfrm>
            <a:prstGeom prst="downArrow">
              <a:avLst>
                <a:gd name="adj1" fmla="val 50000"/>
                <a:gd name="adj2" fmla="val 47814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3492" name="AutoShape 19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493" name="Rectangle 20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About to read blue sector</a:t>
            </a:r>
          </a:p>
        </p:txBody>
      </p:sp>
    </p:spTree>
    <p:extLst>
      <p:ext uri="{BB962C8B-B14F-4D97-AF65-F5344CB8AC3E}">
        <p14:creationId xmlns:p14="http://schemas.microsoft.com/office/powerpoint/2010/main" val="32609517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Read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735013" y="2090738"/>
            <a:ext cx="1727200" cy="1722437"/>
            <a:chOff x="525" y="1152"/>
            <a:chExt cx="1449" cy="1446"/>
          </a:xfrm>
        </p:grpSpPr>
        <p:sp>
          <p:nvSpPr>
            <p:cNvPr id="122885" name="Oval 5"/>
            <p:cNvSpPr>
              <a:spLocks noChangeAspect="1" noChangeArrowheads="1"/>
            </p:cNvSpPr>
            <p:nvPr/>
          </p:nvSpPr>
          <p:spPr bwMode="auto">
            <a:xfrm>
              <a:off x="528" y="1152"/>
              <a:ext cx="1440" cy="143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5546" name="Oval 6"/>
            <p:cNvSpPr>
              <a:spLocks noChangeAspect="1" noChangeArrowheads="1"/>
            </p:cNvSpPr>
            <p:nvPr/>
          </p:nvSpPr>
          <p:spPr bwMode="auto">
            <a:xfrm>
              <a:off x="687" y="1302"/>
              <a:ext cx="1152" cy="115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7" name="Oval 7"/>
            <p:cNvSpPr>
              <a:spLocks noChangeAspect="1" noChangeArrowheads="1"/>
            </p:cNvSpPr>
            <p:nvPr/>
          </p:nvSpPr>
          <p:spPr bwMode="auto">
            <a:xfrm>
              <a:off x="831" y="1446"/>
              <a:ext cx="864" cy="8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8" name="Oval 8"/>
            <p:cNvSpPr>
              <a:spLocks noChangeAspect="1" noChangeArrowheads="1"/>
            </p:cNvSpPr>
            <p:nvPr/>
          </p:nvSpPr>
          <p:spPr bwMode="auto">
            <a:xfrm>
              <a:off x="963" y="1605"/>
              <a:ext cx="576" cy="5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9" name="Line 9"/>
            <p:cNvSpPr>
              <a:spLocks noChangeAspect="1" noChangeShapeType="1"/>
            </p:cNvSpPr>
            <p:nvPr/>
          </p:nvSpPr>
          <p:spPr bwMode="auto">
            <a:xfrm>
              <a:off x="1248" y="115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0" name="Line 10"/>
            <p:cNvSpPr>
              <a:spLocks noChangeAspect="1" noChangeShapeType="1"/>
            </p:cNvSpPr>
            <p:nvPr/>
          </p:nvSpPr>
          <p:spPr bwMode="auto">
            <a:xfrm rot="1800000">
              <a:off x="1251" y="1155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1" name="Line 11"/>
            <p:cNvSpPr>
              <a:spLocks noChangeAspect="1" noChangeShapeType="1"/>
            </p:cNvSpPr>
            <p:nvPr/>
          </p:nvSpPr>
          <p:spPr bwMode="auto">
            <a:xfrm rot="3600000">
              <a:off x="1245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2" name="Line 12"/>
            <p:cNvSpPr>
              <a:spLocks noChangeAspect="1" noChangeShapeType="1"/>
            </p:cNvSpPr>
            <p:nvPr/>
          </p:nvSpPr>
          <p:spPr bwMode="auto">
            <a:xfrm rot="5400000">
              <a:off x="1245" y="114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3" name="Line 13"/>
            <p:cNvSpPr>
              <a:spLocks noChangeAspect="1" noChangeShapeType="1"/>
            </p:cNvSpPr>
            <p:nvPr/>
          </p:nvSpPr>
          <p:spPr bwMode="auto">
            <a:xfrm rot="7200000">
              <a:off x="1254" y="1131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4" name="Line 14"/>
            <p:cNvSpPr>
              <a:spLocks noChangeAspect="1" noChangeShapeType="1"/>
            </p:cNvSpPr>
            <p:nvPr/>
          </p:nvSpPr>
          <p:spPr bwMode="auto">
            <a:xfrm rot="9000000">
              <a:off x="1263" y="11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5" name="Oval 15"/>
            <p:cNvSpPr>
              <a:spLocks noChangeAspect="1" noChangeArrowheads="1"/>
            </p:cNvSpPr>
            <p:nvPr/>
          </p:nvSpPr>
          <p:spPr bwMode="auto">
            <a:xfrm>
              <a:off x="1107" y="1749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5541" name="Freeform 16"/>
          <p:cNvSpPr>
            <a:spLocks noChangeAspect="1"/>
          </p:cNvSpPr>
          <p:nvPr/>
        </p:nvSpPr>
        <p:spPr bwMode="auto">
          <a:xfrm>
            <a:off x="1358900" y="2438400"/>
            <a:ext cx="242888" cy="230188"/>
          </a:xfrm>
          <a:custGeom>
            <a:avLst/>
            <a:gdLst>
              <a:gd name="T0" fmla="*/ 62 w 164"/>
              <a:gd name="T1" fmla="*/ 155 h 155"/>
              <a:gd name="T2" fmla="*/ 0 w 164"/>
              <a:gd name="T3" fmla="*/ 48 h 155"/>
              <a:gd name="T4" fmla="*/ 21 w 164"/>
              <a:gd name="T5" fmla="*/ 38 h 155"/>
              <a:gd name="T6" fmla="*/ 45 w 164"/>
              <a:gd name="T7" fmla="*/ 26 h 155"/>
              <a:gd name="T8" fmla="*/ 62 w 164"/>
              <a:gd name="T9" fmla="*/ 21 h 155"/>
              <a:gd name="T10" fmla="*/ 80 w 164"/>
              <a:gd name="T11" fmla="*/ 14 h 155"/>
              <a:gd name="T12" fmla="*/ 102 w 164"/>
              <a:gd name="T13" fmla="*/ 9 h 155"/>
              <a:gd name="T14" fmla="*/ 122 w 164"/>
              <a:gd name="T15" fmla="*/ 5 h 155"/>
              <a:gd name="T16" fmla="*/ 152 w 164"/>
              <a:gd name="T17" fmla="*/ 2 h 155"/>
              <a:gd name="T18" fmla="*/ 164 w 164"/>
              <a:gd name="T19" fmla="*/ 0 h 155"/>
              <a:gd name="T20" fmla="*/ 164 w 164"/>
              <a:gd name="T21" fmla="*/ 129 h 155"/>
              <a:gd name="T22" fmla="*/ 149 w 164"/>
              <a:gd name="T23" fmla="*/ 131 h 155"/>
              <a:gd name="T24" fmla="*/ 137 w 164"/>
              <a:gd name="T25" fmla="*/ 131 h 155"/>
              <a:gd name="T26" fmla="*/ 126 w 164"/>
              <a:gd name="T27" fmla="*/ 132 h 155"/>
              <a:gd name="T28" fmla="*/ 107 w 164"/>
              <a:gd name="T29" fmla="*/ 138 h 155"/>
              <a:gd name="T30" fmla="*/ 89 w 164"/>
              <a:gd name="T31" fmla="*/ 143 h 155"/>
              <a:gd name="T32" fmla="*/ 71 w 164"/>
              <a:gd name="T33" fmla="*/ 150 h 155"/>
              <a:gd name="T34" fmla="*/ 62 w 164"/>
              <a:gd name="T35" fmla="*/ 155 h 15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64"/>
              <a:gd name="T55" fmla="*/ 0 h 155"/>
              <a:gd name="T56" fmla="*/ 164 w 164"/>
              <a:gd name="T57" fmla="*/ 155 h 15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64" h="155">
                <a:moveTo>
                  <a:pt x="62" y="155"/>
                </a:moveTo>
                <a:lnTo>
                  <a:pt x="0" y="48"/>
                </a:lnTo>
                <a:lnTo>
                  <a:pt x="21" y="38"/>
                </a:lnTo>
                <a:lnTo>
                  <a:pt x="45" y="26"/>
                </a:lnTo>
                <a:lnTo>
                  <a:pt x="62" y="21"/>
                </a:lnTo>
                <a:lnTo>
                  <a:pt x="80" y="14"/>
                </a:lnTo>
                <a:lnTo>
                  <a:pt x="102" y="9"/>
                </a:lnTo>
                <a:lnTo>
                  <a:pt x="122" y="5"/>
                </a:lnTo>
                <a:lnTo>
                  <a:pt x="152" y="2"/>
                </a:lnTo>
                <a:lnTo>
                  <a:pt x="164" y="0"/>
                </a:lnTo>
                <a:lnTo>
                  <a:pt x="164" y="129"/>
                </a:lnTo>
                <a:lnTo>
                  <a:pt x="149" y="131"/>
                </a:lnTo>
                <a:lnTo>
                  <a:pt x="137" y="131"/>
                </a:lnTo>
                <a:lnTo>
                  <a:pt x="126" y="132"/>
                </a:lnTo>
                <a:lnTo>
                  <a:pt x="107" y="138"/>
                </a:lnTo>
                <a:lnTo>
                  <a:pt x="89" y="143"/>
                </a:lnTo>
                <a:lnTo>
                  <a:pt x="71" y="150"/>
                </a:lnTo>
                <a:lnTo>
                  <a:pt x="62" y="155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2" name="AutoShape 17"/>
          <p:cNvSpPr>
            <a:spLocks noChangeAspect="1" noChangeArrowheads="1"/>
          </p:cNvSpPr>
          <p:nvPr/>
        </p:nvSpPr>
        <p:spPr bwMode="auto">
          <a:xfrm>
            <a:off x="1460500" y="1962150"/>
            <a:ext cx="290513" cy="555625"/>
          </a:xfrm>
          <a:prstGeom prst="downArrow">
            <a:avLst>
              <a:gd name="adj1" fmla="val 50000"/>
              <a:gd name="adj2" fmla="val 47814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3" name="AutoShape 18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544" name="Rectangle 19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After reading blue sector</a:t>
            </a:r>
          </a:p>
        </p:txBody>
      </p:sp>
    </p:spTree>
    <p:extLst>
      <p:ext uri="{BB962C8B-B14F-4D97-AF65-F5344CB8AC3E}">
        <p14:creationId xmlns:p14="http://schemas.microsoft.com/office/powerpoint/2010/main" val="826446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Read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735013" y="1962150"/>
            <a:ext cx="1727200" cy="1855788"/>
            <a:chOff x="444" y="1113"/>
            <a:chExt cx="1163" cy="1251"/>
          </a:xfrm>
        </p:grpSpPr>
        <p:grpSp>
          <p:nvGrpSpPr>
            <p:cNvPr id="3" name="Group 5"/>
            <p:cNvGrpSpPr>
              <a:grpSpLocks noChangeAspect="1"/>
            </p:cNvGrpSpPr>
            <p:nvPr/>
          </p:nvGrpSpPr>
          <p:grpSpPr bwMode="auto">
            <a:xfrm>
              <a:off x="444" y="1200"/>
              <a:ext cx="1163" cy="1164"/>
              <a:chOff x="444" y="1200"/>
              <a:chExt cx="1163" cy="1164"/>
            </a:xfrm>
          </p:grpSpPr>
          <p:grpSp>
            <p:nvGrpSpPr>
              <p:cNvPr id="4" name="Group 6"/>
              <p:cNvGrpSpPr>
                <a:grpSpLocks noChangeAspect="1"/>
              </p:cNvGrpSpPr>
              <p:nvPr/>
            </p:nvGrpSpPr>
            <p:grpSpPr bwMode="auto">
              <a:xfrm>
                <a:off x="444" y="1200"/>
                <a:ext cx="1163" cy="1161"/>
                <a:chOff x="525" y="1152"/>
                <a:chExt cx="1449" cy="1446"/>
              </a:xfrm>
            </p:grpSpPr>
            <p:sp>
              <p:nvSpPr>
                <p:cNvPr id="124935" name="Oval 7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7597" name="Oval 8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598" name="Oval 9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599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0" name="Line 11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1" name="Line 12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2" name="Line 13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3" name="Line 14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4" name="Line 15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5" name="Line 16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06" name="Oval 17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7594" name="Freeform 18"/>
              <p:cNvSpPr>
                <a:spLocks noChangeAspect="1"/>
              </p:cNvSpPr>
              <p:nvPr/>
            </p:nvSpPr>
            <p:spPr bwMode="auto">
              <a:xfrm>
                <a:off x="864" y="1434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595" name="Freeform 19"/>
              <p:cNvSpPr>
                <a:spLocks noChangeAspect="1"/>
              </p:cNvSpPr>
              <p:nvPr/>
            </p:nvSpPr>
            <p:spPr bwMode="auto">
              <a:xfrm rot="-1800000">
                <a:off x="1005" y="2187"/>
                <a:ext cx="287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7592" name="AutoShape 20"/>
            <p:cNvSpPr>
              <a:spLocks noChangeAspect="1" noChangeArrowheads="1"/>
            </p:cNvSpPr>
            <p:nvPr/>
          </p:nvSpPr>
          <p:spPr bwMode="auto">
            <a:xfrm>
              <a:off x="933" y="1113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7589" name="AutoShape 21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590" name="Rectangle 22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Red request scheduled next</a:t>
            </a:r>
          </a:p>
        </p:txBody>
      </p:sp>
    </p:spTree>
    <p:extLst>
      <p:ext uri="{BB962C8B-B14F-4D97-AF65-F5344CB8AC3E}">
        <p14:creationId xmlns:p14="http://schemas.microsoft.com/office/powerpoint/2010/main" val="4274137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Seek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2743200" y="394652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Seek for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endParaRPr lang="en-US" sz="2000">
              <a:solidFill>
                <a:schemeClr val="tx1"/>
              </a:solidFill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 bwMode="auto">
          <a:xfrm>
            <a:off x="735013" y="1962150"/>
            <a:ext cx="1727200" cy="1855788"/>
            <a:chOff x="444" y="1113"/>
            <a:chExt cx="1163" cy="1251"/>
          </a:xfrm>
        </p:grpSpPr>
        <p:grpSp>
          <p:nvGrpSpPr>
            <p:cNvPr id="3" name="Group 6"/>
            <p:cNvGrpSpPr>
              <a:grpSpLocks noChangeAspect="1"/>
            </p:cNvGrpSpPr>
            <p:nvPr/>
          </p:nvGrpSpPr>
          <p:grpSpPr bwMode="auto">
            <a:xfrm>
              <a:off x="444" y="1200"/>
              <a:ext cx="1163" cy="1164"/>
              <a:chOff x="444" y="1200"/>
              <a:chExt cx="1163" cy="1164"/>
            </a:xfrm>
          </p:grpSpPr>
          <p:grpSp>
            <p:nvGrpSpPr>
              <p:cNvPr id="4" name="Group 7"/>
              <p:cNvGrpSpPr>
                <a:grpSpLocks noChangeAspect="1"/>
              </p:cNvGrpSpPr>
              <p:nvPr/>
            </p:nvGrpSpPr>
            <p:grpSpPr bwMode="auto">
              <a:xfrm>
                <a:off x="444" y="1200"/>
                <a:ext cx="1163" cy="1161"/>
                <a:chOff x="525" y="1152"/>
                <a:chExt cx="1449" cy="1446"/>
              </a:xfrm>
            </p:grpSpPr>
            <p:sp>
              <p:nvSpPr>
                <p:cNvPr id="126984" name="Oval 8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9663" name="Oval 9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4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5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6" name="Line 12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7" name="Line 13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8" name="Line 14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69" name="Line 15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70" name="Line 16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71" name="Line 17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72" name="Oval 18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9660" name="Freeform 19"/>
              <p:cNvSpPr>
                <a:spLocks noChangeAspect="1"/>
              </p:cNvSpPr>
              <p:nvPr/>
            </p:nvSpPr>
            <p:spPr bwMode="auto">
              <a:xfrm>
                <a:off x="864" y="1434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61" name="Freeform 20"/>
              <p:cNvSpPr>
                <a:spLocks noChangeAspect="1"/>
              </p:cNvSpPr>
              <p:nvPr/>
            </p:nvSpPr>
            <p:spPr bwMode="auto">
              <a:xfrm rot="-1800000">
                <a:off x="1005" y="2187"/>
                <a:ext cx="287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9658" name="AutoShape 21"/>
            <p:cNvSpPr>
              <a:spLocks noChangeAspect="1" noChangeArrowheads="1"/>
            </p:cNvSpPr>
            <p:nvPr/>
          </p:nvSpPr>
          <p:spPr bwMode="auto">
            <a:xfrm>
              <a:off x="933" y="1113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22"/>
          <p:cNvGrpSpPr>
            <a:grpSpLocks noChangeAspect="1"/>
          </p:cNvGrpSpPr>
          <p:nvPr/>
        </p:nvGrpSpPr>
        <p:grpSpPr bwMode="auto">
          <a:xfrm>
            <a:off x="2784475" y="1600200"/>
            <a:ext cx="1727200" cy="2217738"/>
            <a:chOff x="1716" y="864"/>
            <a:chExt cx="1163" cy="1494"/>
          </a:xfrm>
        </p:grpSpPr>
        <p:grpSp>
          <p:nvGrpSpPr>
            <p:cNvPr id="6" name="Group 23"/>
            <p:cNvGrpSpPr>
              <a:grpSpLocks noChangeAspect="1"/>
            </p:cNvGrpSpPr>
            <p:nvPr/>
          </p:nvGrpSpPr>
          <p:grpSpPr bwMode="auto">
            <a:xfrm>
              <a:off x="1716" y="1197"/>
              <a:ext cx="1163" cy="1161"/>
              <a:chOff x="1716" y="1197"/>
              <a:chExt cx="1163" cy="1161"/>
            </a:xfrm>
          </p:grpSpPr>
          <p:grpSp>
            <p:nvGrpSpPr>
              <p:cNvPr id="7" name="Group 24"/>
              <p:cNvGrpSpPr>
                <a:grpSpLocks noChangeAspect="1"/>
              </p:cNvGrpSpPr>
              <p:nvPr/>
            </p:nvGrpSpPr>
            <p:grpSpPr bwMode="auto">
              <a:xfrm>
                <a:off x="1716" y="1197"/>
                <a:ext cx="1163" cy="1161"/>
                <a:chOff x="525" y="1152"/>
                <a:chExt cx="1449" cy="1446"/>
              </a:xfrm>
            </p:grpSpPr>
            <p:sp>
              <p:nvSpPr>
                <p:cNvPr id="127001" name="Oval 25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1"/>
                  <a:ext cx="1440" cy="14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9647" name="Oval 26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48" name="Oval 27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49" name="Oval 28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0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1" name="Line 30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2" name="Line 31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3" name="Line 32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4" name="Line 33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5" name="Line 34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56" name="Oval 35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9644" name="Freeform 36"/>
              <p:cNvSpPr>
                <a:spLocks noChangeAspect="1"/>
              </p:cNvSpPr>
              <p:nvPr/>
            </p:nvSpPr>
            <p:spPr bwMode="auto">
              <a:xfrm rot="-3600000">
                <a:off x="2512" y="2050"/>
                <a:ext cx="296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45" name="Freeform 37"/>
              <p:cNvSpPr>
                <a:spLocks noChangeAspect="1"/>
              </p:cNvSpPr>
              <p:nvPr/>
            </p:nvSpPr>
            <p:spPr bwMode="auto">
              <a:xfrm rot="-1800000">
                <a:off x="2016" y="1506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9642" name="AutoShape 38"/>
            <p:cNvSpPr>
              <a:spLocks noChangeAspect="1" noChangeArrowheads="1"/>
            </p:cNvSpPr>
            <p:nvPr/>
          </p:nvSpPr>
          <p:spPr bwMode="auto">
            <a:xfrm>
              <a:off x="220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9639" name="AutoShape 39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0" name="Rectangle 40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Seek to red’s track</a:t>
            </a:r>
          </a:p>
        </p:txBody>
      </p:sp>
    </p:spTree>
    <p:extLst>
      <p:ext uri="{BB962C8B-B14F-4D97-AF65-F5344CB8AC3E}">
        <p14:creationId xmlns:p14="http://schemas.microsoft.com/office/powerpoint/2010/main" val="16907616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Rotational Latency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2743200" y="394652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Seek for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4495800" y="3946525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Rotational latency</a:t>
            </a: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735013" y="1962150"/>
            <a:ext cx="1727200" cy="1855788"/>
            <a:chOff x="444" y="1113"/>
            <a:chExt cx="1163" cy="1251"/>
          </a:xfrm>
        </p:grpSpPr>
        <p:grpSp>
          <p:nvGrpSpPr>
            <p:cNvPr id="3" name="Group 7"/>
            <p:cNvGrpSpPr>
              <a:grpSpLocks noChangeAspect="1"/>
            </p:cNvGrpSpPr>
            <p:nvPr/>
          </p:nvGrpSpPr>
          <p:grpSpPr bwMode="auto">
            <a:xfrm>
              <a:off x="444" y="1200"/>
              <a:ext cx="1163" cy="1164"/>
              <a:chOff x="444" y="1200"/>
              <a:chExt cx="1163" cy="1164"/>
            </a:xfrm>
          </p:grpSpPr>
          <p:grpSp>
            <p:nvGrpSpPr>
              <p:cNvPr id="4" name="Group 8"/>
              <p:cNvGrpSpPr>
                <a:grpSpLocks noChangeAspect="1"/>
              </p:cNvGrpSpPr>
              <p:nvPr/>
            </p:nvGrpSpPr>
            <p:grpSpPr bwMode="auto">
              <a:xfrm>
                <a:off x="444" y="1200"/>
                <a:ext cx="1163" cy="1161"/>
                <a:chOff x="525" y="1152"/>
                <a:chExt cx="1449" cy="1446"/>
              </a:xfrm>
            </p:grpSpPr>
            <p:sp>
              <p:nvSpPr>
                <p:cNvPr id="129033" name="Oval 9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1730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1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2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3" name="Line 13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4" name="Line 14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5" name="Line 15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6" name="Line 16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7" name="Line 17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8" name="Line 18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39" name="Oval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1727" name="Freeform 20"/>
              <p:cNvSpPr>
                <a:spLocks noChangeAspect="1"/>
              </p:cNvSpPr>
              <p:nvPr/>
            </p:nvSpPr>
            <p:spPr bwMode="auto">
              <a:xfrm>
                <a:off x="864" y="1434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728" name="Freeform 21"/>
              <p:cNvSpPr>
                <a:spLocks noChangeAspect="1"/>
              </p:cNvSpPr>
              <p:nvPr/>
            </p:nvSpPr>
            <p:spPr bwMode="auto">
              <a:xfrm rot="-1800000">
                <a:off x="1005" y="2187"/>
                <a:ext cx="287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1725" name="AutoShape 22"/>
            <p:cNvSpPr>
              <a:spLocks noChangeAspect="1" noChangeArrowheads="1"/>
            </p:cNvSpPr>
            <p:nvPr/>
          </p:nvSpPr>
          <p:spPr bwMode="auto">
            <a:xfrm>
              <a:off x="933" y="1113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23"/>
          <p:cNvGrpSpPr>
            <a:grpSpLocks noChangeAspect="1"/>
          </p:cNvGrpSpPr>
          <p:nvPr/>
        </p:nvGrpSpPr>
        <p:grpSpPr bwMode="auto">
          <a:xfrm>
            <a:off x="2784475" y="1600200"/>
            <a:ext cx="1727200" cy="2217738"/>
            <a:chOff x="1716" y="864"/>
            <a:chExt cx="1163" cy="1494"/>
          </a:xfrm>
        </p:grpSpPr>
        <p:grpSp>
          <p:nvGrpSpPr>
            <p:cNvPr id="6" name="Group 24"/>
            <p:cNvGrpSpPr>
              <a:grpSpLocks noChangeAspect="1"/>
            </p:cNvGrpSpPr>
            <p:nvPr/>
          </p:nvGrpSpPr>
          <p:grpSpPr bwMode="auto">
            <a:xfrm>
              <a:off x="1716" y="1197"/>
              <a:ext cx="1163" cy="1161"/>
              <a:chOff x="1716" y="1197"/>
              <a:chExt cx="1163" cy="1161"/>
            </a:xfrm>
          </p:grpSpPr>
          <p:grpSp>
            <p:nvGrpSpPr>
              <p:cNvPr id="7" name="Group 25"/>
              <p:cNvGrpSpPr>
                <a:grpSpLocks noChangeAspect="1"/>
              </p:cNvGrpSpPr>
              <p:nvPr/>
            </p:nvGrpSpPr>
            <p:grpSpPr bwMode="auto">
              <a:xfrm>
                <a:off x="1716" y="1197"/>
                <a:ext cx="1163" cy="1161"/>
                <a:chOff x="525" y="1152"/>
                <a:chExt cx="1449" cy="1446"/>
              </a:xfrm>
            </p:grpSpPr>
            <p:sp>
              <p:nvSpPr>
                <p:cNvPr id="129050" name="Oval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1"/>
                  <a:ext cx="1440" cy="14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1714" name="Oval 27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15" name="Oval 28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16" name="Oval 29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17" name="Line 30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18" name="Line 31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19" name="Line 32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20" name="Line 33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21" name="Line 34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22" name="Line 35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23" name="Oval 36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1711" name="Freeform 37"/>
              <p:cNvSpPr>
                <a:spLocks noChangeAspect="1"/>
              </p:cNvSpPr>
              <p:nvPr/>
            </p:nvSpPr>
            <p:spPr bwMode="auto">
              <a:xfrm rot="-3600000">
                <a:off x="2512" y="2050"/>
                <a:ext cx="296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712" name="Freeform 38"/>
              <p:cNvSpPr>
                <a:spLocks noChangeAspect="1"/>
              </p:cNvSpPr>
              <p:nvPr/>
            </p:nvSpPr>
            <p:spPr bwMode="auto">
              <a:xfrm rot="-1800000">
                <a:off x="2016" y="1506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1709" name="AutoShape 39"/>
            <p:cNvSpPr>
              <a:spLocks noChangeAspect="1" noChangeArrowheads="1"/>
            </p:cNvSpPr>
            <p:nvPr/>
          </p:nvSpPr>
          <p:spPr bwMode="auto">
            <a:xfrm>
              <a:off x="220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40"/>
          <p:cNvGrpSpPr>
            <a:grpSpLocks noChangeAspect="1"/>
          </p:cNvGrpSpPr>
          <p:nvPr/>
        </p:nvGrpSpPr>
        <p:grpSpPr bwMode="auto">
          <a:xfrm>
            <a:off x="4833938" y="1625600"/>
            <a:ext cx="1727200" cy="2192338"/>
            <a:chOff x="3003" y="864"/>
            <a:chExt cx="1163" cy="1476"/>
          </a:xfrm>
        </p:grpSpPr>
        <p:grpSp>
          <p:nvGrpSpPr>
            <p:cNvPr id="9" name="Group 41"/>
            <p:cNvGrpSpPr>
              <a:grpSpLocks noChangeAspect="1"/>
            </p:cNvGrpSpPr>
            <p:nvPr/>
          </p:nvGrpSpPr>
          <p:grpSpPr bwMode="auto">
            <a:xfrm>
              <a:off x="3003" y="1176"/>
              <a:ext cx="1163" cy="1164"/>
              <a:chOff x="3003" y="1176"/>
              <a:chExt cx="1163" cy="1164"/>
            </a:xfrm>
          </p:grpSpPr>
          <p:grpSp>
            <p:nvGrpSpPr>
              <p:cNvPr id="10" name="Group 42"/>
              <p:cNvGrpSpPr>
                <a:grpSpLocks noChangeAspect="1"/>
              </p:cNvGrpSpPr>
              <p:nvPr/>
            </p:nvGrpSpPr>
            <p:grpSpPr bwMode="auto">
              <a:xfrm>
                <a:off x="3003" y="1179"/>
                <a:ext cx="1163" cy="1161"/>
                <a:chOff x="525" y="1152"/>
                <a:chExt cx="1449" cy="1446"/>
              </a:xfrm>
            </p:grpSpPr>
            <p:sp>
              <p:nvSpPr>
                <p:cNvPr id="129067" name="Oval 43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1698" name="Oval 44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699" name="Oval 45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0" name="Oval 46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1" name="Line 47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2" name="Line 48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3" name="Line 49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4" name="Line 50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5" name="Line 51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6" name="Line 52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07" name="Oval 53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1694" name="Freeform 54"/>
              <p:cNvSpPr>
                <a:spLocks noChangeAspect="1"/>
              </p:cNvSpPr>
              <p:nvPr/>
            </p:nvSpPr>
            <p:spPr bwMode="auto">
              <a:xfrm rot="10800000">
                <a:off x="3582" y="1182"/>
                <a:ext cx="293" cy="189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695" name="Freeform 55"/>
              <p:cNvSpPr>
                <a:spLocks noChangeAspect="1"/>
              </p:cNvSpPr>
              <p:nvPr/>
            </p:nvSpPr>
            <p:spPr bwMode="auto">
              <a:xfrm>
                <a:off x="3414" y="1970"/>
                <a:ext cx="170" cy="139"/>
              </a:xfrm>
              <a:custGeom>
                <a:avLst/>
                <a:gdLst>
                  <a:gd name="T0" fmla="*/ 0 w 170"/>
                  <a:gd name="T1" fmla="*/ 85 h 139"/>
                  <a:gd name="T2" fmla="*/ 50 w 170"/>
                  <a:gd name="T3" fmla="*/ 0 h 139"/>
                  <a:gd name="T4" fmla="*/ 75 w 170"/>
                  <a:gd name="T5" fmla="*/ 15 h 139"/>
                  <a:gd name="T6" fmla="*/ 102 w 170"/>
                  <a:gd name="T7" fmla="*/ 24 h 139"/>
                  <a:gd name="T8" fmla="*/ 128 w 170"/>
                  <a:gd name="T9" fmla="*/ 31 h 139"/>
                  <a:gd name="T10" fmla="*/ 170 w 170"/>
                  <a:gd name="T11" fmla="*/ 36 h 139"/>
                  <a:gd name="T12" fmla="*/ 170 w 170"/>
                  <a:gd name="T13" fmla="*/ 139 h 139"/>
                  <a:gd name="T14" fmla="*/ 141 w 170"/>
                  <a:gd name="T15" fmla="*/ 136 h 139"/>
                  <a:gd name="T16" fmla="*/ 105 w 170"/>
                  <a:gd name="T17" fmla="*/ 130 h 139"/>
                  <a:gd name="T18" fmla="*/ 74 w 170"/>
                  <a:gd name="T19" fmla="*/ 121 h 139"/>
                  <a:gd name="T20" fmla="*/ 38 w 170"/>
                  <a:gd name="T21" fmla="*/ 108 h 139"/>
                  <a:gd name="T22" fmla="*/ 23 w 170"/>
                  <a:gd name="T23" fmla="*/ 102 h 139"/>
                  <a:gd name="T24" fmla="*/ 0 w 170"/>
                  <a:gd name="T25" fmla="*/ 85 h 1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0"/>
                  <a:gd name="T40" fmla="*/ 0 h 139"/>
                  <a:gd name="T41" fmla="*/ 170 w 170"/>
                  <a:gd name="T42" fmla="*/ 139 h 1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0" h="139">
                    <a:moveTo>
                      <a:pt x="0" y="85"/>
                    </a:moveTo>
                    <a:lnTo>
                      <a:pt x="50" y="0"/>
                    </a:lnTo>
                    <a:lnTo>
                      <a:pt x="75" y="15"/>
                    </a:lnTo>
                    <a:lnTo>
                      <a:pt x="102" y="24"/>
                    </a:lnTo>
                    <a:lnTo>
                      <a:pt x="128" y="31"/>
                    </a:lnTo>
                    <a:lnTo>
                      <a:pt x="170" y="36"/>
                    </a:lnTo>
                    <a:lnTo>
                      <a:pt x="170" y="139"/>
                    </a:lnTo>
                    <a:lnTo>
                      <a:pt x="141" y="136"/>
                    </a:lnTo>
                    <a:lnTo>
                      <a:pt x="105" y="130"/>
                    </a:lnTo>
                    <a:lnTo>
                      <a:pt x="74" y="121"/>
                    </a:lnTo>
                    <a:lnTo>
                      <a:pt x="38" y="108"/>
                    </a:lnTo>
                    <a:lnTo>
                      <a:pt x="23" y="102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696" name="Freeform 56"/>
              <p:cNvSpPr>
                <a:spLocks noChangeAspect="1"/>
              </p:cNvSpPr>
              <p:nvPr/>
            </p:nvSpPr>
            <p:spPr bwMode="auto">
              <a:xfrm>
                <a:off x="3003" y="1176"/>
                <a:ext cx="579" cy="873"/>
              </a:xfrm>
              <a:custGeom>
                <a:avLst/>
                <a:gdLst>
                  <a:gd name="T0" fmla="*/ 80 w 579"/>
                  <a:gd name="T1" fmla="*/ 873 h 873"/>
                  <a:gd name="T2" fmla="*/ 188 w 579"/>
                  <a:gd name="T3" fmla="*/ 810 h 873"/>
                  <a:gd name="T4" fmla="*/ 182 w 579"/>
                  <a:gd name="T5" fmla="*/ 800 h 873"/>
                  <a:gd name="T6" fmla="*/ 167 w 579"/>
                  <a:gd name="T7" fmla="*/ 770 h 873"/>
                  <a:gd name="T8" fmla="*/ 156 w 579"/>
                  <a:gd name="T9" fmla="*/ 741 h 873"/>
                  <a:gd name="T10" fmla="*/ 147 w 579"/>
                  <a:gd name="T11" fmla="*/ 711 h 873"/>
                  <a:gd name="T12" fmla="*/ 140 w 579"/>
                  <a:gd name="T13" fmla="*/ 687 h 873"/>
                  <a:gd name="T14" fmla="*/ 135 w 579"/>
                  <a:gd name="T15" fmla="*/ 654 h 873"/>
                  <a:gd name="T16" fmla="*/ 131 w 579"/>
                  <a:gd name="T17" fmla="*/ 614 h 873"/>
                  <a:gd name="T18" fmla="*/ 129 w 579"/>
                  <a:gd name="T19" fmla="*/ 564 h 873"/>
                  <a:gd name="T20" fmla="*/ 134 w 579"/>
                  <a:gd name="T21" fmla="*/ 525 h 873"/>
                  <a:gd name="T22" fmla="*/ 140 w 579"/>
                  <a:gd name="T23" fmla="*/ 489 h 873"/>
                  <a:gd name="T24" fmla="*/ 155 w 579"/>
                  <a:gd name="T25" fmla="*/ 434 h 873"/>
                  <a:gd name="T26" fmla="*/ 179 w 579"/>
                  <a:gd name="T27" fmla="*/ 377 h 873"/>
                  <a:gd name="T28" fmla="*/ 201 w 579"/>
                  <a:gd name="T29" fmla="*/ 338 h 873"/>
                  <a:gd name="T30" fmla="*/ 233 w 579"/>
                  <a:gd name="T31" fmla="*/ 294 h 873"/>
                  <a:gd name="T32" fmla="*/ 264 w 579"/>
                  <a:gd name="T33" fmla="*/ 258 h 873"/>
                  <a:gd name="T34" fmla="*/ 305 w 579"/>
                  <a:gd name="T35" fmla="*/ 222 h 873"/>
                  <a:gd name="T36" fmla="*/ 338 w 579"/>
                  <a:gd name="T37" fmla="*/ 198 h 873"/>
                  <a:gd name="T38" fmla="*/ 381 w 579"/>
                  <a:gd name="T39" fmla="*/ 173 h 873"/>
                  <a:gd name="T40" fmla="*/ 434 w 579"/>
                  <a:gd name="T41" fmla="*/ 149 h 873"/>
                  <a:gd name="T42" fmla="*/ 485 w 579"/>
                  <a:gd name="T43" fmla="*/ 135 h 873"/>
                  <a:gd name="T44" fmla="*/ 545 w 579"/>
                  <a:gd name="T45" fmla="*/ 125 h 873"/>
                  <a:gd name="T46" fmla="*/ 579 w 579"/>
                  <a:gd name="T47" fmla="*/ 123 h 873"/>
                  <a:gd name="T48" fmla="*/ 579 w 579"/>
                  <a:gd name="T49" fmla="*/ 0 h 873"/>
                  <a:gd name="T50" fmla="*/ 536 w 579"/>
                  <a:gd name="T51" fmla="*/ 0 h 873"/>
                  <a:gd name="T52" fmla="*/ 507 w 579"/>
                  <a:gd name="T53" fmla="*/ 6 h 873"/>
                  <a:gd name="T54" fmla="*/ 480 w 579"/>
                  <a:gd name="T55" fmla="*/ 11 h 873"/>
                  <a:gd name="T56" fmla="*/ 443 w 579"/>
                  <a:gd name="T57" fmla="*/ 17 h 873"/>
                  <a:gd name="T58" fmla="*/ 386 w 579"/>
                  <a:gd name="T59" fmla="*/ 33 h 873"/>
                  <a:gd name="T60" fmla="*/ 354 w 579"/>
                  <a:gd name="T61" fmla="*/ 48 h 873"/>
                  <a:gd name="T62" fmla="*/ 320 w 579"/>
                  <a:gd name="T63" fmla="*/ 62 h 873"/>
                  <a:gd name="T64" fmla="*/ 282 w 579"/>
                  <a:gd name="T65" fmla="*/ 86 h 873"/>
                  <a:gd name="T66" fmla="*/ 249 w 579"/>
                  <a:gd name="T67" fmla="*/ 105 h 873"/>
                  <a:gd name="T68" fmla="*/ 219 w 579"/>
                  <a:gd name="T69" fmla="*/ 128 h 873"/>
                  <a:gd name="T70" fmla="*/ 189 w 579"/>
                  <a:gd name="T71" fmla="*/ 153 h 873"/>
                  <a:gd name="T72" fmla="*/ 167 w 579"/>
                  <a:gd name="T73" fmla="*/ 174 h 873"/>
                  <a:gd name="T74" fmla="*/ 146 w 579"/>
                  <a:gd name="T75" fmla="*/ 197 h 873"/>
                  <a:gd name="T76" fmla="*/ 126 w 579"/>
                  <a:gd name="T77" fmla="*/ 222 h 873"/>
                  <a:gd name="T78" fmla="*/ 104 w 579"/>
                  <a:gd name="T79" fmla="*/ 251 h 873"/>
                  <a:gd name="T80" fmla="*/ 83 w 579"/>
                  <a:gd name="T81" fmla="*/ 282 h 873"/>
                  <a:gd name="T82" fmla="*/ 63 w 579"/>
                  <a:gd name="T83" fmla="*/ 318 h 873"/>
                  <a:gd name="T84" fmla="*/ 45 w 579"/>
                  <a:gd name="T85" fmla="*/ 357 h 873"/>
                  <a:gd name="T86" fmla="*/ 35 w 579"/>
                  <a:gd name="T87" fmla="*/ 387 h 873"/>
                  <a:gd name="T88" fmla="*/ 21 w 579"/>
                  <a:gd name="T89" fmla="*/ 429 h 873"/>
                  <a:gd name="T90" fmla="*/ 9 w 579"/>
                  <a:gd name="T91" fmla="*/ 482 h 873"/>
                  <a:gd name="T92" fmla="*/ 5 w 579"/>
                  <a:gd name="T93" fmla="*/ 518 h 873"/>
                  <a:gd name="T94" fmla="*/ 0 w 579"/>
                  <a:gd name="T95" fmla="*/ 567 h 873"/>
                  <a:gd name="T96" fmla="*/ 0 w 579"/>
                  <a:gd name="T97" fmla="*/ 611 h 873"/>
                  <a:gd name="T98" fmla="*/ 6 w 579"/>
                  <a:gd name="T99" fmla="*/ 665 h 873"/>
                  <a:gd name="T100" fmla="*/ 17 w 579"/>
                  <a:gd name="T101" fmla="*/ 717 h 873"/>
                  <a:gd name="T102" fmla="*/ 24 w 579"/>
                  <a:gd name="T103" fmla="*/ 746 h 873"/>
                  <a:gd name="T104" fmla="*/ 42 w 579"/>
                  <a:gd name="T105" fmla="*/ 795 h 873"/>
                  <a:gd name="T106" fmla="*/ 57 w 579"/>
                  <a:gd name="T107" fmla="*/ 831 h 873"/>
                  <a:gd name="T108" fmla="*/ 72 w 579"/>
                  <a:gd name="T109" fmla="*/ 858 h 873"/>
                  <a:gd name="T110" fmla="*/ 80 w 579"/>
                  <a:gd name="T111" fmla="*/ 873 h 87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579"/>
                  <a:gd name="T169" fmla="*/ 0 h 873"/>
                  <a:gd name="T170" fmla="*/ 579 w 579"/>
                  <a:gd name="T171" fmla="*/ 873 h 873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579" h="873">
                    <a:moveTo>
                      <a:pt x="80" y="873"/>
                    </a:moveTo>
                    <a:lnTo>
                      <a:pt x="188" y="810"/>
                    </a:lnTo>
                    <a:lnTo>
                      <a:pt x="182" y="800"/>
                    </a:lnTo>
                    <a:lnTo>
                      <a:pt x="167" y="770"/>
                    </a:lnTo>
                    <a:lnTo>
                      <a:pt x="156" y="741"/>
                    </a:lnTo>
                    <a:lnTo>
                      <a:pt x="147" y="711"/>
                    </a:lnTo>
                    <a:lnTo>
                      <a:pt x="140" y="687"/>
                    </a:lnTo>
                    <a:lnTo>
                      <a:pt x="135" y="654"/>
                    </a:lnTo>
                    <a:lnTo>
                      <a:pt x="131" y="614"/>
                    </a:lnTo>
                    <a:lnTo>
                      <a:pt x="129" y="564"/>
                    </a:lnTo>
                    <a:lnTo>
                      <a:pt x="134" y="525"/>
                    </a:lnTo>
                    <a:lnTo>
                      <a:pt x="140" y="489"/>
                    </a:lnTo>
                    <a:lnTo>
                      <a:pt x="155" y="434"/>
                    </a:lnTo>
                    <a:lnTo>
                      <a:pt x="179" y="377"/>
                    </a:lnTo>
                    <a:lnTo>
                      <a:pt x="201" y="338"/>
                    </a:lnTo>
                    <a:lnTo>
                      <a:pt x="233" y="294"/>
                    </a:lnTo>
                    <a:lnTo>
                      <a:pt x="264" y="258"/>
                    </a:lnTo>
                    <a:lnTo>
                      <a:pt x="305" y="222"/>
                    </a:lnTo>
                    <a:lnTo>
                      <a:pt x="338" y="198"/>
                    </a:lnTo>
                    <a:lnTo>
                      <a:pt x="381" y="173"/>
                    </a:lnTo>
                    <a:lnTo>
                      <a:pt x="434" y="149"/>
                    </a:lnTo>
                    <a:lnTo>
                      <a:pt x="485" y="135"/>
                    </a:lnTo>
                    <a:lnTo>
                      <a:pt x="545" y="125"/>
                    </a:lnTo>
                    <a:lnTo>
                      <a:pt x="579" y="123"/>
                    </a:lnTo>
                    <a:lnTo>
                      <a:pt x="579" y="0"/>
                    </a:lnTo>
                    <a:lnTo>
                      <a:pt x="536" y="0"/>
                    </a:lnTo>
                    <a:lnTo>
                      <a:pt x="507" y="6"/>
                    </a:lnTo>
                    <a:lnTo>
                      <a:pt x="480" y="11"/>
                    </a:lnTo>
                    <a:lnTo>
                      <a:pt x="443" y="17"/>
                    </a:lnTo>
                    <a:lnTo>
                      <a:pt x="386" y="33"/>
                    </a:lnTo>
                    <a:lnTo>
                      <a:pt x="354" y="48"/>
                    </a:lnTo>
                    <a:lnTo>
                      <a:pt x="320" y="62"/>
                    </a:lnTo>
                    <a:lnTo>
                      <a:pt x="282" y="86"/>
                    </a:lnTo>
                    <a:lnTo>
                      <a:pt x="249" y="105"/>
                    </a:lnTo>
                    <a:lnTo>
                      <a:pt x="219" y="128"/>
                    </a:lnTo>
                    <a:lnTo>
                      <a:pt x="189" y="153"/>
                    </a:lnTo>
                    <a:lnTo>
                      <a:pt x="167" y="174"/>
                    </a:lnTo>
                    <a:lnTo>
                      <a:pt x="146" y="197"/>
                    </a:lnTo>
                    <a:lnTo>
                      <a:pt x="126" y="222"/>
                    </a:lnTo>
                    <a:lnTo>
                      <a:pt x="104" y="251"/>
                    </a:lnTo>
                    <a:lnTo>
                      <a:pt x="83" y="282"/>
                    </a:lnTo>
                    <a:lnTo>
                      <a:pt x="63" y="318"/>
                    </a:lnTo>
                    <a:lnTo>
                      <a:pt x="45" y="357"/>
                    </a:lnTo>
                    <a:lnTo>
                      <a:pt x="35" y="387"/>
                    </a:lnTo>
                    <a:lnTo>
                      <a:pt x="21" y="429"/>
                    </a:lnTo>
                    <a:lnTo>
                      <a:pt x="9" y="482"/>
                    </a:lnTo>
                    <a:lnTo>
                      <a:pt x="5" y="518"/>
                    </a:lnTo>
                    <a:lnTo>
                      <a:pt x="0" y="567"/>
                    </a:lnTo>
                    <a:lnTo>
                      <a:pt x="0" y="611"/>
                    </a:lnTo>
                    <a:lnTo>
                      <a:pt x="6" y="665"/>
                    </a:lnTo>
                    <a:lnTo>
                      <a:pt x="17" y="717"/>
                    </a:lnTo>
                    <a:lnTo>
                      <a:pt x="24" y="746"/>
                    </a:lnTo>
                    <a:lnTo>
                      <a:pt x="42" y="795"/>
                    </a:lnTo>
                    <a:lnTo>
                      <a:pt x="57" y="831"/>
                    </a:lnTo>
                    <a:lnTo>
                      <a:pt x="72" y="858"/>
                    </a:lnTo>
                    <a:lnTo>
                      <a:pt x="80" y="8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1692" name="AutoShape 57"/>
            <p:cNvSpPr>
              <a:spLocks noChangeAspect="1" noChangeArrowheads="1"/>
            </p:cNvSpPr>
            <p:nvPr/>
          </p:nvSpPr>
          <p:spPr bwMode="auto">
            <a:xfrm>
              <a:off x="349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1689" name="AutoShape 58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690" name="Rectangle 59"/>
          <p:cNvSpPr>
            <a:spLocks noChangeArrowheads="1"/>
          </p:cNvSpPr>
          <p:nvPr/>
        </p:nvSpPr>
        <p:spPr bwMode="auto">
          <a:xfrm>
            <a:off x="1981200" y="4495800"/>
            <a:ext cx="64008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Wait for red sector to rotate around</a:t>
            </a:r>
          </a:p>
        </p:txBody>
      </p:sp>
    </p:spTree>
    <p:extLst>
      <p:ext uri="{BB962C8B-B14F-4D97-AF65-F5344CB8AC3E}">
        <p14:creationId xmlns:p14="http://schemas.microsoft.com/office/powerpoint/2010/main" val="9971972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Access – Read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743200" y="394652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Seek for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4495800" y="3946525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Rotational latency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67056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r>
              <a:rPr lang="en-US" sz="2000">
                <a:solidFill>
                  <a:schemeClr val="tx1"/>
                </a:solidFill>
              </a:rPr>
              <a:t> read</a:t>
            </a: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735013" y="1962150"/>
            <a:ext cx="1727200" cy="1855788"/>
            <a:chOff x="444" y="1113"/>
            <a:chExt cx="1163" cy="1251"/>
          </a:xfrm>
        </p:grpSpPr>
        <p:grpSp>
          <p:nvGrpSpPr>
            <p:cNvPr id="3" name="Group 8"/>
            <p:cNvGrpSpPr>
              <a:grpSpLocks noChangeAspect="1"/>
            </p:cNvGrpSpPr>
            <p:nvPr/>
          </p:nvGrpSpPr>
          <p:grpSpPr bwMode="auto">
            <a:xfrm>
              <a:off x="444" y="1200"/>
              <a:ext cx="1163" cy="1164"/>
              <a:chOff x="444" y="1200"/>
              <a:chExt cx="1163" cy="1164"/>
            </a:xfrm>
          </p:grpSpPr>
          <p:grpSp>
            <p:nvGrpSpPr>
              <p:cNvPr id="4" name="Group 9"/>
              <p:cNvGrpSpPr>
                <a:grpSpLocks noChangeAspect="1"/>
              </p:cNvGrpSpPr>
              <p:nvPr/>
            </p:nvGrpSpPr>
            <p:grpSpPr bwMode="auto">
              <a:xfrm>
                <a:off x="444" y="1200"/>
                <a:ext cx="1163" cy="1161"/>
                <a:chOff x="525" y="1152"/>
                <a:chExt cx="1449" cy="1446"/>
              </a:xfrm>
            </p:grpSpPr>
            <p:sp>
              <p:nvSpPr>
                <p:cNvPr id="131082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3796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97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98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99" name="Line 14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0" name="Line 15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1" name="Line 16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2" name="Line 17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3" name="Line 18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4" name="Line 19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05" name="Oval 20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3793" name="Freeform 21"/>
              <p:cNvSpPr>
                <a:spLocks noChangeAspect="1"/>
              </p:cNvSpPr>
              <p:nvPr/>
            </p:nvSpPr>
            <p:spPr bwMode="auto">
              <a:xfrm>
                <a:off x="864" y="1434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94" name="Freeform 22"/>
              <p:cNvSpPr>
                <a:spLocks noChangeAspect="1"/>
              </p:cNvSpPr>
              <p:nvPr/>
            </p:nvSpPr>
            <p:spPr bwMode="auto">
              <a:xfrm rot="-1800000">
                <a:off x="1005" y="2187"/>
                <a:ext cx="287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3791" name="AutoShape 23"/>
            <p:cNvSpPr>
              <a:spLocks noChangeAspect="1" noChangeArrowheads="1"/>
            </p:cNvSpPr>
            <p:nvPr/>
          </p:nvSpPr>
          <p:spPr bwMode="auto">
            <a:xfrm>
              <a:off x="933" y="1113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2784475" y="1600200"/>
            <a:ext cx="1727200" cy="2217738"/>
            <a:chOff x="1716" y="864"/>
            <a:chExt cx="1163" cy="1494"/>
          </a:xfrm>
        </p:grpSpPr>
        <p:grpSp>
          <p:nvGrpSpPr>
            <p:cNvPr id="6" name="Group 25"/>
            <p:cNvGrpSpPr>
              <a:grpSpLocks noChangeAspect="1"/>
            </p:cNvGrpSpPr>
            <p:nvPr/>
          </p:nvGrpSpPr>
          <p:grpSpPr bwMode="auto">
            <a:xfrm>
              <a:off x="1716" y="1197"/>
              <a:ext cx="1163" cy="1161"/>
              <a:chOff x="1716" y="1197"/>
              <a:chExt cx="1163" cy="1161"/>
            </a:xfrm>
          </p:grpSpPr>
          <p:grpSp>
            <p:nvGrpSpPr>
              <p:cNvPr id="7" name="Group 26"/>
              <p:cNvGrpSpPr>
                <a:grpSpLocks noChangeAspect="1"/>
              </p:cNvGrpSpPr>
              <p:nvPr/>
            </p:nvGrpSpPr>
            <p:grpSpPr bwMode="auto">
              <a:xfrm>
                <a:off x="1716" y="1197"/>
                <a:ext cx="1163" cy="1161"/>
                <a:chOff x="525" y="1152"/>
                <a:chExt cx="1449" cy="1446"/>
              </a:xfrm>
            </p:grpSpPr>
            <p:sp>
              <p:nvSpPr>
                <p:cNvPr id="131099" name="Oval 27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1"/>
                  <a:ext cx="1440" cy="14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3780" name="Oval 28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1" name="Oval 29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2" name="Oval 30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3" name="Line 31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4" name="Line 32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5" name="Line 33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6" name="Line 34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7" name="Line 35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8" name="Line 36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89" name="Oval 37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3777" name="Freeform 38"/>
              <p:cNvSpPr>
                <a:spLocks noChangeAspect="1"/>
              </p:cNvSpPr>
              <p:nvPr/>
            </p:nvSpPr>
            <p:spPr bwMode="auto">
              <a:xfrm rot="-3600000">
                <a:off x="2512" y="2050"/>
                <a:ext cx="296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78" name="Freeform 39"/>
              <p:cNvSpPr>
                <a:spLocks noChangeAspect="1"/>
              </p:cNvSpPr>
              <p:nvPr/>
            </p:nvSpPr>
            <p:spPr bwMode="auto">
              <a:xfrm rot="-1800000">
                <a:off x="2016" y="1506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3775" name="AutoShape 40"/>
            <p:cNvSpPr>
              <a:spLocks noChangeAspect="1" noChangeArrowheads="1"/>
            </p:cNvSpPr>
            <p:nvPr/>
          </p:nvSpPr>
          <p:spPr bwMode="auto">
            <a:xfrm>
              <a:off x="220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41"/>
          <p:cNvGrpSpPr>
            <a:grpSpLocks noChangeAspect="1"/>
          </p:cNvGrpSpPr>
          <p:nvPr/>
        </p:nvGrpSpPr>
        <p:grpSpPr bwMode="auto">
          <a:xfrm>
            <a:off x="4833938" y="1625600"/>
            <a:ext cx="1727200" cy="2192338"/>
            <a:chOff x="3003" y="864"/>
            <a:chExt cx="1163" cy="1476"/>
          </a:xfrm>
        </p:grpSpPr>
        <p:grpSp>
          <p:nvGrpSpPr>
            <p:cNvPr id="9" name="Group 42"/>
            <p:cNvGrpSpPr>
              <a:grpSpLocks noChangeAspect="1"/>
            </p:cNvGrpSpPr>
            <p:nvPr/>
          </p:nvGrpSpPr>
          <p:grpSpPr bwMode="auto">
            <a:xfrm>
              <a:off x="3003" y="1176"/>
              <a:ext cx="1163" cy="1164"/>
              <a:chOff x="3003" y="1176"/>
              <a:chExt cx="1163" cy="1164"/>
            </a:xfrm>
          </p:grpSpPr>
          <p:grpSp>
            <p:nvGrpSpPr>
              <p:cNvPr id="10" name="Group 43"/>
              <p:cNvGrpSpPr>
                <a:grpSpLocks noChangeAspect="1"/>
              </p:cNvGrpSpPr>
              <p:nvPr/>
            </p:nvGrpSpPr>
            <p:grpSpPr bwMode="auto">
              <a:xfrm>
                <a:off x="3003" y="1179"/>
                <a:ext cx="1163" cy="1161"/>
                <a:chOff x="525" y="1152"/>
                <a:chExt cx="1449" cy="1446"/>
              </a:xfrm>
            </p:grpSpPr>
            <p:sp>
              <p:nvSpPr>
                <p:cNvPr id="131116" name="Oval 44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3764" name="Oval 45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65" name="Oval 46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66" name="Oval 47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67" name="Line 48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68" name="Line 49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69" name="Line 50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70" name="Line 51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71" name="Line 52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72" name="Line 53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73" name="Oval 54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3760" name="Freeform 55"/>
              <p:cNvSpPr>
                <a:spLocks noChangeAspect="1"/>
              </p:cNvSpPr>
              <p:nvPr/>
            </p:nvSpPr>
            <p:spPr bwMode="auto">
              <a:xfrm rot="10800000">
                <a:off x="3582" y="1182"/>
                <a:ext cx="293" cy="189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61" name="Freeform 56"/>
              <p:cNvSpPr>
                <a:spLocks noChangeAspect="1"/>
              </p:cNvSpPr>
              <p:nvPr/>
            </p:nvSpPr>
            <p:spPr bwMode="auto">
              <a:xfrm>
                <a:off x="3414" y="1970"/>
                <a:ext cx="170" cy="139"/>
              </a:xfrm>
              <a:custGeom>
                <a:avLst/>
                <a:gdLst>
                  <a:gd name="T0" fmla="*/ 0 w 170"/>
                  <a:gd name="T1" fmla="*/ 85 h 139"/>
                  <a:gd name="T2" fmla="*/ 50 w 170"/>
                  <a:gd name="T3" fmla="*/ 0 h 139"/>
                  <a:gd name="T4" fmla="*/ 75 w 170"/>
                  <a:gd name="T5" fmla="*/ 15 h 139"/>
                  <a:gd name="T6" fmla="*/ 102 w 170"/>
                  <a:gd name="T7" fmla="*/ 24 h 139"/>
                  <a:gd name="T8" fmla="*/ 128 w 170"/>
                  <a:gd name="T9" fmla="*/ 31 h 139"/>
                  <a:gd name="T10" fmla="*/ 170 w 170"/>
                  <a:gd name="T11" fmla="*/ 36 h 139"/>
                  <a:gd name="T12" fmla="*/ 170 w 170"/>
                  <a:gd name="T13" fmla="*/ 139 h 139"/>
                  <a:gd name="T14" fmla="*/ 141 w 170"/>
                  <a:gd name="T15" fmla="*/ 136 h 139"/>
                  <a:gd name="T16" fmla="*/ 105 w 170"/>
                  <a:gd name="T17" fmla="*/ 130 h 139"/>
                  <a:gd name="T18" fmla="*/ 74 w 170"/>
                  <a:gd name="T19" fmla="*/ 121 h 139"/>
                  <a:gd name="T20" fmla="*/ 38 w 170"/>
                  <a:gd name="T21" fmla="*/ 108 h 139"/>
                  <a:gd name="T22" fmla="*/ 23 w 170"/>
                  <a:gd name="T23" fmla="*/ 102 h 139"/>
                  <a:gd name="T24" fmla="*/ 0 w 170"/>
                  <a:gd name="T25" fmla="*/ 85 h 1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0"/>
                  <a:gd name="T40" fmla="*/ 0 h 139"/>
                  <a:gd name="T41" fmla="*/ 170 w 170"/>
                  <a:gd name="T42" fmla="*/ 139 h 1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0" h="139">
                    <a:moveTo>
                      <a:pt x="0" y="85"/>
                    </a:moveTo>
                    <a:lnTo>
                      <a:pt x="50" y="0"/>
                    </a:lnTo>
                    <a:lnTo>
                      <a:pt x="75" y="15"/>
                    </a:lnTo>
                    <a:lnTo>
                      <a:pt x="102" y="24"/>
                    </a:lnTo>
                    <a:lnTo>
                      <a:pt x="128" y="31"/>
                    </a:lnTo>
                    <a:lnTo>
                      <a:pt x="170" y="36"/>
                    </a:lnTo>
                    <a:lnTo>
                      <a:pt x="170" y="139"/>
                    </a:lnTo>
                    <a:lnTo>
                      <a:pt x="141" y="136"/>
                    </a:lnTo>
                    <a:lnTo>
                      <a:pt x="105" y="130"/>
                    </a:lnTo>
                    <a:lnTo>
                      <a:pt x="74" y="121"/>
                    </a:lnTo>
                    <a:lnTo>
                      <a:pt x="38" y="108"/>
                    </a:lnTo>
                    <a:lnTo>
                      <a:pt x="23" y="102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62" name="Freeform 57"/>
              <p:cNvSpPr>
                <a:spLocks noChangeAspect="1"/>
              </p:cNvSpPr>
              <p:nvPr/>
            </p:nvSpPr>
            <p:spPr bwMode="auto">
              <a:xfrm>
                <a:off x="3003" y="1176"/>
                <a:ext cx="579" cy="873"/>
              </a:xfrm>
              <a:custGeom>
                <a:avLst/>
                <a:gdLst>
                  <a:gd name="T0" fmla="*/ 80 w 579"/>
                  <a:gd name="T1" fmla="*/ 873 h 873"/>
                  <a:gd name="T2" fmla="*/ 188 w 579"/>
                  <a:gd name="T3" fmla="*/ 810 h 873"/>
                  <a:gd name="T4" fmla="*/ 182 w 579"/>
                  <a:gd name="T5" fmla="*/ 800 h 873"/>
                  <a:gd name="T6" fmla="*/ 167 w 579"/>
                  <a:gd name="T7" fmla="*/ 770 h 873"/>
                  <a:gd name="T8" fmla="*/ 156 w 579"/>
                  <a:gd name="T9" fmla="*/ 741 h 873"/>
                  <a:gd name="T10" fmla="*/ 147 w 579"/>
                  <a:gd name="T11" fmla="*/ 711 h 873"/>
                  <a:gd name="T12" fmla="*/ 140 w 579"/>
                  <a:gd name="T13" fmla="*/ 687 h 873"/>
                  <a:gd name="T14" fmla="*/ 135 w 579"/>
                  <a:gd name="T15" fmla="*/ 654 h 873"/>
                  <a:gd name="T16" fmla="*/ 131 w 579"/>
                  <a:gd name="T17" fmla="*/ 614 h 873"/>
                  <a:gd name="T18" fmla="*/ 129 w 579"/>
                  <a:gd name="T19" fmla="*/ 564 h 873"/>
                  <a:gd name="T20" fmla="*/ 134 w 579"/>
                  <a:gd name="T21" fmla="*/ 525 h 873"/>
                  <a:gd name="T22" fmla="*/ 140 w 579"/>
                  <a:gd name="T23" fmla="*/ 489 h 873"/>
                  <a:gd name="T24" fmla="*/ 155 w 579"/>
                  <a:gd name="T25" fmla="*/ 434 h 873"/>
                  <a:gd name="T26" fmla="*/ 179 w 579"/>
                  <a:gd name="T27" fmla="*/ 377 h 873"/>
                  <a:gd name="T28" fmla="*/ 201 w 579"/>
                  <a:gd name="T29" fmla="*/ 338 h 873"/>
                  <a:gd name="T30" fmla="*/ 233 w 579"/>
                  <a:gd name="T31" fmla="*/ 294 h 873"/>
                  <a:gd name="T32" fmla="*/ 264 w 579"/>
                  <a:gd name="T33" fmla="*/ 258 h 873"/>
                  <a:gd name="T34" fmla="*/ 305 w 579"/>
                  <a:gd name="T35" fmla="*/ 222 h 873"/>
                  <a:gd name="T36" fmla="*/ 338 w 579"/>
                  <a:gd name="T37" fmla="*/ 198 h 873"/>
                  <a:gd name="T38" fmla="*/ 381 w 579"/>
                  <a:gd name="T39" fmla="*/ 173 h 873"/>
                  <a:gd name="T40" fmla="*/ 434 w 579"/>
                  <a:gd name="T41" fmla="*/ 149 h 873"/>
                  <a:gd name="T42" fmla="*/ 485 w 579"/>
                  <a:gd name="T43" fmla="*/ 135 h 873"/>
                  <a:gd name="T44" fmla="*/ 545 w 579"/>
                  <a:gd name="T45" fmla="*/ 125 h 873"/>
                  <a:gd name="T46" fmla="*/ 579 w 579"/>
                  <a:gd name="T47" fmla="*/ 123 h 873"/>
                  <a:gd name="T48" fmla="*/ 579 w 579"/>
                  <a:gd name="T49" fmla="*/ 0 h 873"/>
                  <a:gd name="T50" fmla="*/ 536 w 579"/>
                  <a:gd name="T51" fmla="*/ 0 h 873"/>
                  <a:gd name="T52" fmla="*/ 507 w 579"/>
                  <a:gd name="T53" fmla="*/ 6 h 873"/>
                  <a:gd name="T54" fmla="*/ 480 w 579"/>
                  <a:gd name="T55" fmla="*/ 11 h 873"/>
                  <a:gd name="T56" fmla="*/ 443 w 579"/>
                  <a:gd name="T57" fmla="*/ 17 h 873"/>
                  <a:gd name="T58" fmla="*/ 386 w 579"/>
                  <a:gd name="T59" fmla="*/ 33 h 873"/>
                  <a:gd name="T60" fmla="*/ 354 w 579"/>
                  <a:gd name="T61" fmla="*/ 48 h 873"/>
                  <a:gd name="T62" fmla="*/ 320 w 579"/>
                  <a:gd name="T63" fmla="*/ 62 h 873"/>
                  <a:gd name="T64" fmla="*/ 282 w 579"/>
                  <a:gd name="T65" fmla="*/ 86 h 873"/>
                  <a:gd name="T66" fmla="*/ 249 w 579"/>
                  <a:gd name="T67" fmla="*/ 105 h 873"/>
                  <a:gd name="T68" fmla="*/ 219 w 579"/>
                  <a:gd name="T69" fmla="*/ 128 h 873"/>
                  <a:gd name="T70" fmla="*/ 189 w 579"/>
                  <a:gd name="T71" fmla="*/ 153 h 873"/>
                  <a:gd name="T72" fmla="*/ 167 w 579"/>
                  <a:gd name="T73" fmla="*/ 174 h 873"/>
                  <a:gd name="T74" fmla="*/ 146 w 579"/>
                  <a:gd name="T75" fmla="*/ 197 h 873"/>
                  <a:gd name="T76" fmla="*/ 126 w 579"/>
                  <a:gd name="T77" fmla="*/ 222 h 873"/>
                  <a:gd name="T78" fmla="*/ 104 w 579"/>
                  <a:gd name="T79" fmla="*/ 251 h 873"/>
                  <a:gd name="T80" fmla="*/ 83 w 579"/>
                  <a:gd name="T81" fmla="*/ 282 h 873"/>
                  <a:gd name="T82" fmla="*/ 63 w 579"/>
                  <a:gd name="T83" fmla="*/ 318 h 873"/>
                  <a:gd name="T84" fmla="*/ 45 w 579"/>
                  <a:gd name="T85" fmla="*/ 357 h 873"/>
                  <a:gd name="T86" fmla="*/ 35 w 579"/>
                  <a:gd name="T87" fmla="*/ 387 h 873"/>
                  <a:gd name="T88" fmla="*/ 21 w 579"/>
                  <a:gd name="T89" fmla="*/ 429 h 873"/>
                  <a:gd name="T90" fmla="*/ 9 w 579"/>
                  <a:gd name="T91" fmla="*/ 482 h 873"/>
                  <a:gd name="T92" fmla="*/ 5 w 579"/>
                  <a:gd name="T93" fmla="*/ 518 h 873"/>
                  <a:gd name="T94" fmla="*/ 0 w 579"/>
                  <a:gd name="T95" fmla="*/ 567 h 873"/>
                  <a:gd name="T96" fmla="*/ 0 w 579"/>
                  <a:gd name="T97" fmla="*/ 611 h 873"/>
                  <a:gd name="T98" fmla="*/ 6 w 579"/>
                  <a:gd name="T99" fmla="*/ 665 h 873"/>
                  <a:gd name="T100" fmla="*/ 17 w 579"/>
                  <a:gd name="T101" fmla="*/ 717 h 873"/>
                  <a:gd name="T102" fmla="*/ 24 w 579"/>
                  <a:gd name="T103" fmla="*/ 746 h 873"/>
                  <a:gd name="T104" fmla="*/ 42 w 579"/>
                  <a:gd name="T105" fmla="*/ 795 h 873"/>
                  <a:gd name="T106" fmla="*/ 57 w 579"/>
                  <a:gd name="T107" fmla="*/ 831 h 873"/>
                  <a:gd name="T108" fmla="*/ 72 w 579"/>
                  <a:gd name="T109" fmla="*/ 858 h 873"/>
                  <a:gd name="T110" fmla="*/ 80 w 579"/>
                  <a:gd name="T111" fmla="*/ 873 h 87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579"/>
                  <a:gd name="T169" fmla="*/ 0 h 873"/>
                  <a:gd name="T170" fmla="*/ 579 w 579"/>
                  <a:gd name="T171" fmla="*/ 873 h 873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579" h="873">
                    <a:moveTo>
                      <a:pt x="80" y="873"/>
                    </a:moveTo>
                    <a:lnTo>
                      <a:pt x="188" y="810"/>
                    </a:lnTo>
                    <a:lnTo>
                      <a:pt x="182" y="800"/>
                    </a:lnTo>
                    <a:lnTo>
                      <a:pt x="167" y="770"/>
                    </a:lnTo>
                    <a:lnTo>
                      <a:pt x="156" y="741"/>
                    </a:lnTo>
                    <a:lnTo>
                      <a:pt x="147" y="711"/>
                    </a:lnTo>
                    <a:lnTo>
                      <a:pt x="140" y="687"/>
                    </a:lnTo>
                    <a:lnTo>
                      <a:pt x="135" y="654"/>
                    </a:lnTo>
                    <a:lnTo>
                      <a:pt x="131" y="614"/>
                    </a:lnTo>
                    <a:lnTo>
                      <a:pt x="129" y="564"/>
                    </a:lnTo>
                    <a:lnTo>
                      <a:pt x="134" y="525"/>
                    </a:lnTo>
                    <a:lnTo>
                      <a:pt x="140" y="489"/>
                    </a:lnTo>
                    <a:lnTo>
                      <a:pt x="155" y="434"/>
                    </a:lnTo>
                    <a:lnTo>
                      <a:pt x="179" y="377"/>
                    </a:lnTo>
                    <a:lnTo>
                      <a:pt x="201" y="338"/>
                    </a:lnTo>
                    <a:lnTo>
                      <a:pt x="233" y="294"/>
                    </a:lnTo>
                    <a:lnTo>
                      <a:pt x="264" y="258"/>
                    </a:lnTo>
                    <a:lnTo>
                      <a:pt x="305" y="222"/>
                    </a:lnTo>
                    <a:lnTo>
                      <a:pt x="338" y="198"/>
                    </a:lnTo>
                    <a:lnTo>
                      <a:pt x="381" y="173"/>
                    </a:lnTo>
                    <a:lnTo>
                      <a:pt x="434" y="149"/>
                    </a:lnTo>
                    <a:lnTo>
                      <a:pt x="485" y="135"/>
                    </a:lnTo>
                    <a:lnTo>
                      <a:pt x="545" y="125"/>
                    </a:lnTo>
                    <a:lnTo>
                      <a:pt x="579" y="123"/>
                    </a:lnTo>
                    <a:lnTo>
                      <a:pt x="579" y="0"/>
                    </a:lnTo>
                    <a:lnTo>
                      <a:pt x="536" y="0"/>
                    </a:lnTo>
                    <a:lnTo>
                      <a:pt x="507" y="6"/>
                    </a:lnTo>
                    <a:lnTo>
                      <a:pt x="480" y="11"/>
                    </a:lnTo>
                    <a:lnTo>
                      <a:pt x="443" y="17"/>
                    </a:lnTo>
                    <a:lnTo>
                      <a:pt x="386" y="33"/>
                    </a:lnTo>
                    <a:lnTo>
                      <a:pt x="354" y="48"/>
                    </a:lnTo>
                    <a:lnTo>
                      <a:pt x="320" y="62"/>
                    </a:lnTo>
                    <a:lnTo>
                      <a:pt x="282" y="86"/>
                    </a:lnTo>
                    <a:lnTo>
                      <a:pt x="249" y="105"/>
                    </a:lnTo>
                    <a:lnTo>
                      <a:pt x="219" y="128"/>
                    </a:lnTo>
                    <a:lnTo>
                      <a:pt x="189" y="153"/>
                    </a:lnTo>
                    <a:lnTo>
                      <a:pt x="167" y="174"/>
                    </a:lnTo>
                    <a:lnTo>
                      <a:pt x="146" y="197"/>
                    </a:lnTo>
                    <a:lnTo>
                      <a:pt x="126" y="222"/>
                    </a:lnTo>
                    <a:lnTo>
                      <a:pt x="104" y="251"/>
                    </a:lnTo>
                    <a:lnTo>
                      <a:pt x="83" y="282"/>
                    </a:lnTo>
                    <a:lnTo>
                      <a:pt x="63" y="318"/>
                    </a:lnTo>
                    <a:lnTo>
                      <a:pt x="45" y="357"/>
                    </a:lnTo>
                    <a:lnTo>
                      <a:pt x="35" y="387"/>
                    </a:lnTo>
                    <a:lnTo>
                      <a:pt x="21" y="429"/>
                    </a:lnTo>
                    <a:lnTo>
                      <a:pt x="9" y="482"/>
                    </a:lnTo>
                    <a:lnTo>
                      <a:pt x="5" y="518"/>
                    </a:lnTo>
                    <a:lnTo>
                      <a:pt x="0" y="567"/>
                    </a:lnTo>
                    <a:lnTo>
                      <a:pt x="0" y="611"/>
                    </a:lnTo>
                    <a:lnTo>
                      <a:pt x="6" y="665"/>
                    </a:lnTo>
                    <a:lnTo>
                      <a:pt x="17" y="717"/>
                    </a:lnTo>
                    <a:lnTo>
                      <a:pt x="24" y="746"/>
                    </a:lnTo>
                    <a:lnTo>
                      <a:pt x="42" y="795"/>
                    </a:lnTo>
                    <a:lnTo>
                      <a:pt x="57" y="831"/>
                    </a:lnTo>
                    <a:lnTo>
                      <a:pt x="72" y="858"/>
                    </a:lnTo>
                    <a:lnTo>
                      <a:pt x="80" y="8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3758" name="AutoShape 58"/>
            <p:cNvSpPr>
              <a:spLocks noChangeAspect="1" noChangeArrowheads="1"/>
            </p:cNvSpPr>
            <p:nvPr/>
          </p:nvSpPr>
          <p:spPr bwMode="auto">
            <a:xfrm>
              <a:off x="349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" name="Group 59"/>
          <p:cNvGrpSpPr>
            <a:grpSpLocks noChangeAspect="1"/>
          </p:cNvGrpSpPr>
          <p:nvPr/>
        </p:nvGrpSpPr>
        <p:grpSpPr bwMode="auto">
          <a:xfrm>
            <a:off x="6883400" y="1649413"/>
            <a:ext cx="1727200" cy="2168525"/>
            <a:chOff x="4299" y="858"/>
            <a:chExt cx="1163" cy="1461"/>
          </a:xfrm>
        </p:grpSpPr>
        <p:grpSp>
          <p:nvGrpSpPr>
            <p:cNvPr id="12" name="Group 60"/>
            <p:cNvGrpSpPr>
              <a:grpSpLocks noChangeAspect="1"/>
            </p:cNvGrpSpPr>
            <p:nvPr/>
          </p:nvGrpSpPr>
          <p:grpSpPr bwMode="auto">
            <a:xfrm>
              <a:off x="4299" y="1157"/>
              <a:ext cx="1163" cy="1162"/>
              <a:chOff x="4299" y="1157"/>
              <a:chExt cx="1163" cy="1162"/>
            </a:xfrm>
          </p:grpSpPr>
          <p:grpSp>
            <p:nvGrpSpPr>
              <p:cNvPr id="13" name="Group 61"/>
              <p:cNvGrpSpPr>
                <a:grpSpLocks noChangeAspect="1"/>
              </p:cNvGrpSpPr>
              <p:nvPr/>
            </p:nvGrpSpPr>
            <p:grpSpPr bwMode="auto">
              <a:xfrm>
                <a:off x="4299" y="1158"/>
                <a:ext cx="1163" cy="1161"/>
                <a:chOff x="525" y="1152"/>
                <a:chExt cx="1449" cy="1446"/>
              </a:xfrm>
            </p:grpSpPr>
            <p:sp>
              <p:nvSpPr>
                <p:cNvPr id="131134" name="Oval 62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3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3747" name="Oval 63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48" name="Oval 64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49" name="Oval 65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0" name="Line 66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1" name="Line 67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2" name="Line 68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3" name="Line 69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4" name="Line 70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5" name="Line 71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56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3744" name="Freeform 73"/>
              <p:cNvSpPr>
                <a:spLocks noChangeAspect="1"/>
              </p:cNvSpPr>
              <p:nvPr/>
            </p:nvSpPr>
            <p:spPr bwMode="auto">
              <a:xfrm>
                <a:off x="4596" y="1157"/>
                <a:ext cx="284" cy="183"/>
              </a:xfrm>
              <a:custGeom>
                <a:avLst/>
                <a:gdLst>
                  <a:gd name="T0" fmla="*/ 284 w 284"/>
                  <a:gd name="T1" fmla="*/ 120 h 183"/>
                  <a:gd name="T2" fmla="*/ 284 w 284"/>
                  <a:gd name="T3" fmla="*/ 0 h 183"/>
                  <a:gd name="T4" fmla="*/ 251 w 284"/>
                  <a:gd name="T5" fmla="*/ 1 h 183"/>
                  <a:gd name="T6" fmla="*/ 219 w 284"/>
                  <a:gd name="T7" fmla="*/ 3 h 183"/>
                  <a:gd name="T8" fmla="*/ 183 w 284"/>
                  <a:gd name="T9" fmla="*/ 9 h 183"/>
                  <a:gd name="T10" fmla="*/ 137 w 284"/>
                  <a:gd name="T11" fmla="*/ 19 h 183"/>
                  <a:gd name="T12" fmla="*/ 92 w 284"/>
                  <a:gd name="T13" fmla="*/ 31 h 183"/>
                  <a:gd name="T14" fmla="*/ 65 w 284"/>
                  <a:gd name="T15" fmla="*/ 42 h 183"/>
                  <a:gd name="T16" fmla="*/ 36 w 284"/>
                  <a:gd name="T17" fmla="*/ 54 h 183"/>
                  <a:gd name="T18" fmla="*/ 0 w 284"/>
                  <a:gd name="T19" fmla="*/ 75 h 183"/>
                  <a:gd name="T20" fmla="*/ 63 w 284"/>
                  <a:gd name="T21" fmla="*/ 183 h 183"/>
                  <a:gd name="T22" fmla="*/ 98 w 284"/>
                  <a:gd name="T23" fmla="*/ 165 h 183"/>
                  <a:gd name="T24" fmla="*/ 132 w 284"/>
                  <a:gd name="T25" fmla="*/ 150 h 183"/>
                  <a:gd name="T26" fmla="*/ 171 w 284"/>
                  <a:gd name="T27" fmla="*/ 138 h 183"/>
                  <a:gd name="T28" fmla="*/ 198 w 284"/>
                  <a:gd name="T29" fmla="*/ 130 h 183"/>
                  <a:gd name="T30" fmla="*/ 242 w 284"/>
                  <a:gd name="T31" fmla="*/ 123 h 183"/>
                  <a:gd name="T32" fmla="*/ 284 w 284"/>
                  <a:gd name="T33" fmla="*/ 120 h 18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4"/>
                  <a:gd name="T52" fmla="*/ 0 h 183"/>
                  <a:gd name="T53" fmla="*/ 284 w 284"/>
                  <a:gd name="T54" fmla="*/ 183 h 18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4" h="183">
                    <a:moveTo>
                      <a:pt x="284" y="120"/>
                    </a:moveTo>
                    <a:lnTo>
                      <a:pt x="284" y="0"/>
                    </a:lnTo>
                    <a:lnTo>
                      <a:pt x="251" y="1"/>
                    </a:lnTo>
                    <a:lnTo>
                      <a:pt x="219" y="3"/>
                    </a:lnTo>
                    <a:lnTo>
                      <a:pt x="183" y="9"/>
                    </a:lnTo>
                    <a:lnTo>
                      <a:pt x="137" y="19"/>
                    </a:lnTo>
                    <a:lnTo>
                      <a:pt x="92" y="31"/>
                    </a:lnTo>
                    <a:lnTo>
                      <a:pt x="65" y="42"/>
                    </a:lnTo>
                    <a:lnTo>
                      <a:pt x="36" y="54"/>
                    </a:lnTo>
                    <a:lnTo>
                      <a:pt x="0" y="75"/>
                    </a:lnTo>
                    <a:lnTo>
                      <a:pt x="63" y="183"/>
                    </a:lnTo>
                    <a:lnTo>
                      <a:pt x="98" y="165"/>
                    </a:lnTo>
                    <a:lnTo>
                      <a:pt x="132" y="150"/>
                    </a:lnTo>
                    <a:lnTo>
                      <a:pt x="171" y="138"/>
                    </a:lnTo>
                    <a:lnTo>
                      <a:pt x="198" y="130"/>
                    </a:lnTo>
                    <a:lnTo>
                      <a:pt x="242" y="123"/>
                    </a:lnTo>
                    <a:lnTo>
                      <a:pt x="284" y="12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45" name="Freeform 74"/>
              <p:cNvSpPr>
                <a:spLocks noChangeAspect="1"/>
              </p:cNvSpPr>
              <p:nvPr/>
            </p:nvSpPr>
            <p:spPr bwMode="auto">
              <a:xfrm>
                <a:off x="5007" y="1839"/>
                <a:ext cx="192" cy="201"/>
              </a:xfrm>
              <a:custGeom>
                <a:avLst/>
                <a:gdLst>
                  <a:gd name="T0" fmla="*/ 0 w 192"/>
                  <a:gd name="T1" fmla="*/ 105 h 201"/>
                  <a:gd name="T2" fmla="*/ 57 w 192"/>
                  <a:gd name="T3" fmla="*/ 201 h 201"/>
                  <a:gd name="T4" fmla="*/ 93 w 192"/>
                  <a:gd name="T5" fmla="*/ 183 h 201"/>
                  <a:gd name="T6" fmla="*/ 123 w 192"/>
                  <a:gd name="T7" fmla="*/ 153 h 201"/>
                  <a:gd name="T8" fmla="*/ 156 w 192"/>
                  <a:gd name="T9" fmla="*/ 117 h 201"/>
                  <a:gd name="T10" fmla="*/ 183 w 192"/>
                  <a:gd name="T11" fmla="*/ 75 h 201"/>
                  <a:gd name="T12" fmla="*/ 192 w 192"/>
                  <a:gd name="T13" fmla="*/ 57 h 201"/>
                  <a:gd name="T14" fmla="*/ 87 w 192"/>
                  <a:gd name="T15" fmla="*/ 0 h 201"/>
                  <a:gd name="T16" fmla="*/ 75 w 192"/>
                  <a:gd name="T17" fmla="*/ 24 h 201"/>
                  <a:gd name="T18" fmla="*/ 54 w 192"/>
                  <a:gd name="T19" fmla="*/ 51 h 201"/>
                  <a:gd name="T20" fmla="*/ 27 w 192"/>
                  <a:gd name="T21" fmla="*/ 81 h 201"/>
                  <a:gd name="T22" fmla="*/ 0 w 192"/>
                  <a:gd name="T23" fmla="*/ 105 h 20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2"/>
                  <a:gd name="T37" fmla="*/ 0 h 201"/>
                  <a:gd name="T38" fmla="*/ 192 w 192"/>
                  <a:gd name="T39" fmla="*/ 201 h 20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2" h="201">
                    <a:moveTo>
                      <a:pt x="0" y="105"/>
                    </a:moveTo>
                    <a:lnTo>
                      <a:pt x="57" y="201"/>
                    </a:lnTo>
                    <a:lnTo>
                      <a:pt x="93" y="183"/>
                    </a:lnTo>
                    <a:lnTo>
                      <a:pt x="123" y="153"/>
                    </a:lnTo>
                    <a:lnTo>
                      <a:pt x="156" y="117"/>
                    </a:lnTo>
                    <a:lnTo>
                      <a:pt x="183" y="75"/>
                    </a:lnTo>
                    <a:lnTo>
                      <a:pt x="192" y="57"/>
                    </a:lnTo>
                    <a:lnTo>
                      <a:pt x="87" y="0"/>
                    </a:lnTo>
                    <a:lnTo>
                      <a:pt x="75" y="24"/>
                    </a:lnTo>
                    <a:lnTo>
                      <a:pt x="54" y="51"/>
                    </a:lnTo>
                    <a:lnTo>
                      <a:pt x="27" y="81"/>
                    </a:ln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3742" name="AutoShape 75"/>
            <p:cNvSpPr>
              <a:spLocks noChangeAspect="1" noChangeArrowheads="1"/>
            </p:cNvSpPr>
            <p:nvPr/>
          </p:nvSpPr>
          <p:spPr bwMode="auto">
            <a:xfrm>
              <a:off x="4782" y="858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3739" name="AutoShape 76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740" name="Rectangle 77"/>
          <p:cNvSpPr>
            <a:spLocks noChangeArrowheads="1"/>
          </p:cNvSpPr>
          <p:nvPr/>
        </p:nvSpPr>
        <p:spPr bwMode="auto">
          <a:xfrm>
            <a:off x="1981200" y="4495800"/>
            <a:ext cx="54102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prstTxWarp prst="textNoShape">
              <a:avLst/>
            </a:prstTxWarp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>
                <a:solidFill>
                  <a:schemeClr val="tx2"/>
                </a:solidFill>
                <a:latin typeface="Arial" charset="0"/>
              </a:rPr>
              <a:t>Complete read of red</a:t>
            </a:r>
          </a:p>
        </p:txBody>
      </p:sp>
    </p:spTree>
    <p:extLst>
      <p:ext uri="{BB962C8B-B14F-4D97-AF65-F5344CB8AC3E}">
        <p14:creationId xmlns:p14="http://schemas.microsoft.com/office/powerpoint/2010/main" val="5014924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092663" cy="762000"/>
          </a:xfrm>
        </p:spPr>
        <p:txBody>
          <a:bodyPr/>
          <a:lstStyle/>
          <a:p>
            <a:r>
              <a:rPr lang="en-US" dirty="0"/>
              <a:t>Disk Access – Service Time Components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5334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0000FF"/>
                </a:solidFill>
              </a:rPr>
              <a:t>BLUE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2743200" y="394652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Seek for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4495800" y="3946525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Rotational latency</a:t>
            </a: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6705600" y="3946525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After </a:t>
            </a:r>
            <a:r>
              <a:rPr lang="en-US" sz="2000">
                <a:solidFill>
                  <a:srgbClr val="FF0000"/>
                </a:solidFill>
              </a:rPr>
              <a:t>RED</a:t>
            </a:r>
            <a:r>
              <a:rPr lang="en-US" sz="2000">
                <a:solidFill>
                  <a:schemeClr val="tx1"/>
                </a:solidFill>
              </a:rPr>
              <a:t> read</a:t>
            </a: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735013" y="1962150"/>
            <a:ext cx="1727200" cy="1855788"/>
            <a:chOff x="444" y="1113"/>
            <a:chExt cx="1163" cy="1251"/>
          </a:xfrm>
        </p:grpSpPr>
        <p:grpSp>
          <p:nvGrpSpPr>
            <p:cNvPr id="3" name="Group 8"/>
            <p:cNvGrpSpPr>
              <a:grpSpLocks noChangeAspect="1"/>
            </p:cNvGrpSpPr>
            <p:nvPr/>
          </p:nvGrpSpPr>
          <p:grpSpPr bwMode="auto">
            <a:xfrm>
              <a:off x="444" y="1200"/>
              <a:ext cx="1163" cy="1164"/>
              <a:chOff x="444" y="1200"/>
              <a:chExt cx="1163" cy="1164"/>
            </a:xfrm>
          </p:grpSpPr>
          <p:grpSp>
            <p:nvGrpSpPr>
              <p:cNvPr id="4" name="Group 9"/>
              <p:cNvGrpSpPr>
                <a:grpSpLocks noChangeAspect="1"/>
              </p:cNvGrpSpPr>
              <p:nvPr/>
            </p:nvGrpSpPr>
            <p:grpSpPr bwMode="auto">
              <a:xfrm>
                <a:off x="444" y="1200"/>
                <a:ext cx="1163" cy="1161"/>
                <a:chOff x="525" y="1152"/>
                <a:chExt cx="1449" cy="1446"/>
              </a:xfrm>
            </p:grpSpPr>
            <p:sp>
              <p:nvSpPr>
                <p:cNvPr id="133130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5848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49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0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1" name="Line 14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2" name="Line 15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3" name="Line 16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4" name="Line 17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5" name="Line 18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6" name="Line 19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57" name="Oval 20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5845" name="Freeform 21"/>
              <p:cNvSpPr>
                <a:spLocks noChangeAspect="1"/>
              </p:cNvSpPr>
              <p:nvPr/>
            </p:nvSpPr>
            <p:spPr bwMode="auto">
              <a:xfrm>
                <a:off x="864" y="1434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46" name="Freeform 22"/>
              <p:cNvSpPr>
                <a:spLocks noChangeAspect="1"/>
              </p:cNvSpPr>
              <p:nvPr/>
            </p:nvSpPr>
            <p:spPr bwMode="auto">
              <a:xfrm rot="-1800000">
                <a:off x="1005" y="2187"/>
                <a:ext cx="287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843" name="AutoShape 23"/>
            <p:cNvSpPr>
              <a:spLocks noChangeAspect="1" noChangeArrowheads="1"/>
            </p:cNvSpPr>
            <p:nvPr/>
          </p:nvSpPr>
          <p:spPr bwMode="auto">
            <a:xfrm>
              <a:off x="933" y="1113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2784475" y="1600200"/>
            <a:ext cx="1727200" cy="2217738"/>
            <a:chOff x="1716" y="864"/>
            <a:chExt cx="1163" cy="1494"/>
          </a:xfrm>
        </p:grpSpPr>
        <p:grpSp>
          <p:nvGrpSpPr>
            <p:cNvPr id="6" name="Group 25"/>
            <p:cNvGrpSpPr>
              <a:grpSpLocks noChangeAspect="1"/>
            </p:cNvGrpSpPr>
            <p:nvPr/>
          </p:nvGrpSpPr>
          <p:grpSpPr bwMode="auto">
            <a:xfrm>
              <a:off x="1716" y="1197"/>
              <a:ext cx="1163" cy="1161"/>
              <a:chOff x="1716" y="1197"/>
              <a:chExt cx="1163" cy="1161"/>
            </a:xfrm>
          </p:grpSpPr>
          <p:grpSp>
            <p:nvGrpSpPr>
              <p:cNvPr id="7" name="Group 26"/>
              <p:cNvGrpSpPr>
                <a:grpSpLocks noChangeAspect="1"/>
              </p:cNvGrpSpPr>
              <p:nvPr/>
            </p:nvGrpSpPr>
            <p:grpSpPr bwMode="auto">
              <a:xfrm>
                <a:off x="1716" y="1197"/>
                <a:ext cx="1163" cy="1161"/>
                <a:chOff x="525" y="1152"/>
                <a:chExt cx="1449" cy="1446"/>
              </a:xfrm>
            </p:grpSpPr>
            <p:sp>
              <p:nvSpPr>
                <p:cNvPr id="133147" name="Oval 27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1"/>
                  <a:ext cx="1440" cy="14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5832" name="Oval 28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3" name="Oval 29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4" name="Oval 30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5" name="Line 31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6" name="Line 32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7" name="Line 33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8" name="Line 34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39" name="Line 35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40" name="Line 36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41" name="Oval 37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5829" name="Freeform 38"/>
              <p:cNvSpPr>
                <a:spLocks noChangeAspect="1"/>
              </p:cNvSpPr>
              <p:nvPr/>
            </p:nvSpPr>
            <p:spPr bwMode="auto">
              <a:xfrm rot="-3600000">
                <a:off x="2512" y="2050"/>
                <a:ext cx="296" cy="177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30" name="Freeform 39"/>
              <p:cNvSpPr>
                <a:spLocks noChangeAspect="1"/>
              </p:cNvSpPr>
              <p:nvPr/>
            </p:nvSpPr>
            <p:spPr bwMode="auto">
              <a:xfrm rot="-1800000">
                <a:off x="2016" y="1506"/>
                <a:ext cx="164" cy="155"/>
              </a:xfrm>
              <a:custGeom>
                <a:avLst/>
                <a:gdLst>
                  <a:gd name="T0" fmla="*/ 62 w 164"/>
                  <a:gd name="T1" fmla="*/ 155 h 155"/>
                  <a:gd name="T2" fmla="*/ 0 w 164"/>
                  <a:gd name="T3" fmla="*/ 48 h 155"/>
                  <a:gd name="T4" fmla="*/ 21 w 164"/>
                  <a:gd name="T5" fmla="*/ 38 h 155"/>
                  <a:gd name="T6" fmla="*/ 45 w 164"/>
                  <a:gd name="T7" fmla="*/ 26 h 155"/>
                  <a:gd name="T8" fmla="*/ 62 w 164"/>
                  <a:gd name="T9" fmla="*/ 21 h 155"/>
                  <a:gd name="T10" fmla="*/ 80 w 164"/>
                  <a:gd name="T11" fmla="*/ 14 h 155"/>
                  <a:gd name="T12" fmla="*/ 102 w 164"/>
                  <a:gd name="T13" fmla="*/ 9 h 155"/>
                  <a:gd name="T14" fmla="*/ 122 w 164"/>
                  <a:gd name="T15" fmla="*/ 5 h 155"/>
                  <a:gd name="T16" fmla="*/ 152 w 164"/>
                  <a:gd name="T17" fmla="*/ 2 h 155"/>
                  <a:gd name="T18" fmla="*/ 164 w 164"/>
                  <a:gd name="T19" fmla="*/ 0 h 155"/>
                  <a:gd name="T20" fmla="*/ 164 w 164"/>
                  <a:gd name="T21" fmla="*/ 129 h 155"/>
                  <a:gd name="T22" fmla="*/ 149 w 164"/>
                  <a:gd name="T23" fmla="*/ 131 h 155"/>
                  <a:gd name="T24" fmla="*/ 137 w 164"/>
                  <a:gd name="T25" fmla="*/ 131 h 155"/>
                  <a:gd name="T26" fmla="*/ 126 w 164"/>
                  <a:gd name="T27" fmla="*/ 132 h 155"/>
                  <a:gd name="T28" fmla="*/ 107 w 164"/>
                  <a:gd name="T29" fmla="*/ 138 h 155"/>
                  <a:gd name="T30" fmla="*/ 89 w 164"/>
                  <a:gd name="T31" fmla="*/ 143 h 155"/>
                  <a:gd name="T32" fmla="*/ 71 w 164"/>
                  <a:gd name="T33" fmla="*/ 150 h 155"/>
                  <a:gd name="T34" fmla="*/ 62 w 164"/>
                  <a:gd name="T35" fmla="*/ 155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4"/>
                  <a:gd name="T55" fmla="*/ 0 h 155"/>
                  <a:gd name="T56" fmla="*/ 164 w 164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4" h="155">
                    <a:moveTo>
                      <a:pt x="62" y="155"/>
                    </a:moveTo>
                    <a:lnTo>
                      <a:pt x="0" y="48"/>
                    </a:lnTo>
                    <a:lnTo>
                      <a:pt x="21" y="38"/>
                    </a:lnTo>
                    <a:lnTo>
                      <a:pt x="45" y="26"/>
                    </a:lnTo>
                    <a:lnTo>
                      <a:pt x="62" y="21"/>
                    </a:lnTo>
                    <a:lnTo>
                      <a:pt x="80" y="14"/>
                    </a:lnTo>
                    <a:lnTo>
                      <a:pt x="102" y="9"/>
                    </a:lnTo>
                    <a:lnTo>
                      <a:pt x="122" y="5"/>
                    </a:lnTo>
                    <a:lnTo>
                      <a:pt x="152" y="2"/>
                    </a:lnTo>
                    <a:lnTo>
                      <a:pt x="164" y="0"/>
                    </a:lnTo>
                    <a:lnTo>
                      <a:pt x="164" y="129"/>
                    </a:lnTo>
                    <a:lnTo>
                      <a:pt x="149" y="131"/>
                    </a:lnTo>
                    <a:lnTo>
                      <a:pt x="137" y="131"/>
                    </a:lnTo>
                    <a:lnTo>
                      <a:pt x="126" y="132"/>
                    </a:lnTo>
                    <a:lnTo>
                      <a:pt x="107" y="138"/>
                    </a:lnTo>
                    <a:lnTo>
                      <a:pt x="89" y="143"/>
                    </a:lnTo>
                    <a:lnTo>
                      <a:pt x="71" y="150"/>
                    </a:lnTo>
                    <a:lnTo>
                      <a:pt x="62" y="15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827" name="AutoShape 40"/>
            <p:cNvSpPr>
              <a:spLocks noChangeAspect="1" noChangeArrowheads="1"/>
            </p:cNvSpPr>
            <p:nvPr/>
          </p:nvSpPr>
          <p:spPr bwMode="auto">
            <a:xfrm>
              <a:off x="220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41"/>
          <p:cNvGrpSpPr>
            <a:grpSpLocks noChangeAspect="1"/>
          </p:cNvGrpSpPr>
          <p:nvPr/>
        </p:nvGrpSpPr>
        <p:grpSpPr bwMode="auto">
          <a:xfrm>
            <a:off x="4833938" y="1625600"/>
            <a:ext cx="1727200" cy="2192338"/>
            <a:chOff x="3003" y="864"/>
            <a:chExt cx="1163" cy="1476"/>
          </a:xfrm>
        </p:grpSpPr>
        <p:grpSp>
          <p:nvGrpSpPr>
            <p:cNvPr id="9" name="Group 42"/>
            <p:cNvGrpSpPr>
              <a:grpSpLocks noChangeAspect="1"/>
            </p:cNvGrpSpPr>
            <p:nvPr/>
          </p:nvGrpSpPr>
          <p:grpSpPr bwMode="auto">
            <a:xfrm>
              <a:off x="3003" y="1176"/>
              <a:ext cx="1163" cy="1164"/>
              <a:chOff x="3003" y="1176"/>
              <a:chExt cx="1163" cy="1164"/>
            </a:xfrm>
          </p:grpSpPr>
          <p:grpSp>
            <p:nvGrpSpPr>
              <p:cNvPr id="10" name="Group 43"/>
              <p:cNvGrpSpPr>
                <a:grpSpLocks noChangeAspect="1"/>
              </p:cNvGrpSpPr>
              <p:nvPr/>
            </p:nvGrpSpPr>
            <p:grpSpPr bwMode="auto">
              <a:xfrm>
                <a:off x="3003" y="1179"/>
                <a:ext cx="1163" cy="1161"/>
                <a:chOff x="525" y="1152"/>
                <a:chExt cx="1449" cy="1446"/>
              </a:xfrm>
            </p:grpSpPr>
            <p:sp>
              <p:nvSpPr>
                <p:cNvPr id="133164" name="Oval 44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2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5816" name="Oval 45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17" name="Oval 46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18" name="Oval 47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19" name="Line 48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0" name="Line 49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1" name="Line 50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2" name="Line 51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3" name="Line 52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4" name="Line 53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25" name="Oval 54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5812" name="Freeform 55"/>
              <p:cNvSpPr>
                <a:spLocks noChangeAspect="1"/>
              </p:cNvSpPr>
              <p:nvPr/>
            </p:nvSpPr>
            <p:spPr bwMode="auto">
              <a:xfrm rot="10800000">
                <a:off x="3582" y="1182"/>
                <a:ext cx="293" cy="189"/>
              </a:xfrm>
              <a:custGeom>
                <a:avLst/>
                <a:gdLst>
                  <a:gd name="T0" fmla="*/ 0 w 287"/>
                  <a:gd name="T1" fmla="*/ 102 h 177"/>
                  <a:gd name="T2" fmla="*/ 59 w 287"/>
                  <a:gd name="T3" fmla="*/ 0 h 177"/>
                  <a:gd name="T4" fmla="*/ 89 w 287"/>
                  <a:gd name="T5" fmla="*/ 17 h 177"/>
                  <a:gd name="T6" fmla="*/ 117 w 287"/>
                  <a:gd name="T7" fmla="*/ 30 h 177"/>
                  <a:gd name="T8" fmla="*/ 147 w 287"/>
                  <a:gd name="T9" fmla="*/ 42 h 177"/>
                  <a:gd name="T10" fmla="*/ 168 w 287"/>
                  <a:gd name="T11" fmla="*/ 48 h 177"/>
                  <a:gd name="T12" fmla="*/ 195 w 287"/>
                  <a:gd name="T13" fmla="*/ 56 h 177"/>
                  <a:gd name="T14" fmla="*/ 222 w 287"/>
                  <a:gd name="T15" fmla="*/ 60 h 177"/>
                  <a:gd name="T16" fmla="*/ 246 w 287"/>
                  <a:gd name="T17" fmla="*/ 65 h 177"/>
                  <a:gd name="T18" fmla="*/ 264 w 287"/>
                  <a:gd name="T19" fmla="*/ 66 h 177"/>
                  <a:gd name="T20" fmla="*/ 287 w 287"/>
                  <a:gd name="T21" fmla="*/ 66 h 177"/>
                  <a:gd name="T22" fmla="*/ 287 w 287"/>
                  <a:gd name="T23" fmla="*/ 177 h 177"/>
                  <a:gd name="T24" fmla="*/ 252 w 287"/>
                  <a:gd name="T25" fmla="*/ 177 h 177"/>
                  <a:gd name="T26" fmla="*/ 228 w 287"/>
                  <a:gd name="T27" fmla="*/ 176 h 177"/>
                  <a:gd name="T28" fmla="*/ 200 w 287"/>
                  <a:gd name="T29" fmla="*/ 173 h 177"/>
                  <a:gd name="T30" fmla="*/ 170 w 287"/>
                  <a:gd name="T31" fmla="*/ 167 h 177"/>
                  <a:gd name="T32" fmla="*/ 144 w 287"/>
                  <a:gd name="T33" fmla="*/ 161 h 177"/>
                  <a:gd name="T34" fmla="*/ 110 w 287"/>
                  <a:gd name="T35" fmla="*/ 152 h 177"/>
                  <a:gd name="T36" fmla="*/ 69 w 287"/>
                  <a:gd name="T37" fmla="*/ 138 h 177"/>
                  <a:gd name="T38" fmla="*/ 42 w 287"/>
                  <a:gd name="T39" fmla="*/ 126 h 177"/>
                  <a:gd name="T40" fmla="*/ 23 w 287"/>
                  <a:gd name="T41" fmla="*/ 116 h 177"/>
                  <a:gd name="T42" fmla="*/ 0 w 287"/>
                  <a:gd name="T43" fmla="*/ 102 h 1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7"/>
                  <a:gd name="T67" fmla="*/ 0 h 177"/>
                  <a:gd name="T68" fmla="*/ 287 w 287"/>
                  <a:gd name="T69" fmla="*/ 177 h 1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7" h="177">
                    <a:moveTo>
                      <a:pt x="0" y="102"/>
                    </a:moveTo>
                    <a:lnTo>
                      <a:pt x="59" y="0"/>
                    </a:lnTo>
                    <a:lnTo>
                      <a:pt x="89" y="17"/>
                    </a:lnTo>
                    <a:lnTo>
                      <a:pt x="117" y="30"/>
                    </a:lnTo>
                    <a:lnTo>
                      <a:pt x="147" y="42"/>
                    </a:lnTo>
                    <a:lnTo>
                      <a:pt x="168" y="48"/>
                    </a:lnTo>
                    <a:lnTo>
                      <a:pt x="195" y="56"/>
                    </a:lnTo>
                    <a:lnTo>
                      <a:pt x="222" y="60"/>
                    </a:lnTo>
                    <a:lnTo>
                      <a:pt x="246" y="65"/>
                    </a:lnTo>
                    <a:lnTo>
                      <a:pt x="264" y="66"/>
                    </a:lnTo>
                    <a:lnTo>
                      <a:pt x="287" y="66"/>
                    </a:lnTo>
                    <a:lnTo>
                      <a:pt x="287" y="177"/>
                    </a:lnTo>
                    <a:lnTo>
                      <a:pt x="252" y="177"/>
                    </a:lnTo>
                    <a:lnTo>
                      <a:pt x="228" y="176"/>
                    </a:lnTo>
                    <a:lnTo>
                      <a:pt x="200" y="173"/>
                    </a:lnTo>
                    <a:lnTo>
                      <a:pt x="170" y="167"/>
                    </a:lnTo>
                    <a:lnTo>
                      <a:pt x="144" y="161"/>
                    </a:lnTo>
                    <a:lnTo>
                      <a:pt x="110" y="152"/>
                    </a:lnTo>
                    <a:lnTo>
                      <a:pt x="69" y="138"/>
                    </a:lnTo>
                    <a:lnTo>
                      <a:pt x="42" y="126"/>
                    </a:lnTo>
                    <a:lnTo>
                      <a:pt x="23" y="116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13" name="Freeform 56"/>
              <p:cNvSpPr>
                <a:spLocks noChangeAspect="1"/>
              </p:cNvSpPr>
              <p:nvPr/>
            </p:nvSpPr>
            <p:spPr bwMode="auto">
              <a:xfrm>
                <a:off x="3414" y="1970"/>
                <a:ext cx="170" cy="139"/>
              </a:xfrm>
              <a:custGeom>
                <a:avLst/>
                <a:gdLst>
                  <a:gd name="T0" fmla="*/ 0 w 170"/>
                  <a:gd name="T1" fmla="*/ 85 h 139"/>
                  <a:gd name="T2" fmla="*/ 50 w 170"/>
                  <a:gd name="T3" fmla="*/ 0 h 139"/>
                  <a:gd name="T4" fmla="*/ 75 w 170"/>
                  <a:gd name="T5" fmla="*/ 15 h 139"/>
                  <a:gd name="T6" fmla="*/ 102 w 170"/>
                  <a:gd name="T7" fmla="*/ 24 h 139"/>
                  <a:gd name="T8" fmla="*/ 128 w 170"/>
                  <a:gd name="T9" fmla="*/ 31 h 139"/>
                  <a:gd name="T10" fmla="*/ 170 w 170"/>
                  <a:gd name="T11" fmla="*/ 36 h 139"/>
                  <a:gd name="T12" fmla="*/ 170 w 170"/>
                  <a:gd name="T13" fmla="*/ 139 h 139"/>
                  <a:gd name="T14" fmla="*/ 141 w 170"/>
                  <a:gd name="T15" fmla="*/ 136 h 139"/>
                  <a:gd name="T16" fmla="*/ 105 w 170"/>
                  <a:gd name="T17" fmla="*/ 130 h 139"/>
                  <a:gd name="T18" fmla="*/ 74 w 170"/>
                  <a:gd name="T19" fmla="*/ 121 h 139"/>
                  <a:gd name="T20" fmla="*/ 38 w 170"/>
                  <a:gd name="T21" fmla="*/ 108 h 139"/>
                  <a:gd name="T22" fmla="*/ 23 w 170"/>
                  <a:gd name="T23" fmla="*/ 102 h 139"/>
                  <a:gd name="T24" fmla="*/ 0 w 170"/>
                  <a:gd name="T25" fmla="*/ 85 h 1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0"/>
                  <a:gd name="T40" fmla="*/ 0 h 139"/>
                  <a:gd name="T41" fmla="*/ 170 w 170"/>
                  <a:gd name="T42" fmla="*/ 139 h 1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0" h="139">
                    <a:moveTo>
                      <a:pt x="0" y="85"/>
                    </a:moveTo>
                    <a:lnTo>
                      <a:pt x="50" y="0"/>
                    </a:lnTo>
                    <a:lnTo>
                      <a:pt x="75" y="15"/>
                    </a:lnTo>
                    <a:lnTo>
                      <a:pt x="102" y="24"/>
                    </a:lnTo>
                    <a:lnTo>
                      <a:pt x="128" y="31"/>
                    </a:lnTo>
                    <a:lnTo>
                      <a:pt x="170" y="36"/>
                    </a:lnTo>
                    <a:lnTo>
                      <a:pt x="170" y="139"/>
                    </a:lnTo>
                    <a:lnTo>
                      <a:pt x="141" y="136"/>
                    </a:lnTo>
                    <a:lnTo>
                      <a:pt x="105" y="130"/>
                    </a:lnTo>
                    <a:lnTo>
                      <a:pt x="74" y="121"/>
                    </a:lnTo>
                    <a:lnTo>
                      <a:pt x="38" y="108"/>
                    </a:lnTo>
                    <a:lnTo>
                      <a:pt x="23" y="102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14" name="Freeform 57"/>
              <p:cNvSpPr>
                <a:spLocks noChangeAspect="1"/>
              </p:cNvSpPr>
              <p:nvPr/>
            </p:nvSpPr>
            <p:spPr bwMode="auto">
              <a:xfrm>
                <a:off x="3003" y="1176"/>
                <a:ext cx="579" cy="873"/>
              </a:xfrm>
              <a:custGeom>
                <a:avLst/>
                <a:gdLst>
                  <a:gd name="T0" fmla="*/ 80 w 579"/>
                  <a:gd name="T1" fmla="*/ 873 h 873"/>
                  <a:gd name="T2" fmla="*/ 188 w 579"/>
                  <a:gd name="T3" fmla="*/ 810 h 873"/>
                  <a:gd name="T4" fmla="*/ 182 w 579"/>
                  <a:gd name="T5" fmla="*/ 800 h 873"/>
                  <a:gd name="T6" fmla="*/ 167 w 579"/>
                  <a:gd name="T7" fmla="*/ 770 h 873"/>
                  <a:gd name="T8" fmla="*/ 156 w 579"/>
                  <a:gd name="T9" fmla="*/ 741 h 873"/>
                  <a:gd name="T10" fmla="*/ 147 w 579"/>
                  <a:gd name="T11" fmla="*/ 711 h 873"/>
                  <a:gd name="T12" fmla="*/ 140 w 579"/>
                  <a:gd name="T13" fmla="*/ 687 h 873"/>
                  <a:gd name="T14" fmla="*/ 135 w 579"/>
                  <a:gd name="T15" fmla="*/ 654 h 873"/>
                  <a:gd name="T16" fmla="*/ 131 w 579"/>
                  <a:gd name="T17" fmla="*/ 614 h 873"/>
                  <a:gd name="T18" fmla="*/ 129 w 579"/>
                  <a:gd name="T19" fmla="*/ 564 h 873"/>
                  <a:gd name="T20" fmla="*/ 134 w 579"/>
                  <a:gd name="T21" fmla="*/ 525 h 873"/>
                  <a:gd name="T22" fmla="*/ 140 w 579"/>
                  <a:gd name="T23" fmla="*/ 489 h 873"/>
                  <a:gd name="T24" fmla="*/ 155 w 579"/>
                  <a:gd name="T25" fmla="*/ 434 h 873"/>
                  <a:gd name="T26" fmla="*/ 179 w 579"/>
                  <a:gd name="T27" fmla="*/ 377 h 873"/>
                  <a:gd name="T28" fmla="*/ 201 w 579"/>
                  <a:gd name="T29" fmla="*/ 338 h 873"/>
                  <a:gd name="T30" fmla="*/ 233 w 579"/>
                  <a:gd name="T31" fmla="*/ 294 h 873"/>
                  <a:gd name="T32" fmla="*/ 264 w 579"/>
                  <a:gd name="T33" fmla="*/ 258 h 873"/>
                  <a:gd name="T34" fmla="*/ 305 w 579"/>
                  <a:gd name="T35" fmla="*/ 222 h 873"/>
                  <a:gd name="T36" fmla="*/ 338 w 579"/>
                  <a:gd name="T37" fmla="*/ 198 h 873"/>
                  <a:gd name="T38" fmla="*/ 381 w 579"/>
                  <a:gd name="T39" fmla="*/ 173 h 873"/>
                  <a:gd name="T40" fmla="*/ 434 w 579"/>
                  <a:gd name="T41" fmla="*/ 149 h 873"/>
                  <a:gd name="T42" fmla="*/ 485 w 579"/>
                  <a:gd name="T43" fmla="*/ 135 h 873"/>
                  <a:gd name="T44" fmla="*/ 545 w 579"/>
                  <a:gd name="T45" fmla="*/ 125 h 873"/>
                  <a:gd name="T46" fmla="*/ 579 w 579"/>
                  <a:gd name="T47" fmla="*/ 123 h 873"/>
                  <a:gd name="T48" fmla="*/ 579 w 579"/>
                  <a:gd name="T49" fmla="*/ 0 h 873"/>
                  <a:gd name="T50" fmla="*/ 536 w 579"/>
                  <a:gd name="T51" fmla="*/ 0 h 873"/>
                  <a:gd name="T52" fmla="*/ 507 w 579"/>
                  <a:gd name="T53" fmla="*/ 6 h 873"/>
                  <a:gd name="T54" fmla="*/ 480 w 579"/>
                  <a:gd name="T55" fmla="*/ 11 h 873"/>
                  <a:gd name="T56" fmla="*/ 443 w 579"/>
                  <a:gd name="T57" fmla="*/ 17 h 873"/>
                  <a:gd name="T58" fmla="*/ 386 w 579"/>
                  <a:gd name="T59" fmla="*/ 33 h 873"/>
                  <a:gd name="T60" fmla="*/ 354 w 579"/>
                  <a:gd name="T61" fmla="*/ 48 h 873"/>
                  <a:gd name="T62" fmla="*/ 320 w 579"/>
                  <a:gd name="T63" fmla="*/ 62 h 873"/>
                  <a:gd name="T64" fmla="*/ 282 w 579"/>
                  <a:gd name="T65" fmla="*/ 86 h 873"/>
                  <a:gd name="T66" fmla="*/ 249 w 579"/>
                  <a:gd name="T67" fmla="*/ 105 h 873"/>
                  <a:gd name="T68" fmla="*/ 219 w 579"/>
                  <a:gd name="T69" fmla="*/ 128 h 873"/>
                  <a:gd name="T70" fmla="*/ 189 w 579"/>
                  <a:gd name="T71" fmla="*/ 153 h 873"/>
                  <a:gd name="T72" fmla="*/ 167 w 579"/>
                  <a:gd name="T73" fmla="*/ 174 h 873"/>
                  <a:gd name="T74" fmla="*/ 146 w 579"/>
                  <a:gd name="T75" fmla="*/ 197 h 873"/>
                  <a:gd name="T76" fmla="*/ 126 w 579"/>
                  <a:gd name="T77" fmla="*/ 222 h 873"/>
                  <a:gd name="T78" fmla="*/ 104 w 579"/>
                  <a:gd name="T79" fmla="*/ 251 h 873"/>
                  <a:gd name="T80" fmla="*/ 83 w 579"/>
                  <a:gd name="T81" fmla="*/ 282 h 873"/>
                  <a:gd name="T82" fmla="*/ 63 w 579"/>
                  <a:gd name="T83" fmla="*/ 318 h 873"/>
                  <a:gd name="T84" fmla="*/ 45 w 579"/>
                  <a:gd name="T85" fmla="*/ 357 h 873"/>
                  <a:gd name="T86" fmla="*/ 35 w 579"/>
                  <a:gd name="T87" fmla="*/ 387 h 873"/>
                  <a:gd name="T88" fmla="*/ 21 w 579"/>
                  <a:gd name="T89" fmla="*/ 429 h 873"/>
                  <a:gd name="T90" fmla="*/ 9 w 579"/>
                  <a:gd name="T91" fmla="*/ 482 h 873"/>
                  <a:gd name="T92" fmla="*/ 5 w 579"/>
                  <a:gd name="T93" fmla="*/ 518 h 873"/>
                  <a:gd name="T94" fmla="*/ 0 w 579"/>
                  <a:gd name="T95" fmla="*/ 567 h 873"/>
                  <a:gd name="T96" fmla="*/ 0 w 579"/>
                  <a:gd name="T97" fmla="*/ 611 h 873"/>
                  <a:gd name="T98" fmla="*/ 6 w 579"/>
                  <a:gd name="T99" fmla="*/ 665 h 873"/>
                  <a:gd name="T100" fmla="*/ 17 w 579"/>
                  <a:gd name="T101" fmla="*/ 717 h 873"/>
                  <a:gd name="T102" fmla="*/ 24 w 579"/>
                  <a:gd name="T103" fmla="*/ 746 h 873"/>
                  <a:gd name="T104" fmla="*/ 42 w 579"/>
                  <a:gd name="T105" fmla="*/ 795 h 873"/>
                  <a:gd name="T106" fmla="*/ 57 w 579"/>
                  <a:gd name="T107" fmla="*/ 831 h 873"/>
                  <a:gd name="T108" fmla="*/ 72 w 579"/>
                  <a:gd name="T109" fmla="*/ 858 h 873"/>
                  <a:gd name="T110" fmla="*/ 80 w 579"/>
                  <a:gd name="T111" fmla="*/ 873 h 87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579"/>
                  <a:gd name="T169" fmla="*/ 0 h 873"/>
                  <a:gd name="T170" fmla="*/ 579 w 579"/>
                  <a:gd name="T171" fmla="*/ 873 h 873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579" h="873">
                    <a:moveTo>
                      <a:pt x="80" y="873"/>
                    </a:moveTo>
                    <a:lnTo>
                      <a:pt x="188" y="810"/>
                    </a:lnTo>
                    <a:lnTo>
                      <a:pt x="182" y="800"/>
                    </a:lnTo>
                    <a:lnTo>
                      <a:pt x="167" y="770"/>
                    </a:lnTo>
                    <a:lnTo>
                      <a:pt x="156" y="741"/>
                    </a:lnTo>
                    <a:lnTo>
                      <a:pt x="147" y="711"/>
                    </a:lnTo>
                    <a:lnTo>
                      <a:pt x="140" y="687"/>
                    </a:lnTo>
                    <a:lnTo>
                      <a:pt x="135" y="654"/>
                    </a:lnTo>
                    <a:lnTo>
                      <a:pt x="131" y="614"/>
                    </a:lnTo>
                    <a:lnTo>
                      <a:pt x="129" y="564"/>
                    </a:lnTo>
                    <a:lnTo>
                      <a:pt x="134" y="525"/>
                    </a:lnTo>
                    <a:lnTo>
                      <a:pt x="140" y="489"/>
                    </a:lnTo>
                    <a:lnTo>
                      <a:pt x="155" y="434"/>
                    </a:lnTo>
                    <a:lnTo>
                      <a:pt x="179" y="377"/>
                    </a:lnTo>
                    <a:lnTo>
                      <a:pt x="201" y="338"/>
                    </a:lnTo>
                    <a:lnTo>
                      <a:pt x="233" y="294"/>
                    </a:lnTo>
                    <a:lnTo>
                      <a:pt x="264" y="258"/>
                    </a:lnTo>
                    <a:lnTo>
                      <a:pt x="305" y="222"/>
                    </a:lnTo>
                    <a:lnTo>
                      <a:pt x="338" y="198"/>
                    </a:lnTo>
                    <a:lnTo>
                      <a:pt x="381" y="173"/>
                    </a:lnTo>
                    <a:lnTo>
                      <a:pt x="434" y="149"/>
                    </a:lnTo>
                    <a:lnTo>
                      <a:pt x="485" y="135"/>
                    </a:lnTo>
                    <a:lnTo>
                      <a:pt x="545" y="125"/>
                    </a:lnTo>
                    <a:lnTo>
                      <a:pt x="579" y="123"/>
                    </a:lnTo>
                    <a:lnTo>
                      <a:pt x="579" y="0"/>
                    </a:lnTo>
                    <a:lnTo>
                      <a:pt x="536" y="0"/>
                    </a:lnTo>
                    <a:lnTo>
                      <a:pt x="507" y="6"/>
                    </a:lnTo>
                    <a:lnTo>
                      <a:pt x="480" y="11"/>
                    </a:lnTo>
                    <a:lnTo>
                      <a:pt x="443" y="17"/>
                    </a:lnTo>
                    <a:lnTo>
                      <a:pt x="386" y="33"/>
                    </a:lnTo>
                    <a:lnTo>
                      <a:pt x="354" y="48"/>
                    </a:lnTo>
                    <a:lnTo>
                      <a:pt x="320" y="62"/>
                    </a:lnTo>
                    <a:lnTo>
                      <a:pt x="282" y="86"/>
                    </a:lnTo>
                    <a:lnTo>
                      <a:pt x="249" y="105"/>
                    </a:lnTo>
                    <a:lnTo>
                      <a:pt x="219" y="128"/>
                    </a:lnTo>
                    <a:lnTo>
                      <a:pt x="189" y="153"/>
                    </a:lnTo>
                    <a:lnTo>
                      <a:pt x="167" y="174"/>
                    </a:lnTo>
                    <a:lnTo>
                      <a:pt x="146" y="197"/>
                    </a:lnTo>
                    <a:lnTo>
                      <a:pt x="126" y="222"/>
                    </a:lnTo>
                    <a:lnTo>
                      <a:pt x="104" y="251"/>
                    </a:lnTo>
                    <a:lnTo>
                      <a:pt x="83" y="282"/>
                    </a:lnTo>
                    <a:lnTo>
                      <a:pt x="63" y="318"/>
                    </a:lnTo>
                    <a:lnTo>
                      <a:pt x="45" y="357"/>
                    </a:lnTo>
                    <a:lnTo>
                      <a:pt x="35" y="387"/>
                    </a:lnTo>
                    <a:lnTo>
                      <a:pt x="21" y="429"/>
                    </a:lnTo>
                    <a:lnTo>
                      <a:pt x="9" y="482"/>
                    </a:lnTo>
                    <a:lnTo>
                      <a:pt x="5" y="518"/>
                    </a:lnTo>
                    <a:lnTo>
                      <a:pt x="0" y="567"/>
                    </a:lnTo>
                    <a:lnTo>
                      <a:pt x="0" y="611"/>
                    </a:lnTo>
                    <a:lnTo>
                      <a:pt x="6" y="665"/>
                    </a:lnTo>
                    <a:lnTo>
                      <a:pt x="17" y="717"/>
                    </a:lnTo>
                    <a:lnTo>
                      <a:pt x="24" y="746"/>
                    </a:lnTo>
                    <a:lnTo>
                      <a:pt x="42" y="795"/>
                    </a:lnTo>
                    <a:lnTo>
                      <a:pt x="57" y="831"/>
                    </a:lnTo>
                    <a:lnTo>
                      <a:pt x="72" y="858"/>
                    </a:lnTo>
                    <a:lnTo>
                      <a:pt x="80" y="8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810" name="AutoShape 58"/>
            <p:cNvSpPr>
              <a:spLocks noChangeAspect="1" noChangeArrowheads="1"/>
            </p:cNvSpPr>
            <p:nvPr/>
          </p:nvSpPr>
          <p:spPr bwMode="auto">
            <a:xfrm>
              <a:off x="3492" y="864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" name="Group 59"/>
          <p:cNvGrpSpPr>
            <a:grpSpLocks noChangeAspect="1"/>
          </p:cNvGrpSpPr>
          <p:nvPr/>
        </p:nvGrpSpPr>
        <p:grpSpPr bwMode="auto">
          <a:xfrm>
            <a:off x="6883400" y="1649413"/>
            <a:ext cx="1727200" cy="2168525"/>
            <a:chOff x="4299" y="858"/>
            <a:chExt cx="1163" cy="1461"/>
          </a:xfrm>
        </p:grpSpPr>
        <p:grpSp>
          <p:nvGrpSpPr>
            <p:cNvPr id="12" name="Group 60"/>
            <p:cNvGrpSpPr>
              <a:grpSpLocks noChangeAspect="1"/>
            </p:cNvGrpSpPr>
            <p:nvPr/>
          </p:nvGrpSpPr>
          <p:grpSpPr bwMode="auto">
            <a:xfrm>
              <a:off x="4299" y="1157"/>
              <a:ext cx="1163" cy="1162"/>
              <a:chOff x="4299" y="1157"/>
              <a:chExt cx="1163" cy="1162"/>
            </a:xfrm>
          </p:grpSpPr>
          <p:grpSp>
            <p:nvGrpSpPr>
              <p:cNvPr id="13" name="Group 61"/>
              <p:cNvGrpSpPr>
                <a:grpSpLocks noChangeAspect="1"/>
              </p:cNvGrpSpPr>
              <p:nvPr/>
            </p:nvGrpSpPr>
            <p:grpSpPr bwMode="auto">
              <a:xfrm>
                <a:off x="4299" y="1158"/>
                <a:ext cx="1163" cy="1161"/>
                <a:chOff x="525" y="1152"/>
                <a:chExt cx="1449" cy="1446"/>
              </a:xfrm>
            </p:grpSpPr>
            <p:sp>
              <p:nvSpPr>
                <p:cNvPr id="133182" name="Oval 62"/>
                <p:cNvSpPr>
                  <a:spLocks noChangeAspect="1" noChangeArrowheads="1"/>
                </p:cNvSpPr>
                <p:nvPr/>
              </p:nvSpPr>
              <p:spPr bwMode="auto">
                <a:xfrm>
                  <a:off x="528" y="1153"/>
                  <a:ext cx="1440" cy="14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5799" name="Oval 63"/>
                <p:cNvSpPr>
                  <a:spLocks noChangeAspect="1" noChangeArrowheads="1"/>
                </p:cNvSpPr>
                <p:nvPr/>
              </p:nvSpPr>
              <p:spPr bwMode="auto">
                <a:xfrm>
                  <a:off x="687" y="1302"/>
                  <a:ext cx="1152" cy="115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0" name="Oval 64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1446"/>
                  <a:ext cx="864" cy="8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1" name="Oval 65"/>
                <p:cNvSpPr>
                  <a:spLocks noChangeAspect="1" noChangeArrowheads="1"/>
                </p:cNvSpPr>
                <p:nvPr/>
              </p:nvSpPr>
              <p:spPr bwMode="auto">
                <a:xfrm>
                  <a:off x="963" y="1605"/>
                  <a:ext cx="576" cy="5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2" name="Line 66"/>
                <p:cNvSpPr>
                  <a:spLocks noChangeAspect="1" noChangeShapeType="1"/>
                </p:cNvSpPr>
                <p:nvPr/>
              </p:nvSpPr>
              <p:spPr bwMode="auto">
                <a:xfrm>
                  <a:off x="1248" y="1152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3" name="Line 67"/>
                <p:cNvSpPr>
                  <a:spLocks noChangeAspect="1" noChangeShapeType="1"/>
                </p:cNvSpPr>
                <p:nvPr/>
              </p:nvSpPr>
              <p:spPr bwMode="auto">
                <a:xfrm rot="1800000">
                  <a:off x="1251" y="1155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4" name="Line 68"/>
                <p:cNvSpPr>
                  <a:spLocks noChangeAspect="1" noChangeShapeType="1"/>
                </p:cNvSpPr>
                <p:nvPr/>
              </p:nvSpPr>
              <p:spPr bwMode="auto">
                <a:xfrm rot="3600000">
                  <a:off x="1245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5" name="Line 69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1245" y="1140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6" name="Line 70"/>
                <p:cNvSpPr>
                  <a:spLocks noChangeAspect="1" noChangeShapeType="1"/>
                </p:cNvSpPr>
                <p:nvPr/>
              </p:nvSpPr>
              <p:spPr bwMode="auto">
                <a:xfrm rot="7200000">
                  <a:off x="1254" y="1131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7" name="Line 71"/>
                <p:cNvSpPr>
                  <a:spLocks noChangeAspect="1" noChangeShapeType="1"/>
                </p:cNvSpPr>
                <p:nvPr/>
              </p:nvSpPr>
              <p:spPr bwMode="auto">
                <a:xfrm rot="9000000">
                  <a:off x="1263" y="1158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08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1107" y="1749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5796" name="Freeform 73"/>
              <p:cNvSpPr>
                <a:spLocks noChangeAspect="1"/>
              </p:cNvSpPr>
              <p:nvPr/>
            </p:nvSpPr>
            <p:spPr bwMode="auto">
              <a:xfrm>
                <a:off x="4596" y="1157"/>
                <a:ext cx="284" cy="183"/>
              </a:xfrm>
              <a:custGeom>
                <a:avLst/>
                <a:gdLst>
                  <a:gd name="T0" fmla="*/ 284 w 284"/>
                  <a:gd name="T1" fmla="*/ 120 h 183"/>
                  <a:gd name="T2" fmla="*/ 284 w 284"/>
                  <a:gd name="T3" fmla="*/ 0 h 183"/>
                  <a:gd name="T4" fmla="*/ 251 w 284"/>
                  <a:gd name="T5" fmla="*/ 1 h 183"/>
                  <a:gd name="T6" fmla="*/ 219 w 284"/>
                  <a:gd name="T7" fmla="*/ 3 h 183"/>
                  <a:gd name="T8" fmla="*/ 183 w 284"/>
                  <a:gd name="T9" fmla="*/ 9 h 183"/>
                  <a:gd name="T10" fmla="*/ 137 w 284"/>
                  <a:gd name="T11" fmla="*/ 19 h 183"/>
                  <a:gd name="T12" fmla="*/ 92 w 284"/>
                  <a:gd name="T13" fmla="*/ 31 h 183"/>
                  <a:gd name="T14" fmla="*/ 65 w 284"/>
                  <a:gd name="T15" fmla="*/ 42 h 183"/>
                  <a:gd name="T16" fmla="*/ 36 w 284"/>
                  <a:gd name="T17" fmla="*/ 54 h 183"/>
                  <a:gd name="T18" fmla="*/ 0 w 284"/>
                  <a:gd name="T19" fmla="*/ 75 h 183"/>
                  <a:gd name="T20" fmla="*/ 63 w 284"/>
                  <a:gd name="T21" fmla="*/ 183 h 183"/>
                  <a:gd name="T22" fmla="*/ 98 w 284"/>
                  <a:gd name="T23" fmla="*/ 165 h 183"/>
                  <a:gd name="T24" fmla="*/ 132 w 284"/>
                  <a:gd name="T25" fmla="*/ 150 h 183"/>
                  <a:gd name="T26" fmla="*/ 171 w 284"/>
                  <a:gd name="T27" fmla="*/ 138 h 183"/>
                  <a:gd name="T28" fmla="*/ 198 w 284"/>
                  <a:gd name="T29" fmla="*/ 130 h 183"/>
                  <a:gd name="T30" fmla="*/ 242 w 284"/>
                  <a:gd name="T31" fmla="*/ 123 h 183"/>
                  <a:gd name="T32" fmla="*/ 284 w 284"/>
                  <a:gd name="T33" fmla="*/ 120 h 18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4"/>
                  <a:gd name="T52" fmla="*/ 0 h 183"/>
                  <a:gd name="T53" fmla="*/ 284 w 284"/>
                  <a:gd name="T54" fmla="*/ 183 h 18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4" h="183">
                    <a:moveTo>
                      <a:pt x="284" y="120"/>
                    </a:moveTo>
                    <a:lnTo>
                      <a:pt x="284" y="0"/>
                    </a:lnTo>
                    <a:lnTo>
                      <a:pt x="251" y="1"/>
                    </a:lnTo>
                    <a:lnTo>
                      <a:pt x="219" y="3"/>
                    </a:lnTo>
                    <a:lnTo>
                      <a:pt x="183" y="9"/>
                    </a:lnTo>
                    <a:lnTo>
                      <a:pt x="137" y="19"/>
                    </a:lnTo>
                    <a:lnTo>
                      <a:pt x="92" y="31"/>
                    </a:lnTo>
                    <a:lnTo>
                      <a:pt x="65" y="42"/>
                    </a:lnTo>
                    <a:lnTo>
                      <a:pt x="36" y="54"/>
                    </a:lnTo>
                    <a:lnTo>
                      <a:pt x="0" y="75"/>
                    </a:lnTo>
                    <a:lnTo>
                      <a:pt x="63" y="183"/>
                    </a:lnTo>
                    <a:lnTo>
                      <a:pt x="98" y="165"/>
                    </a:lnTo>
                    <a:lnTo>
                      <a:pt x="132" y="150"/>
                    </a:lnTo>
                    <a:lnTo>
                      <a:pt x="171" y="138"/>
                    </a:lnTo>
                    <a:lnTo>
                      <a:pt x="198" y="130"/>
                    </a:lnTo>
                    <a:lnTo>
                      <a:pt x="242" y="123"/>
                    </a:lnTo>
                    <a:lnTo>
                      <a:pt x="284" y="12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797" name="Freeform 74"/>
              <p:cNvSpPr>
                <a:spLocks noChangeAspect="1"/>
              </p:cNvSpPr>
              <p:nvPr/>
            </p:nvSpPr>
            <p:spPr bwMode="auto">
              <a:xfrm>
                <a:off x="5007" y="1839"/>
                <a:ext cx="192" cy="201"/>
              </a:xfrm>
              <a:custGeom>
                <a:avLst/>
                <a:gdLst>
                  <a:gd name="T0" fmla="*/ 0 w 192"/>
                  <a:gd name="T1" fmla="*/ 105 h 201"/>
                  <a:gd name="T2" fmla="*/ 57 w 192"/>
                  <a:gd name="T3" fmla="*/ 201 h 201"/>
                  <a:gd name="T4" fmla="*/ 93 w 192"/>
                  <a:gd name="T5" fmla="*/ 183 h 201"/>
                  <a:gd name="T6" fmla="*/ 123 w 192"/>
                  <a:gd name="T7" fmla="*/ 153 h 201"/>
                  <a:gd name="T8" fmla="*/ 156 w 192"/>
                  <a:gd name="T9" fmla="*/ 117 h 201"/>
                  <a:gd name="T10" fmla="*/ 183 w 192"/>
                  <a:gd name="T11" fmla="*/ 75 h 201"/>
                  <a:gd name="T12" fmla="*/ 192 w 192"/>
                  <a:gd name="T13" fmla="*/ 57 h 201"/>
                  <a:gd name="T14" fmla="*/ 87 w 192"/>
                  <a:gd name="T15" fmla="*/ 0 h 201"/>
                  <a:gd name="T16" fmla="*/ 75 w 192"/>
                  <a:gd name="T17" fmla="*/ 24 h 201"/>
                  <a:gd name="T18" fmla="*/ 54 w 192"/>
                  <a:gd name="T19" fmla="*/ 51 h 201"/>
                  <a:gd name="T20" fmla="*/ 27 w 192"/>
                  <a:gd name="T21" fmla="*/ 81 h 201"/>
                  <a:gd name="T22" fmla="*/ 0 w 192"/>
                  <a:gd name="T23" fmla="*/ 105 h 20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2"/>
                  <a:gd name="T37" fmla="*/ 0 h 201"/>
                  <a:gd name="T38" fmla="*/ 192 w 192"/>
                  <a:gd name="T39" fmla="*/ 201 h 20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2" h="201">
                    <a:moveTo>
                      <a:pt x="0" y="105"/>
                    </a:moveTo>
                    <a:lnTo>
                      <a:pt x="57" y="201"/>
                    </a:lnTo>
                    <a:lnTo>
                      <a:pt x="93" y="183"/>
                    </a:lnTo>
                    <a:lnTo>
                      <a:pt x="123" y="153"/>
                    </a:lnTo>
                    <a:lnTo>
                      <a:pt x="156" y="117"/>
                    </a:lnTo>
                    <a:lnTo>
                      <a:pt x="183" y="75"/>
                    </a:lnTo>
                    <a:lnTo>
                      <a:pt x="192" y="57"/>
                    </a:lnTo>
                    <a:lnTo>
                      <a:pt x="87" y="0"/>
                    </a:lnTo>
                    <a:lnTo>
                      <a:pt x="75" y="24"/>
                    </a:lnTo>
                    <a:lnTo>
                      <a:pt x="54" y="51"/>
                    </a:lnTo>
                    <a:lnTo>
                      <a:pt x="27" y="81"/>
                    </a:ln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794" name="AutoShape 75"/>
            <p:cNvSpPr>
              <a:spLocks noChangeAspect="1" noChangeArrowheads="1"/>
            </p:cNvSpPr>
            <p:nvPr/>
          </p:nvSpPr>
          <p:spPr bwMode="auto">
            <a:xfrm>
              <a:off x="4782" y="858"/>
              <a:ext cx="195" cy="375"/>
            </a:xfrm>
            <a:prstGeom prst="downArrow">
              <a:avLst>
                <a:gd name="adj1" fmla="val 50000"/>
                <a:gd name="adj2" fmla="val 48077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787" name="AutoShape 76"/>
          <p:cNvSpPr>
            <a:spLocks noChangeArrowheads="1"/>
          </p:cNvSpPr>
          <p:nvPr/>
        </p:nvSpPr>
        <p:spPr bwMode="auto">
          <a:xfrm>
            <a:off x="381000" y="2065338"/>
            <a:ext cx="304800" cy="1752600"/>
          </a:xfrm>
          <a:prstGeom prst="curvedRightArrow">
            <a:avLst>
              <a:gd name="adj1" fmla="val 115000"/>
              <a:gd name="adj2" fmla="val 230000"/>
              <a:gd name="adj3" fmla="val 33333"/>
            </a:avLst>
          </a:prstGeom>
          <a:solidFill>
            <a:srgbClr val="F7F5C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658653" y="5341203"/>
            <a:ext cx="1855947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latin typeface="Calibri" pitchFamily="34" charset="0"/>
              </a:rPr>
              <a:t>Data transfer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854" y="5341203"/>
            <a:ext cx="787746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latin typeface="Calibri" pitchFamily="34" charset="0"/>
              </a:rPr>
              <a:t>Seek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76800" y="5341203"/>
            <a:ext cx="165657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Rotational </a:t>
            </a:r>
          </a:p>
          <a:p>
            <a:pPr algn="ctr"/>
            <a:r>
              <a:rPr lang="en-US" dirty="0">
                <a:latin typeface="Calibri" pitchFamily="34" charset="0"/>
              </a:rPr>
              <a:t>latency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30853" y="5341203"/>
            <a:ext cx="1855947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latin typeface="Calibri" pitchFamily="34" charset="0"/>
              </a:rPr>
              <a:t>Data transfer</a:t>
            </a:r>
          </a:p>
        </p:txBody>
      </p:sp>
      <p:cxnSp>
        <p:nvCxnSpPr>
          <p:cNvPr id="89" name="Straight Arrow Connector 88"/>
          <p:cNvCxnSpPr>
            <a:stCxn id="84" idx="0"/>
          </p:cNvCxnSpPr>
          <p:nvPr/>
        </p:nvCxnSpPr>
        <p:spPr bwMode="auto">
          <a:xfrm rot="5400000" flipH="1" flipV="1">
            <a:off x="1210559" y="4949437"/>
            <a:ext cx="767834" cy="156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0" name="Straight Arrow Connector 89"/>
          <p:cNvCxnSpPr/>
          <p:nvPr/>
        </p:nvCxnSpPr>
        <p:spPr bwMode="auto">
          <a:xfrm rot="5400000" flipH="1" flipV="1">
            <a:off x="3267302" y="5011052"/>
            <a:ext cx="773668" cy="156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1" name="Straight Arrow Connector 90"/>
          <p:cNvCxnSpPr/>
          <p:nvPr/>
        </p:nvCxnSpPr>
        <p:spPr bwMode="auto">
          <a:xfrm rot="5400000" flipH="1" flipV="1">
            <a:off x="5317810" y="5011052"/>
            <a:ext cx="773668" cy="156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2" name="Straight Arrow Connector 91"/>
          <p:cNvCxnSpPr/>
          <p:nvPr/>
        </p:nvCxnSpPr>
        <p:spPr bwMode="auto">
          <a:xfrm rot="5400000" flipH="1" flipV="1">
            <a:off x="7367272" y="5022720"/>
            <a:ext cx="773668" cy="156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682144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Access Time</a:t>
            </a:r>
          </a:p>
        </p:txBody>
      </p:sp>
      <p:sp>
        <p:nvSpPr>
          <p:cNvPr id="125957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366125" cy="4972050"/>
          </a:xfrm>
        </p:spPr>
        <p:txBody>
          <a:bodyPr/>
          <a:lstStyle/>
          <a:p>
            <a:r>
              <a:rPr lang="en-US" dirty="0"/>
              <a:t>Average time to access some target sector approximated by: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access</a:t>
            </a:r>
            <a:r>
              <a:rPr lang="en-US" dirty="0"/>
              <a:t>  =  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seek</a:t>
            </a:r>
            <a:r>
              <a:rPr lang="en-US" dirty="0"/>
              <a:t> +  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rotation</a:t>
            </a:r>
            <a:r>
              <a:rPr lang="en-US" dirty="0"/>
              <a:t> + 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transfer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C00000"/>
                </a:solidFill>
              </a:rPr>
              <a:t>Seek time </a:t>
            </a:r>
            <a:r>
              <a:rPr lang="en-US" dirty="0"/>
              <a:t>(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seek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Time to position heads over cylinder containing target sector.</a:t>
            </a:r>
          </a:p>
          <a:p>
            <a:pPr lvl="1"/>
            <a:r>
              <a:rPr lang="en-US" dirty="0"/>
              <a:t>Typical  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seek</a:t>
            </a:r>
            <a:r>
              <a:rPr lang="en-US" dirty="0"/>
              <a:t> is 3—9 ms</a:t>
            </a:r>
          </a:p>
          <a:p>
            <a:r>
              <a:rPr lang="en-US" dirty="0">
                <a:solidFill>
                  <a:srgbClr val="C00000"/>
                </a:solidFill>
              </a:rPr>
              <a:t>Rotational latency </a:t>
            </a:r>
            <a:r>
              <a:rPr lang="en-US" dirty="0"/>
              <a:t>(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rotation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Time waiting for first bit of target sector to pass under the head.</a:t>
            </a:r>
          </a:p>
          <a:p>
            <a:pPr lvl="1"/>
            <a:r>
              <a:rPr lang="en-US" dirty="0"/>
              <a:t>Typical rotational rate = 7,200 RPMs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rotation</a:t>
            </a:r>
            <a:r>
              <a:rPr lang="en-US" dirty="0"/>
              <a:t> = 1/2 x 1/RPMs x 60 sec/1 min = 4.17ms.</a:t>
            </a:r>
          </a:p>
          <a:p>
            <a:r>
              <a:rPr lang="en-US" dirty="0">
                <a:solidFill>
                  <a:srgbClr val="C00000"/>
                </a:solidFill>
              </a:rPr>
              <a:t>Transfer time </a:t>
            </a:r>
            <a:r>
              <a:rPr lang="en-US" dirty="0"/>
              <a:t>(</a:t>
            </a:r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transfer</a:t>
            </a:r>
            <a:r>
              <a:rPr lang="en-US" dirty="0"/>
              <a:t>)	</a:t>
            </a:r>
          </a:p>
          <a:p>
            <a:pPr lvl="1"/>
            <a:r>
              <a:rPr lang="en-US" dirty="0"/>
              <a:t>Time to read the bits in the target sector.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transfer</a:t>
            </a:r>
            <a:r>
              <a:rPr lang="en-US" dirty="0"/>
              <a:t> = </a:t>
            </a:r>
            <a:r>
              <a:rPr lang="en-US" dirty="0">
                <a:solidFill>
                  <a:srgbClr val="00B050"/>
                </a:solidFill>
              </a:rPr>
              <a:t>1/RPM </a:t>
            </a:r>
            <a:r>
              <a:rPr lang="en-US" dirty="0"/>
              <a:t>x </a:t>
            </a:r>
            <a:r>
              <a:rPr lang="en-US" dirty="0">
                <a:solidFill>
                  <a:schemeClr val="accent2"/>
                </a:solidFill>
              </a:rPr>
              <a:t>1/(avg # sectors/track) </a:t>
            </a:r>
            <a:r>
              <a:rPr lang="en-US" dirty="0"/>
              <a:t>x 60 secs/1 min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31DC9A-F7F5-4E8C-9C32-75EDF818848F}"/>
              </a:ext>
            </a:extLst>
          </p:cNvPr>
          <p:cNvCxnSpPr>
            <a:cxnSpLocks/>
          </p:cNvCxnSpPr>
          <p:nvPr/>
        </p:nvCxnSpPr>
        <p:spPr bwMode="auto">
          <a:xfrm flipV="1">
            <a:off x="2573079" y="6071192"/>
            <a:ext cx="101009" cy="19138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6566A9-9D08-4D7C-B06D-4EE7C943ABE6}"/>
              </a:ext>
            </a:extLst>
          </p:cNvPr>
          <p:cNvSpPr txBox="1"/>
          <p:nvPr/>
        </p:nvSpPr>
        <p:spPr>
          <a:xfrm>
            <a:off x="196702" y="6195865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50"/>
                </a:solidFill>
                <a:latin typeface="Calibri" pitchFamily="34" charset="0"/>
              </a:rPr>
              <a:t>time for one rotation (in minutes)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2E2EC3-B071-4B46-891F-B79DA65BC9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057472" y="6071192"/>
            <a:ext cx="0" cy="191384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C42B4-33D0-4C79-BEA5-6B44F7443304}"/>
              </a:ext>
            </a:extLst>
          </p:cNvPr>
          <p:cNvSpPr txBox="1"/>
          <p:nvPr/>
        </p:nvSpPr>
        <p:spPr>
          <a:xfrm>
            <a:off x="3586716" y="6195865"/>
            <a:ext cx="318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accent2"/>
                </a:solidFill>
                <a:latin typeface="Calibri" pitchFamily="34" charset="0"/>
              </a:rPr>
              <a:t>fraction of a rotation to be read</a:t>
            </a:r>
          </a:p>
        </p:txBody>
      </p:sp>
    </p:spTree>
    <p:extLst>
      <p:ext uri="{BB962C8B-B14F-4D97-AF65-F5344CB8AC3E}">
        <p14:creationId xmlns:p14="http://schemas.microsoft.com/office/powerpoint/2010/main" val="117230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Access Time Example</a:t>
            </a:r>
          </a:p>
        </p:txBody>
      </p:sp>
      <p:sp>
        <p:nvSpPr>
          <p:cNvPr id="126981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396875" y="1288502"/>
            <a:ext cx="8747125" cy="4972050"/>
          </a:xfrm>
        </p:spPr>
        <p:txBody>
          <a:bodyPr/>
          <a:lstStyle/>
          <a:p>
            <a:r>
              <a:rPr lang="en-US" dirty="0"/>
              <a:t>Given:</a:t>
            </a:r>
          </a:p>
          <a:p>
            <a:pPr lvl="1"/>
            <a:r>
              <a:rPr lang="en-US" dirty="0"/>
              <a:t>Rotational rate = 7,200 RPM</a:t>
            </a:r>
          </a:p>
          <a:p>
            <a:pPr lvl="1"/>
            <a:r>
              <a:rPr lang="en-US" dirty="0"/>
              <a:t>Average seek time = </a:t>
            </a:r>
            <a:r>
              <a:rPr lang="en-US" dirty="0">
                <a:solidFill>
                  <a:srgbClr val="C00000"/>
                </a:solidFill>
              </a:rPr>
              <a:t>9 </a:t>
            </a:r>
            <a:r>
              <a:rPr lang="en-US" dirty="0" err="1">
                <a:solidFill>
                  <a:srgbClr val="C00000"/>
                </a:solidFill>
              </a:rPr>
              <a:t>ms</a:t>
            </a:r>
            <a:endParaRPr lang="en-US" dirty="0"/>
          </a:p>
          <a:p>
            <a:pPr lvl="1"/>
            <a:r>
              <a:rPr lang="en-US" dirty="0"/>
              <a:t>Avg # sectors/track = 400</a:t>
            </a:r>
          </a:p>
          <a:p>
            <a:r>
              <a:rPr lang="en-US" dirty="0"/>
              <a:t>Derived: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rotation</a:t>
            </a:r>
            <a:r>
              <a:rPr lang="en-US" dirty="0"/>
              <a:t> = 1/2 x (60 secs/7200 RPM) x 1000 ms/sec = </a:t>
            </a:r>
            <a:r>
              <a:rPr lang="en-US" dirty="0">
                <a:solidFill>
                  <a:srgbClr val="C00000"/>
                </a:solidFill>
              </a:rPr>
              <a:t>4.17 </a:t>
            </a:r>
            <a:r>
              <a:rPr lang="en-US" dirty="0" err="1">
                <a:solidFill>
                  <a:srgbClr val="C00000"/>
                </a:solidFill>
              </a:rPr>
              <a:t>ms</a:t>
            </a:r>
            <a:endParaRPr lang="en-US" dirty="0"/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avg</a:t>
            </a:r>
            <a:r>
              <a:rPr lang="en-US" baseline="-25000" dirty="0"/>
              <a:t> transfer</a:t>
            </a:r>
            <a:r>
              <a:rPr lang="en-US" dirty="0"/>
              <a:t> = 60/7200 x 1/400 x 1000 ms/sec = </a:t>
            </a:r>
            <a:r>
              <a:rPr lang="en-US" dirty="0">
                <a:solidFill>
                  <a:srgbClr val="C00000"/>
                </a:solidFill>
              </a:rPr>
              <a:t>0.02 ms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access</a:t>
            </a:r>
            <a:r>
              <a:rPr lang="en-US" dirty="0"/>
              <a:t>  = </a:t>
            </a:r>
            <a:r>
              <a:rPr lang="en-US" dirty="0">
                <a:solidFill>
                  <a:srgbClr val="C00000"/>
                </a:solidFill>
              </a:rPr>
              <a:t>9 ms + 4.17 ms + 0.02 ms</a:t>
            </a:r>
          </a:p>
          <a:p>
            <a:r>
              <a:rPr lang="en-US" dirty="0"/>
              <a:t>Important points:</a:t>
            </a:r>
          </a:p>
          <a:p>
            <a:pPr lvl="1"/>
            <a:r>
              <a:rPr lang="en-US" dirty="0"/>
              <a:t>Access time dominated by seek time and rotational latency.</a:t>
            </a:r>
          </a:p>
          <a:p>
            <a:pPr lvl="1"/>
            <a:r>
              <a:rPr lang="en-US" dirty="0"/>
              <a:t>First bit in a sector is the most expensive, the rest are free.</a:t>
            </a:r>
          </a:p>
          <a:p>
            <a:pPr lvl="1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SRAM access time is about  4 ns/</a:t>
            </a:r>
            <a:r>
              <a:rPr lang="en-US" b="1" i="1" dirty="0" err="1">
                <a:solidFill>
                  <a:schemeClr val="bg2">
                    <a:lumMod val="50000"/>
                  </a:schemeClr>
                </a:solidFill>
              </a:rPr>
              <a:t>doubleword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, DRAM about  60 ns</a:t>
            </a:r>
          </a:p>
          <a:p>
            <a:pPr lvl="2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Disk is about 40,000 times slower than SRAM, </a:t>
            </a:r>
          </a:p>
          <a:p>
            <a:pPr lvl="2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2,500 times slower than DRAM.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5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07E0-08A2-62D9-99A3-331C64AE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9A4E-BEDB-15FB-F42D-DE977F266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disks are slow?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Reason #2: the I/O bus</a:t>
            </a:r>
          </a:p>
        </p:txBody>
      </p:sp>
    </p:spTree>
    <p:extLst>
      <p:ext uri="{BB962C8B-B14F-4D97-AF65-F5344CB8AC3E}">
        <p14:creationId xmlns:p14="http://schemas.microsoft.com/office/powerpoint/2010/main" val="17923545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31" name="Rectangle 51"/>
          <p:cNvSpPr>
            <a:spLocks noGrp="1" noChangeArrowheads="1"/>
          </p:cNvSpPr>
          <p:nvPr>
            <p:ph type="title"/>
          </p:nvPr>
        </p:nvSpPr>
        <p:spPr>
          <a:xfrm>
            <a:off x="357018" y="334078"/>
            <a:ext cx="7592093" cy="762000"/>
          </a:xfrm>
        </p:spPr>
        <p:txBody>
          <a:bodyPr/>
          <a:lstStyle/>
          <a:p>
            <a:r>
              <a:rPr lang="en-US" dirty="0"/>
              <a:t>I/O Bus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6880225" y="2876550"/>
            <a:ext cx="909638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</p:txBody>
      </p:sp>
      <p:sp>
        <p:nvSpPr>
          <p:cNvPr id="97285" name="AutoShape 5"/>
          <p:cNvSpPr>
            <a:spLocks noChangeArrowheads="1"/>
          </p:cNvSpPr>
          <p:nvPr/>
        </p:nvSpPr>
        <p:spPr bwMode="auto">
          <a:xfrm>
            <a:off x="5356225" y="302895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4441825" y="3060700"/>
            <a:ext cx="909638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I/O 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bridge</a:t>
            </a:r>
          </a:p>
        </p:txBody>
      </p:sp>
      <p:sp>
        <p:nvSpPr>
          <p:cNvPr id="97287" name="AutoShape 7"/>
          <p:cNvSpPr>
            <a:spLocks noChangeArrowheads="1"/>
          </p:cNvSpPr>
          <p:nvPr/>
        </p:nvSpPr>
        <p:spPr bwMode="auto">
          <a:xfrm>
            <a:off x="2984500" y="3028950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1084263" y="3060700"/>
            <a:ext cx="1873250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2000250" y="173355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2000250" y="188595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1" name="Rectangle 11"/>
          <p:cNvSpPr>
            <a:spLocks noChangeArrowheads="1"/>
          </p:cNvSpPr>
          <p:nvPr/>
        </p:nvSpPr>
        <p:spPr bwMode="auto">
          <a:xfrm>
            <a:off x="2000250" y="203835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2" name="Rectangle 12"/>
          <p:cNvSpPr>
            <a:spLocks noChangeArrowheads="1"/>
          </p:cNvSpPr>
          <p:nvPr/>
        </p:nvSpPr>
        <p:spPr bwMode="auto">
          <a:xfrm>
            <a:off x="2000250" y="219075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2000250" y="2343150"/>
            <a:ext cx="684213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4" name="AutoShape 14"/>
          <p:cNvSpPr>
            <a:spLocks noChangeArrowheads="1"/>
          </p:cNvSpPr>
          <p:nvPr/>
        </p:nvSpPr>
        <p:spPr bwMode="auto">
          <a:xfrm>
            <a:off x="2773363" y="173355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5" name="AutoShape 15"/>
          <p:cNvSpPr>
            <a:spLocks noChangeArrowheads="1"/>
          </p:cNvSpPr>
          <p:nvPr/>
        </p:nvSpPr>
        <p:spPr bwMode="auto">
          <a:xfrm flipH="1">
            <a:off x="2684463" y="211455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6" name="Rectangle 16"/>
          <p:cNvSpPr>
            <a:spLocks noChangeArrowheads="1"/>
          </p:cNvSpPr>
          <p:nvPr/>
        </p:nvSpPr>
        <p:spPr bwMode="auto">
          <a:xfrm>
            <a:off x="3217863" y="158115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1717675" y="141187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7298" name="AutoShape 18"/>
          <p:cNvSpPr>
            <a:spLocks noChangeArrowheads="1"/>
          </p:cNvSpPr>
          <p:nvPr/>
        </p:nvSpPr>
        <p:spPr bwMode="auto">
          <a:xfrm>
            <a:off x="2074863" y="257175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99" name="Rectangle 19"/>
          <p:cNvSpPr>
            <a:spLocks noChangeArrowheads="1"/>
          </p:cNvSpPr>
          <p:nvPr/>
        </p:nvSpPr>
        <p:spPr bwMode="auto">
          <a:xfrm>
            <a:off x="931863" y="1352550"/>
            <a:ext cx="2971800" cy="2438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819150" y="1047750"/>
            <a:ext cx="1085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CPU chip</a:t>
            </a:r>
          </a:p>
        </p:txBody>
      </p:sp>
      <p:sp>
        <p:nvSpPr>
          <p:cNvPr id="97301" name="Text Box 21"/>
          <p:cNvSpPr txBox="1">
            <a:spLocks noChangeArrowheads="1"/>
          </p:cNvSpPr>
          <p:nvPr/>
        </p:nvSpPr>
        <p:spPr bwMode="auto">
          <a:xfrm>
            <a:off x="3865563" y="2342148"/>
            <a:ext cx="112913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System bus</a:t>
            </a:r>
          </a:p>
        </p:txBody>
      </p:sp>
      <p:sp>
        <p:nvSpPr>
          <p:cNvPr id="97302" name="Line 22"/>
          <p:cNvSpPr>
            <a:spLocks noChangeShapeType="1"/>
          </p:cNvSpPr>
          <p:nvPr/>
        </p:nvSpPr>
        <p:spPr bwMode="auto">
          <a:xfrm flipH="1">
            <a:off x="3751263" y="264795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3" name="Text Box 23"/>
          <p:cNvSpPr txBox="1">
            <a:spLocks noChangeArrowheads="1"/>
          </p:cNvSpPr>
          <p:nvPr/>
        </p:nvSpPr>
        <p:spPr bwMode="auto">
          <a:xfrm>
            <a:off x="5386388" y="2342148"/>
            <a:ext cx="117572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Memory bus</a:t>
            </a:r>
          </a:p>
        </p:txBody>
      </p:sp>
      <p:sp>
        <p:nvSpPr>
          <p:cNvPr id="97304" name="Line 24"/>
          <p:cNvSpPr>
            <a:spLocks noChangeShapeType="1"/>
          </p:cNvSpPr>
          <p:nvPr/>
        </p:nvSpPr>
        <p:spPr bwMode="auto">
          <a:xfrm>
            <a:off x="6037263" y="264795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5" name="AutoShape 25"/>
          <p:cNvSpPr>
            <a:spLocks noChangeArrowheads="1"/>
          </p:cNvSpPr>
          <p:nvPr/>
        </p:nvSpPr>
        <p:spPr bwMode="auto">
          <a:xfrm>
            <a:off x="4665663" y="37147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6" name="AutoShape 26"/>
          <p:cNvSpPr>
            <a:spLocks noChangeArrowheads="1"/>
          </p:cNvSpPr>
          <p:nvPr/>
        </p:nvSpPr>
        <p:spPr bwMode="auto">
          <a:xfrm flipV="1">
            <a:off x="5770563" y="44513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7" name="Rectangle 27"/>
          <p:cNvSpPr>
            <a:spLocks noChangeArrowheads="1"/>
          </p:cNvSpPr>
          <p:nvPr/>
        </p:nvSpPr>
        <p:spPr bwMode="auto">
          <a:xfrm>
            <a:off x="5351463" y="517525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 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97308" name="AutoShape 28"/>
          <p:cNvSpPr>
            <a:spLocks noChangeArrowheads="1"/>
          </p:cNvSpPr>
          <p:nvPr/>
        </p:nvSpPr>
        <p:spPr bwMode="auto">
          <a:xfrm flipV="1">
            <a:off x="3440113" y="44513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09" name="Rectangle 29"/>
          <p:cNvSpPr>
            <a:spLocks noChangeArrowheads="1"/>
          </p:cNvSpPr>
          <p:nvPr/>
        </p:nvSpPr>
        <p:spPr bwMode="auto">
          <a:xfrm>
            <a:off x="3021013" y="517525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Graphics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adapter</a:t>
            </a:r>
          </a:p>
        </p:txBody>
      </p:sp>
      <p:sp>
        <p:nvSpPr>
          <p:cNvPr id="97310" name="AutoShape 30"/>
          <p:cNvSpPr>
            <a:spLocks noChangeArrowheads="1"/>
          </p:cNvSpPr>
          <p:nvPr/>
        </p:nvSpPr>
        <p:spPr bwMode="auto">
          <a:xfrm flipV="1">
            <a:off x="1763713" y="44513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11" name="Rectangle 31"/>
          <p:cNvSpPr>
            <a:spLocks noChangeArrowheads="1"/>
          </p:cNvSpPr>
          <p:nvPr/>
        </p:nvSpPr>
        <p:spPr bwMode="auto">
          <a:xfrm>
            <a:off x="1420813" y="5162550"/>
            <a:ext cx="11430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USB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controller</a:t>
            </a:r>
          </a:p>
        </p:txBody>
      </p:sp>
      <p:sp>
        <p:nvSpPr>
          <p:cNvPr id="97312" name="Line 32"/>
          <p:cNvSpPr>
            <a:spLocks noChangeShapeType="1"/>
          </p:cNvSpPr>
          <p:nvPr/>
        </p:nvSpPr>
        <p:spPr bwMode="auto">
          <a:xfrm>
            <a:off x="1649413" y="569595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13" name="Line 33"/>
          <p:cNvSpPr>
            <a:spLocks noChangeShapeType="1"/>
          </p:cNvSpPr>
          <p:nvPr/>
        </p:nvSpPr>
        <p:spPr bwMode="auto">
          <a:xfrm>
            <a:off x="2411413" y="569595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14" name="Text Box 34"/>
          <p:cNvSpPr txBox="1">
            <a:spLocks noChangeArrowheads="1"/>
          </p:cNvSpPr>
          <p:nvPr/>
        </p:nvSpPr>
        <p:spPr bwMode="auto">
          <a:xfrm>
            <a:off x="1214438" y="5923548"/>
            <a:ext cx="717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Mouse</a:t>
            </a:r>
          </a:p>
        </p:txBody>
      </p:sp>
      <p:sp>
        <p:nvSpPr>
          <p:cNvPr id="97315" name="Text Box 35"/>
          <p:cNvSpPr txBox="1">
            <a:spLocks noChangeArrowheads="1"/>
          </p:cNvSpPr>
          <p:nvPr/>
        </p:nvSpPr>
        <p:spPr bwMode="auto">
          <a:xfrm>
            <a:off x="1892300" y="5923548"/>
            <a:ext cx="9606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Keyboard</a:t>
            </a:r>
          </a:p>
        </p:txBody>
      </p:sp>
      <p:sp>
        <p:nvSpPr>
          <p:cNvPr id="97316" name="Line 36"/>
          <p:cNvSpPr>
            <a:spLocks noChangeShapeType="1"/>
          </p:cNvSpPr>
          <p:nvPr/>
        </p:nvSpPr>
        <p:spPr bwMode="auto">
          <a:xfrm>
            <a:off x="3706813" y="569595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17" name="Text Box 37"/>
          <p:cNvSpPr txBox="1">
            <a:spLocks noChangeArrowheads="1"/>
          </p:cNvSpPr>
          <p:nvPr/>
        </p:nvSpPr>
        <p:spPr bwMode="auto">
          <a:xfrm>
            <a:off x="3209925" y="5923548"/>
            <a:ext cx="8014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Monitor</a:t>
            </a:r>
          </a:p>
        </p:txBody>
      </p:sp>
      <p:sp>
        <p:nvSpPr>
          <p:cNvPr id="97318" name="Line 38"/>
          <p:cNvSpPr>
            <a:spLocks noChangeShapeType="1"/>
          </p:cNvSpPr>
          <p:nvPr/>
        </p:nvSpPr>
        <p:spPr bwMode="auto">
          <a:xfrm>
            <a:off x="6011863" y="569595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19" name="AutoShape 39"/>
          <p:cNvSpPr>
            <a:spLocks noChangeArrowheads="1"/>
          </p:cNvSpPr>
          <p:nvPr/>
        </p:nvSpPr>
        <p:spPr bwMode="auto">
          <a:xfrm>
            <a:off x="5707063" y="6076950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</a:t>
            </a:r>
          </a:p>
        </p:txBody>
      </p:sp>
      <p:sp>
        <p:nvSpPr>
          <p:cNvPr id="97320" name="AutoShape 40"/>
          <p:cNvSpPr>
            <a:spLocks noChangeArrowheads="1"/>
          </p:cNvSpPr>
          <p:nvPr/>
        </p:nvSpPr>
        <p:spPr bwMode="auto">
          <a:xfrm>
            <a:off x="855663" y="4235450"/>
            <a:ext cx="7277100" cy="393700"/>
          </a:xfrm>
          <a:prstGeom prst="leftRightArrow">
            <a:avLst>
              <a:gd name="adj1" fmla="val 48611"/>
              <a:gd name="adj2" fmla="val 95500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1" name="Rectangle 41"/>
          <p:cNvSpPr>
            <a:spLocks noChangeArrowheads="1"/>
          </p:cNvSpPr>
          <p:nvPr/>
        </p:nvSpPr>
        <p:spPr bwMode="auto">
          <a:xfrm>
            <a:off x="1931988" y="4405313"/>
            <a:ext cx="166687" cy="152400"/>
          </a:xfrm>
          <a:prstGeom prst="rect">
            <a:avLst/>
          </a:prstGeom>
          <a:solidFill>
            <a:srgbClr val="F7F5CD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2" name="Rectangle 42"/>
          <p:cNvSpPr>
            <a:spLocks noChangeArrowheads="1"/>
          </p:cNvSpPr>
          <p:nvPr/>
        </p:nvSpPr>
        <p:spPr bwMode="auto">
          <a:xfrm>
            <a:off x="3608388" y="4395788"/>
            <a:ext cx="166687" cy="152400"/>
          </a:xfrm>
          <a:prstGeom prst="rect">
            <a:avLst/>
          </a:prstGeom>
          <a:solidFill>
            <a:srgbClr val="F7F5CD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3" name="Rectangle 43"/>
          <p:cNvSpPr>
            <a:spLocks noChangeArrowheads="1"/>
          </p:cNvSpPr>
          <p:nvPr/>
        </p:nvSpPr>
        <p:spPr bwMode="auto">
          <a:xfrm>
            <a:off x="5942013" y="4386263"/>
            <a:ext cx="161925" cy="152400"/>
          </a:xfrm>
          <a:prstGeom prst="rect">
            <a:avLst/>
          </a:prstGeom>
          <a:solidFill>
            <a:srgbClr val="F7F5CD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4" name="Text Box 44"/>
          <p:cNvSpPr txBox="1">
            <a:spLocks noChangeArrowheads="1"/>
          </p:cNvSpPr>
          <p:nvPr/>
        </p:nvSpPr>
        <p:spPr bwMode="auto">
          <a:xfrm>
            <a:off x="4529138" y="4540250"/>
            <a:ext cx="8747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I/O bus</a:t>
            </a:r>
          </a:p>
        </p:txBody>
      </p:sp>
      <p:sp>
        <p:nvSpPr>
          <p:cNvPr id="97325" name="Rectangle 45"/>
          <p:cNvSpPr>
            <a:spLocks noChangeArrowheads="1"/>
          </p:cNvSpPr>
          <p:nvPr/>
        </p:nvSpPr>
        <p:spPr bwMode="auto">
          <a:xfrm>
            <a:off x="4832350" y="4324350"/>
            <a:ext cx="161925" cy="152400"/>
          </a:xfrm>
          <a:prstGeom prst="rect">
            <a:avLst/>
          </a:prstGeom>
          <a:solidFill>
            <a:srgbClr val="F7F5CD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6" name="Rectangle 46"/>
          <p:cNvSpPr>
            <a:spLocks noChangeArrowheads="1"/>
          </p:cNvSpPr>
          <p:nvPr/>
        </p:nvSpPr>
        <p:spPr bwMode="auto">
          <a:xfrm>
            <a:off x="6723063" y="4248150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7" name="Rectangle 47"/>
          <p:cNvSpPr>
            <a:spLocks noChangeArrowheads="1"/>
          </p:cNvSpPr>
          <p:nvPr/>
        </p:nvSpPr>
        <p:spPr bwMode="auto">
          <a:xfrm>
            <a:off x="7027863" y="4248150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8" name="Rectangle 48"/>
          <p:cNvSpPr>
            <a:spLocks noChangeArrowheads="1"/>
          </p:cNvSpPr>
          <p:nvPr/>
        </p:nvSpPr>
        <p:spPr bwMode="auto">
          <a:xfrm>
            <a:off x="7332663" y="4248150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329" name="Text Box 49"/>
          <p:cNvSpPr txBox="1">
            <a:spLocks noChangeArrowheads="1"/>
          </p:cNvSpPr>
          <p:nvPr/>
        </p:nvSpPr>
        <p:spPr bwMode="auto">
          <a:xfrm>
            <a:off x="6708775" y="4629150"/>
            <a:ext cx="2212975" cy="1069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/>
              <a:t>Expansion slots for</a:t>
            </a:r>
          </a:p>
          <a:p>
            <a:pPr algn="l">
              <a:lnSpc>
                <a:spcPct val="100000"/>
              </a:lnSpc>
            </a:pPr>
            <a:r>
              <a:rPr lang="en-US" sz="1600"/>
              <a:t>other devices such</a:t>
            </a:r>
          </a:p>
          <a:p>
            <a:pPr algn="l">
              <a:lnSpc>
                <a:spcPct val="100000"/>
              </a:lnSpc>
            </a:pPr>
            <a:r>
              <a:rPr lang="en-US" sz="1600"/>
              <a:t>as network adapters.</a:t>
            </a:r>
          </a:p>
          <a:p>
            <a:pPr algn="l">
              <a:lnSpc>
                <a:spcPct val="10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58618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51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 Disk Sector (1)</a:t>
            </a: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6291263" y="2988677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</p:txBody>
      </p:sp>
      <p:sp>
        <p:nvSpPr>
          <p:cNvPr id="98309" name="AutoShape 5"/>
          <p:cNvSpPr>
            <a:spLocks noChangeArrowheads="1"/>
          </p:cNvSpPr>
          <p:nvPr/>
        </p:nvSpPr>
        <p:spPr bwMode="auto">
          <a:xfrm>
            <a:off x="4767263" y="31242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3852863" y="3155950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8311" name="AutoShape 7"/>
          <p:cNvSpPr>
            <a:spLocks noChangeArrowheads="1"/>
          </p:cNvSpPr>
          <p:nvPr/>
        </p:nvSpPr>
        <p:spPr bwMode="auto">
          <a:xfrm>
            <a:off x="2395538" y="3124200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1411288" y="18288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3" name="Rectangle 9"/>
          <p:cNvSpPr>
            <a:spLocks noChangeArrowheads="1"/>
          </p:cNvSpPr>
          <p:nvPr/>
        </p:nvSpPr>
        <p:spPr bwMode="auto">
          <a:xfrm>
            <a:off x="1411288" y="19812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4" name="Rectangle 10"/>
          <p:cNvSpPr>
            <a:spLocks noChangeArrowheads="1"/>
          </p:cNvSpPr>
          <p:nvPr/>
        </p:nvSpPr>
        <p:spPr bwMode="auto">
          <a:xfrm>
            <a:off x="1411288" y="21336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1411288" y="22860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6" name="Rectangle 12"/>
          <p:cNvSpPr>
            <a:spLocks noChangeArrowheads="1"/>
          </p:cNvSpPr>
          <p:nvPr/>
        </p:nvSpPr>
        <p:spPr bwMode="auto">
          <a:xfrm>
            <a:off x="1411288" y="24384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7" name="AutoShape 13"/>
          <p:cNvSpPr>
            <a:spLocks noChangeArrowheads="1"/>
          </p:cNvSpPr>
          <p:nvPr/>
        </p:nvSpPr>
        <p:spPr bwMode="auto">
          <a:xfrm>
            <a:off x="2184400" y="1828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8" name="AutoShape 14"/>
          <p:cNvSpPr>
            <a:spLocks noChangeArrowheads="1"/>
          </p:cNvSpPr>
          <p:nvPr/>
        </p:nvSpPr>
        <p:spPr bwMode="auto">
          <a:xfrm flipH="1">
            <a:off x="2095500" y="2209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19" name="Rectangle 15"/>
          <p:cNvSpPr>
            <a:spLocks noChangeArrowheads="1"/>
          </p:cNvSpPr>
          <p:nvPr/>
        </p:nvSpPr>
        <p:spPr bwMode="auto">
          <a:xfrm>
            <a:off x="2628900" y="1693277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8320" name="Text Box 16"/>
          <p:cNvSpPr txBox="1">
            <a:spLocks noChangeArrowheads="1"/>
          </p:cNvSpPr>
          <p:nvPr/>
        </p:nvSpPr>
        <p:spPr bwMode="auto">
          <a:xfrm>
            <a:off x="1128713" y="1524000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8321" name="AutoShape 17"/>
          <p:cNvSpPr>
            <a:spLocks noChangeArrowheads="1"/>
          </p:cNvSpPr>
          <p:nvPr/>
        </p:nvSpPr>
        <p:spPr bwMode="auto">
          <a:xfrm>
            <a:off x="1485900" y="26670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22" name="Rectangle 18"/>
          <p:cNvSpPr>
            <a:spLocks noChangeArrowheads="1"/>
          </p:cNvSpPr>
          <p:nvPr/>
        </p:nvSpPr>
        <p:spPr bwMode="auto">
          <a:xfrm>
            <a:off x="342900" y="1447800"/>
            <a:ext cx="2971800" cy="2438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23" name="Text Box 19"/>
          <p:cNvSpPr txBox="1">
            <a:spLocks noChangeArrowheads="1"/>
          </p:cNvSpPr>
          <p:nvPr/>
        </p:nvSpPr>
        <p:spPr bwMode="auto">
          <a:xfrm>
            <a:off x="228600" y="1143000"/>
            <a:ext cx="1085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CPU chip</a:t>
            </a:r>
          </a:p>
        </p:txBody>
      </p:sp>
      <p:sp>
        <p:nvSpPr>
          <p:cNvPr id="98324" name="AutoShape 20"/>
          <p:cNvSpPr>
            <a:spLocks noChangeArrowheads="1"/>
          </p:cNvSpPr>
          <p:nvPr/>
        </p:nvSpPr>
        <p:spPr bwMode="auto">
          <a:xfrm>
            <a:off x="4076700" y="3810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25" name="AutoShape 21"/>
          <p:cNvSpPr>
            <a:spLocks noChangeArrowheads="1"/>
          </p:cNvSpPr>
          <p:nvPr/>
        </p:nvSpPr>
        <p:spPr bwMode="auto">
          <a:xfrm flipV="1">
            <a:off x="5181600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26" name="Rectangle 22"/>
          <p:cNvSpPr>
            <a:spLocks noChangeArrowheads="1"/>
          </p:cNvSpPr>
          <p:nvPr/>
        </p:nvSpPr>
        <p:spPr bwMode="auto">
          <a:xfrm>
            <a:off x="4762500" y="5287377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 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98327" name="AutoShape 23"/>
          <p:cNvSpPr>
            <a:spLocks noChangeArrowheads="1"/>
          </p:cNvSpPr>
          <p:nvPr/>
        </p:nvSpPr>
        <p:spPr bwMode="auto">
          <a:xfrm flipV="1">
            <a:off x="2851150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28" name="Rectangle 24"/>
          <p:cNvSpPr>
            <a:spLocks noChangeArrowheads="1"/>
          </p:cNvSpPr>
          <p:nvPr/>
        </p:nvSpPr>
        <p:spPr bwMode="auto">
          <a:xfrm>
            <a:off x="2432050" y="5287377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Graphics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adapter</a:t>
            </a:r>
          </a:p>
        </p:txBody>
      </p:sp>
      <p:sp>
        <p:nvSpPr>
          <p:cNvPr id="98329" name="AutoShape 25"/>
          <p:cNvSpPr>
            <a:spLocks noChangeArrowheads="1"/>
          </p:cNvSpPr>
          <p:nvPr/>
        </p:nvSpPr>
        <p:spPr bwMode="auto">
          <a:xfrm flipV="1">
            <a:off x="1174750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30" name="Rectangle 26"/>
          <p:cNvSpPr>
            <a:spLocks noChangeArrowheads="1"/>
          </p:cNvSpPr>
          <p:nvPr/>
        </p:nvSpPr>
        <p:spPr bwMode="auto">
          <a:xfrm>
            <a:off x="831850" y="5198477"/>
            <a:ext cx="11430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USB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controller</a:t>
            </a:r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>
            <a:off x="1060450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32" name="Line 28"/>
          <p:cNvSpPr>
            <a:spLocks noChangeShapeType="1"/>
          </p:cNvSpPr>
          <p:nvPr/>
        </p:nvSpPr>
        <p:spPr bwMode="auto">
          <a:xfrm>
            <a:off x="1822450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33" name="Text Box 29"/>
          <p:cNvSpPr txBox="1">
            <a:spLocks noChangeArrowheads="1"/>
          </p:cNvSpPr>
          <p:nvPr/>
        </p:nvSpPr>
        <p:spPr bwMode="auto">
          <a:xfrm>
            <a:off x="681084" y="6035675"/>
            <a:ext cx="72698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mouse</a:t>
            </a:r>
          </a:p>
        </p:txBody>
      </p:sp>
      <p:sp>
        <p:nvSpPr>
          <p:cNvPr id="98334" name="Text Box 30"/>
          <p:cNvSpPr txBox="1">
            <a:spLocks noChangeArrowheads="1"/>
          </p:cNvSpPr>
          <p:nvPr/>
        </p:nvSpPr>
        <p:spPr bwMode="auto">
          <a:xfrm>
            <a:off x="1379879" y="6019800"/>
            <a:ext cx="93276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keyboard</a:t>
            </a:r>
          </a:p>
        </p:txBody>
      </p:sp>
      <p:sp>
        <p:nvSpPr>
          <p:cNvPr id="98335" name="Line 31"/>
          <p:cNvSpPr>
            <a:spLocks noChangeShapeType="1"/>
          </p:cNvSpPr>
          <p:nvPr/>
        </p:nvSpPr>
        <p:spPr bwMode="auto">
          <a:xfrm>
            <a:off x="3117850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36" name="Text Box 32"/>
          <p:cNvSpPr txBox="1">
            <a:spLocks noChangeArrowheads="1"/>
          </p:cNvSpPr>
          <p:nvPr/>
        </p:nvSpPr>
        <p:spPr bwMode="auto">
          <a:xfrm>
            <a:off x="2620963" y="6035675"/>
            <a:ext cx="8014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Monitor</a:t>
            </a:r>
          </a:p>
        </p:txBody>
      </p:sp>
      <p:sp>
        <p:nvSpPr>
          <p:cNvPr id="98337" name="Line 33"/>
          <p:cNvSpPr>
            <a:spLocks noChangeShapeType="1"/>
          </p:cNvSpPr>
          <p:nvPr/>
        </p:nvSpPr>
        <p:spPr bwMode="auto">
          <a:xfrm>
            <a:off x="5422900" y="5791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38" name="AutoShape 34"/>
          <p:cNvSpPr>
            <a:spLocks noChangeArrowheads="1"/>
          </p:cNvSpPr>
          <p:nvPr/>
        </p:nvSpPr>
        <p:spPr bwMode="auto">
          <a:xfrm>
            <a:off x="5124450" y="6189077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</a:t>
            </a:r>
          </a:p>
        </p:txBody>
      </p:sp>
      <p:sp>
        <p:nvSpPr>
          <p:cNvPr id="98339" name="AutoShape 35"/>
          <p:cNvSpPr>
            <a:spLocks noChangeArrowheads="1"/>
          </p:cNvSpPr>
          <p:nvPr/>
        </p:nvSpPr>
        <p:spPr bwMode="auto">
          <a:xfrm>
            <a:off x="266700" y="4330700"/>
            <a:ext cx="6972300" cy="393700"/>
          </a:xfrm>
          <a:prstGeom prst="leftRightArrow">
            <a:avLst>
              <a:gd name="adj1" fmla="val 48611"/>
              <a:gd name="adj2" fmla="val 91500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0" name="Rectangle 36"/>
          <p:cNvSpPr>
            <a:spLocks noChangeArrowheads="1"/>
          </p:cNvSpPr>
          <p:nvPr/>
        </p:nvSpPr>
        <p:spPr bwMode="auto">
          <a:xfrm>
            <a:off x="1343025" y="4500563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1" name="Rectangle 37"/>
          <p:cNvSpPr>
            <a:spLocks noChangeArrowheads="1"/>
          </p:cNvSpPr>
          <p:nvPr/>
        </p:nvSpPr>
        <p:spPr bwMode="auto">
          <a:xfrm>
            <a:off x="3019425" y="4491038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2" name="Rectangle 38"/>
          <p:cNvSpPr>
            <a:spLocks noChangeArrowheads="1"/>
          </p:cNvSpPr>
          <p:nvPr/>
        </p:nvSpPr>
        <p:spPr bwMode="auto">
          <a:xfrm>
            <a:off x="5353050" y="4481513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3" name="Text Box 39"/>
          <p:cNvSpPr txBox="1">
            <a:spLocks noChangeArrowheads="1"/>
          </p:cNvSpPr>
          <p:nvPr/>
        </p:nvSpPr>
        <p:spPr bwMode="auto">
          <a:xfrm>
            <a:off x="5553075" y="4127500"/>
            <a:ext cx="8747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I/O bus</a:t>
            </a:r>
          </a:p>
        </p:txBody>
      </p:sp>
      <p:sp>
        <p:nvSpPr>
          <p:cNvPr id="98344" name="Rectangle 40"/>
          <p:cNvSpPr>
            <a:spLocks noChangeArrowheads="1"/>
          </p:cNvSpPr>
          <p:nvPr/>
        </p:nvSpPr>
        <p:spPr bwMode="auto">
          <a:xfrm>
            <a:off x="4243388" y="4419600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5" name="Line 41"/>
          <p:cNvSpPr>
            <a:spLocks noChangeShapeType="1"/>
          </p:cNvSpPr>
          <p:nvPr/>
        </p:nvSpPr>
        <p:spPr bwMode="auto">
          <a:xfrm>
            <a:off x="2355850" y="3365500"/>
            <a:ext cx="2012950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6" name="Line 42"/>
          <p:cNvSpPr>
            <a:spLocks noChangeShapeType="1"/>
          </p:cNvSpPr>
          <p:nvPr/>
        </p:nvSpPr>
        <p:spPr bwMode="auto">
          <a:xfrm>
            <a:off x="4332288" y="3365500"/>
            <a:ext cx="0" cy="1135063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7" name="Line 43"/>
          <p:cNvSpPr>
            <a:spLocks noChangeShapeType="1"/>
          </p:cNvSpPr>
          <p:nvPr/>
        </p:nvSpPr>
        <p:spPr bwMode="auto">
          <a:xfrm flipV="1">
            <a:off x="4294188" y="4529138"/>
            <a:ext cx="1128712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8" name="Line 44"/>
          <p:cNvSpPr>
            <a:spLocks noChangeShapeType="1"/>
          </p:cNvSpPr>
          <p:nvPr/>
        </p:nvSpPr>
        <p:spPr bwMode="auto">
          <a:xfrm>
            <a:off x="5429250" y="4487863"/>
            <a:ext cx="0" cy="782637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349" name="Rectangle 45"/>
          <p:cNvSpPr>
            <a:spLocks noChangeArrowheads="1"/>
          </p:cNvSpPr>
          <p:nvPr/>
        </p:nvSpPr>
        <p:spPr bwMode="auto">
          <a:xfrm>
            <a:off x="495300" y="3172827"/>
            <a:ext cx="1873250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98350" name="Text Box 46"/>
          <p:cNvSpPr txBox="1">
            <a:spLocks noChangeArrowheads="1"/>
          </p:cNvSpPr>
          <p:nvPr/>
        </p:nvSpPr>
        <p:spPr bwMode="auto">
          <a:xfrm>
            <a:off x="4038600" y="1323975"/>
            <a:ext cx="4876800" cy="156966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 dirty="0"/>
              <a:t>CPU initiates a disk read by writing a command, logical block number, and destination memory address to a </a:t>
            </a:r>
            <a:r>
              <a:rPr lang="en-US" b="0" dirty="0">
                <a:solidFill>
                  <a:srgbClr val="FF0000"/>
                </a:solidFill>
              </a:rPr>
              <a:t>port </a:t>
            </a:r>
            <a:r>
              <a:rPr lang="en-US" b="0" dirty="0"/>
              <a:t>(address) associated with disk controller.</a:t>
            </a:r>
          </a:p>
        </p:txBody>
      </p:sp>
    </p:spTree>
    <p:extLst>
      <p:ext uri="{BB962C8B-B14F-4D97-AF65-F5344CB8AC3E}">
        <p14:creationId xmlns:p14="http://schemas.microsoft.com/office/powerpoint/2010/main" val="1012754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75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 Disk Sector (2)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6294438" y="2971800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</p:txBody>
      </p:sp>
      <p:sp>
        <p:nvSpPr>
          <p:cNvPr id="99333" name="AutoShape 5"/>
          <p:cNvSpPr>
            <a:spLocks noChangeArrowheads="1"/>
          </p:cNvSpPr>
          <p:nvPr/>
        </p:nvSpPr>
        <p:spPr bwMode="auto">
          <a:xfrm>
            <a:off x="4770438" y="31242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34" name="Rectangle 6"/>
          <p:cNvSpPr>
            <a:spLocks noChangeArrowheads="1"/>
          </p:cNvSpPr>
          <p:nvPr/>
        </p:nvSpPr>
        <p:spPr bwMode="auto">
          <a:xfrm>
            <a:off x="3856038" y="3155950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99335" name="AutoShape 7"/>
          <p:cNvSpPr>
            <a:spLocks noChangeArrowheads="1"/>
          </p:cNvSpPr>
          <p:nvPr/>
        </p:nvSpPr>
        <p:spPr bwMode="auto">
          <a:xfrm>
            <a:off x="2398713" y="3124200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36" name="Rectangle 8"/>
          <p:cNvSpPr>
            <a:spLocks noChangeArrowheads="1"/>
          </p:cNvSpPr>
          <p:nvPr/>
        </p:nvSpPr>
        <p:spPr bwMode="auto">
          <a:xfrm>
            <a:off x="1414463" y="18288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37" name="Rectangle 9"/>
          <p:cNvSpPr>
            <a:spLocks noChangeArrowheads="1"/>
          </p:cNvSpPr>
          <p:nvPr/>
        </p:nvSpPr>
        <p:spPr bwMode="auto">
          <a:xfrm>
            <a:off x="1414463" y="19812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1414463" y="21336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39" name="Rectangle 11"/>
          <p:cNvSpPr>
            <a:spLocks noChangeArrowheads="1"/>
          </p:cNvSpPr>
          <p:nvPr/>
        </p:nvSpPr>
        <p:spPr bwMode="auto">
          <a:xfrm>
            <a:off x="1414463" y="22860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0" name="Rectangle 12"/>
          <p:cNvSpPr>
            <a:spLocks noChangeArrowheads="1"/>
          </p:cNvSpPr>
          <p:nvPr/>
        </p:nvSpPr>
        <p:spPr bwMode="auto">
          <a:xfrm>
            <a:off x="1414463" y="24384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1" name="AutoShape 13"/>
          <p:cNvSpPr>
            <a:spLocks noChangeArrowheads="1"/>
          </p:cNvSpPr>
          <p:nvPr/>
        </p:nvSpPr>
        <p:spPr bwMode="auto">
          <a:xfrm>
            <a:off x="2187575" y="1828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2" name="AutoShape 14"/>
          <p:cNvSpPr>
            <a:spLocks noChangeArrowheads="1"/>
          </p:cNvSpPr>
          <p:nvPr/>
        </p:nvSpPr>
        <p:spPr bwMode="auto">
          <a:xfrm flipH="1">
            <a:off x="2098675" y="2209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3" name="Rectangle 15"/>
          <p:cNvSpPr>
            <a:spLocks noChangeArrowheads="1"/>
          </p:cNvSpPr>
          <p:nvPr/>
        </p:nvSpPr>
        <p:spPr bwMode="auto">
          <a:xfrm>
            <a:off x="2632075" y="16764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>
            <a:off x="1131888" y="15071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99345" name="AutoShape 17"/>
          <p:cNvSpPr>
            <a:spLocks noChangeArrowheads="1"/>
          </p:cNvSpPr>
          <p:nvPr/>
        </p:nvSpPr>
        <p:spPr bwMode="auto">
          <a:xfrm>
            <a:off x="1489075" y="26670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6" name="Rectangle 18"/>
          <p:cNvSpPr>
            <a:spLocks noChangeArrowheads="1"/>
          </p:cNvSpPr>
          <p:nvPr/>
        </p:nvSpPr>
        <p:spPr bwMode="auto">
          <a:xfrm>
            <a:off x="346075" y="1447800"/>
            <a:ext cx="2971800" cy="2438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247650" y="1143000"/>
            <a:ext cx="1085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CPU chip</a:t>
            </a:r>
          </a:p>
        </p:txBody>
      </p:sp>
      <p:sp>
        <p:nvSpPr>
          <p:cNvPr id="99348" name="AutoShape 20"/>
          <p:cNvSpPr>
            <a:spLocks noChangeArrowheads="1"/>
          </p:cNvSpPr>
          <p:nvPr/>
        </p:nvSpPr>
        <p:spPr bwMode="auto">
          <a:xfrm>
            <a:off x="4079875" y="3810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49" name="AutoShape 21"/>
          <p:cNvSpPr>
            <a:spLocks noChangeArrowheads="1"/>
          </p:cNvSpPr>
          <p:nvPr/>
        </p:nvSpPr>
        <p:spPr bwMode="auto">
          <a:xfrm flipV="1">
            <a:off x="518477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50" name="Rectangle 22"/>
          <p:cNvSpPr>
            <a:spLocks noChangeArrowheads="1"/>
          </p:cNvSpPr>
          <p:nvPr/>
        </p:nvSpPr>
        <p:spPr bwMode="auto">
          <a:xfrm>
            <a:off x="4765675" y="527050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 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99351" name="AutoShape 23"/>
          <p:cNvSpPr>
            <a:spLocks noChangeArrowheads="1"/>
          </p:cNvSpPr>
          <p:nvPr/>
        </p:nvSpPr>
        <p:spPr bwMode="auto">
          <a:xfrm flipV="1">
            <a:off x="285432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52" name="Rectangle 24"/>
          <p:cNvSpPr>
            <a:spLocks noChangeArrowheads="1"/>
          </p:cNvSpPr>
          <p:nvPr/>
        </p:nvSpPr>
        <p:spPr bwMode="auto">
          <a:xfrm>
            <a:off x="2435225" y="527050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Graphics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adapter</a:t>
            </a:r>
          </a:p>
        </p:txBody>
      </p:sp>
      <p:sp>
        <p:nvSpPr>
          <p:cNvPr id="99353" name="AutoShape 25"/>
          <p:cNvSpPr>
            <a:spLocks noChangeArrowheads="1"/>
          </p:cNvSpPr>
          <p:nvPr/>
        </p:nvSpPr>
        <p:spPr bwMode="auto">
          <a:xfrm flipV="1">
            <a:off x="117792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54" name="Rectangle 26"/>
          <p:cNvSpPr>
            <a:spLocks noChangeArrowheads="1"/>
          </p:cNvSpPr>
          <p:nvPr/>
        </p:nvSpPr>
        <p:spPr bwMode="auto">
          <a:xfrm>
            <a:off x="835025" y="5257800"/>
            <a:ext cx="11430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USB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controller</a:t>
            </a:r>
          </a:p>
        </p:txBody>
      </p:sp>
      <p:sp>
        <p:nvSpPr>
          <p:cNvPr id="99355" name="Line 27"/>
          <p:cNvSpPr>
            <a:spLocks noChangeShapeType="1"/>
          </p:cNvSpPr>
          <p:nvPr/>
        </p:nvSpPr>
        <p:spPr bwMode="auto">
          <a:xfrm>
            <a:off x="10636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56" name="Line 28"/>
          <p:cNvSpPr>
            <a:spLocks noChangeShapeType="1"/>
          </p:cNvSpPr>
          <p:nvPr/>
        </p:nvSpPr>
        <p:spPr bwMode="auto">
          <a:xfrm>
            <a:off x="18256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57" name="Text Box 29"/>
          <p:cNvSpPr txBox="1">
            <a:spLocks noChangeArrowheads="1"/>
          </p:cNvSpPr>
          <p:nvPr/>
        </p:nvSpPr>
        <p:spPr bwMode="auto">
          <a:xfrm>
            <a:off x="628650" y="6018798"/>
            <a:ext cx="717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Mouse</a:t>
            </a:r>
          </a:p>
        </p:txBody>
      </p:sp>
      <p:sp>
        <p:nvSpPr>
          <p:cNvPr id="99358" name="Text Box 30"/>
          <p:cNvSpPr txBox="1">
            <a:spLocks noChangeArrowheads="1"/>
          </p:cNvSpPr>
          <p:nvPr/>
        </p:nvSpPr>
        <p:spPr bwMode="auto">
          <a:xfrm>
            <a:off x="1306513" y="6018798"/>
            <a:ext cx="9606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Keyboard</a:t>
            </a:r>
          </a:p>
        </p:txBody>
      </p:sp>
      <p:sp>
        <p:nvSpPr>
          <p:cNvPr id="99359" name="Line 31"/>
          <p:cNvSpPr>
            <a:spLocks noChangeShapeType="1"/>
          </p:cNvSpPr>
          <p:nvPr/>
        </p:nvSpPr>
        <p:spPr bwMode="auto">
          <a:xfrm>
            <a:off x="31210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0" name="Text Box 32"/>
          <p:cNvSpPr txBox="1">
            <a:spLocks noChangeArrowheads="1"/>
          </p:cNvSpPr>
          <p:nvPr/>
        </p:nvSpPr>
        <p:spPr bwMode="auto">
          <a:xfrm>
            <a:off x="2624138" y="6018798"/>
            <a:ext cx="8014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Monitor</a:t>
            </a:r>
          </a:p>
        </p:txBody>
      </p:sp>
      <p:sp>
        <p:nvSpPr>
          <p:cNvPr id="99361" name="AutoShape 33"/>
          <p:cNvSpPr>
            <a:spLocks noChangeArrowheads="1"/>
          </p:cNvSpPr>
          <p:nvPr/>
        </p:nvSpPr>
        <p:spPr bwMode="auto">
          <a:xfrm>
            <a:off x="5121275" y="6172200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</a:t>
            </a:r>
          </a:p>
        </p:txBody>
      </p:sp>
      <p:sp>
        <p:nvSpPr>
          <p:cNvPr id="99362" name="AutoShape 34"/>
          <p:cNvSpPr>
            <a:spLocks noChangeArrowheads="1"/>
          </p:cNvSpPr>
          <p:nvPr/>
        </p:nvSpPr>
        <p:spPr bwMode="auto">
          <a:xfrm>
            <a:off x="269875" y="4330700"/>
            <a:ext cx="6972300" cy="393700"/>
          </a:xfrm>
          <a:prstGeom prst="leftRightArrow">
            <a:avLst>
              <a:gd name="adj1" fmla="val 48611"/>
              <a:gd name="adj2" fmla="val 91500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3" name="Rectangle 35"/>
          <p:cNvSpPr>
            <a:spLocks noChangeArrowheads="1"/>
          </p:cNvSpPr>
          <p:nvPr/>
        </p:nvSpPr>
        <p:spPr bwMode="auto">
          <a:xfrm>
            <a:off x="1346200" y="4500563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4" name="Rectangle 36"/>
          <p:cNvSpPr>
            <a:spLocks noChangeArrowheads="1"/>
          </p:cNvSpPr>
          <p:nvPr/>
        </p:nvSpPr>
        <p:spPr bwMode="auto">
          <a:xfrm>
            <a:off x="3022600" y="4491038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5" name="Rectangle 37"/>
          <p:cNvSpPr>
            <a:spLocks noChangeArrowheads="1"/>
          </p:cNvSpPr>
          <p:nvPr/>
        </p:nvSpPr>
        <p:spPr bwMode="auto">
          <a:xfrm>
            <a:off x="5356225" y="4481513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6" name="Text Box 38"/>
          <p:cNvSpPr txBox="1">
            <a:spLocks noChangeArrowheads="1"/>
          </p:cNvSpPr>
          <p:nvPr/>
        </p:nvSpPr>
        <p:spPr bwMode="auto">
          <a:xfrm>
            <a:off x="5556250" y="4127500"/>
            <a:ext cx="8747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I/O bus</a:t>
            </a:r>
          </a:p>
        </p:txBody>
      </p:sp>
      <p:sp>
        <p:nvSpPr>
          <p:cNvPr id="99367" name="Rectangle 39"/>
          <p:cNvSpPr>
            <a:spLocks noChangeArrowheads="1"/>
          </p:cNvSpPr>
          <p:nvPr/>
        </p:nvSpPr>
        <p:spPr bwMode="auto">
          <a:xfrm>
            <a:off x="4246563" y="4419600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8" name="Line 40"/>
          <p:cNvSpPr>
            <a:spLocks noChangeShapeType="1"/>
          </p:cNvSpPr>
          <p:nvPr/>
        </p:nvSpPr>
        <p:spPr bwMode="auto">
          <a:xfrm>
            <a:off x="4297363" y="3365500"/>
            <a:ext cx="1965325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69" name="Line 41"/>
          <p:cNvSpPr>
            <a:spLocks noChangeShapeType="1"/>
          </p:cNvSpPr>
          <p:nvPr/>
        </p:nvSpPr>
        <p:spPr bwMode="auto">
          <a:xfrm>
            <a:off x="4335463" y="3365500"/>
            <a:ext cx="0" cy="1135063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70" name="Line 42"/>
          <p:cNvSpPr>
            <a:spLocks noChangeShapeType="1"/>
          </p:cNvSpPr>
          <p:nvPr/>
        </p:nvSpPr>
        <p:spPr bwMode="auto">
          <a:xfrm flipV="1">
            <a:off x="4297363" y="4529138"/>
            <a:ext cx="1128712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71" name="Line 43"/>
          <p:cNvSpPr>
            <a:spLocks noChangeShapeType="1"/>
          </p:cNvSpPr>
          <p:nvPr/>
        </p:nvSpPr>
        <p:spPr bwMode="auto">
          <a:xfrm flipH="1">
            <a:off x="5432425" y="4500563"/>
            <a:ext cx="0" cy="1671637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372" name="Rectangle 44"/>
          <p:cNvSpPr>
            <a:spLocks noChangeArrowheads="1"/>
          </p:cNvSpPr>
          <p:nvPr/>
        </p:nvSpPr>
        <p:spPr bwMode="auto">
          <a:xfrm>
            <a:off x="498475" y="3155950"/>
            <a:ext cx="1873250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99374" name="Text Box 46"/>
          <p:cNvSpPr txBox="1">
            <a:spLocks noChangeArrowheads="1"/>
          </p:cNvSpPr>
          <p:nvPr/>
        </p:nvSpPr>
        <p:spPr bwMode="auto">
          <a:xfrm>
            <a:off x="4210050" y="1323975"/>
            <a:ext cx="4395788" cy="9159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 dirty="0"/>
              <a:t>Disk controller reads the sector and performs a direct memory access (</a:t>
            </a:r>
            <a:r>
              <a:rPr lang="en-US" b="0" dirty="0">
                <a:solidFill>
                  <a:srgbClr val="FF0000"/>
                </a:solidFill>
              </a:rPr>
              <a:t>DMA</a:t>
            </a:r>
            <a:r>
              <a:rPr lang="en-US" b="0" dirty="0"/>
              <a:t>) transfer into main memory.</a:t>
            </a:r>
          </a:p>
        </p:txBody>
      </p:sp>
    </p:spTree>
    <p:extLst>
      <p:ext uri="{BB962C8B-B14F-4D97-AF65-F5344CB8AC3E}">
        <p14:creationId xmlns:p14="http://schemas.microsoft.com/office/powerpoint/2010/main" val="844573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00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 Disk Sector (3)</a:t>
            </a: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6294438" y="2971800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Main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memory</a:t>
            </a:r>
          </a:p>
        </p:txBody>
      </p:sp>
      <p:sp>
        <p:nvSpPr>
          <p:cNvPr id="100357" name="AutoShape 5"/>
          <p:cNvSpPr>
            <a:spLocks noChangeArrowheads="1"/>
          </p:cNvSpPr>
          <p:nvPr/>
        </p:nvSpPr>
        <p:spPr bwMode="auto">
          <a:xfrm>
            <a:off x="4770438" y="31242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3856038" y="3155950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/>
          </a:p>
        </p:txBody>
      </p:sp>
      <p:sp>
        <p:nvSpPr>
          <p:cNvPr id="100359" name="AutoShape 7"/>
          <p:cNvSpPr>
            <a:spLocks noChangeArrowheads="1"/>
          </p:cNvSpPr>
          <p:nvPr/>
        </p:nvSpPr>
        <p:spPr bwMode="auto">
          <a:xfrm>
            <a:off x="2398713" y="3124200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0" name="Rectangle 8"/>
          <p:cNvSpPr>
            <a:spLocks noChangeArrowheads="1"/>
          </p:cNvSpPr>
          <p:nvPr/>
        </p:nvSpPr>
        <p:spPr bwMode="auto">
          <a:xfrm>
            <a:off x="1414463" y="18288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1" name="Rectangle 9"/>
          <p:cNvSpPr>
            <a:spLocks noChangeArrowheads="1"/>
          </p:cNvSpPr>
          <p:nvPr/>
        </p:nvSpPr>
        <p:spPr bwMode="auto">
          <a:xfrm>
            <a:off x="1414463" y="19812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2" name="Rectangle 10"/>
          <p:cNvSpPr>
            <a:spLocks noChangeArrowheads="1"/>
          </p:cNvSpPr>
          <p:nvPr/>
        </p:nvSpPr>
        <p:spPr bwMode="auto">
          <a:xfrm>
            <a:off x="1414463" y="21336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3" name="Rectangle 11"/>
          <p:cNvSpPr>
            <a:spLocks noChangeArrowheads="1"/>
          </p:cNvSpPr>
          <p:nvPr/>
        </p:nvSpPr>
        <p:spPr bwMode="auto">
          <a:xfrm>
            <a:off x="1414463" y="22860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4" name="Rectangle 12"/>
          <p:cNvSpPr>
            <a:spLocks noChangeArrowheads="1"/>
          </p:cNvSpPr>
          <p:nvPr/>
        </p:nvSpPr>
        <p:spPr bwMode="auto">
          <a:xfrm>
            <a:off x="1414463" y="2438400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5" name="AutoShape 13"/>
          <p:cNvSpPr>
            <a:spLocks noChangeArrowheads="1"/>
          </p:cNvSpPr>
          <p:nvPr/>
        </p:nvSpPr>
        <p:spPr bwMode="auto">
          <a:xfrm>
            <a:off x="2187575" y="1828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6" name="AutoShape 14"/>
          <p:cNvSpPr>
            <a:spLocks noChangeArrowheads="1"/>
          </p:cNvSpPr>
          <p:nvPr/>
        </p:nvSpPr>
        <p:spPr bwMode="auto">
          <a:xfrm flipH="1">
            <a:off x="2098675" y="22098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67" name="Rectangle 15"/>
          <p:cNvSpPr>
            <a:spLocks noChangeArrowheads="1"/>
          </p:cNvSpPr>
          <p:nvPr/>
        </p:nvSpPr>
        <p:spPr bwMode="auto">
          <a:xfrm>
            <a:off x="2632075" y="1676400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ALU</a:t>
            </a:r>
          </a:p>
        </p:txBody>
      </p:sp>
      <p:sp>
        <p:nvSpPr>
          <p:cNvPr id="100368" name="Text Box 16"/>
          <p:cNvSpPr txBox="1">
            <a:spLocks noChangeArrowheads="1"/>
          </p:cNvSpPr>
          <p:nvPr/>
        </p:nvSpPr>
        <p:spPr bwMode="auto">
          <a:xfrm>
            <a:off x="1131888" y="1507123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Register file</a:t>
            </a:r>
          </a:p>
        </p:txBody>
      </p:sp>
      <p:sp>
        <p:nvSpPr>
          <p:cNvPr id="100369" name="AutoShape 17"/>
          <p:cNvSpPr>
            <a:spLocks noChangeArrowheads="1"/>
          </p:cNvSpPr>
          <p:nvPr/>
        </p:nvSpPr>
        <p:spPr bwMode="auto">
          <a:xfrm>
            <a:off x="1489075" y="26670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0" name="Rectangle 18"/>
          <p:cNvSpPr>
            <a:spLocks noChangeArrowheads="1"/>
          </p:cNvSpPr>
          <p:nvPr/>
        </p:nvSpPr>
        <p:spPr bwMode="auto">
          <a:xfrm>
            <a:off x="346075" y="1447800"/>
            <a:ext cx="2971800" cy="2438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1" name="Text Box 19"/>
          <p:cNvSpPr txBox="1">
            <a:spLocks noChangeArrowheads="1"/>
          </p:cNvSpPr>
          <p:nvPr/>
        </p:nvSpPr>
        <p:spPr bwMode="auto">
          <a:xfrm>
            <a:off x="247650" y="1143000"/>
            <a:ext cx="1085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CPU chip</a:t>
            </a:r>
          </a:p>
        </p:txBody>
      </p:sp>
      <p:sp>
        <p:nvSpPr>
          <p:cNvPr id="100372" name="AutoShape 20"/>
          <p:cNvSpPr>
            <a:spLocks noChangeArrowheads="1"/>
          </p:cNvSpPr>
          <p:nvPr/>
        </p:nvSpPr>
        <p:spPr bwMode="auto">
          <a:xfrm>
            <a:off x="4079875" y="3810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3" name="AutoShape 21"/>
          <p:cNvSpPr>
            <a:spLocks noChangeArrowheads="1"/>
          </p:cNvSpPr>
          <p:nvPr/>
        </p:nvSpPr>
        <p:spPr bwMode="auto">
          <a:xfrm flipV="1">
            <a:off x="518477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4" name="Rectangle 22"/>
          <p:cNvSpPr>
            <a:spLocks noChangeArrowheads="1"/>
          </p:cNvSpPr>
          <p:nvPr/>
        </p:nvSpPr>
        <p:spPr bwMode="auto">
          <a:xfrm>
            <a:off x="4765675" y="527050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 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controller</a:t>
            </a:r>
          </a:p>
        </p:txBody>
      </p:sp>
      <p:sp>
        <p:nvSpPr>
          <p:cNvPr id="100375" name="AutoShape 23"/>
          <p:cNvSpPr>
            <a:spLocks noChangeArrowheads="1"/>
          </p:cNvSpPr>
          <p:nvPr/>
        </p:nvSpPr>
        <p:spPr bwMode="auto">
          <a:xfrm flipV="1">
            <a:off x="285432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6" name="Rectangle 24"/>
          <p:cNvSpPr>
            <a:spLocks noChangeArrowheads="1"/>
          </p:cNvSpPr>
          <p:nvPr/>
        </p:nvSpPr>
        <p:spPr bwMode="auto">
          <a:xfrm>
            <a:off x="2435225" y="5270500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Graphics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adapter</a:t>
            </a:r>
          </a:p>
        </p:txBody>
      </p:sp>
      <p:sp>
        <p:nvSpPr>
          <p:cNvPr id="100377" name="AutoShape 25"/>
          <p:cNvSpPr>
            <a:spLocks noChangeArrowheads="1"/>
          </p:cNvSpPr>
          <p:nvPr/>
        </p:nvSpPr>
        <p:spPr bwMode="auto">
          <a:xfrm flipV="1">
            <a:off x="1177925" y="45466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78" name="Rectangle 26"/>
          <p:cNvSpPr>
            <a:spLocks noChangeArrowheads="1"/>
          </p:cNvSpPr>
          <p:nvPr/>
        </p:nvSpPr>
        <p:spPr bwMode="auto">
          <a:xfrm>
            <a:off x="835025" y="5257800"/>
            <a:ext cx="11430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/>
              <a:t>USB</a:t>
            </a:r>
          </a:p>
          <a:p>
            <a:pPr algn="ctr">
              <a:lnSpc>
                <a:spcPct val="100000"/>
              </a:lnSpc>
            </a:pPr>
            <a:r>
              <a:rPr lang="en-US" sz="1600"/>
              <a:t>controller</a:t>
            </a:r>
          </a:p>
        </p:txBody>
      </p:sp>
      <p:sp>
        <p:nvSpPr>
          <p:cNvPr id="100379" name="Line 27"/>
          <p:cNvSpPr>
            <a:spLocks noChangeShapeType="1"/>
          </p:cNvSpPr>
          <p:nvPr/>
        </p:nvSpPr>
        <p:spPr bwMode="auto">
          <a:xfrm>
            <a:off x="10636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0" name="Line 28"/>
          <p:cNvSpPr>
            <a:spLocks noChangeShapeType="1"/>
          </p:cNvSpPr>
          <p:nvPr/>
        </p:nvSpPr>
        <p:spPr bwMode="auto">
          <a:xfrm>
            <a:off x="18256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1" name="Text Box 29"/>
          <p:cNvSpPr txBox="1">
            <a:spLocks noChangeArrowheads="1"/>
          </p:cNvSpPr>
          <p:nvPr/>
        </p:nvSpPr>
        <p:spPr bwMode="auto">
          <a:xfrm>
            <a:off x="628650" y="6018798"/>
            <a:ext cx="717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Mouse</a:t>
            </a:r>
          </a:p>
        </p:txBody>
      </p:sp>
      <p:sp>
        <p:nvSpPr>
          <p:cNvPr id="100382" name="Text Box 30"/>
          <p:cNvSpPr txBox="1">
            <a:spLocks noChangeArrowheads="1"/>
          </p:cNvSpPr>
          <p:nvPr/>
        </p:nvSpPr>
        <p:spPr bwMode="auto">
          <a:xfrm>
            <a:off x="1306513" y="6018798"/>
            <a:ext cx="9606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Keyboard</a:t>
            </a:r>
          </a:p>
        </p:txBody>
      </p:sp>
      <p:sp>
        <p:nvSpPr>
          <p:cNvPr id="100383" name="Line 31"/>
          <p:cNvSpPr>
            <a:spLocks noChangeShapeType="1"/>
          </p:cNvSpPr>
          <p:nvPr/>
        </p:nvSpPr>
        <p:spPr bwMode="auto">
          <a:xfrm>
            <a:off x="3121025" y="5791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4" name="Text Box 32"/>
          <p:cNvSpPr txBox="1">
            <a:spLocks noChangeArrowheads="1"/>
          </p:cNvSpPr>
          <p:nvPr/>
        </p:nvSpPr>
        <p:spPr bwMode="auto">
          <a:xfrm>
            <a:off x="2624138" y="6018798"/>
            <a:ext cx="8014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Monitor</a:t>
            </a:r>
          </a:p>
        </p:txBody>
      </p:sp>
      <p:sp>
        <p:nvSpPr>
          <p:cNvPr id="100385" name="Line 33"/>
          <p:cNvSpPr>
            <a:spLocks noChangeShapeType="1"/>
          </p:cNvSpPr>
          <p:nvPr/>
        </p:nvSpPr>
        <p:spPr bwMode="auto">
          <a:xfrm>
            <a:off x="5426075" y="5791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6" name="AutoShape 34"/>
          <p:cNvSpPr>
            <a:spLocks noChangeArrowheads="1"/>
          </p:cNvSpPr>
          <p:nvPr/>
        </p:nvSpPr>
        <p:spPr bwMode="auto">
          <a:xfrm>
            <a:off x="5121275" y="6172200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Disk</a:t>
            </a:r>
          </a:p>
        </p:txBody>
      </p:sp>
      <p:sp>
        <p:nvSpPr>
          <p:cNvPr id="100387" name="AutoShape 35"/>
          <p:cNvSpPr>
            <a:spLocks noChangeArrowheads="1"/>
          </p:cNvSpPr>
          <p:nvPr/>
        </p:nvSpPr>
        <p:spPr bwMode="auto">
          <a:xfrm>
            <a:off x="269875" y="4330700"/>
            <a:ext cx="6972300" cy="393700"/>
          </a:xfrm>
          <a:prstGeom prst="leftRightArrow">
            <a:avLst>
              <a:gd name="adj1" fmla="val 48611"/>
              <a:gd name="adj2" fmla="val 91500"/>
            </a:avLst>
          </a:prstGeom>
          <a:solidFill>
            <a:srgbClr val="F7F5C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8" name="Rectangle 36"/>
          <p:cNvSpPr>
            <a:spLocks noChangeArrowheads="1"/>
          </p:cNvSpPr>
          <p:nvPr/>
        </p:nvSpPr>
        <p:spPr bwMode="auto">
          <a:xfrm>
            <a:off x="1346200" y="4500563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89" name="Rectangle 37"/>
          <p:cNvSpPr>
            <a:spLocks noChangeArrowheads="1"/>
          </p:cNvSpPr>
          <p:nvPr/>
        </p:nvSpPr>
        <p:spPr bwMode="auto">
          <a:xfrm>
            <a:off x="3022600" y="4491038"/>
            <a:ext cx="166688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0" name="Rectangle 38"/>
          <p:cNvSpPr>
            <a:spLocks noChangeArrowheads="1"/>
          </p:cNvSpPr>
          <p:nvPr/>
        </p:nvSpPr>
        <p:spPr bwMode="auto">
          <a:xfrm>
            <a:off x="5356225" y="4481513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1" name="Text Box 39"/>
          <p:cNvSpPr txBox="1">
            <a:spLocks noChangeArrowheads="1"/>
          </p:cNvSpPr>
          <p:nvPr/>
        </p:nvSpPr>
        <p:spPr bwMode="auto">
          <a:xfrm>
            <a:off x="5556250" y="4127500"/>
            <a:ext cx="8747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I/O bus</a:t>
            </a:r>
          </a:p>
        </p:txBody>
      </p:sp>
      <p:sp>
        <p:nvSpPr>
          <p:cNvPr id="100392" name="Rectangle 40"/>
          <p:cNvSpPr>
            <a:spLocks noChangeArrowheads="1"/>
          </p:cNvSpPr>
          <p:nvPr/>
        </p:nvSpPr>
        <p:spPr bwMode="auto">
          <a:xfrm>
            <a:off x="4246563" y="4419600"/>
            <a:ext cx="161925" cy="152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3" name="Line 41"/>
          <p:cNvSpPr>
            <a:spLocks noChangeShapeType="1"/>
          </p:cNvSpPr>
          <p:nvPr/>
        </p:nvSpPr>
        <p:spPr bwMode="auto">
          <a:xfrm flipH="1">
            <a:off x="3343275" y="2679700"/>
            <a:ext cx="1017588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4" name="Line 42"/>
          <p:cNvSpPr>
            <a:spLocks noChangeShapeType="1"/>
          </p:cNvSpPr>
          <p:nvPr/>
        </p:nvSpPr>
        <p:spPr bwMode="auto">
          <a:xfrm>
            <a:off x="4335463" y="2667000"/>
            <a:ext cx="0" cy="1833563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5" name="Line 43"/>
          <p:cNvSpPr>
            <a:spLocks noChangeShapeType="1"/>
          </p:cNvSpPr>
          <p:nvPr/>
        </p:nvSpPr>
        <p:spPr bwMode="auto">
          <a:xfrm flipV="1">
            <a:off x="4297363" y="4529138"/>
            <a:ext cx="1128712" cy="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6" name="Line 44"/>
          <p:cNvSpPr>
            <a:spLocks noChangeShapeType="1"/>
          </p:cNvSpPr>
          <p:nvPr/>
        </p:nvSpPr>
        <p:spPr bwMode="auto">
          <a:xfrm flipH="1">
            <a:off x="5426075" y="4500563"/>
            <a:ext cx="6350" cy="782637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397" name="Rectangle 45"/>
          <p:cNvSpPr>
            <a:spLocks noChangeArrowheads="1"/>
          </p:cNvSpPr>
          <p:nvPr/>
        </p:nvSpPr>
        <p:spPr bwMode="auto">
          <a:xfrm>
            <a:off x="498475" y="3155950"/>
            <a:ext cx="1873250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Bus interface</a:t>
            </a:r>
          </a:p>
        </p:txBody>
      </p:sp>
      <p:sp>
        <p:nvSpPr>
          <p:cNvPr id="100399" name="Text Box 47"/>
          <p:cNvSpPr txBox="1">
            <a:spLocks noChangeArrowheads="1"/>
          </p:cNvSpPr>
          <p:nvPr/>
        </p:nvSpPr>
        <p:spPr bwMode="auto">
          <a:xfrm>
            <a:off x="4495800" y="1219200"/>
            <a:ext cx="4343400" cy="156966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 dirty="0"/>
              <a:t>When the DMA transfer completes, the disk controller notifies the CPU with an </a:t>
            </a:r>
            <a:r>
              <a:rPr lang="en-US" b="0" i="1" dirty="0">
                <a:solidFill>
                  <a:srgbClr val="FF0000"/>
                </a:solidFill>
              </a:rPr>
              <a:t>interrupt</a:t>
            </a:r>
            <a:r>
              <a:rPr lang="en-US" b="0" dirty="0"/>
              <a:t> (i.e., asserts a special “interrupt” pin on the CPU)</a:t>
            </a:r>
          </a:p>
        </p:txBody>
      </p:sp>
    </p:spTree>
    <p:extLst>
      <p:ext uri="{BB962C8B-B14F-4D97-AF65-F5344CB8AC3E}">
        <p14:creationId xmlns:p14="http://schemas.microsoft.com/office/powerpoint/2010/main" val="41575430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A7B8-BCF0-F5EC-CA30-928ACA54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B98B-F4D7-0E1F-DA50-A7EEB0C17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学生</a:t>
            </a:r>
            <a:r>
              <a:rPr lang="en-US" dirty="0"/>
              <a:t>：“CSAPP </a:t>
            </a:r>
            <a:r>
              <a:rPr lang="en-US" dirty="0" err="1"/>
              <a:t>的作者一定</a:t>
            </a:r>
            <a:r>
              <a:rPr lang="zh-CN" altLang="en-US" dirty="0"/>
              <a:t>深刻掌握了</a:t>
            </a:r>
            <a:r>
              <a:rPr lang="en-US" dirty="0" err="1"/>
              <a:t>空间局部性</a:t>
            </a:r>
            <a:r>
              <a:rPr lang="en-US" dirty="0"/>
              <a:t>。”</a:t>
            </a:r>
          </a:p>
          <a:p>
            <a:r>
              <a:rPr lang="en-US" dirty="0" err="1"/>
              <a:t>老师</a:t>
            </a:r>
            <a:r>
              <a:rPr lang="en-US" dirty="0"/>
              <a:t>：“</a:t>
            </a:r>
            <a:r>
              <a:rPr lang="en-US" dirty="0" err="1"/>
              <a:t>为什么</a:t>
            </a:r>
            <a:r>
              <a:rPr lang="en-US" dirty="0"/>
              <a:t>？”</a:t>
            </a:r>
          </a:p>
          <a:p>
            <a:r>
              <a:rPr lang="en-US" dirty="0" err="1"/>
              <a:t>学生</a:t>
            </a:r>
            <a:r>
              <a:rPr lang="en-US" dirty="0"/>
              <a:t>：“</a:t>
            </a:r>
            <a:r>
              <a:rPr lang="en-US" dirty="0" err="1"/>
              <a:t>他们解释一个概念的时候，总是假设我已经理解了</a:t>
            </a:r>
            <a:r>
              <a:rPr lang="zh-CN" altLang="en-US" dirty="0"/>
              <a:t>其它相关的</a:t>
            </a:r>
            <a:r>
              <a:rPr lang="en-US" dirty="0" err="1"/>
              <a:t>十个概念</a:t>
            </a:r>
            <a:r>
              <a:rPr lang="en-US" dirty="0"/>
              <a:t>。”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8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/>
          <p:cNvSpPr>
            <a:spLocks noGrp="1" noChangeArrowheads="1"/>
          </p:cNvSpPr>
          <p:nvPr>
            <p:ph type="title"/>
          </p:nvPr>
        </p:nvSpPr>
        <p:spPr>
          <a:xfrm>
            <a:off x="357018" y="457200"/>
            <a:ext cx="7592093" cy="762000"/>
          </a:xfrm>
        </p:spPr>
        <p:txBody>
          <a:bodyPr/>
          <a:lstStyle/>
          <a:p>
            <a:r>
              <a:rPr lang="en-US" dirty="0"/>
              <a:t>Disk Capacity</a:t>
            </a:r>
          </a:p>
        </p:txBody>
      </p:sp>
      <p:sp>
        <p:nvSpPr>
          <p:cNvPr id="12390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Capacity</a:t>
            </a:r>
            <a:r>
              <a:rPr lang="en-US" dirty="0"/>
              <a:t>: maximum number of bits that can be stored.</a:t>
            </a:r>
          </a:p>
          <a:p>
            <a:pPr lvl="1"/>
            <a:r>
              <a:rPr lang="en-US" dirty="0"/>
              <a:t>Often in gigabytes (GB),  where 1 GB = 10</a:t>
            </a:r>
            <a:r>
              <a:rPr lang="en-US" baseline="30000" dirty="0"/>
              <a:t>9</a:t>
            </a:r>
            <a:r>
              <a:rPr lang="en-US" dirty="0"/>
              <a:t> Bytes. </a:t>
            </a:r>
          </a:p>
          <a:p>
            <a:r>
              <a:rPr lang="en-US" dirty="0"/>
              <a:t>Capacity is determined by these technology factors: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Recording density</a:t>
            </a:r>
            <a:r>
              <a:rPr lang="en-US" dirty="0"/>
              <a:t> (bits/in): number of bits that can be squeezed into a 1 inch segment of a track.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Track density </a:t>
            </a:r>
            <a:r>
              <a:rPr lang="en-US" dirty="0"/>
              <a:t>(tracks/in): number of tracks that can be squeezed into a 1 inch radial segment.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Areal density </a:t>
            </a:r>
            <a:r>
              <a:rPr lang="en-US" dirty="0"/>
              <a:t>(bits/in2): product of</a:t>
            </a:r>
          </a:p>
          <a:p>
            <a:pPr marL="457200" lvl="1" indent="0">
              <a:buNone/>
            </a:pPr>
            <a:r>
              <a:rPr lang="en-US" dirty="0"/>
              <a:t>     recording and track density.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5B984E93-7FFD-4D1F-85AA-75C0AE45E9B3}"/>
              </a:ext>
            </a:extLst>
          </p:cNvPr>
          <p:cNvGrpSpPr/>
          <p:nvPr/>
        </p:nvGrpSpPr>
        <p:grpSpPr>
          <a:xfrm>
            <a:off x="5727541" y="4169979"/>
            <a:ext cx="2990773" cy="2506717"/>
            <a:chOff x="5885794" y="3970283"/>
            <a:chExt cx="2990773" cy="250671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0B7F17A-6158-45E6-82E1-D14BC8464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2149" y="4611162"/>
              <a:ext cx="1249607" cy="122388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4525072-67A8-4859-A277-4E710BFF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7337" y="3970283"/>
              <a:ext cx="2559230" cy="250671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D467BD-61E5-4F88-983E-9FD78AA2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942" y="4095673"/>
              <a:ext cx="2302021" cy="22548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C40D866-371E-4028-816A-6E2CBAC78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546" y="4221062"/>
              <a:ext cx="2045884" cy="200408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4C44C6-48A3-4E1B-8C43-27703361C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3151" y="4347523"/>
              <a:ext cx="1788675" cy="17522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B1F0D7A-C9EB-47E5-B8F8-77C42C143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0684" y="4472913"/>
              <a:ext cx="1532537" cy="15003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D053909-B224-4FAA-9F4E-55F522602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7893" y="4724763"/>
              <a:ext cx="1018119" cy="9977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8DCA1A-2F88-44C0-83C8-7182FA9E3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928" y="4836220"/>
              <a:ext cx="761981" cy="745906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45E0458B-B699-4A6D-AAEC-C604AB238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2711" y="4245711"/>
              <a:ext cx="668743" cy="4565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9A7C7E71-64AC-4C33-BBAA-982D64207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7045" y="4245711"/>
              <a:ext cx="454403" cy="300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86854CFE-7795-49D8-9318-546FFA192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5794" y="3994985"/>
              <a:ext cx="731902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anose="020F0502020204030204" pitchFamily="34" charset="0"/>
                </a:rPr>
                <a:t>Tracks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zones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4416425" cy="5064125"/>
          </a:xfrm>
        </p:spPr>
        <p:txBody>
          <a:bodyPr>
            <a:normAutofit/>
          </a:bodyPr>
          <a:lstStyle/>
          <a:p>
            <a:r>
              <a:rPr lang="en-US" dirty="0"/>
              <a:t>Modern disks partition tracks into disjoint subsets called </a:t>
            </a:r>
            <a:r>
              <a:rPr lang="en-US" dirty="0">
                <a:solidFill>
                  <a:srgbClr val="FF0000"/>
                </a:solidFill>
              </a:rPr>
              <a:t>recording zones</a:t>
            </a:r>
            <a:r>
              <a:rPr lang="en-US" dirty="0"/>
              <a:t>	</a:t>
            </a:r>
          </a:p>
          <a:p>
            <a:pPr lvl="1"/>
            <a:r>
              <a:rPr lang="en-US" dirty="0"/>
              <a:t>Each track in a zone has the same number of sectors, determined by the circumference of innermost track.</a:t>
            </a:r>
          </a:p>
          <a:p>
            <a:pPr lvl="1"/>
            <a:r>
              <a:rPr lang="en-US" dirty="0"/>
              <a:t>Each zone has a different number of sectors/track, outer zones have more sectors/track than inner zones.</a:t>
            </a:r>
          </a:p>
          <a:p>
            <a:pPr lvl="1"/>
            <a:r>
              <a:rPr lang="en-US" dirty="0"/>
              <a:t>So we use </a:t>
            </a:r>
            <a:r>
              <a:rPr lang="en-US" b="1" dirty="0">
                <a:solidFill>
                  <a:srgbClr val="FF0000"/>
                </a:solidFill>
              </a:rPr>
              <a:t>average</a:t>
            </a:r>
            <a:r>
              <a:rPr lang="en-US" dirty="0"/>
              <a:t> number of sectors/track when computing capacity. 		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00" name="Group 99"/>
          <p:cNvGrpSpPr/>
          <p:nvPr/>
        </p:nvGrpSpPr>
        <p:grpSpPr>
          <a:xfrm>
            <a:off x="5074992" y="2094211"/>
            <a:ext cx="3218108" cy="3152177"/>
            <a:chOff x="761519" y="3629623"/>
            <a:chExt cx="3218108" cy="3152177"/>
          </a:xfrm>
        </p:grpSpPr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1121084" y="3981695"/>
              <a:ext cx="2500477" cy="244952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1497130" y="4350248"/>
              <a:ext cx="1746888" cy="171092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761519" y="3629623"/>
              <a:ext cx="3218108" cy="315217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1847706" y="4664867"/>
              <a:ext cx="1065211" cy="1042735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1600" dirty="0"/>
                <a:t>Spindle</a:t>
              </a:r>
            </a:p>
          </p:txBody>
        </p:sp>
        <p:cxnSp>
          <p:nvCxnSpPr>
            <p:cNvPr id="22" name="Straight Connector 21"/>
            <p:cNvCxnSpPr>
              <a:stCxn id="8" idx="0"/>
              <a:endCxn id="15" idx="0"/>
            </p:cNvCxnSpPr>
            <p:nvPr/>
          </p:nvCxnSpPr>
          <p:spPr bwMode="auto">
            <a:xfrm>
              <a:off x="2370574" y="4350248"/>
              <a:ext cx="9738" cy="31461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8" idx="7"/>
              <a:endCxn id="15" idx="7"/>
            </p:cNvCxnSpPr>
            <p:nvPr/>
          </p:nvCxnSpPr>
          <p:spPr bwMode="auto">
            <a:xfrm flipH="1">
              <a:off x="2756920" y="4600807"/>
              <a:ext cx="231272" cy="2167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stCxn id="8" idx="6"/>
              <a:endCxn id="15" idx="6"/>
            </p:cNvCxnSpPr>
            <p:nvPr/>
          </p:nvCxnSpPr>
          <p:spPr bwMode="auto">
            <a:xfrm flipH="1" flipV="1">
              <a:off x="2912917" y="5186235"/>
              <a:ext cx="331101" cy="1947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stCxn id="8" idx="5"/>
              <a:endCxn id="15" idx="5"/>
            </p:cNvCxnSpPr>
            <p:nvPr/>
          </p:nvCxnSpPr>
          <p:spPr bwMode="auto">
            <a:xfrm flipH="1" flipV="1">
              <a:off x="2756920" y="5554897"/>
              <a:ext cx="231272" cy="25571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>
              <a:stCxn id="8" idx="4"/>
              <a:endCxn id="15" idx="4"/>
            </p:cNvCxnSpPr>
            <p:nvPr/>
          </p:nvCxnSpPr>
          <p:spPr bwMode="auto">
            <a:xfrm flipV="1">
              <a:off x="2370574" y="5707602"/>
              <a:ext cx="9738" cy="353571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stCxn id="15" idx="3"/>
              <a:endCxn id="8" idx="3"/>
            </p:cNvCxnSpPr>
            <p:nvPr/>
          </p:nvCxnSpPr>
          <p:spPr bwMode="auto">
            <a:xfrm flipH="1">
              <a:off x="1752956" y="5554897"/>
              <a:ext cx="250747" cy="25571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>
              <a:stCxn id="15" idx="2"/>
              <a:endCxn id="8" idx="2"/>
            </p:cNvCxnSpPr>
            <p:nvPr/>
          </p:nvCxnSpPr>
          <p:spPr bwMode="auto">
            <a:xfrm flipH="1">
              <a:off x="1497130" y="5186235"/>
              <a:ext cx="350576" cy="1947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8" idx="1"/>
              <a:endCxn id="15" idx="1"/>
            </p:cNvCxnSpPr>
            <p:nvPr/>
          </p:nvCxnSpPr>
          <p:spPr bwMode="auto">
            <a:xfrm>
              <a:off x="1752956" y="4600807"/>
              <a:ext cx="250747" cy="2167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2057400" y="4028223"/>
              <a:ext cx="461665" cy="256553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…</a:t>
              </a:r>
            </a:p>
          </p:txBody>
        </p:sp>
        <p:cxnSp>
          <p:nvCxnSpPr>
            <p:cNvPr id="40" name="Straight Connector 39"/>
            <p:cNvCxnSpPr>
              <a:stCxn id="10" idx="0"/>
              <a:endCxn id="12" idx="0"/>
            </p:cNvCxnSpPr>
            <p:nvPr/>
          </p:nvCxnSpPr>
          <p:spPr bwMode="auto">
            <a:xfrm>
              <a:off x="2370573" y="3629623"/>
              <a:ext cx="750" cy="35207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>
              <a:stCxn id="10" idx="6"/>
              <a:endCxn id="12" idx="6"/>
            </p:cNvCxnSpPr>
            <p:nvPr/>
          </p:nvCxnSpPr>
          <p:spPr bwMode="auto">
            <a:xfrm flipH="1">
              <a:off x="3621561" y="5205712"/>
              <a:ext cx="358066" cy="74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>
              <a:stCxn id="10" idx="7"/>
              <a:endCxn id="12" idx="7"/>
            </p:cNvCxnSpPr>
            <p:nvPr/>
          </p:nvCxnSpPr>
          <p:spPr bwMode="auto">
            <a:xfrm flipH="1">
              <a:off x="3255375" y="4091249"/>
              <a:ext cx="252971" cy="249171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>
              <a:stCxn id="10" idx="5"/>
              <a:endCxn id="12" idx="5"/>
            </p:cNvCxnSpPr>
            <p:nvPr/>
          </p:nvCxnSpPr>
          <p:spPr bwMode="auto">
            <a:xfrm flipH="1" flipV="1">
              <a:off x="3255375" y="6072499"/>
              <a:ext cx="252971" cy="24767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>
              <a:stCxn id="10" idx="4"/>
              <a:endCxn id="12" idx="4"/>
            </p:cNvCxnSpPr>
            <p:nvPr/>
          </p:nvCxnSpPr>
          <p:spPr bwMode="auto">
            <a:xfrm flipV="1">
              <a:off x="2370573" y="6431224"/>
              <a:ext cx="750" cy="35057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>
              <a:stCxn id="12" idx="3"/>
              <a:endCxn id="10" idx="3"/>
            </p:cNvCxnSpPr>
            <p:nvPr/>
          </p:nvCxnSpPr>
          <p:spPr bwMode="auto">
            <a:xfrm flipH="1">
              <a:off x="1232800" y="6072499"/>
              <a:ext cx="254470" cy="24767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/>
            <p:cNvCxnSpPr>
              <a:stCxn id="12" idx="2"/>
              <a:endCxn id="10" idx="2"/>
            </p:cNvCxnSpPr>
            <p:nvPr/>
          </p:nvCxnSpPr>
          <p:spPr bwMode="auto">
            <a:xfrm flipH="1" flipV="1">
              <a:off x="761519" y="5205712"/>
              <a:ext cx="359565" cy="74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>
              <a:stCxn id="10" idx="1"/>
              <a:endCxn id="12" idx="1"/>
            </p:cNvCxnSpPr>
            <p:nvPr/>
          </p:nvCxnSpPr>
          <p:spPr bwMode="auto">
            <a:xfrm>
              <a:off x="1232800" y="4091249"/>
              <a:ext cx="254470" cy="249171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 flipH="1">
              <a:off x="2836334" y="3733800"/>
              <a:ext cx="151858" cy="35744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/>
            <p:cNvCxnSpPr/>
            <p:nvPr/>
          </p:nvCxnSpPr>
          <p:spPr bwMode="auto">
            <a:xfrm flipV="1">
              <a:off x="3508346" y="4600807"/>
              <a:ext cx="335521" cy="14052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/>
            <p:cNvCxnSpPr/>
            <p:nvPr/>
          </p:nvCxnSpPr>
          <p:spPr bwMode="auto">
            <a:xfrm>
              <a:off x="3508346" y="5647267"/>
              <a:ext cx="335521" cy="16334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/>
            <p:cNvCxnSpPr/>
            <p:nvPr/>
          </p:nvCxnSpPr>
          <p:spPr bwMode="auto">
            <a:xfrm>
              <a:off x="2912917" y="6320174"/>
              <a:ext cx="152016" cy="292293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Straight Connector 89"/>
            <p:cNvCxnSpPr/>
            <p:nvPr/>
          </p:nvCxnSpPr>
          <p:spPr bwMode="auto">
            <a:xfrm flipH="1">
              <a:off x="1727555" y="6345575"/>
              <a:ext cx="177444" cy="292293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Straight Connector 94"/>
            <p:cNvCxnSpPr/>
            <p:nvPr/>
          </p:nvCxnSpPr>
          <p:spPr bwMode="auto">
            <a:xfrm flipV="1">
              <a:off x="872067" y="5707602"/>
              <a:ext cx="360733" cy="10301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>
              <a:off x="872067" y="4600807"/>
              <a:ext cx="360733" cy="14052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Straight Connector 98"/>
            <p:cNvCxnSpPr/>
            <p:nvPr/>
          </p:nvCxnSpPr>
          <p:spPr bwMode="auto">
            <a:xfrm>
              <a:off x="1727555" y="3733800"/>
              <a:ext cx="177444" cy="294423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607567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Computing Disk Capacity</a:t>
            </a:r>
          </a:p>
        </p:txBody>
      </p:sp>
      <p:sp>
        <p:nvSpPr>
          <p:cNvPr id="12493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/>
              <a:t>Capacity =  (# bytes/sector) </a:t>
            </a:r>
            <a:r>
              <a:rPr lang="en-US" sz="2000" dirty="0" err="1"/>
              <a:t>x</a:t>
            </a:r>
            <a:r>
              <a:rPr lang="en-US" sz="2000" dirty="0"/>
              <a:t> (avg. # sectors/track) </a:t>
            </a:r>
            <a:r>
              <a:rPr lang="en-US" sz="2000" dirty="0" err="1"/>
              <a:t>x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	    (# tracks/surface) </a:t>
            </a:r>
            <a:r>
              <a:rPr lang="en-US" sz="2000" dirty="0" err="1"/>
              <a:t>x</a:t>
            </a:r>
            <a:r>
              <a:rPr lang="en-US" sz="2000" dirty="0"/>
              <a:t> (# surfaces/platter) </a:t>
            </a:r>
            <a:r>
              <a:rPr lang="en-US" sz="2000" dirty="0" err="1"/>
              <a:t>x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  		    (# platters/disk)</a:t>
            </a:r>
          </a:p>
          <a:p>
            <a:pPr>
              <a:buNone/>
            </a:pPr>
            <a:r>
              <a:rPr lang="en-US" sz="2000" dirty="0"/>
              <a:t>Example:</a:t>
            </a:r>
          </a:p>
          <a:p>
            <a:pPr lvl="1"/>
            <a:r>
              <a:rPr lang="en-US" sz="1800" dirty="0"/>
              <a:t>512 bytes/sector</a:t>
            </a:r>
          </a:p>
          <a:p>
            <a:pPr lvl="1"/>
            <a:r>
              <a:rPr lang="en-US" sz="1800" dirty="0"/>
              <a:t>300 sectors/track (on average)</a:t>
            </a:r>
          </a:p>
          <a:p>
            <a:pPr lvl="1"/>
            <a:r>
              <a:rPr lang="en-US" sz="1800" dirty="0"/>
              <a:t>20,000 tracks/surface</a:t>
            </a:r>
          </a:p>
          <a:p>
            <a:pPr lvl="1"/>
            <a:r>
              <a:rPr lang="en-US" sz="1800" dirty="0"/>
              <a:t>2 surfaces/platter</a:t>
            </a:r>
          </a:p>
          <a:p>
            <a:pPr lvl="1"/>
            <a:r>
              <a:rPr lang="en-US" sz="1800" dirty="0"/>
              <a:t>5 platters/disk</a:t>
            </a:r>
          </a:p>
          <a:p>
            <a:pPr lvl="1"/>
            <a:endParaRPr lang="en-US" sz="1800" dirty="0"/>
          </a:p>
          <a:p>
            <a:pPr>
              <a:buNone/>
            </a:pPr>
            <a:r>
              <a:rPr lang="en-US" sz="2000" dirty="0"/>
              <a:t>Capacity = 512 </a:t>
            </a:r>
            <a:r>
              <a:rPr lang="en-US" sz="2000" dirty="0" err="1"/>
              <a:t>x</a:t>
            </a:r>
            <a:r>
              <a:rPr lang="en-US" sz="2000" dirty="0"/>
              <a:t> 300 </a:t>
            </a:r>
            <a:r>
              <a:rPr lang="en-US" sz="2000" dirty="0" err="1"/>
              <a:t>x</a:t>
            </a:r>
            <a:r>
              <a:rPr lang="en-US" sz="2000" dirty="0"/>
              <a:t> 20000 </a:t>
            </a:r>
            <a:r>
              <a:rPr lang="en-US" sz="2000" dirty="0" err="1"/>
              <a:t>x</a:t>
            </a:r>
            <a:r>
              <a:rPr lang="en-US" sz="2000" dirty="0"/>
              <a:t> 2 </a:t>
            </a:r>
            <a:r>
              <a:rPr lang="en-US" sz="2000" dirty="0" err="1"/>
              <a:t>x</a:t>
            </a:r>
            <a:r>
              <a:rPr lang="en-US" sz="2000" dirty="0"/>
              <a:t> 5</a:t>
            </a:r>
          </a:p>
          <a:p>
            <a:pPr>
              <a:buNone/>
            </a:pPr>
            <a:r>
              <a:rPr lang="en-US" sz="2000" dirty="0"/>
              <a:t>		 = 30,720,000,000</a:t>
            </a:r>
          </a:p>
          <a:p>
            <a:pPr>
              <a:buNone/>
            </a:pPr>
            <a:r>
              <a:rPr lang="en-US" sz="2000" dirty="0"/>
              <a:t>                = 30.72 GB 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289"/>
          <p:cNvSpPr>
            <a:spLocks noChangeArrowheads="1"/>
          </p:cNvSpPr>
          <p:nvPr/>
        </p:nvSpPr>
        <p:spPr bwMode="auto">
          <a:xfrm>
            <a:off x="990600" y="3352800"/>
            <a:ext cx="7162800" cy="9906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State Disks (</a:t>
            </a:r>
            <a:r>
              <a:rPr lang="en-US" dirty="0" err="1"/>
              <a:t>SSDs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724400"/>
            <a:ext cx="7896225" cy="1904999"/>
          </a:xfrm>
        </p:spPr>
        <p:txBody>
          <a:bodyPr/>
          <a:lstStyle/>
          <a:p>
            <a:r>
              <a:rPr lang="en-US" dirty="0"/>
              <a:t>Pages: 512KB to 4KB, Blocks: 32 to 128 pages</a:t>
            </a:r>
          </a:p>
          <a:p>
            <a:r>
              <a:rPr lang="en-US" dirty="0"/>
              <a:t>Data read in units of pages. </a:t>
            </a:r>
          </a:p>
          <a:p>
            <a:r>
              <a:rPr lang="en-US" dirty="0"/>
              <a:t>Data written only after its block has been erased</a:t>
            </a:r>
          </a:p>
        </p:txBody>
      </p:sp>
      <p:sp>
        <p:nvSpPr>
          <p:cNvPr id="62" name="AutoShape 238"/>
          <p:cNvSpPr>
            <a:spLocks noChangeArrowheads="1"/>
          </p:cNvSpPr>
          <p:nvPr/>
        </p:nvSpPr>
        <p:spPr bwMode="auto">
          <a:xfrm flipV="1">
            <a:off x="4305300" y="16065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3" name="Rectangle 239"/>
          <p:cNvSpPr>
            <a:spLocks noChangeArrowheads="1"/>
          </p:cNvSpPr>
          <p:nvPr/>
        </p:nvSpPr>
        <p:spPr bwMode="auto">
          <a:xfrm>
            <a:off x="3505200" y="2406650"/>
            <a:ext cx="2057400" cy="520700"/>
          </a:xfrm>
          <a:prstGeom prst="rect">
            <a:avLst/>
          </a:prstGeom>
          <a:solidFill>
            <a:srgbClr val="DEDFF5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Flash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translation layer</a:t>
            </a:r>
          </a:p>
        </p:txBody>
      </p:sp>
      <p:sp>
        <p:nvSpPr>
          <p:cNvPr id="64" name="Line 258"/>
          <p:cNvSpPr>
            <a:spLocks noChangeShapeType="1"/>
          </p:cNvSpPr>
          <p:nvPr/>
        </p:nvSpPr>
        <p:spPr bwMode="auto">
          <a:xfrm>
            <a:off x="4572000" y="292735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5" name="Rectangle 235"/>
          <p:cNvSpPr>
            <a:spLocks noChangeArrowheads="1"/>
          </p:cNvSpPr>
          <p:nvPr/>
        </p:nvSpPr>
        <p:spPr bwMode="auto">
          <a:xfrm>
            <a:off x="3429000" y="1390650"/>
            <a:ext cx="2209800" cy="24130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/>
              <a:uLnTx/>
              <a:uFillTx/>
            </a:endParaRPr>
          </a:p>
        </p:txBody>
      </p:sp>
      <p:sp>
        <p:nvSpPr>
          <p:cNvPr id="66" name="Rectangle 264"/>
          <p:cNvSpPr>
            <a:spLocks noChangeArrowheads="1"/>
          </p:cNvSpPr>
          <p:nvPr/>
        </p:nvSpPr>
        <p:spPr bwMode="auto">
          <a:xfrm>
            <a:off x="4476750" y="1541463"/>
            <a:ext cx="161925" cy="152400"/>
          </a:xfrm>
          <a:prstGeom prst="rect">
            <a:avLst/>
          </a:prstGeom>
          <a:solidFill>
            <a:srgbClr val="F7F5CD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7" name="Text Box 265"/>
          <p:cNvSpPr txBox="1">
            <a:spLocks noChangeArrowheads="1"/>
          </p:cNvSpPr>
          <p:nvPr/>
        </p:nvSpPr>
        <p:spPr bwMode="auto">
          <a:xfrm>
            <a:off x="3429000" y="1066800"/>
            <a:ext cx="8413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I/O bus</a:t>
            </a:r>
          </a:p>
        </p:txBody>
      </p:sp>
      <p:sp>
        <p:nvSpPr>
          <p:cNvPr id="68" name="Rectangle 271"/>
          <p:cNvSpPr>
            <a:spLocks noChangeArrowheads="1"/>
          </p:cNvSpPr>
          <p:nvPr/>
        </p:nvSpPr>
        <p:spPr bwMode="auto">
          <a:xfrm>
            <a:off x="5562600" y="1174750"/>
            <a:ext cx="457200" cy="5334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69" name="Rectangle 272"/>
          <p:cNvSpPr>
            <a:spLocks noChangeArrowheads="1"/>
          </p:cNvSpPr>
          <p:nvPr/>
        </p:nvSpPr>
        <p:spPr bwMode="auto">
          <a:xfrm>
            <a:off x="3048000" y="121920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84" name="Rectangle 280"/>
          <p:cNvSpPr>
            <a:spLocks noChangeArrowheads="1"/>
          </p:cNvSpPr>
          <p:nvPr/>
        </p:nvSpPr>
        <p:spPr bwMode="auto">
          <a:xfrm>
            <a:off x="1154113" y="3689350"/>
            <a:ext cx="3124200" cy="4572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Rectangle 274"/>
          <p:cNvSpPr>
            <a:spLocks noChangeArrowheads="1"/>
          </p:cNvSpPr>
          <p:nvPr/>
        </p:nvSpPr>
        <p:spPr bwMode="auto">
          <a:xfrm>
            <a:off x="1230313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0</a:t>
            </a:r>
          </a:p>
        </p:txBody>
      </p:sp>
      <p:sp>
        <p:nvSpPr>
          <p:cNvPr id="86" name="Rectangle 277"/>
          <p:cNvSpPr>
            <a:spLocks noChangeArrowheads="1"/>
          </p:cNvSpPr>
          <p:nvPr/>
        </p:nvSpPr>
        <p:spPr bwMode="auto">
          <a:xfrm>
            <a:off x="2068513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1</a:t>
            </a:r>
          </a:p>
        </p:txBody>
      </p:sp>
      <p:sp>
        <p:nvSpPr>
          <p:cNvPr id="87" name="Rectangle 278"/>
          <p:cNvSpPr>
            <a:spLocks noChangeArrowheads="1"/>
          </p:cNvSpPr>
          <p:nvPr/>
        </p:nvSpPr>
        <p:spPr bwMode="auto">
          <a:xfrm>
            <a:off x="3363913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P-1</a:t>
            </a:r>
          </a:p>
        </p:txBody>
      </p:sp>
      <p:sp>
        <p:nvSpPr>
          <p:cNvPr id="88" name="Text Box 279"/>
          <p:cNvSpPr txBox="1">
            <a:spLocks noChangeArrowheads="1"/>
          </p:cNvSpPr>
          <p:nvPr/>
        </p:nvSpPr>
        <p:spPr bwMode="auto">
          <a:xfrm>
            <a:off x="2906713" y="3613150"/>
            <a:ext cx="48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…</a:t>
            </a:r>
          </a:p>
        </p:txBody>
      </p:sp>
      <p:sp>
        <p:nvSpPr>
          <p:cNvPr id="89" name="Text Box 281"/>
          <p:cNvSpPr txBox="1">
            <a:spLocks noChangeArrowheads="1"/>
          </p:cNvSpPr>
          <p:nvPr/>
        </p:nvSpPr>
        <p:spPr bwMode="auto">
          <a:xfrm>
            <a:off x="1066800" y="3321050"/>
            <a:ext cx="8493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Block 0</a:t>
            </a:r>
          </a:p>
        </p:txBody>
      </p:sp>
      <p:sp>
        <p:nvSpPr>
          <p:cNvPr id="71" name="Text Box 282"/>
          <p:cNvSpPr txBox="1">
            <a:spLocks noChangeArrowheads="1"/>
          </p:cNvSpPr>
          <p:nvPr/>
        </p:nvSpPr>
        <p:spPr bwMode="auto">
          <a:xfrm>
            <a:off x="4311650" y="3657600"/>
            <a:ext cx="48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…</a:t>
            </a:r>
          </a:p>
        </p:txBody>
      </p:sp>
      <p:sp>
        <p:nvSpPr>
          <p:cNvPr id="78" name="Rectangle 287"/>
          <p:cNvSpPr>
            <a:spLocks noChangeArrowheads="1"/>
          </p:cNvSpPr>
          <p:nvPr/>
        </p:nvSpPr>
        <p:spPr bwMode="auto">
          <a:xfrm>
            <a:off x="4876800" y="3689350"/>
            <a:ext cx="3124200" cy="4572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9" name="Rectangle 283"/>
          <p:cNvSpPr>
            <a:spLocks noChangeArrowheads="1"/>
          </p:cNvSpPr>
          <p:nvPr/>
        </p:nvSpPr>
        <p:spPr bwMode="auto">
          <a:xfrm>
            <a:off x="4953000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0</a:t>
            </a:r>
          </a:p>
        </p:txBody>
      </p:sp>
      <p:sp>
        <p:nvSpPr>
          <p:cNvPr id="80" name="Rectangle 284"/>
          <p:cNvSpPr>
            <a:spLocks noChangeArrowheads="1"/>
          </p:cNvSpPr>
          <p:nvPr/>
        </p:nvSpPr>
        <p:spPr bwMode="auto">
          <a:xfrm>
            <a:off x="5791200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1</a:t>
            </a:r>
          </a:p>
        </p:txBody>
      </p:sp>
      <p:sp>
        <p:nvSpPr>
          <p:cNvPr id="81" name="Rectangle 285"/>
          <p:cNvSpPr>
            <a:spLocks noChangeArrowheads="1"/>
          </p:cNvSpPr>
          <p:nvPr/>
        </p:nvSpPr>
        <p:spPr bwMode="auto">
          <a:xfrm>
            <a:off x="7086600" y="3765550"/>
            <a:ext cx="838200" cy="304800"/>
          </a:xfrm>
          <a:prstGeom prst="rect">
            <a:avLst/>
          </a:prstGeom>
          <a:solidFill>
            <a:srgbClr val="B2E6B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Page P-1</a:t>
            </a:r>
          </a:p>
        </p:txBody>
      </p:sp>
      <p:sp>
        <p:nvSpPr>
          <p:cNvPr id="82" name="Text Box 286"/>
          <p:cNvSpPr txBox="1">
            <a:spLocks noChangeArrowheads="1"/>
          </p:cNvSpPr>
          <p:nvPr/>
        </p:nvSpPr>
        <p:spPr bwMode="auto">
          <a:xfrm>
            <a:off x="6629400" y="3613150"/>
            <a:ext cx="48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…</a:t>
            </a:r>
          </a:p>
        </p:txBody>
      </p:sp>
      <p:sp>
        <p:nvSpPr>
          <p:cNvPr id="83" name="Text Box 288"/>
          <p:cNvSpPr txBox="1">
            <a:spLocks noChangeArrowheads="1"/>
          </p:cNvSpPr>
          <p:nvPr/>
        </p:nvSpPr>
        <p:spPr bwMode="auto">
          <a:xfrm>
            <a:off x="4800600" y="3321050"/>
            <a:ext cx="11096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Block  B-1</a:t>
            </a:r>
          </a:p>
        </p:txBody>
      </p:sp>
      <p:sp>
        <p:nvSpPr>
          <p:cNvPr id="74" name="Text Box 291"/>
          <p:cNvSpPr txBox="1">
            <a:spLocks noChangeArrowheads="1"/>
          </p:cNvSpPr>
          <p:nvPr/>
        </p:nvSpPr>
        <p:spPr bwMode="auto">
          <a:xfrm>
            <a:off x="912813" y="3016250"/>
            <a:ext cx="14716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Flash memory</a:t>
            </a:r>
          </a:p>
        </p:txBody>
      </p:sp>
      <p:sp>
        <p:nvSpPr>
          <p:cNvPr id="75" name="Rectangle 292"/>
          <p:cNvSpPr>
            <a:spLocks noChangeArrowheads="1"/>
          </p:cNvSpPr>
          <p:nvPr/>
        </p:nvSpPr>
        <p:spPr bwMode="auto">
          <a:xfrm>
            <a:off x="838200" y="2317750"/>
            <a:ext cx="7467600" cy="217805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6" name="Text Box 293"/>
          <p:cNvSpPr txBox="1">
            <a:spLocks noChangeArrowheads="1"/>
          </p:cNvSpPr>
          <p:nvPr/>
        </p:nvSpPr>
        <p:spPr bwMode="auto">
          <a:xfrm>
            <a:off x="746125" y="1981200"/>
            <a:ext cx="22256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</a:rPr>
              <a:t>Solid State Disk (SSD)</a:t>
            </a:r>
          </a:p>
        </p:txBody>
      </p:sp>
      <p:sp>
        <p:nvSpPr>
          <p:cNvPr id="77" name="Text Box 297"/>
          <p:cNvSpPr txBox="1">
            <a:spLocks noChangeArrowheads="1"/>
          </p:cNvSpPr>
          <p:nvPr/>
        </p:nvSpPr>
        <p:spPr bwMode="auto">
          <a:xfrm>
            <a:off x="4724400" y="1655763"/>
            <a:ext cx="21336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Requests to read and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write logical disk blocks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31BF-8268-B070-E710-A7090474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8886-6AFB-D172-F306-B69FC193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Performance Characteristics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0ED7-2F7C-7C21-3780-1E81ED7E4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5" y="1038688"/>
            <a:ext cx="7896225" cy="4752514"/>
          </a:xfrm>
        </p:spPr>
        <p:txBody>
          <a:bodyPr/>
          <a:lstStyle/>
          <a:p>
            <a:r>
              <a:rPr lang="en-US" dirty="0"/>
              <a:t>Benchmark of Samsung 940 EVO Plus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Benchmark of Micron 9650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Sequential access faster than random access</a:t>
            </a:r>
          </a:p>
          <a:p>
            <a:r>
              <a:rPr lang="en-US" dirty="0"/>
              <a:t>Random writes are somewhat slower</a:t>
            </a:r>
          </a:p>
          <a:p>
            <a:pPr lvl="1"/>
            <a:r>
              <a:rPr lang="en-US" dirty="0"/>
              <a:t>Erasing a block takes a long time (~1 </a:t>
            </a:r>
            <a:r>
              <a:rPr lang="en-US" dirty="0" err="1"/>
              <a:t>ms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Modifying a block page requires all other pages to be copied to new block.</a:t>
            </a:r>
          </a:p>
          <a:p>
            <a:pPr lvl="1"/>
            <a:r>
              <a:rPr lang="en-US" dirty="0"/>
              <a:t>Optimization: flash translation layer allows accumulating series of small writes before doing block write.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FE89A-47A5-80B6-F164-94A02870A458}"/>
              </a:ext>
            </a:extLst>
          </p:cNvPr>
          <p:cNvSpPr txBox="1"/>
          <p:nvPr/>
        </p:nvSpPr>
        <p:spPr>
          <a:xfrm>
            <a:off x="178755" y="1984912"/>
            <a:ext cx="8859220" cy="707886"/>
          </a:xfrm>
          <a:prstGeom prst="rect">
            <a:avLst/>
          </a:prstGeom>
          <a:solidFill>
            <a:srgbClr val="E2E2E2"/>
          </a:solidFill>
          <a:ln w="1905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Sequential read throughput   2,126 MB/s	 Sequential write </a:t>
            </a:r>
            <a:r>
              <a:rPr lang="en-US" sz="2000" dirty="0" err="1">
                <a:latin typeface="Calibri" pitchFamily="34" charset="0"/>
              </a:rPr>
              <a:t>tput</a:t>
            </a:r>
            <a:r>
              <a:rPr lang="en-US" sz="2000" dirty="0">
                <a:latin typeface="Calibri" pitchFamily="34" charset="0"/>
              </a:rPr>
              <a:t>	1,880 MB/s</a:t>
            </a:r>
          </a:p>
          <a:p>
            <a:r>
              <a:rPr lang="en-US" sz="2000" dirty="0">
                <a:latin typeface="Calibri" pitchFamily="34" charset="0"/>
              </a:rPr>
              <a:t>Random read throughput	         140 MB/s	 Random write </a:t>
            </a:r>
            <a:r>
              <a:rPr lang="en-US" sz="2000" dirty="0" err="1">
                <a:latin typeface="Calibri" pitchFamily="34" charset="0"/>
              </a:rPr>
              <a:t>tput</a:t>
            </a:r>
            <a:r>
              <a:rPr lang="en-US" sz="2000" dirty="0">
                <a:latin typeface="Calibri" pitchFamily="34" charset="0"/>
              </a:rPr>
              <a:t>	      59 MB/s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004AC-75E3-79A6-C56B-4E8481C8A3FC}"/>
              </a:ext>
            </a:extLst>
          </p:cNvPr>
          <p:cNvSpPr/>
          <p:nvPr/>
        </p:nvSpPr>
        <p:spPr>
          <a:xfrm>
            <a:off x="883328" y="1508300"/>
            <a:ext cx="8962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https://ssd.userbenchmark.com/SpeedTest/711305/Samsung-SSD-970-EVO-Plus-250GB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F7B6E-26DE-A094-F433-4416656928EC}"/>
              </a:ext>
            </a:extLst>
          </p:cNvPr>
          <p:cNvSpPr txBox="1"/>
          <p:nvPr/>
        </p:nvSpPr>
        <p:spPr>
          <a:xfrm>
            <a:off x="136072" y="3261313"/>
            <a:ext cx="8901904" cy="707886"/>
          </a:xfrm>
          <a:prstGeom prst="rect">
            <a:avLst/>
          </a:prstGeom>
          <a:solidFill>
            <a:srgbClr val="E2E2E2"/>
          </a:solidFill>
          <a:ln w="1905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Sequential read throughput   2,8000 MB/s	 Sequential write </a:t>
            </a:r>
            <a:r>
              <a:rPr lang="en-US" sz="2000" dirty="0" err="1">
                <a:latin typeface="Calibri" pitchFamily="34" charset="0"/>
              </a:rPr>
              <a:t>tput</a:t>
            </a:r>
            <a:r>
              <a:rPr lang="en-US" sz="2000" dirty="0">
                <a:latin typeface="Calibri" pitchFamily="34" charset="0"/>
              </a:rPr>
              <a:t>	14000 MB/s</a:t>
            </a:r>
          </a:p>
          <a:p>
            <a:r>
              <a:rPr lang="en-US" sz="2000" dirty="0">
                <a:latin typeface="Calibri" pitchFamily="34" charset="0"/>
              </a:rPr>
              <a:t>Random read throughput	       2,2500 MB/s	 Random write </a:t>
            </a:r>
            <a:r>
              <a:rPr lang="en-US" sz="2000" dirty="0" err="1">
                <a:latin typeface="Calibri" pitchFamily="34" charset="0"/>
              </a:rPr>
              <a:t>tput</a:t>
            </a:r>
            <a:r>
              <a:rPr lang="en-US" sz="2000" dirty="0">
                <a:latin typeface="Calibri" pitchFamily="34" charset="0"/>
              </a:rPr>
              <a:t>	   3690 MB/s</a:t>
            </a:r>
          </a:p>
        </p:txBody>
      </p:sp>
    </p:spTree>
    <p:extLst>
      <p:ext uri="{BB962C8B-B14F-4D97-AF65-F5344CB8AC3E}">
        <p14:creationId xmlns:p14="http://schemas.microsoft.com/office/powerpoint/2010/main" val="34740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SSD Tradeoffs	vs Rotating Disks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94949" cy="4972050"/>
          </a:xfrm>
        </p:spPr>
        <p:txBody>
          <a:bodyPr/>
          <a:lstStyle/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No moving parts </a:t>
            </a:r>
            <a:r>
              <a:rPr lang="en-US" dirty="0">
                <a:sym typeface="Wingdings"/>
              </a:rPr>
              <a:t> No seeking, and rotational overhead, less power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Have the potential to wear out </a:t>
            </a:r>
          </a:p>
          <a:p>
            <a:pPr lvl="2"/>
            <a:r>
              <a:rPr lang="en-US" dirty="0"/>
              <a:t>Mitigated by “wear leveling logic” in flash translation layer</a:t>
            </a:r>
          </a:p>
          <a:p>
            <a:pPr lvl="1"/>
            <a:r>
              <a:rPr lang="en-US" dirty="0"/>
              <a:t>In 2019, about 4 times more expensive per byte</a:t>
            </a:r>
          </a:p>
          <a:p>
            <a:pPr lvl="2"/>
            <a:r>
              <a:rPr lang="en-US" dirty="0"/>
              <a:t>And, relative cost will keep dropping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In 2019, MP3 players, smart phones, laptops</a:t>
            </a:r>
          </a:p>
          <a:p>
            <a:pPr lvl="1"/>
            <a:r>
              <a:rPr lang="en-US" dirty="0"/>
              <a:t>In 2026,  dominates in desktops and servers</a:t>
            </a:r>
          </a:p>
        </p:txBody>
      </p:sp>
    </p:spTree>
    <p:extLst>
      <p:ext uri="{BB962C8B-B14F-4D97-AF65-F5344CB8AC3E}">
        <p14:creationId xmlns:p14="http://schemas.microsoft.com/office/powerpoint/2010/main" val="579655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539E-4CB6-3B55-F40A-F3BE0611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E32A-231B-05E4-F187-8F1315C5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the SSD wear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E8E6-9581-0152-1F72-1F0DFD94E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5" y="1362075"/>
            <a:ext cx="8845096" cy="4972050"/>
          </a:xfrm>
        </p:spPr>
        <p:txBody>
          <a:bodyPr/>
          <a:lstStyle/>
          <a:p>
            <a:r>
              <a:rPr lang="en-US" dirty="0"/>
              <a:t>Not as bad as you thought</a:t>
            </a:r>
          </a:p>
          <a:p>
            <a:pPr lvl="1"/>
            <a:r>
              <a:rPr lang="en-US" dirty="0"/>
              <a:t>Only affects write, not read</a:t>
            </a:r>
          </a:p>
          <a:p>
            <a:pPr lvl="1"/>
            <a:r>
              <a:rPr lang="en-US" dirty="0"/>
              <a:t>Even for write: Samsung 990 PRO SSD: 600 TBW (terabytes written). </a:t>
            </a:r>
          </a:p>
          <a:p>
            <a:pPr lvl="1"/>
            <a:r>
              <a:rPr lang="en-US" dirty="0"/>
              <a:t>That's equivalent to writing 100 GB per day for about </a:t>
            </a:r>
            <a:br>
              <a:rPr lang="en-US" dirty="0"/>
            </a:br>
            <a:r>
              <a:rPr lang="en-US" dirty="0"/>
              <a:t>16 years.</a:t>
            </a:r>
          </a:p>
          <a:p>
            <a:endParaRPr lang="en-US" dirty="0"/>
          </a:p>
          <a:p>
            <a:r>
              <a:rPr lang="en-US" dirty="0"/>
              <a:t>An HDD is likely to fall after 16 years as well: the mechanical parts can wear out</a:t>
            </a:r>
          </a:p>
        </p:txBody>
      </p:sp>
    </p:spTree>
    <p:extLst>
      <p:ext uri="{BB962C8B-B14F-4D97-AF65-F5344CB8AC3E}">
        <p14:creationId xmlns:p14="http://schemas.microsoft.com/office/powerpoint/2010/main" val="183787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705339" cy="762000"/>
          </a:xfrm>
        </p:spPr>
        <p:txBody>
          <a:bodyPr/>
          <a:lstStyle/>
          <a:p>
            <a:r>
              <a:rPr lang="en-US" dirty="0"/>
              <a:t>The CPU-Memory Gap, i.e., the memory wall</a:t>
            </a:r>
          </a:p>
        </p:txBody>
      </p:sp>
      <p:sp>
        <p:nvSpPr>
          <p:cNvPr id="199684" name="Rectangle 4"/>
          <p:cNvSpPr>
            <a:spLocks noChangeArrowheads="1"/>
          </p:cNvSpPr>
          <p:nvPr/>
        </p:nvSpPr>
        <p:spPr bwMode="auto">
          <a:xfrm>
            <a:off x="404813" y="1143000"/>
            <a:ext cx="8167687" cy="446276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charset="2"/>
              <a:buNone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The gap </a:t>
            </a:r>
            <a:r>
              <a:rPr lang="en-US" sz="2400" dirty="0">
                <a:ln>
                  <a:solidFill>
                    <a:srgbClr val="DF9F98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widens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between DRAM, disk, and CPU speeds. </a:t>
            </a:r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9947400"/>
              </p:ext>
            </p:extLst>
          </p:nvPr>
        </p:nvGraphicFramePr>
        <p:xfrm>
          <a:off x="343569" y="1773942"/>
          <a:ext cx="8421687" cy="4728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43119" y="4159478"/>
            <a:ext cx="801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DRAM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278" y="5189356"/>
            <a:ext cx="580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9193" y="2890510"/>
            <a:ext cx="54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SSD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9036" y="2297668"/>
            <a:ext cx="589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Disk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Nonvolatile Memories</a:t>
            </a:r>
          </a:p>
        </p:txBody>
      </p:sp>
      <p:sp>
        <p:nvSpPr>
          <p:cNvPr id="122885" name="Rectangle 1029"/>
          <p:cNvSpPr>
            <a:spLocks noGrp="1" noChangeArrowheads="1"/>
          </p:cNvSpPr>
          <p:nvPr>
            <p:ph idx="1"/>
          </p:nvPr>
        </p:nvSpPr>
        <p:spPr>
          <a:xfrm>
            <a:off x="396875" y="1214256"/>
            <a:ext cx="8404225" cy="543172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DRAM and SRAM are volatile memories</a:t>
            </a:r>
          </a:p>
          <a:p>
            <a:pPr lvl="1"/>
            <a:r>
              <a:rPr lang="en-US" dirty="0"/>
              <a:t>Lose information if powered off.</a:t>
            </a:r>
          </a:p>
          <a:p>
            <a:r>
              <a:rPr lang="en-US" dirty="0"/>
              <a:t>Nonvolatile memories retain value even if powered off</a:t>
            </a:r>
          </a:p>
          <a:p>
            <a:pPr lvl="1"/>
            <a:r>
              <a:rPr lang="en-US" dirty="0"/>
              <a:t>Read-only memory (</a:t>
            </a:r>
            <a:r>
              <a:rPr lang="en-US" dirty="0">
                <a:solidFill>
                  <a:srgbClr val="FF0000"/>
                </a:solidFill>
              </a:rPr>
              <a:t>ROM</a:t>
            </a:r>
            <a:r>
              <a:rPr lang="en-US" dirty="0"/>
              <a:t>): programmed during production</a:t>
            </a:r>
          </a:p>
          <a:p>
            <a:pPr lvl="1"/>
            <a:r>
              <a:rPr lang="en-US" dirty="0"/>
              <a:t>Programmable ROM (</a:t>
            </a:r>
            <a:r>
              <a:rPr lang="en-US" dirty="0">
                <a:solidFill>
                  <a:srgbClr val="FF0000"/>
                </a:solidFill>
              </a:rPr>
              <a:t>PROM</a:t>
            </a:r>
            <a:r>
              <a:rPr lang="en-US" dirty="0"/>
              <a:t>): can be programmed once</a:t>
            </a:r>
          </a:p>
          <a:p>
            <a:pPr lvl="1"/>
            <a:r>
              <a:rPr lang="en-US" dirty="0" err="1"/>
              <a:t>Eraseable</a:t>
            </a:r>
            <a:r>
              <a:rPr lang="en-US" dirty="0"/>
              <a:t> PROM (</a:t>
            </a:r>
            <a:r>
              <a:rPr lang="en-US" dirty="0">
                <a:solidFill>
                  <a:srgbClr val="FF0000"/>
                </a:solidFill>
              </a:rPr>
              <a:t>EPROM</a:t>
            </a:r>
            <a:r>
              <a:rPr lang="en-US" dirty="0"/>
              <a:t>): can be bulk erased (UV, X-Ray)</a:t>
            </a:r>
          </a:p>
          <a:p>
            <a:pPr lvl="1"/>
            <a:r>
              <a:rPr lang="en-US" dirty="0"/>
              <a:t>Electrically </a:t>
            </a:r>
            <a:r>
              <a:rPr lang="en-US" dirty="0" err="1"/>
              <a:t>eraseable</a:t>
            </a:r>
            <a:r>
              <a:rPr lang="en-US" dirty="0"/>
              <a:t> PROM (</a:t>
            </a:r>
            <a:r>
              <a:rPr lang="en-US" dirty="0">
                <a:solidFill>
                  <a:srgbClr val="FF0000"/>
                </a:solidFill>
              </a:rPr>
              <a:t>EEPROM</a:t>
            </a:r>
            <a:r>
              <a:rPr lang="en-US" dirty="0"/>
              <a:t>): electronic erase capability</a:t>
            </a:r>
          </a:p>
          <a:p>
            <a:pPr lvl="1"/>
            <a:r>
              <a:rPr lang="en-US" dirty="0"/>
              <a:t>Flash memory: EEPROMs. with partial (block-level) erase capability</a:t>
            </a:r>
          </a:p>
          <a:p>
            <a:pPr lvl="2"/>
            <a:r>
              <a:rPr lang="en-US" dirty="0"/>
              <a:t>Wears out after about 100,000 </a:t>
            </a:r>
            <a:r>
              <a:rPr lang="en-US" dirty="0" err="1"/>
              <a:t>erasings</a:t>
            </a:r>
            <a:endParaRPr lang="en-US" dirty="0"/>
          </a:p>
          <a:p>
            <a:pPr lvl="1"/>
            <a:r>
              <a:rPr lang="en-US" altLang="zh-CN" dirty="0"/>
              <a:t>3D </a:t>
            </a:r>
            <a:r>
              <a:rPr lang="en-US" altLang="zh-CN" dirty="0" err="1"/>
              <a:t>XPoint</a:t>
            </a:r>
            <a:r>
              <a:rPr lang="en-US" altLang="zh-CN" dirty="0"/>
              <a:t> (Intel </a:t>
            </a:r>
            <a:r>
              <a:rPr lang="en-US" altLang="zh-CN" dirty="0" err="1"/>
              <a:t>Optane</a:t>
            </a:r>
            <a:r>
              <a:rPr lang="en-US" altLang="zh-CN" dirty="0"/>
              <a:t>) &amp; emerging NVMs</a:t>
            </a:r>
          </a:p>
          <a:p>
            <a:pPr lvl="2"/>
            <a:r>
              <a:rPr lang="en-US" altLang="zh-CN" dirty="0"/>
              <a:t>New materials</a:t>
            </a:r>
          </a:p>
          <a:p>
            <a:pPr lvl="2"/>
            <a:endParaRPr lang="en-US" dirty="0"/>
          </a:p>
          <a:p>
            <a:r>
              <a:rPr lang="en-US" dirty="0"/>
              <a:t>Uses for Nonvolatile Memories</a:t>
            </a:r>
          </a:p>
          <a:p>
            <a:pPr lvl="1"/>
            <a:r>
              <a:rPr lang="en-US" dirty="0"/>
              <a:t>Firmware programs stored in a ROM (BIOS, controllers for disks, network cards, graphics accelerators, security subsystems,…)</a:t>
            </a:r>
          </a:p>
          <a:p>
            <a:pPr lvl="1"/>
            <a:r>
              <a:rPr lang="en-US" dirty="0"/>
              <a:t>Solid state disks (replace rotating disks in thumb drives, smart phones, mp3 players, tablets, laptops,…)</a:t>
            </a:r>
          </a:p>
          <a:p>
            <a:pPr lvl="1"/>
            <a:r>
              <a:rPr lang="en-US" dirty="0"/>
              <a:t>Disk caches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778E46E-F23A-44D5-85D1-72691CD169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3" t="16144" r="15462" b="19617"/>
          <a:stretch/>
        </p:blipFill>
        <p:spPr>
          <a:xfrm>
            <a:off x="5907476" y="3786625"/>
            <a:ext cx="2469269" cy="13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B645-E7E7-EDBB-B46C-7DC58B62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D1ED-9D2D-9381-D033-79C1F3B9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49C7-AEBE-3C21-71F6-FD9CEA5BE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一个读者愤怒地问</a:t>
            </a:r>
            <a:r>
              <a:rPr lang="en-US" altLang="zh-CN" dirty="0"/>
              <a:t>CSAPP</a:t>
            </a:r>
            <a:r>
              <a:rPr lang="zh-CN" altLang="en-US" dirty="0"/>
              <a:t>的作者 “为什么你们的书又长又难读”？</a:t>
            </a:r>
            <a:endParaRPr lang="en-US" altLang="zh-CN" dirty="0"/>
          </a:p>
          <a:p>
            <a:r>
              <a:rPr lang="en-US" altLang="zh-CN" dirty="0"/>
              <a:t>CSAPP</a:t>
            </a:r>
            <a:r>
              <a:rPr lang="zh-CN" altLang="en-US" dirty="0"/>
              <a:t>的作者说“这正说明我们深刻地理解了系统底层原理：容量大的设备访问速度自然就慢了！”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026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164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auto">
          <a:xfrm>
            <a:off x="76200" y="3032125"/>
            <a:ext cx="8893175" cy="422275"/>
          </a:xfrm>
          <a:prstGeom prst="rect">
            <a:avLst/>
          </a:prstGeom>
          <a:solidFill>
            <a:srgbClr val="E6E6E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22228B"/>
              </a:solidFill>
              <a:latin typeface="Calibri" pitchFamily="34" charset="0"/>
            </a:endParaRPr>
          </a:p>
        </p:txBody>
      </p:sp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76200" y="3032125"/>
            <a:ext cx="8893175" cy="1751762"/>
          </a:xfrm>
          <a:prstGeom prst="rect">
            <a:avLst/>
          </a:prstGeom>
          <a:noFill/>
          <a:ln w="285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 defTabSz="857250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</a:rPr>
              <a:t>Metric		1985	1990	1995	2000	2005	2010	2015	</a:t>
            </a:r>
            <a:r>
              <a:rPr lang="en-US" sz="2000" i="1" dirty="0">
                <a:solidFill>
                  <a:srgbClr val="000000"/>
                </a:solidFill>
              </a:rPr>
              <a:t>2015:1985</a:t>
            </a:r>
            <a:endParaRPr lang="en-US" sz="2000" dirty="0">
              <a:solidFill>
                <a:srgbClr val="000000"/>
              </a:solidFill>
            </a:endParaRPr>
          </a:p>
          <a:p>
            <a:pPr algn="l" defTabSz="857250">
              <a:lnSpc>
                <a:spcPct val="100000"/>
              </a:lnSpc>
            </a:pPr>
            <a:endParaRPr lang="en-US" sz="16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$/MB		880	100	30	1	0.1	0.06	0.02	</a:t>
            </a:r>
            <a:r>
              <a:rPr lang="en-US" sz="1800" i="1" dirty="0">
                <a:solidFill>
                  <a:srgbClr val="22228B"/>
                </a:solidFill>
              </a:rPr>
              <a:t>44,000</a:t>
            </a: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access (ns)	200	100	70	60	50	40	20	</a:t>
            </a:r>
            <a:r>
              <a:rPr lang="en-US" sz="1800" i="1" dirty="0">
                <a:solidFill>
                  <a:srgbClr val="22228B"/>
                </a:solidFill>
              </a:rPr>
              <a:t>10</a:t>
            </a:r>
            <a:endParaRPr lang="en-US" sz="18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typical size (MB) 	0.256	4	16	64	2,000	8,000	16.000	</a:t>
            </a:r>
            <a:r>
              <a:rPr lang="en-US" sz="1800" i="1" dirty="0">
                <a:solidFill>
                  <a:srgbClr val="22228B"/>
                </a:solidFill>
              </a:rPr>
              <a:t>62,500</a:t>
            </a:r>
            <a:endParaRPr lang="en-US" sz="1800" dirty="0">
              <a:solidFill>
                <a:srgbClr val="22228B"/>
              </a:solidFill>
            </a:endParaRPr>
          </a:p>
          <a:p>
            <a:pPr algn="l" defTabSz="857250">
              <a:lnSpc>
                <a:spcPct val="100000"/>
              </a:lnSpc>
            </a:pPr>
            <a:endParaRPr lang="en-US" sz="1800" dirty="0">
              <a:solidFill>
                <a:srgbClr val="22228B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6200" y="5229225"/>
            <a:ext cx="8893175" cy="422275"/>
          </a:xfrm>
          <a:prstGeom prst="rect">
            <a:avLst/>
          </a:prstGeom>
          <a:solidFill>
            <a:srgbClr val="E2E2E2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22228B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98425" y="1482725"/>
            <a:ext cx="8893175" cy="422275"/>
          </a:xfrm>
          <a:prstGeom prst="rect">
            <a:avLst/>
          </a:prstGeom>
          <a:solidFill>
            <a:srgbClr val="E6E6E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Trends</a:t>
            </a:r>
          </a:p>
        </p:txBody>
      </p:sp>
      <p:sp>
        <p:nvSpPr>
          <p:cNvPr id="195589" name="Rectangle 5"/>
          <p:cNvSpPr>
            <a:spLocks noChangeArrowheads="1"/>
          </p:cNvSpPr>
          <p:nvPr/>
        </p:nvSpPr>
        <p:spPr bwMode="auto">
          <a:xfrm>
            <a:off x="0" y="2727325"/>
            <a:ext cx="75024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</a:rPr>
              <a:t>DRAM</a:t>
            </a:r>
          </a:p>
        </p:txBody>
      </p:sp>
      <p:sp>
        <p:nvSpPr>
          <p:cNvPr id="195592" name="Rectangle 8"/>
          <p:cNvSpPr>
            <a:spLocks noChangeArrowheads="1"/>
          </p:cNvSpPr>
          <p:nvPr/>
        </p:nvSpPr>
        <p:spPr bwMode="auto">
          <a:xfrm>
            <a:off x="22225" y="1143000"/>
            <a:ext cx="73987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</a:rPr>
              <a:t>SRAM</a:t>
            </a:r>
          </a:p>
        </p:txBody>
      </p:sp>
      <p:sp>
        <p:nvSpPr>
          <p:cNvPr id="195593" name="Rectangle 9"/>
          <p:cNvSpPr>
            <a:spLocks noChangeArrowheads="1"/>
          </p:cNvSpPr>
          <p:nvPr/>
        </p:nvSpPr>
        <p:spPr bwMode="auto">
          <a:xfrm>
            <a:off x="76200" y="5229225"/>
            <a:ext cx="8893175" cy="147476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 defTabSz="857250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</a:rPr>
              <a:t>Metric		1985	1990	1995	2000	2005	2010	2015	</a:t>
            </a:r>
            <a:r>
              <a:rPr lang="en-US" sz="2000" i="1" dirty="0">
                <a:solidFill>
                  <a:srgbClr val="000000"/>
                </a:solidFill>
              </a:rPr>
              <a:t>2015:1985</a:t>
            </a:r>
          </a:p>
          <a:p>
            <a:pPr algn="l" defTabSz="857250">
              <a:lnSpc>
                <a:spcPct val="100000"/>
              </a:lnSpc>
            </a:pPr>
            <a:endParaRPr lang="en-US" sz="16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$/GB		100,000	8,000	300	10	5	0.3	0.03	</a:t>
            </a:r>
            <a:r>
              <a:rPr lang="en-US" sz="1800" i="1" dirty="0">
                <a:solidFill>
                  <a:srgbClr val="22228B"/>
                </a:solidFill>
              </a:rPr>
              <a:t>3,333,333</a:t>
            </a:r>
            <a:endParaRPr lang="en-US" sz="18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access (ms)	75	28	10	8	</a:t>
            </a:r>
            <a:r>
              <a:rPr lang="en-US" sz="1800" i="1" dirty="0">
                <a:solidFill>
                  <a:srgbClr val="22228B"/>
                </a:solidFill>
              </a:rPr>
              <a:t>5	3	3	25</a:t>
            </a:r>
            <a:endParaRPr lang="en-US" sz="18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typical size (GB) 	0.01	0.16	1	20	160	1,500	3,000	</a:t>
            </a:r>
            <a:r>
              <a:rPr lang="en-US" sz="1800" i="1" dirty="0">
                <a:solidFill>
                  <a:srgbClr val="22228B"/>
                </a:solidFill>
              </a:rPr>
              <a:t>300,000</a:t>
            </a:r>
          </a:p>
        </p:txBody>
      </p:sp>
      <p:sp>
        <p:nvSpPr>
          <p:cNvPr id="195595" name="Rectangle 11"/>
          <p:cNvSpPr>
            <a:spLocks noChangeArrowheads="1"/>
          </p:cNvSpPr>
          <p:nvPr/>
        </p:nvSpPr>
        <p:spPr bwMode="auto">
          <a:xfrm>
            <a:off x="22225" y="4903788"/>
            <a:ext cx="593110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</a:rPr>
              <a:t>Disk</a:t>
            </a:r>
          </a:p>
        </p:txBody>
      </p:sp>
      <p:sp>
        <p:nvSpPr>
          <p:cNvPr id="195590" name="Rectangle 6"/>
          <p:cNvSpPr>
            <a:spLocks noChangeArrowheads="1"/>
          </p:cNvSpPr>
          <p:nvPr/>
        </p:nvSpPr>
        <p:spPr bwMode="auto">
          <a:xfrm>
            <a:off x="98425" y="1482725"/>
            <a:ext cx="8893175" cy="1197764"/>
          </a:xfrm>
          <a:prstGeom prst="rect">
            <a:avLst/>
          </a:prstGeom>
          <a:noFill/>
          <a:ln w="285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 defTabSz="857250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</a:rPr>
              <a:t>Metric		1985	1990	1995	2000	2005	2010	2015	</a:t>
            </a:r>
            <a:r>
              <a:rPr lang="en-US" sz="2000" i="1" dirty="0">
                <a:solidFill>
                  <a:srgbClr val="000000"/>
                </a:solidFill>
              </a:rPr>
              <a:t>2015:1985</a:t>
            </a:r>
          </a:p>
          <a:p>
            <a:pPr algn="l" defTabSz="857250">
              <a:lnSpc>
                <a:spcPct val="100000"/>
              </a:lnSpc>
            </a:pPr>
            <a:endParaRPr lang="en-US" sz="16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$/MB		2,900	320	256	100	75	60	</a:t>
            </a:r>
            <a:r>
              <a:rPr lang="en-US" sz="1800" i="1" dirty="0">
                <a:solidFill>
                  <a:srgbClr val="22228B"/>
                </a:solidFill>
              </a:rPr>
              <a:t>25	116</a:t>
            </a:r>
            <a:endParaRPr lang="en-US" sz="1800" dirty="0">
              <a:solidFill>
                <a:srgbClr val="22228B"/>
              </a:solidFill>
            </a:endParaRPr>
          </a:p>
          <a:p>
            <a:pPr defTabSz="857250"/>
            <a:r>
              <a:rPr lang="en-US" sz="1800" dirty="0">
                <a:solidFill>
                  <a:srgbClr val="22228B"/>
                </a:solidFill>
              </a:rPr>
              <a:t>access (ns)	150	35	15	3	2	1.5	</a:t>
            </a:r>
            <a:r>
              <a:rPr lang="en-US" sz="1800" i="1" dirty="0">
                <a:solidFill>
                  <a:srgbClr val="22228B"/>
                </a:solidFill>
              </a:rPr>
              <a:t>1.3	115</a:t>
            </a:r>
          </a:p>
        </p:txBody>
      </p:sp>
    </p:spTree>
    <p:extLst>
      <p:ext uri="{BB962C8B-B14F-4D97-AF65-F5344CB8AC3E}">
        <p14:creationId xmlns:p14="http://schemas.microsoft.com/office/powerpoint/2010/main" val="41594627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auto">
          <a:xfrm>
            <a:off x="76200" y="1814513"/>
            <a:ext cx="8826500" cy="395287"/>
          </a:xfrm>
          <a:prstGeom prst="rect">
            <a:avLst/>
          </a:prstGeom>
          <a:solidFill>
            <a:srgbClr val="E0E0E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Clock Rates</a:t>
            </a:r>
          </a:p>
        </p:txBody>
      </p:sp>
      <p:sp>
        <p:nvSpPr>
          <p:cNvPr id="197635" name="Rectangle 3"/>
          <p:cNvSpPr>
            <a:spLocks noChangeArrowheads="1"/>
          </p:cNvSpPr>
          <p:nvPr/>
        </p:nvSpPr>
        <p:spPr bwMode="auto">
          <a:xfrm>
            <a:off x="76200" y="1814513"/>
            <a:ext cx="8826500" cy="4213975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	</a:t>
            </a:r>
            <a:r>
              <a:rPr lang="en-US" sz="2000" dirty="0"/>
              <a:t>1985	1990	1995	</a:t>
            </a:r>
            <a:r>
              <a:rPr lang="en-US" sz="1800" dirty="0"/>
              <a:t>2003	2005	2010	2015	</a:t>
            </a:r>
            <a:r>
              <a:rPr lang="en-US" sz="1800" i="1" dirty="0"/>
              <a:t>2015:1985</a:t>
            </a:r>
          </a:p>
          <a:p>
            <a:endParaRPr lang="en-US" sz="1400" dirty="0"/>
          </a:p>
          <a:p>
            <a:r>
              <a:rPr lang="en-US" sz="1800" dirty="0"/>
              <a:t>CPU	 80286	80386	Pentium	P-4	Core 2	Core i7(n)	Core i7(h)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/>
              <a:t>Clock </a:t>
            </a:r>
          </a:p>
          <a:p>
            <a:r>
              <a:rPr lang="en-US" sz="1800" dirty="0"/>
              <a:t>rate (MHz) 6	20	150	3,300	2,000	2,500	3,000	500</a:t>
            </a:r>
          </a:p>
          <a:p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/>
              <a:t>Cycle </a:t>
            </a:r>
          </a:p>
          <a:p>
            <a:r>
              <a:rPr lang="en-US" sz="1800" dirty="0"/>
              <a:t>time (ns)	166	50	6	0.30	0.50	0.4	0.33	500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r>
              <a:rPr lang="en-US" sz="1800" dirty="0"/>
              <a:t>Cores	 1  	1	1	1	2	4	4	4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/>
              <a:t>Effective</a:t>
            </a:r>
          </a:p>
          <a:p>
            <a:r>
              <a:rPr lang="en-US" sz="1800" dirty="0"/>
              <a:t>cycle 	166	50	6	0.30	0.25	0.10	0.08	2,075</a:t>
            </a:r>
          </a:p>
          <a:p>
            <a:pPr algn="l">
              <a:lnSpc>
                <a:spcPct val="100000"/>
              </a:lnSpc>
            </a:pPr>
            <a:r>
              <a:rPr lang="en-US" sz="1800" dirty="0"/>
              <a:t>time (ns)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0400" y="621268"/>
            <a:ext cx="3712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Inflection point in computer history</a:t>
            </a:r>
          </a:p>
          <a:p>
            <a:r>
              <a:rPr lang="en-US" sz="1800" dirty="0">
                <a:latin typeface="Calibri" pitchFamily="34" charset="0"/>
              </a:rPr>
              <a:t>when designers hit the “Power Wall”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rot="10800000" flipV="1">
            <a:off x="4470402" y="1267598"/>
            <a:ext cx="457198" cy="33260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3"/>
          <p:cNvSpPr/>
          <p:nvPr/>
        </p:nvSpPr>
        <p:spPr bwMode="auto">
          <a:xfrm>
            <a:off x="3683000" y="1600205"/>
            <a:ext cx="685800" cy="472439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95900" y="6197601"/>
            <a:ext cx="2356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(n) Nehalem processor</a:t>
            </a:r>
          </a:p>
          <a:p>
            <a:r>
              <a:rPr lang="en-US" sz="1800" dirty="0">
                <a:latin typeface="Calibri" pitchFamily="34" charset="0"/>
              </a:rPr>
              <a:t>(h) </a:t>
            </a:r>
            <a:r>
              <a:rPr lang="en-US" sz="1800" dirty="0" err="1">
                <a:latin typeface="Calibri" pitchFamily="34" charset="0"/>
              </a:rPr>
              <a:t>Haswell</a:t>
            </a:r>
            <a:r>
              <a:rPr lang="en-US" sz="1800" dirty="0">
                <a:latin typeface="Calibri" pitchFamily="34" charset="0"/>
              </a:rPr>
              <a:t> processor</a:t>
            </a:r>
          </a:p>
        </p:txBody>
      </p:sp>
    </p:spTree>
    <p:extLst>
      <p:ext uri="{BB962C8B-B14F-4D97-AF65-F5344CB8AC3E}">
        <p14:creationId xmlns:p14="http://schemas.microsoft.com/office/powerpoint/2010/main" val="286215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00-templat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00-template</Template>
  <TotalTime>18798</TotalTime>
  <Words>4907</Words>
  <Application>Microsoft Office PowerPoint</Application>
  <PresentationFormat>On-screen Show (4:3)</PresentationFormat>
  <Paragraphs>1105</Paragraphs>
  <Slides>79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8" baseType="lpstr">
      <vt:lpstr>Arial</vt:lpstr>
      <vt:lpstr>Arial Narrow</vt:lpstr>
      <vt:lpstr>Calibri</vt:lpstr>
      <vt:lpstr>Courier New</vt:lpstr>
      <vt:lpstr>Times</vt:lpstr>
      <vt:lpstr>Times New Roman</vt:lpstr>
      <vt:lpstr>Wingdings</vt:lpstr>
      <vt:lpstr>Wingdings 2</vt:lpstr>
      <vt:lpstr>00-template</vt:lpstr>
      <vt:lpstr>The Memory Hierarchy  Introduction to Computer Systems 12th Lecture</vt:lpstr>
      <vt:lpstr>来点CSAPP笑话</vt:lpstr>
      <vt:lpstr>PowerPoint Presentation</vt:lpstr>
      <vt:lpstr>Today</vt:lpstr>
      <vt:lpstr>Locality</vt:lpstr>
      <vt:lpstr>Locality Example</vt:lpstr>
      <vt:lpstr>Qualitative Estimates of Locality</vt:lpstr>
      <vt:lpstr>Locality Example</vt:lpstr>
      <vt:lpstr>Locality Example</vt:lpstr>
      <vt:lpstr>How to write a program with poor locality in instruction accesses?</vt:lpstr>
      <vt:lpstr>Is locality only applicable to program? Can we have some other examples of locality?</vt:lpstr>
      <vt:lpstr>System design principles: how to optimize</vt:lpstr>
      <vt:lpstr>Today</vt:lpstr>
      <vt:lpstr>Caches</vt:lpstr>
      <vt:lpstr>General Cache Concepts</vt:lpstr>
      <vt:lpstr>General Cache Concepts: Hit</vt:lpstr>
      <vt:lpstr>General Cache Concepts: Miss</vt:lpstr>
      <vt:lpstr>General Caching Concepts:  Types of Cache Misses</vt:lpstr>
      <vt:lpstr>Memory Hierarchy</vt:lpstr>
      <vt:lpstr>Examples of Caching in the Mem. Hierarchy</vt:lpstr>
      <vt:lpstr>Examples of Caching in the Mem. Hierarchy</vt:lpstr>
      <vt:lpstr>来点CSAPP笑话</vt:lpstr>
      <vt:lpstr>Why the main memory is slow?  Reason #1: the medium</vt:lpstr>
      <vt:lpstr>RAM Technologies</vt:lpstr>
      <vt:lpstr>SRAM vs DRAM Summary</vt:lpstr>
      <vt:lpstr>Enhanced DRAMs</vt:lpstr>
      <vt:lpstr>Conventional DRAM Organization</vt:lpstr>
      <vt:lpstr>Reading DRAM Supercell (2,1)</vt:lpstr>
      <vt:lpstr>Reading DRAM Supercell (2,1)</vt:lpstr>
      <vt:lpstr>Memory Modules</vt:lpstr>
      <vt:lpstr>Why the main memory is slow?  Reason #2: the bus</vt:lpstr>
      <vt:lpstr>Traditional Bus Structure Connecting  CPU and Memory</vt:lpstr>
      <vt:lpstr>Memory Read Transaction (1)</vt:lpstr>
      <vt:lpstr>Memory Read Transaction (2)</vt:lpstr>
      <vt:lpstr>Memory Read Transaction (3)</vt:lpstr>
      <vt:lpstr>Memory Write Transaction (1)</vt:lpstr>
      <vt:lpstr>Memory Write Transaction (2)</vt:lpstr>
      <vt:lpstr>Memory Write Transaction (3)</vt:lpstr>
      <vt:lpstr>Why disks are slow?</vt:lpstr>
      <vt:lpstr>Storage Technologies</vt:lpstr>
      <vt:lpstr>PowerPoint Presentation</vt:lpstr>
      <vt:lpstr>PowerPoint Presentation</vt:lpstr>
      <vt:lpstr>来点CSAPP笑话</vt:lpstr>
      <vt:lpstr>Why disks are slow?  Reason #1: the medium itself</vt:lpstr>
      <vt:lpstr>What’s Inside A Disk Drive?</vt:lpstr>
      <vt:lpstr>Disk Geometry (Muliple-Platter View)</vt:lpstr>
      <vt:lpstr>Disk Geometry</vt:lpstr>
      <vt:lpstr>Disk Operation (Single-Platter View)</vt:lpstr>
      <vt:lpstr>Disk Operation (Multi-Platter View)</vt:lpstr>
      <vt:lpstr>Disk Access</vt:lpstr>
      <vt:lpstr>Disk Access</vt:lpstr>
      <vt:lpstr>Disk Access – Read</vt:lpstr>
      <vt:lpstr>Disk Access – Read</vt:lpstr>
      <vt:lpstr>Disk Access – Read</vt:lpstr>
      <vt:lpstr>Disk Access – Seek</vt:lpstr>
      <vt:lpstr>Disk Access – Rotational Latency</vt:lpstr>
      <vt:lpstr>Disk Access – Read</vt:lpstr>
      <vt:lpstr>Disk Access – Service Time Components</vt:lpstr>
      <vt:lpstr>Disk Access Time</vt:lpstr>
      <vt:lpstr>Disk Access Time Example</vt:lpstr>
      <vt:lpstr>Why disks are slow?  Reason #2: the I/O bus</vt:lpstr>
      <vt:lpstr>I/O Bus</vt:lpstr>
      <vt:lpstr>Reading a Disk Sector (1)</vt:lpstr>
      <vt:lpstr>Reading a Disk Sector (2)</vt:lpstr>
      <vt:lpstr>Reading a Disk Sector (3)</vt:lpstr>
      <vt:lpstr>来点CSAPP笑话</vt:lpstr>
      <vt:lpstr>Disk Capacity</vt:lpstr>
      <vt:lpstr>Recording zones </vt:lpstr>
      <vt:lpstr> Computing Disk Capacity</vt:lpstr>
      <vt:lpstr>Solid State Disks (SSDs)</vt:lpstr>
      <vt:lpstr>SSD Performance Characteristics </vt:lpstr>
      <vt:lpstr>SSD Tradeoffs vs Rotating Disks</vt:lpstr>
      <vt:lpstr>Comments: the SSD wear out</vt:lpstr>
      <vt:lpstr>The CPU-Memory Gap, i.e., the memory wall</vt:lpstr>
      <vt:lpstr>Nonvolatile Memories</vt:lpstr>
      <vt:lpstr>来点CSAPP笑话</vt:lpstr>
      <vt:lpstr>Supplemental slides</vt:lpstr>
      <vt:lpstr>Storage Trends</vt:lpstr>
      <vt:lpstr>CPU Clock Rates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DIYU ZHOU</cp:lastModifiedBy>
  <cp:revision>1067</cp:revision>
  <cp:lastPrinted>1999-09-20T15:19:18Z</cp:lastPrinted>
  <dcterms:created xsi:type="dcterms:W3CDTF">2011-09-29T14:59:56Z</dcterms:created>
  <dcterms:modified xsi:type="dcterms:W3CDTF">2026-10-26T06:43:26Z</dcterms:modified>
</cp:coreProperties>
</file>