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6" r:id="rId1"/>
  </p:sldMasterIdLst>
  <p:notesMasterIdLst>
    <p:notesMasterId r:id="rId69"/>
  </p:notesMasterIdLst>
  <p:handoutMasterIdLst>
    <p:handoutMasterId r:id="rId70"/>
  </p:handoutMasterIdLst>
  <p:sldIdLst>
    <p:sldId id="542" r:id="rId2"/>
    <p:sldId id="1308" r:id="rId3"/>
    <p:sldId id="1344" r:id="rId4"/>
    <p:sldId id="1337" r:id="rId5"/>
    <p:sldId id="1351" r:id="rId6"/>
    <p:sldId id="1352" r:id="rId7"/>
    <p:sldId id="1353" r:id="rId8"/>
    <p:sldId id="1354" r:id="rId9"/>
    <p:sldId id="1243" r:id="rId10"/>
    <p:sldId id="1292" r:id="rId11"/>
    <p:sldId id="1293" r:id="rId12"/>
    <p:sldId id="1294" r:id="rId13"/>
    <p:sldId id="1355" r:id="rId14"/>
    <p:sldId id="1301" r:id="rId15"/>
    <p:sldId id="1302" r:id="rId16"/>
    <p:sldId id="1298" r:id="rId17"/>
    <p:sldId id="1356" r:id="rId18"/>
    <p:sldId id="1290" r:id="rId19"/>
    <p:sldId id="1389" r:id="rId20"/>
    <p:sldId id="1291" r:id="rId21"/>
    <p:sldId id="1357" r:id="rId22"/>
    <p:sldId id="1381" r:id="rId23"/>
    <p:sldId id="1383" r:id="rId24"/>
    <p:sldId id="1384" r:id="rId25"/>
    <p:sldId id="1385" r:id="rId26"/>
    <p:sldId id="1386" r:id="rId27"/>
    <p:sldId id="1305" r:id="rId28"/>
    <p:sldId id="1345" r:id="rId29"/>
    <p:sldId id="1347" r:id="rId30"/>
    <p:sldId id="1309" r:id="rId31"/>
    <p:sldId id="1323" r:id="rId32"/>
    <p:sldId id="1264" r:id="rId33"/>
    <p:sldId id="1330" r:id="rId34"/>
    <p:sldId id="1331" r:id="rId35"/>
    <p:sldId id="1332" r:id="rId36"/>
    <p:sldId id="1390" r:id="rId37"/>
    <p:sldId id="1335" r:id="rId38"/>
    <p:sldId id="1313" r:id="rId39"/>
    <p:sldId id="1273" r:id="rId40"/>
    <p:sldId id="1274" r:id="rId41"/>
    <p:sldId id="1275" r:id="rId42"/>
    <p:sldId id="1276" r:id="rId43"/>
    <p:sldId id="1277" r:id="rId44"/>
    <p:sldId id="1278" r:id="rId45"/>
    <p:sldId id="1279" r:id="rId46"/>
    <p:sldId id="1280" r:id="rId47"/>
    <p:sldId id="1281" r:id="rId48"/>
    <p:sldId id="1282" r:id="rId49"/>
    <p:sldId id="1387" r:id="rId50"/>
    <p:sldId id="1322" r:id="rId51"/>
    <p:sldId id="1315" r:id="rId52"/>
    <p:sldId id="1316" r:id="rId53"/>
    <p:sldId id="1317" r:id="rId54"/>
    <p:sldId id="1318" r:id="rId55"/>
    <p:sldId id="1319" r:id="rId56"/>
    <p:sldId id="1320" r:id="rId57"/>
    <p:sldId id="1321" r:id="rId58"/>
    <p:sldId id="1336" r:id="rId59"/>
    <p:sldId id="1364" r:id="rId60"/>
    <p:sldId id="1388" r:id="rId61"/>
    <p:sldId id="1373" r:id="rId62"/>
    <p:sldId id="1374" r:id="rId63"/>
    <p:sldId id="1360" r:id="rId64"/>
    <p:sldId id="1361" r:id="rId65"/>
    <p:sldId id="1362" r:id="rId66"/>
    <p:sldId id="1363" r:id="rId67"/>
    <p:sldId id="1365" r:id="rId68"/>
  </p:sldIdLst>
  <p:sldSz cx="9144000" cy="6858000" type="screen4x3"/>
  <p:notesSz cx="7302500" cy="9586913"/>
  <p:custDataLst>
    <p:tags r:id="rId7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6F5BD"/>
    <a:srgbClr val="D5F1CF"/>
    <a:srgbClr val="F1C7C7"/>
    <a:srgbClr val="E2AC00"/>
    <a:srgbClr val="A9E39D"/>
    <a:srgbClr val="FF9999"/>
    <a:srgbClr val="8C4040"/>
    <a:srgbClr val="5C5C9A"/>
    <a:srgbClr val="6767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3" autoAdjust="0"/>
    <p:restoredTop sz="64669" autoAdjust="0"/>
  </p:normalViewPr>
  <p:slideViewPr>
    <p:cSldViewPr snapToObjects="1">
      <p:cViewPr varScale="1">
        <p:scale>
          <a:sx n="62" d="100"/>
          <a:sy n="62" d="100"/>
        </p:scale>
        <p:origin x="1851" y="36"/>
      </p:cViewPr>
      <p:guideLst>
        <p:guide orient="horz" pos="283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240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Macintosh%20HD:Users:droh:Google%20Drive:ics3:mountains:corei7mountain4x4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Macintosh%20HD:Users:droh:Google%20Drive:ics3:mem:corei7mm.xlsx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Mini%20HD:Users:bryant:ics3:ncode:mem:mountain:corei5mountain4x4.xlsx" TargetMode="External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Mini%20HD:Users:bryant:ics3:ncode:mem:mountain:haswell-mountain4x4.xlsx" TargetMode="External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Office%20HD:Users:bryant:ics3:ncode:mem:mountain:haswell-mountain4x4.xlsx" TargetMode="External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Office%20HD:Users:bryant:ics3:ncode:mem:mountain:haswell-mountain4x4.xlsx" TargetMode="External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Mini%20HD:Users:bryant:ics3:ncode:mem:mountain:core2duo-mountain4x4.xlsx" TargetMode="External"/><Relationship Id="rId1" Type="http://schemas.openxmlformats.org/officeDocument/2006/relationships/themeOverride" Target="../theme/themeOverr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view3D>
      <c:rotX val="15"/>
      <c:rotY val="45"/>
      <c:rAngAx val="0"/>
    </c:view3D>
    <c:floor>
      <c:thickness val="0"/>
      <c:spPr>
        <a:solidFill>
          <a:schemeClr val="bg1">
            <a:lumMod val="85000"/>
          </a:schemeClr>
        </a:solidFill>
      </c:spPr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28498920968212"/>
          <c:y val="2.8386075383512899E-2"/>
          <c:w val="0.69976389617964396"/>
          <c:h val="0.921287118521949"/>
        </c:manualLayout>
      </c:layout>
      <c:surface3DChart>
        <c:wireframe val="0"/>
        <c:ser>
          <c:idx val="0"/>
          <c:order val="0"/>
          <c:tx>
            <c:strRef>
              <c:f>data!$A$2</c:f>
              <c:strCache>
                <c:ptCount val="1"/>
                <c:pt idx="0">
                  <c:v>128m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data!$B$2:$M$2</c:f>
              <c:numCache>
                <c:formatCode>General</c:formatCode>
                <c:ptCount val="12"/>
                <c:pt idx="0">
                  <c:v>8350</c:v>
                </c:pt>
                <c:pt idx="1">
                  <c:v>4750</c:v>
                </c:pt>
                <c:pt idx="2">
                  <c:v>3096</c:v>
                </c:pt>
                <c:pt idx="3">
                  <c:v>2286</c:v>
                </c:pt>
                <c:pt idx="4">
                  <c:v>1817</c:v>
                </c:pt>
                <c:pt idx="5">
                  <c:v>1512</c:v>
                </c:pt>
                <c:pt idx="6">
                  <c:v>1293</c:v>
                </c:pt>
                <c:pt idx="7">
                  <c:v>1131</c:v>
                </c:pt>
                <c:pt idx="8">
                  <c:v>1055</c:v>
                </c:pt>
                <c:pt idx="9">
                  <c:v>995</c:v>
                </c:pt>
                <c:pt idx="10">
                  <c:v>945</c:v>
                </c:pt>
                <c:pt idx="1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29-4335-9095-4471089D0018}"/>
            </c:ext>
          </c:extLst>
        </c:ser>
        <c:ser>
          <c:idx val="1"/>
          <c:order val="1"/>
          <c:tx>
            <c:strRef>
              <c:f>data!$A$3</c:f>
              <c:strCache>
                <c:ptCount val="1"/>
                <c:pt idx="0">
                  <c:v>64m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data!$B$3:$M$3</c:f>
              <c:numCache>
                <c:formatCode>General</c:formatCode>
                <c:ptCount val="12"/>
                <c:pt idx="0">
                  <c:v>8352</c:v>
                </c:pt>
                <c:pt idx="1">
                  <c:v>4750</c:v>
                </c:pt>
                <c:pt idx="2">
                  <c:v>3092</c:v>
                </c:pt>
                <c:pt idx="3">
                  <c:v>2287</c:v>
                </c:pt>
                <c:pt idx="4">
                  <c:v>1816</c:v>
                </c:pt>
                <c:pt idx="5">
                  <c:v>1510</c:v>
                </c:pt>
                <c:pt idx="6">
                  <c:v>1291</c:v>
                </c:pt>
                <c:pt idx="7">
                  <c:v>1129</c:v>
                </c:pt>
                <c:pt idx="8">
                  <c:v>1051</c:v>
                </c:pt>
                <c:pt idx="9">
                  <c:v>989</c:v>
                </c:pt>
                <c:pt idx="10">
                  <c:v>938</c:v>
                </c:pt>
                <c:pt idx="11">
                  <c:v>894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29-4335-9095-4471089D0018}"/>
            </c:ext>
          </c:extLst>
        </c:ser>
        <c:ser>
          <c:idx val="2"/>
          <c:order val="2"/>
          <c:tx>
            <c:strRef>
              <c:f>data!$A$4</c:f>
              <c:strCache>
                <c:ptCount val="1"/>
                <c:pt idx="0">
                  <c:v>32m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data!$B$4:$M$4</c:f>
              <c:numCache>
                <c:formatCode>General</c:formatCode>
                <c:ptCount val="12"/>
                <c:pt idx="0">
                  <c:v>8406</c:v>
                </c:pt>
                <c:pt idx="1">
                  <c:v>4787</c:v>
                </c:pt>
                <c:pt idx="2">
                  <c:v>3098</c:v>
                </c:pt>
                <c:pt idx="3">
                  <c:v>2289</c:v>
                </c:pt>
                <c:pt idx="4">
                  <c:v>1823</c:v>
                </c:pt>
                <c:pt idx="5">
                  <c:v>1512</c:v>
                </c:pt>
                <c:pt idx="6">
                  <c:v>1295</c:v>
                </c:pt>
                <c:pt idx="7">
                  <c:v>1133</c:v>
                </c:pt>
                <c:pt idx="8">
                  <c:v>1052</c:v>
                </c:pt>
                <c:pt idx="9">
                  <c:v>989</c:v>
                </c:pt>
                <c:pt idx="10">
                  <c:v>938</c:v>
                </c:pt>
                <c:pt idx="11">
                  <c:v>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29-4335-9095-4471089D0018}"/>
            </c:ext>
          </c:extLst>
        </c:ser>
        <c:ser>
          <c:idx val="3"/>
          <c:order val="3"/>
          <c:tx>
            <c:strRef>
              <c:f>data!$A$5</c:f>
              <c:strCache>
                <c:ptCount val="1"/>
                <c:pt idx="0">
                  <c:v>16m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data!$B$5:$M$5</c:f>
              <c:numCache>
                <c:formatCode>General</c:formatCode>
                <c:ptCount val="12"/>
                <c:pt idx="0">
                  <c:v>8556</c:v>
                </c:pt>
                <c:pt idx="1">
                  <c:v>4990</c:v>
                </c:pt>
                <c:pt idx="2">
                  <c:v>3204</c:v>
                </c:pt>
                <c:pt idx="3">
                  <c:v>2376</c:v>
                </c:pt>
                <c:pt idx="4">
                  <c:v>1891</c:v>
                </c:pt>
                <c:pt idx="5">
                  <c:v>1579</c:v>
                </c:pt>
                <c:pt idx="6">
                  <c:v>1356</c:v>
                </c:pt>
                <c:pt idx="7">
                  <c:v>1198</c:v>
                </c:pt>
                <c:pt idx="8">
                  <c:v>1127</c:v>
                </c:pt>
                <c:pt idx="9">
                  <c:v>1070</c:v>
                </c:pt>
                <c:pt idx="10">
                  <c:v>1028</c:v>
                </c:pt>
                <c:pt idx="11">
                  <c:v>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29-4335-9095-4471089D0018}"/>
            </c:ext>
          </c:extLst>
        </c:ser>
        <c:ser>
          <c:idx val="4"/>
          <c:order val="4"/>
          <c:tx>
            <c:strRef>
              <c:f>data!$A$6</c:f>
              <c:strCache>
                <c:ptCount val="1"/>
                <c:pt idx="0">
                  <c:v>8m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data!$B$6:$M$6</c:f>
              <c:numCache>
                <c:formatCode>General</c:formatCode>
                <c:ptCount val="12"/>
                <c:pt idx="0">
                  <c:v>8998</c:v>
                </c:pt>
                <c:pt idx="1">
                  <c:v>5447</c:v>
                </c:pt>
                <c:pt idx="2">
                  <c:v>3570</c:v>
                </c:pt>
                <c:pt idx="3">
                  <c:v>2643</c:v>
                </c:pt>
                <c:pt idx="4">
                  <c:v>2104</c:v>
                </c:pt>
                <c:pt idx="5">
                  <c:v>1743</c:v>
                </c:pt>
                <c:pt idx="6">
                  <c:v>1477</c:v>
                </c:pt>
                <c:pt idx="7">
                  <c:v>1300</c:v>
                </c:pt>
                <c:pt idx="8">
                  <c:v>1217</c:v>
                </c:pt>
                <c:pt idx="9">
                  <c:v>1158</c:v>
                </c:pt>
                <c:pt idx="10">
                  <c:v>1128</c:v>
                </c:pt>
                <c:pt idx="11">
                  <c:v>1096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529-4335-9095-4471089D0018}"/>
            </c:ext>
          </c:extLst>
        </c:ser>
        <c:ser>
          <c:idx val="5"/>
          <c:order val="5"/>
          <c:tx>
            <c:strRef>
              <c:f>data!$A$7</c:f>
              <c:strCache>
                <c:ptCount val="1"/>
                <c:pt idx="0">
                  <c:v>4m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data!$B$7:$M$7</c:f>
              <c:numCache>
                <c:formatCode>General</c:formatCode>
                <c:ptCount val="12"/>
                <c:pt idx="0">
                  <c:v>11494</c:v>
                </c:pt>
                <c:pt idx="1">
                  <c:v>7921</c:v>
                </c:pt>
                <c:pt idx="2">
                  <c:v>5664</c:v>
                </c:pt>
                <c:pt idx="3">
                  <c:v>4319</c:v>
                </c:pt>
                <c:pt idx="4">
                  <c:v>3524</c:v>
                </c:pt>
                <c:pt idx="5">
                  <c:v>2991</c:v>
                </c:pt>
                <c:pt idx="6">
                  <c:v>2592</c:v>
                </c:pt>
                <c:pt idx="7">
                  <c:v>2298</c:v>
                </c:pt>
                <c:pt idx="8">
                  <c:v>2208</c:v>
                </c:pt>
                <c:pt idx="9">
                  <c:v>2148</c:v>
                </c:pt>
                <c:pt idx="10">
                  <c:v>2117</c:v>
                </c:pt>
                <c:pt idx="11">
                  <c:v>2077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529-4335-9095-4471089D0018}"/>
            </c:ext>
          </c:extLst>
        </c:ser>
        <c:ser>
          <c:idx val="6"/>
          <c:order val="6"/>
          <c:tx>
            <c:strRef>
              <c:f>data!$A$8</c:f>
              <c:strCache>
                <c:ptCount val="1"/>
                <c:pt idx="0">
                  <c:v>2m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data!$B$8:$M$8</c:f>
              <c:numCache>
                <c:formatCode>General</c:formatCode>
                <c:ptCount val="12"/>
                <c:pt idx="0">
                  <c:v>12297</c:v>
                </c:pt>
                <c:pt idx="1">
                  <c:v>8417</c:v>
                </c:pt>
                <c:pt idx="2">
                  <c:v>5940</c:v>
                </c:pt>
                <c:pt idx="3">
                  <c:v>4573</c:v>
                </c:pt>
                <c:pt idx="4">
                  <c:v>3734</c:v>
                </c:pt>
                <c:pt idx="5">
                  <c:v>3174</c:v>
                </c:pt>
                <c:pt idx="6">
                  <c:v>2763</c:v>
                </c:pt>
                <c:pt idx="7">
                  <c:v>2446</c:v>
                </c:pt>
                <c:pt idx="8">
                  <c:v>2349</c:v>
                </c:pt>
                <c:pt idx="9">
                  <c:v>2272</c:v>
                </c:pt>
                <c:pt idx="10">
                  <c:v>2213</c:v>
                </c:pt>
                <c:pt idx="11">
                  <c:v>2160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529-4335-9095-4471089D0018}"/>
            </c:ext>
          </c:extLst>
        </c:ser>
        <c:ser>
          <c:idx val="7"/>
          <c:order val="7"/>
          <c:tx>
            <c:strRef>
              <c:f>data!$A$9</c:f>
              <c:strCache>
                <c:ptCount val="1"/>
                <c:pt idx="0">
                  <c:v>1024k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data!$B$9:$M$9</c:f>
              <c:numCache>
                <c:formatCode>General</c:formatCode>
                <c:ptCount val="12"/>
                <c:pt idx="0">
                  <c:v>12422</c:v>
                </c:pt>
                <c:pt idx="1">
                  <c:v>8398</c:v>
                </c:pt>
                <c:pt idx="2">
                  <c:v>5971</c:v>
                </c:pt>
                <c:pt idx="3">
                  <c:v>4569</c:v>
                </c:pt>
                <c:pt idx="4">
                  <c:v>3740</c:v>
                </c:pt>
                <c:pt idx="5">
                  <c:v>3172</c:v>
                </c:pt>
                <c:pt idx="6">
                  <c:v>2756</c:v>
                </c:pt>
                <c:pt idx="7">
                  <c:v>2446</c:v>
                </c:pt>
                <c:pt idx="8">
                  <c:v>2351</c:v>
                </c:pt>
                <c:pt idx="9">
                  <c:v>2271</c:v>
                </c:pt>
                <c:pt idx="10">
                  <c:v>2209</c:v>
                </c:pt>
                <c:pt idx="11">
                  <c:v>2162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529-4335-9095-4471089D0018}"/>
            </c:ext>
          </c:extLst>
        </c:ser>
        <c:ser>
          <c:idx val="8"/>
          <c:order val="8"/>
          <c:tx>
            <c:strRef>
              <c:f>data!$A$10</c:f>
              <c:strCache>
                <c:ptCount val="1"/>
                <c:pt idx="0">
                  <c:v>512k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data!$B$10:$M$10</c:f>
              <c:numCache>
                <c:formatCode>General</c:formatCode>
                <c:ptCount val="12"/>
                <c:pt idx="0">
                  <c:v>12432</c:v>
                </c:pt>
                <c:pt idx="1">
                  <c:v>8472</c:v>
                </c:pt>
                <c:pt idx="2">
                  <c:v>5950</c:v>
                </c:pt>
                <c:pt idx="3">
                  <c:v>4573</c:v>
                </c:pt>
                <c:pt idx="4">
                  <c:v>3726</c:v>
                </c:pt>
                <c:pt idx="5">
                  <c:v>3165</c:v>
                </c:pt>
                <c:pt idx="6">
                  <c:v>2758</c:v>
                </c:pt>
                <c:pt idx="7">
                  <c:v>2447</c:v>
                </c:pt>
                <c:pt idx="8">
                  <c:v>2341</c:v>
                </c:pt>
                <c:pt idx="9">
                  <c:v>2267</c:v>
                </c:pt>
                <c:pt idx="10">
                  <c:v>2210</c:v>
                </c:pt>
                <c:pt idx="11">
                  <c:v>2162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529-4335-9095-4471089D0018}"/>
            </c:ext>
          </c:extLst>
        </c:ser>
        <c:ser>
          <c:idx val="9"/>
          <c:order val="9"/>
          <c:tx>
            <c:strRef>
              <c:f>data!$A$11</c:f>
              <c:strCache>
                <c:ptCount val="1"/>
                <c:pt idx="0">
                  <c:v>256k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data!$B$11:$M$11</c:f>
              <c:numCache>
                <c:formatCode>General</c:formatCode>
                <c:ptCount val="12"/>
                <c:pt idx="0">
                  <c:v>12564</c:v>
                </c:pt>
                <c:pt idx="1">
                  <c:v>10037</c:v>
                </c:pt>
                <c:pt idx="2">
                  <c:v>8679</c:v>
                </c:pt>
                <c:pt idx="3">
                  <c:v>7175</c:v>
                </c:pt>
                <c:pt idx="4">
                  <c:v>5915</c:v>
                </c:pt>
                <c:pt idx="5">
                  <c:v>5022</c:v>
                </c:pt>
                <c:pt idx="6">
                  <c:v>4345</c:v>
                </c:pt>
                <c:pt idx="7">
                  <c:v>3856</c:v>
                </c:pt>
                <c:pt idx="8">
                  <c:v>3895</c:v>
                </c:pt>
                <c:pt idx="9">
                  <c:v>3981</c:v>
                </c:pt>
                <c:pt idx="10">
                  <c:v>4001</c:v>
                </c:pt>
                <c:pt idx="11">
                  <c:v>4404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529-4335-9095-4471089D0018}"/>
            </c:ext>
          </c:extLst>
        </c:ser>
        <c:ser>
          <c:idx val="10"/>
          <c:order val="10"/>
          <c:tx>
            <c:strRef>
              <c:f>data!$A$12</c:f>
              <c:strCache>
                <c:ptCount val="1"/>
                <c:pt idx="0">
                  <c:v>128k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data!$B$12:$M$12</c:f>
              <c:numCache>
                <c:formatCode>General</c:formatCode>
                <c:ptCount val="12"/>
                <c:pt idx="0">
                  <c:v>12711</c:v>
                </c:pt>
                <c:pt idx="1">
                  <c:v>10750</c:v>
                </c:pt>
                <c:pt idx="2">
                  <c:v>10271</c:v>
                </c:pt>
                <c:pt idx="3">
                  <c:v>8649</c:v>
                </c:pt>
                <c:pt idx="4">
                  <c:v>7525</c:v>
                </c:pt>
                <c:pt idx="5">
                  <c:v>6374</c:v>
                </c:pt>
                <c:pt idx="6">
                  <c:v>5482</c:v>
                </c:pt>
                <c:pt idx="7">
                  <c:v>4854</c:v>
                </c:pt>
                <c:pt idx="8">
                  <c:v>4901</c:v>
                </c:pt>
                <c:pt idx="9">
                  <c:v>4933</c:v>
                </c:pt>
                <c:pt idx="10">
                  <c:v>4917</c:v>
                </c:pt>
                <c:pt idx="11">
                  <c:v>4924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529-4335-9095-4471089D0018}"/>
            </c:ext>
          </c:extLst>
        </c:ser>
        <c:ser>
          <c:idx val="11"/>
          <c:order val="11"/>
          <c:tx>
            <c:strRef>
              <c:f>data!$A$13</c:f>
              <c:strCache>
                <c:ptCount val="1"/>
                <c:pt idx="0">
                  <c:v>64k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data!$B$13:$M$13</c:f>
              <c:numCache>
                <c:formatCode>General</c:formatCode>
                <c:ptCount val="12"/>
                <c:pt idx="0">
                  <c:v>12687</c:v>
                </c:pt>
                <c:pt idx="1">
                  <c:v>10689</c:v>
                </c:pt>
                <c:pt idx="2">
                  <c:v>10208</c:v>
                </c:pt>
                <c:pt idx="3">
                  <c:v>8768</c:v>
                </c:pt>
                <c:pt idx="4">
                  <c:v>7570</c:v>
                </c:pt>
                <c:pt idx="5">
                  <c:v>6352</c:v>
                </c:pt>
                <c:pt idx="6">
                  <c:v>5460</c:v>
                </c:pt>
                <c:pt idx="7">
                  <c:v>4830</c:v>
                </c:pt>
                <c:pt idx="8">
                  <c:v>4885</c:v>
                </c:pt>
                <c:pt idx="9">
                  <c:v>4885</c:v>
                </c:pt>
                <c:pt idx="10">
                  <c:v>4823</c:v>
                </c:pt>
                <c:pt idx="11">
                  <c:v>4868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C529-4335-9095-4471089D0018}"/>
            </c:ext>
          </c:extLst>
        </c:ser>
        <c:ser>
          <c:idx val="12"/>
          <c:order val="12"/>
          <c:tx>
            <c:strRef>
              <c:f>data!$A$14</c:f>
              <c:strCache>
                <c:ptCount val="1"/>
                <c:pt idx="0">
                  <c:v>32k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data!$B$14:$M$14</c:f>
              <c:numCache>
                <c:formatCode>General</c:formatCode>
                <c:ptCount val="12"/>
                <c:pt idx="0">
                  <c:v>14101</c:v>
                </c:pt>
                <c:pt idx="1">
                  <c:v>13686</c:v>
                </c:pt>
                <c:pt idx="2">
                  <c:v>13524</c:v>
                </c:pt>
                <c:pt idx="3">
                  <c:v>13092</c:v>
                </c:pt>
                <c:pt idx="4">
                  <c:v>13144</c:v>
                </c:pt>
                <c:pt idx="5">
                  <c:v>12771</c:v>
                </c:pt>
                <c:pt idx="6">
                  <c:v>12783</c:v>
                </c:pt>
                <c:pt idx="7">
                  <c:v>12466</c:v>
                </c:pt>
                <c:pt idx="8">
                  <c:v>12230</c:v>
                </c:pt>
                <c:pt idx="9">
                  <c:v>12716</c:v>
                </c:pt>
                <c:pt idx="10">
                  <c:v>12238</c:v>
                </c:pt>
                <c:pt idx="11">
                  <c:v>12409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529-4335-9095-4471089D0018}"/>
            </c:ext>
          </c:extLst>
        </c:ser>
        <c:ser>
          <c:idx val="13"/>
          <c:order val="13"/>
          <c:tx>
            <c:strRef>
              <c:f>data!$A$15</c:f>
              <c:strCache>
                <c:ptCount val="1"/>
                <c:pt idx="0">
                  <c:v>16k</c:v>
                </c:pt>
              </c:strCache>
            </c:strRef>
          </c:tx>
          <c:cat>
            <c:strRef>
              <c:f>data!$B$1:$M$1</c:f>
              <c:strCache>
                <c:ptCount val="11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</c:strCache>
            </c:strRef>
          </c:cat>
          <c:val>
            <c:numRef>
              <c:f>data!$B$15:$M$15</c:f>
              <c:numCache>
                <c:formatCode>General</c:formatCode>
                <c:ptCount val="12"/>
                <c:pt idx="0">
                  <c:v>13958</c:v>
                </c:pt>
                <c:pt idx="1">
                  <c:v>13986</c:v>
                </c:pt>
                <c:pt idx="2">
                  <c:v>13366</c:v>
                </c:pt>
                <c:pt idx="3">
                  <c:v>13033</c:v>
                </c:pt>
                <c:pt idx="4">
                  <c:v>12835</c:v>
                </c:pt>
                <c:pt idx="5">
                  <c:v>12409</c:v>
                </c:pt>
                <c:pt idx="6">
                  <c:v>11784</c:v>
                </c:pt>
                <c:pt idx="7">
                  <c:v>10833</c:v>
                </c:pt>
                <c:pt idx="8">
                  <c:v>10414</c:v>
                </c:pt>
                <c:pt idx="9">
                  <c:v>11543</c:v>
                </c:pt>
                <c:pt idx="10">
                  <c:v>10857</c:v>
                </c:pt>
                <c:pt idx="11">
                  <c:v>10129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C529-4335-9095-4471089D0018}"/>
            </c:ext>
          </c:extLst>
        </c:ser>
        <c:bandFmts/>
        <c:axId val="315956864"/>
        <c:axId val="315957424"/>
        <c:axId val="242341280"/>
      </c:surface3DChart>
      <c:catAx>
        <c:axId val="31595686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Stride (x8 bytes)</a:t>
                </a:r>
              </a:p>
            </c:rich>
          </c:tx>
          <c:layout>
            <c:manualLayout>
              <c:xMode val="edge"/>
              <c:yMode val="edge"/>
              <c:x val="0.13657770709015099"/>
              <c:y val="0.84909405264439197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txPr>
          <a:bodyPr rot="0" vert="horz" anchor="b" anchorCtr="1"/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315957424"/>
        <c:crosses val="autoZero"/>
        <c:auto val="1"/>
        <c:lblAlgn val="ctr"/>
        <c:lblOffset val="100"/>
        <c:noMultiLvlLbl val="0"/>
      </c:catAx>
      <c:valAx>
        <c:axId val="315957424"/>
        <c:scaling>
          <c:orientation val="minMax"/>
          <c:max val="17000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Read throughput (MB/s)</a:t>
                </a:r>
              </a:p>
              <a:p>
                <a:pPr>
                  <a:defRPr sz="1200">
                    <a:latin typeface="Arial"/>
                  </a:defRPr>
                </a:pPr>
                <a:endParaRPr lang="en-US" sz="1200">
                  <a:latin typeface="Arial"/>
                </a:endParaRPr>
              </a:p>
            </c:rich>
          </c:tx>
          <c:layout>
            <c:manualLayout>
              <c:xMode val="edge"/>
              <c:yMode val="edge"/>
              <c:x val="2.9427050902444098E-2"/>
              <c:y val="0.2617015621110019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315956864"/>
        <c:crosses val="autoZero"/>
        <c:crossBetween val="midCat"/>
        <c:majorUnit val="2000"/>
        <c:minorUnit val="500"/>
      </c:valAx>
      <c:serAx>
        <c:axId val="24234128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Size (bytes)</a:t>
                </a:r>
              </a:p>
            </c:rich>
          </c:tx>
          <c:layout>
            <c:manualLayout>
              <c:xMode val="edge"/>
              <c:yMode val="edge"/>
              <c:x val="0.64497276173811602"/>
              <c:y val="0.855644760091263"/>
            </c:manualLayout>
          </c:layout>
          <c:overlay val="0"/>
        </c:title>
        <c:majorTickMark val="out"/>
        <c:minorTickMark val="none"/>
        <c:tickLblPos val="nextTo"/>
        <c:txPr>
          <a:bodyPr rot="0" vert="horz" lIns="2">
            <a:spAutoFit/>
          </a:bodyPr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315957424"/>
        <c:crosses val="autoZero"/>
        <c:tickLblSkip val="2"/>
        <c:tickMarkSkip val="1"/>
      </c:serAx>
    </c:plotArea>
    <c:plotVisOnly val="1"/>
    <c:dispBlanksAs val="zero"/>
    <c:showDLblsOverMax val="0"/>
  </c:chart>
  <c:spPr>
    <a:ln w="9525">
      <a:noFill/>
    </a:ln>
  </c:sp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5.2446470506976102E-2"/>
          <c:y val="2.981041113296817E-2"/>
          <c:w val="0.92164709674448586"/>
          <c:h val="0.84545352569321564"/>
        </c:manualLayout>
      </c:layout>
      <c:lineChart>
        <c:grouping val="standar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jki</c:v>
                </c:pt>
              </c:strCache>
            </c:strRef>
          </c:tx>
          <c:spPr>
            <a:ln w="38100">
              <a:solidFill>
                <a:srgbClr val="C00000"/>
              </a:solidFill>
            </a:ln>
          </c:spPr>
          <c:marker>
            <c:symbol val="triangle"/>
            <c:size val="8"/>
            <c:spPr>
              <a:solidFill>
                <a:srgbClr val="C00000"/>
              </a:solidFill>
              <a:ln>
                <a:noFill/>
              </a:ln>
            </c:spPr>
          </c:marker>
          <c:cat>
            <c:numRef>
              <c:f>data!$A$2:$A$15</c:f>
              <c:numCache>
                <c:formatCode>General</c:formatCode>
                <c:ptCount val="1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  <c:pt idx="11">
                  <c:v>600</c:v>
                </c:pt>
                <c:pt idx="12">
                  <c:v>650</c:v>
                </c:pt>
                <c:pt idx="13">
                  <c:v>700</c:v>
                </c:pt>
              </c:numCache>
            </c:numRef>
          </c:cat>
          <c:val>
            <c:numRef>
              <c:f>data!$B$2:$B$15</c:f>
              <c:numCache>
                <c:formatCode>General</c:formatCode>
                <c:ptCount val="14"/>
                <c:pt idx="0">
                  <c:v>4.8</c:v>
                </c:pt>
                <c:pt idx="1">
                  <c:v>4.68</c:v>
                </c:pt>
                <c:pt idx="2">
                  <c:v>4.6499999999999977</c:v>
                </c:pt>
                <c:pt idx="3">
                  <c:v>4.8</c:v>
                </c:pt>
                <c:pt idx="4">
                  <c:v>6.84</c:v>
                </c:pt>
                <c:pt idx="5">
                  <c:v>15.03</c:v>
                </c:pt>
                <c:pt idx="6">
                  <c:v>22.78</c:v>
                </c:pt>
                <c:pt idx="7">
                  <c:v>29.39</c:v>
                </c:pt>
                <c:pt idx="8">
                  <c:v>40.39</c:v>
                </c:pt>
                <c:pt idx="9">
                  <c:v>57.06</c:v>
                </c:pt>
                <c:pt idx="10">
                  <c:v>60.54</c:v>
                </c:pt>
                <c:pt idx="11">
                  <c:v>63.33</c:v>
                </c:pt>
                <c:pt idx="12">
                  <c:v>65.61</c:v>
                </c:pt>
                <c:pt idx="13">
                  <c:v>67.489999999999995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95-426C-A97F-7AB94C07456F}"/>
            </c:ext>
          </c:extLst>
        </c:ser>
        <c:ser>
          <c:idx val="1"/>
          <c:order val="1"/>
          <c:tx>
            <c:strRef>
              <c:f>data!$C$1</c:f>
              <c:strCache>
                <c:ptCount val="1"/>
                <c:pt idx="0">
                  <c:v>kji</c:v>
                </c:pt>
              </c:strCache>
            </c:strRef>
          </c:tx>
          <c:spPr>
            <a:ln w="38100">
              <a:solidFill>
                <a:srgbClr val="C00000"/>
              </a:solidFill>
            </a:ln>
          </c:spPr>
          <c:marker>
            <c:symbol val="diamond"/>
            <c:size val="9"/>
            <c:spPr>
              <a:solidFill>
                <a:srgbClr val="C00000"/>
              </a:solidFill>
            </c:spPr>
          </c:marker>
          <c:cat>
            <c:numRef>
              <c:f>data!$A$2:$A$15</c:f>
              <c:numCache>
                <c:formatCode>General</c:formatCode>
                <c:ptCount val="1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  <c:pt idx="11">
                  <c:v>600</c:v>
                </c:pt>
                <c:pt idx="12">
                  <c:v>650</c:v>
                </c:pt>
                <c:pt idx="13">
                  <c:v>700</c:v>
                </c:pt>
              </c:numCache>
            </c:numRef>
          </c:cat>
          <c:val>
            <c:numRef>
              <c:f>data!$C$2:$C$15</c:f>
              <c:numCache>
                <c:formatCode>General</c:formatCode>
                <c:ptCount val="14"/>
                <c:pt idx="0">
                  <c:v>4.83</c:v>
                </c:pt>
                <c:pt idx="1">
                  <c:v>4.72</c:v>
                </c:pt>
                <c:pt idx="2">
                  <c:v>4.6399999999999997</c:v>
                </c:pt>
                <c:pt idx="3">
                  <c:v>4.6899999999999986</c:v>
                </c:pt>
                <c:pt idx="4">
                  <c:v>6.83</c:v>
                </c:pt>
                <c:pt idx="5">
                  <c:v>15.1</c:v>
                </c:pt>
                <c:pt idx="6">
                  <c:v>22.68</c:v>
                </c:pt>
                <c:pt idx="7">
                  <c:v>29.18</c:v>
                </c:pt>
                <c:pt idx="8">
                  <c:v>40.26</c:v>
                </c:pt>
                <c:pt idx="9">
                  <c:v>57.02</c:v>
                </c:pt>
                <c:pt idx="10">
                  <c:v>60.53</c:v>
                </c:pt>
                <c:pt idx="11">
                  <c:v>63.34</c:v>
                </c:pt>
                <c:pt idx="12">
                  <c:v>65.62</c:v>
                </c:pt>
                <c:pt idx="13">
                  <c:v>67.53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95-426C-A97F-7AB94C07456F}"/>
            </c:ext>
          </c:extLst>
        </c:ser>
        <c:ser>
          <c:idx val="2"/>
          <c:order val="2"/>
          <c:tx>
            <c:strRef>
              <c:f>data!$D$1</c:f>
              <c:strCache>
                <c:ptCount val="1"/>
                <c:pt idx="0">
                  <c:v>ijk</c:v>
                </c:pt>
              </c:strCache>
            </c:strRef>
          </c:tx>
          <c:spPr>
            <a:ln w="38100">
              <a:solidFill>
                <a:srgbClr val="336699"/>
              </a:solidFill>
            </a:ln>
          </c:spPr>
          <c:marker>
            <c:symbol val="diamond"/>
            <c:size val="8"/>
            <c:spPr>
              <a:solidFill>
                <a:srgbClr val="336699"/>
              </a:solidFill>
              <a:ln>
                <a:noFill/>
              </a:ln>
            </c:spPr>
          </c:marker>
          <c:cat>
            <c:numRef>
              <c:f>data!$A$2:$A$15</c:f>
              <c:numCache>
                <c:formatCode>General</c:formatCode>
                <c:ptCount val="1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  <c:pt idx="11">
                  <c:v>600</c:v>
                </c:pt>
                <c:pt idx="12">
                  <c:v>650</c:v>
                </c:pt>
                <c:pt idx="13">
                  <c:v>700</c:v>
                </c:pt>
              </c:numCache>
            </c:numRef>
          </c:cat>
          <c:val>
            <c:numRef>
              <c:f>data!$D$2:$D$15</c:f>
              <c:numCache>
                <c:formatCode>General</c:formatCode>
                <c:ptCount val="14"/>
                <c:pt idx="0">
                  <c:v>3.75</c:v>
                </c:pt>
                <c:pt idx="1">
                  <c:v>4.08</c:v>
                </c:pt>
                <c:pt idx="2">
                  <c:v>4.33</c:v>
                </c:pt>
                <c:pt idx="3">
                  <c:v>4.45</c:v>
                </c:pt>
                <c:pt idx="4">
                  <c:v>4.45</c:v>
                </c:pt>
                <c:pt idx="5">
                  <c:v>4.45</c:v>
                </c:pt>
                <c:pt idx="6">
                  <c:v>4.45</c:v>
                </c:pt>
                <c:pt idx="7">
                  <c:v>4.47</c:v>
                </c:pt>
                <c:pt idx="8">
                  <c:v>7.73</c:v>
                </c:pt>
                <c:pt idx="9">
                  <c:v>18.77</c:v>
                </c:pt>
                <c:pt idx="10">
                  <c:v>20.36</c:v>
                </c:pt>
                <c:pt idx="11">
                  <c:v>21.67</c:v>
                </c:pt>
                <c:pt idx="12">
                  <c:v>22.76</c:v>
                </c:pt>
                <c:pt idx="13">
                  <c:v>23.71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C95-426C-A97F-7AB94C07456F}"/>
            </c:ext>
          </c:extLst>
        </c:ser>
        <c:ser>
          <c:idx val="3"/>
          <c:order val="3"/>
          <c:tx>
            <c:strRef>
              <c:f>data!$E$1</c:f>
              <c:strCache>
                <c:ptCount val="1"/>
                <c:pt idx="0">
                  <c:v>jik</c:v>
                </c:pt>
              </c:strCache>
            </c:strRef>
          </c:tx>
          <c:spPr>
            <a:ln w="38100">
              <a:solidFill>
                <a:srgbClr val="336699"/>
              </a:solidFill>
            </a:ln>
          </c:spPr>
          <c:marker>
            <c:symbol val="triangle"/>
            <c:size val="5"/>
            <c:spPr>
              <a:solidFill>
                <a:srgbClr val="336699"/>
              </a:solidFill>
              <a:ln>
                <a:noFill/>
              </a:ln>
            </c:spPr>
          </c:marker>
          <c:cat>
            <c:numRef>
              <c:f>data!$A$2:$A$15</c:f>
              <c:numCache>
                <c:formatCode>General</c:formatCode>
                <c:ptCount val="1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  <c:pt idx="11">
                  <c:v>600</c:v>
                </c:pt>
                <c:pt idx="12">
                  <c:v>650</c:v>
                </c:pt>
                <c:pt idx="13">
                  <c:v>700</c:v>
                </c:pt>
              </c:numCache>
            </c:numRef>
          </c:cat>
          <c:val>
            <c:numRef>
              <c:f>data!$E$2:$E$15</c:f>
              <c:numCache>
                <c:formatCode>General</c:formatCode>
                <c:ptCount val="14"/>
                <c:pt idx="0">
                  <c:v>3.93</c:v>
                </c:pt>
                <c:pt idx="1">
                  <c:v>4.1399999999999997</c:v>
                </c:pt>
                <c:pt idx="2">
                  <c:v>4.3599999999999977</c:v>
                </c:pt>
                <c:pt idx="3">
                  <c:v>4.47</c:v>
                </c:pt>
                <c:pt idx="4">
                  <c:v>4.5199999999999996</c:v>
                </c:pt>
                <c:pt idx="5">
                  <c:v>4.5599999999999996</c:v>
                </c:pt>
                <c:pt idx="6">
                  <c:v>4.57</c:v>
                </c:pt>
                <c:pt idx="7">
                  <c:v>4.5999999999999996</c:v>
                </c:pt>
                <c:pt idx="8">
                  <c:v>7.96</c:v>
                </c:pt>
                <c:pt idx="9">
                  <c:v>19.05</c:v>
                </c:pt>
                <c:pt idx="10">
                  <c:v>20.59</c:v>
                </c:pt>
                <c:pt idx="11">
                  <c:v>21.86</c:v>
                </c:pt>
                <c:pt idx="12">
                  <c:v>22.92</c:v>
                </c:pt>
                <c:pt idx="13">
                  <c:v>23.82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C95-426C-A97F-7AB94C07456F}"/>
            </c:ext>
          </c:extLst>
        </c:ser>
        <c:ser>
          <c:idx val="4"/>
          <c:order val="4"/>
          <c:tx>
            <c:strRef>
              <c:f>data!$F$1</c:f>
              <c:strCache>
                <c:ptCount val="1"/>
                <c:pt idx="0">
                  <c:v>kij</c:v>
                </c:pt>
              </c:strCache>
            </c:strRef>
          </c:tx>
          <c:spPr>
            <a:ln w="38100">
              <a:solidFill>
                <a:srgbClr val="008000"/>
              </a:solidFill>
            </a:ln>
          </c:spPr>
          <c:marker>
            <c:symbol val="diamond"/>
            <c:size val="8"/>
            <c:spPr>
              <a:solidFill>
                <a:srgbClr val="008000"/>
              </a:solidFill>
              <a:ln>
                <a:noFill/>
              </a:ln>
            </c:spPr>
          </c:marker>
          <c:cat>
            <c:numRef>
              <c:f>data!$A$2:$A$15</c:f>
              <c:numCache>
                <c:formatCode>General</c:formatCode>
                <c:ptCount val="1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  <c:pt idx="11">
                  <c:v>600</c:v>
                </c:pt>
                <c:pt idx="12">
                  <c:v>650</c:v>
                </c:pt>
                <c:pt idx="13">
                  <c:v>700</c:v>
                </c:pt>
              </c:numCache>
            </c:numRef>
          </c:cat>
          <c:val>
            <c:numRef>
              <c:f>data!$F$2:$F$15</c:f>
              <c:numCache>
                <c:formatCode>General</c:formatCode>
                <c:ptCount val="14"/>
                <c:pt idx="0">
                  <c:v>1.86</c:v>
                </c:pt>
                <c:pt idx="1">
                  <c:v>1.78</c:v>
                </c:pt>
                <c:pt idx="2">
                  <c:v>2.14</c:v>
                </c:pt>
                <c:pt idx="3">
                  <c:v>2.2999999999999998</c:v>
                </c:pt>
                <c:pt idx="4">
                  <c:v>2.23</c:v>
                </c:pt>
                <c:pt idx="5">
                  <c:v>2.1800000000000002</c:v>
                </c:pt>
                <c:pt idx="6">
                  <c:v>2.14</c:v>
                </c:pt>
                <c:pt idx="7">
                  <c:v>2.12</c:v>
                </c:pt>
                <c:pt idx="8">
                  <c:v>2.12</c:v>
                </c:pt>
                <c:pt idx="9">
                  <c:v>2.13</c:v>
                </c:pt>
                <c:pt idx="10">
                  <c:v>2.13</c:v>
                </c:pt>
                <c:pt idx="11">
                  <c:v>2.14</c:v>
                </c:pt>
                <c:pt idx="12">
                  <c:v>2.16</c:v>
                </c:pt>
                <c:pt idx="13">
                  <c:v>2.2200000000000002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C95-426C-A97F-7AB94C07456F}"/>
            </c:ext>
          </c:extLst>
        </c:ser>
        <c:ser>
          <c:idx val="5"/>
          <c:order val="5"/>
          <c:tx>
            <c:strRef>
              <c:f>data!$G$1</c:f>
              <c:strCache>
                <c:ptCount val="1"/>
                <c:pt idx="0">
                  <c:v>ikj</c:v>
                </c:pt>
              </c:strCache>
            </c:strRef>
          </c:tx>
          <c:spPr>
            <a:ln w="38100">
              <a:solidFill>
                <a:srgbClr val="008000"/>
              </a:solidFill>
            </a:ln>
          </c:spPr>
          <c:marker>
            <c:symbol val="triangle"/>
            <c:size val="8"/>
            <c:spPr>
              <a:solidFill>
                <a:srgbClr val="008000"/>
              </a:solidFill>
              <a:ln>
                <a:noFill/>
              </a:ln>
            </c:spPr>
          </c:marker>
          <c:cat>
            <c:numRef>
              <c:f>data!$A$2:$A$15</c:f>
              <c:numCache>
                <c:formatCode>General</c:formatCode>
                <c:ptCount val="14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  <c:pt idx="11">
                  <c:v>600</c:v>
                </c:pt>
                <c:pt idx="12">
                  <c:v>650</c:v>
                </c:pt>
                <c:pt idx="13">
                  <c:v>700</c:v>
                </c:pt>
              </c:numCache>
            </c:numRef>
          </c:cat>
          <c:val>
            <c:numRef>
              <c:f>data!$G$2:$G$15</c:f>
              <c:numCache>
                <c:formatCode>General</c:formatCode>
                <c:ptCount val="14"/>
                <c:pt idx="0">
                  <c:v>1.78</c:v>
                </c:pt>
                <c:pt idx="1">
                  <c:v>1.8</c:v>
                </c:pt>
                <c:pt idx="2">
                  <c:v>2.12</c:v>
                </c:pt>
                <c:pt idx="3">
                  <c:v>2.0299999999999998</c:v>
                </c:pt>
                <c:pt idx="4">
                  <c:v>1.96</c:v>
                </c:pt>
                <c:pt idx="5">
                  <c:v>1.92</c:v>
                </c:pt>
                <c:pt idx="6">
                  <c:v>1.89</c:v>
                </c:pt>
                <c:pt idx="7">
                  <c:v>1.86</c:v>
                </c:pt>
                <c:pt idx="8">
                  <c:v>1.86</c:v>
                </c:pt>
                <c:pt idx="9">
                  <c:v>1.88</c:v>
                </c:pt>
                <c:pt idx="10">
                  <c:v>1.89</c:v>
                </c:pt>
                <c:pt idx="11">
                  <c:v>1.9</c:v>
                </c:pt>
                <c:pt idx="12">
                  <c:v>1.91</c:v>
                </c:pt>
                <c:pt idx="13">
                  <c:v>1.95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C95-426C-A97F-7AB94C0745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194112"/>
        <c:axId val="71204864"/>
      </c:lineChart>
      <c:catAx>
        <c:axId val="71194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Array size (n)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31750" cap="sq"/>
        </c:spPr>
        <c:txPr>
          <a:bodyPr/>
          <a:lstStyle/>
          <a:p>
            <a:pPr>
              <a:defRPr sz="1600" b="1">
                <a:latin typeface="Calibri" panose="020F0502020204030204" pitchFamily="34" charset="0"/>
              </a:defRPr>
            </a:pPr>
            <a:endParaRPr lang="zh-CN"/>
          </a:p>
        </c:txPr>
        <c:crossAx val="71204864"/>
        <c:crossesAt val="0"/>
        <c:auto val="1"/>
        <c:lblAlgn val="ctr"/>
        <c:lblOffset val="100"/>
        <c:noMultiLvlLbl val="0"/>
      </c:catAx>
      <c:valAx>
        <c:axId val="71204864"/>
        <c:scaling>
          <c:logBase val="10"/>
          <c:orientation val="minMax"/>
          <c:min val="1"/>
        </c:scaling>
        <c:delete val="0"/>
        <c:axPos val="l"/>
        <c:majorGridlines>
          <c:spPr>
            <a:ln w="25400">
              <a:solidFill>
                <a:srgbClr val="FFFFFF"/>
              </a:solidFill>
            </a:ln>
          </c:spPr>
        </c:majorGridlines>
        <c:minorGridlines>
          <c:spPr>
            <a:ln w="25400">
              <a:solidFill>
                <a:srgbClr val="FFFFFF"/>
              </a:solidFill>
            </a:ln>
          </c:spPr>
        </c:minorGridlines>
        <c:numFmt formatCode="General" sourceLinked="1"/>
        <c:majorTickMark val="out"/>
        <c:minorTickMark val="out"/>
        <c:tickLblPos val="nextTo"/>
        <c:spPr>
          <a:ln>
            <a:noFill/>
          </a:ln>
        </c:spPr>
        <c:txPr>
          <a:bodyPr/>
          <a:lstStyle/>
          <a:p>
            <a:pPr>
              <a:defRPr sz="1600" b="1">
                <a:latin typeface="Calibri" panose="020F0502020204030204" pitchFamily="34" charset="0"/>
              </a:defRPr>
            </a:pPr>
            <a:endParaRPr lang="zh-CN"/>
          </a:p>
        </c:txPr>
        <c:crossAx val="71194112"/>
        <c:crosses val="autoZero"/>
        <c:crossBetween val="midCat"/>
        <c:minorUnit val="10"/>
      </c:valAx>
      <c:spPr>
        <a:solidFill>
          <a:srgbClr val="FFFFFF">
            <a:lumMod val="95000"/>
          </a:srgbClr>
        </a:solidFill>
      </c:spPr>
    </c:plotArea>
    <c:legend>
      <c:legendPos val="r"/>
      <c:layout>
        <c:manualLayout>
          <c:xMode val="edge"/>
          <c:yMode val="edge"/>
          <c:x val="0.11315789473684212"/>
          <c:y val="0.11451644449980126"/>
          <c:w val="0.1134502923976608"/>
          <c:h val="0.28239216893937535"/>
        </c:manualLayout>
      </c:layout>
      <c:overlay val="0"/>
      <c:spPr>
        <a:ln>
          <a:noFill/>
        </a:ln>
      </c:spPr>
      <c:txPr>
        <a:bodyPr/>
        <a:lstStyle/>
        <a:p>
          <a:pPr>
            <a:defRPr sz="1600" b="1">
              <a:latin typeface="Courier New" panose="02070309020205020404" pitchFamily="49" charset="0"/>
              <a:cs typeface="Courier New" panose="02070309020205020404" pitchFamily="49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latin typeface="Arial"/>
        </a:defRPr>
      </a:pPr>
      <a:endParaRPr lang="zh-CN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view3D>
      <c:rotX val="15"/>
      <c:rotY val="45"/>
      <c:rAngAx val="0"/>
    </c:view3D>
    <c:floor>
      <c:thickness val="0"/>
      <c:spPr>
        <a:solidFill>
          <a:schemeClr val="bg1">
            <a:lumMod val="85000"/>
          </a:schemeClr>
        </a:solidFill>
      </c:spPr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28498920968212"/>
          <c:y val="2.8386075383512899E-2"/>
          <c:w val="0.69976389617964396"/>
          <c:h val="0.921287118521949"/>
        </c:manualLayout>
      </c:layout>
      <c:surface3DChart>
        <c:wireframe val="0"/>
        <c:ser>
          <c:idx val="0"/>
          <c:order val="0"/>
          <c:tx>
            <c:strRef>
              <c:f>data!$A$2</c:f>
              <c:strCache>
                <c:ptCount val="1"/>
                <c:pt idx="0">
                  <c:v>128m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data!$B$2:$M$2</c:f>
              <c:numCache>
                <c:formatCode>General</c:formatCode>
                <c:ptCount val="12"/>
                <c:pt idx="0">
                  <c:v>16636</c:v>
                </c:pt>
                <c:pt idx="1">
                  <c:v>8966</c:v>
                </c:pt>
                <c:pt idx="2">
                  <c:v>5846</c:v>
                </c:pt>
                <c:pt idx="3">
                  <c:v>4298</c:v>
                </c:pt>
                <c:pt idx="4">
                  <c:v>3403</c:v>
                </c:pt>
                <c:pt idx="5">
                  <c:v>2789</c:v>
                </c:pt>
                <c:pt idx="6">
                  <c:v>2348</c:v>
                </c:pt>
                <c:pt idx="7">
                  <c:v>2055</c:v>
                </c:pt>
                <c:pt idx="8">
                  <c:v>1904</c:v>
                </c:pt>
                <c:pt idx="9">
                  <c:v>1786</c:v>
                </c:pt>
                <c:pt idx="10">
                  <c:v>1693</c:v>
                </c:pt>
                <c:pt idx="11">
                  <c:v>1607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66-4934-AFC4-CBB2F28AB7DE}"/>
            </c:ext>
          </c:extLst>
        </c:ser>
        <c:ser>
          <c:idx val="1"/>
          <c:order val="1"/>
          <c:tx>
            <c:strRef>
              <c:f>data!$A$3</c:f>
              <c:strCache>
                <c:ptCount val="1"/>
                <c:pt idx="0">
                  <c:v>64m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data!$B$3:$M$3</c:f>
              <c:numCache>
                <c:formatCode>General</c:formatCode>
                <c:ptCount val="12"/>
                <c:pt idx="0">
                  <c:v>16925</c:v>
                </c:pt>
                <c:pt idx="1">
                  <c:v>9080</c:v>
                </c:pt>
                <c:pt idx="2">
                  <c:v>5860</c:v>
                </c:pt>
                <c:pt idx="3">
                  <c:v>4307</c:v>
                </c:pt>
                <c:pt idx="4">
                  <c:v>3408</c:v>
                </c:pt>
                <c:pt idx="5">
                  <c:v>2795</c:v>
                </c:pt>
                <c:pt idx="6">
                  <c:v>2352</c:v>
                </c:pt>
                <c:pt idx="7">
                  <c:v>2058</c:v>
                </c:pt>
                <c:pt idx="8">
                  <c:v>1912</c:v>
                </c:pt>
                <c:pt idx="9">
                  <c:v>1791</c:v>
                </c:pt>
                <c:pt idx="10">
                  <c:v>1695</c:v>
                </c:pt>
                <c:pt idx="11">
                  <c:v>1608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66-4934-AFC4-CBB2F28AB7DE}"/>
            </c:ext>
          </c:extLst>
        </c:ser>
        <c:ser>
          <c:idx val="2"/>
          <c:order val="2"/>
          <c:tx>
            <c:strRef>
              <c:f>data!$A$4</c:f>
              <c:strCache>
                <c:ptCount val="1"/>
                <c:pt idx="0">
                  <c:v>32m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data!$B$4:$M$4</c:f>
              <c:numCache>
                <c:formatCode>General</c:formatCode>
                <c:ptCount val="12"/>
                <c:pt idx="0">
                  <c:v>17168</c:v>
                </c:pt>
                <c:pt idx="1">
                  <c:v>9212</c:v>
                </c:pt>
                <c:pt idx="2">
                  <c:v>5897</c:v>
                </c:pt>
                <c:pt idx="3">
                  <c:v>4331</c:v>
                </c:pt>
                <c:pt idx="4">
                  <c:v>3431</c:v>
                </c:pt>
                <c:pt idx="5">
                  <c:v>2822</c:v>
                </c:pt>
                <c:pt idx="6">
                  <c:v>2375</c:v>
                </c:pt>
                <c:pt idx="7">
                  <c:v>2078</c:v>
                </c:pt>
                <c:pt idx="8">
                  <c:v>1924</c:v>
                </c:pt>
                <c:pt idx="9">
                  <c:v>1809</c:v>
                </c:pt>
                <c:pt idx="10">
                  <c:v>1713</c:v>
                </c:pt>
                <c:pt idx="11">
                  <c:v>1628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66-4934-AFC4-CBB2F28AB7DE}"/>
            </c:ext>
          </c:extLst>
        </c:ser>
        <c:ser>
          <c:idx val="3"/>
          <c:order val="3"/>
          <c:tx>
            <c:strRef>
              <c:f>data!$A$5</c:f>
              <c:strCache>
                <c:ptCount val="1"/>
                <c:pt idx="0">
                  <c:v>16m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data!$B$5:$M$5</c:f>
              <c:numCache>
                <c:formatCode>General</c:formatCode>
                <c:ptCount val="12"/>
                <c:pt idx="0">
                  <c:v>17405</c:v>
                </c:pt>
                <c:pt idx="1">
                  <c:v>9559</c:v>
                </c:pt>
                <c:pt idx="2">
                  <c:v>6027</c:v>
                </c:pt>
                <c:pt idx="3">
                  <c:v>4458</c:v>
                </c:pt>
                <c:pt idx="4">
                  <c:v>3520</c:v>
                </c:pt>
                <c:pt idx="5">
                  <c:v>2899</c:v>
                </c:pt>
                <c:pt idx="6">
                  <c:v>2465</c:v>
                </c:pt>
                <c:pt idx="7">
                  <c:v>2179</c:v>
                </c:pt>
                <c:pt idx="8">
                  <c:v>2049</c:v>
                </c:pt>
                <c:pt idx="9">
                  <c:v>1952</c:v>
                </c:pt>
                <c:pt idx="10">
                  <c:v>1883</c:v>
                </c:pt>
                <c:pt idx="11">
                  <c:v>1825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66-4934-AFC4-CBB2F28AB7DE}"/>
            </c:ext>
          </c:extLst>
        </c:ser>
        <c:ser>
          <c:idx val="4"/>
          <c:order val="4"/>
          <c:tx>
            <c:strRef>
              <c:f>data!$A$6</c:f>
              <c:strCache>
                <c:ptCount val="1"/>
                <c:pt idx="0">
                  <c:v>8m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data!$B$6:$M$6</c:f>
              <c:numCache>
                <c:formatCode>General</c:formatCode>
                <c:ptCount val="12"/>
                <c:pt idx="0">
                  <c:v>19339</c:v>
                </c:pt>
                <c:pt idx="1">
                  <c:v>11837</c:v>
                </c:pt>
                <c:pt idx="2">
                  <c:v>8045</c:v>
                </c:pt>
                <c:pt idx="3">
                  <c:v>6079</c:v>
                </c:pt>
                <c:pt idx="4">
                  <c:v>4927</c:v>
                </c:pt>
                <c:pt idx="5">
                  <c:v>4246</c:v>
                </c:pt>
                <c:pt idx="6">
                  <c:v>3745</c:v>
                </c:pt>
                <c:pt idx="7">
                  <c:v>3289</c:v>
                </c:pt>
                <c:pt idx="8">
                  <c:v>3131</c:v>
                </c:pt>
                <c:pt idx="9">
                  <c:v>3026</c:v>
                </c:pt>
                <c:pt idx="10">
                  <c:v>2899</c:v>
                </c:pt>
                <c:pt idx="11">
                  <c:v>2924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66-4934-AFC4-CBB2F28AB7DE}"/>
            </c:ext>
          </c:extLst>
        </c:ser>
        <c:ser>
          <c:idx val="5"/>
          <c:order val="5"/>
          <c:tx>
            <c:strRef>
              <c:f>data!$A$7</c:f>
              <c:strCache>
                <c:ptCount val="1"/>
                <c:pt idx="0">
                  <c:v>4m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data!$B$7:$M$7</c:f>
              <c:numCache>
                <c:formatCode>General</c:formatCode>
                <c:ptCount val="12"/>
                <c:pt idx="0">
                  <c:v>20728</c:v>
                </c:pt>
                <c:pt idx="1">
                  <c:v>16852</c:v>
                </c:pt>
                <c:pt idx="2">
                  <c:v>13212</c:v>
                </c:pt>
                <c:pt idx="3">
                  <c:v>10371</c:v>
                </c:pt>
                <c:pt idx="4">
                  <c:v>8542</c:v>
                </c:pt>
                <c:pt idx="5">
                  <c:v>7259</c:v>
                </c:pt>
                <c:pt idx="6">
                  <c:v>6345</c:v>
                </c:pt>
                <c:pt idx="7">
                  <c:v>5627</c:v>
                </c:pt>
                <c:pt idx="8">
                  <c:v>5396</c:v>
                </c:pt>
                <c:pt idx="9">
                  <c:v>5228</c:v>
                </c:pt>
                <c:pt idx="10">
                  <c:v>5090</c:v>
                </c:pt>
                <c:pt idx="11">
                  <c:v>4977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66-4934-AFC4-CBB2F28AB7DE}"/>
            </c:ext>
          </c:extLst>
        </c:ser>
        <c:ser>
          <c:idx val="6"/>
          <c:order val="6"/>
          <c:tx>
            <c:strRef>
              <c:f>data!$A$8</c:f>
              <c:strCache>
                <c:ptCount val="1"/>
                <c:pt idx="0">
                  <c:v>2m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data!$B$8:$M$8</c:f>
              <c:numCache>
                <c:formatCode>General</c:formatCode>
                <c:ptCount val="12"/>
                <c:pt idx="0">
                  <c:v>29025</c:v>
                </c:pt>
                <c:pt idx="1">
                  <c:v>19350</c:v>
                </c:pt>
                <c:pt idx="2">
                  <c:v>13735</c:v>
                </c:pt>
                <c:pt idx="3">
                  <c:v>10550</c:v>
                </c:pt>
                <c:pt idx="4">
                  <c:v>8610</c:v>
                </c:pt>
                <c:pt idx="5">
                  <c:v>7308</c:v>
                </c:pt>
                <c:pt idx="6">
                  <c:v>6361</c:v>
                </c:pt>
                <c:pt idx="7">
                  <c:v>5648</c:v>
                </c:pt>
                <c:pt idx="8">
                  <c:v>5417</c:v>
                </c:pt>
                <c:pt idx="9">
                  <c:v>5241</c:v>
                </c:pt>
                <c:pt idx="10">
                  <c:v>5094</c:v>
                </c:pt>
                <c:pt idx="11">
                  <c:v>4978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66-4934-AFC4-CBB2F28AB7DE}"/>
            </c:ext>
          </c:extLst>
        </c:ser>
        <c:ser>
          <c:idx val="7"/>
          <c:order val="7"/>
          <c:tx>
            <c:strRef>
              <c:f>data!$A$9</c:f>
              <c:strCache>
                <c:ptCount val="1"/>
                <c:pt idx="0">
                  <c:v>1024k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data!$B$9:$M$9</c:f>
              <c:numCache>
                <c:formatCode>General</c:formatCode>
                <c:ptCount val="12"/>
                <c:pt idx="0">
                  <c:v>29291</c:v>
                </c:pt>
                <c:pt idx="1">
                  <c:v>19543</c:v>
                </c:pt>
                <c:pt idx="2">
                  <c:v>13689</c:v>
                </c:pt>
                <c:pt idx="3">
                  <c:v>10508</c:v>
                </c:pt>
                <c:pt idx="4">
                  <c:v>8597</c:v>
                </c:pt>
                <c:pt idx="5">
                  <c:v>7281</c:v>
                </c:pt>
                <c:pt idx="6">
                  <c:v>6354</c:v>
                </c:pt>
                <c:pt idx="7">
                  <c:v>5628</c:v>
                </c:pt>
                <c:pt idx="8">
                  <c:v>5388</c:v>
                </c:pt>
                <c:pt idx="9">
                  <c:v>5218</c:v>
                </c:pt>
                <c:pt idx="10">
                  <c:v>5071</c:v>
                </c:pt>
                <c:pt idx="11">
                  <c:v>4956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366-4934-AFC4-CBB2F28AB7DE}"/>
            </c:ext>
          </c:extLst>
        </c:ser>
        <c:ser>
          <c:idx val="8"/>
          <c:order val="8"/>
          <c:tx>
            <c:strRef>
              <c:f>data!$A$10</c:f>
              <c:strCache>
                <c:ptCount val="1"/>
                <c:pt idx="0">
                  <c:v>512k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data!$B$10:$M$10</c:f>
              <c:numCache>
                <c:formatCode>General</c:formatCode>
                <c:ptCount val="12"/>
                <c:pt idx="0">
                  <c:v>29290</c:v>
                </c:pt>
                <c:pt idx="1">
                  <c:v>19411</c:v>
                </c:pt>
                <c:pt idx="2">
                  <c:v>13779</c:v>
                </c:pt>
                <c:pt idx="3">
                  <c:v>10594</c:v>
                </c:pt>
                <c:pt idx="4">
                  <c:v>8667</c:v>
                </c:pt>
                <c:pt idx="5">
                  <c:v>7390</c:v>
                </c:pt>
                <c:pt idx="6">
                  <c:v>6438</c:v>
                </c:pt>
                <c:pt idx="7">
                  <c:v>5684</c:v>
                </c:pt>
                <c:pt idx="8">
                  <c:v>5453</c:v>
                </c:pt>
                <c:pt idx="9">
                  <c:v>5325</c:v>
                </c:pt>
                <c:pt idx="10">
                  <c:v>5213</c:v>
                </c:pt>
                <c:pt idx="11">
                  <c:v>5128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366-4934-AFC4-CBB2F28AB7DE}"/>
            </c:ext>
          </c:extLst>
        </c:ser>
        <c:ser>
          <c:idx val="9"/>
          <c:order val="9"/>
          <c:tx>
            <c:strRef>
              <c:f>data!$A$11</c:f>
              <c:strCache>
                <c:ptCount val="1"/>
                <c:pt idx="0">
                  <c:v>256k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data!$B$11:$M$11</c:f>
              <c:numCache>
                <c:formatCode>General</c:formatCode>
                <c:ptCount val="12"/>
                <c:pt idx="0">
                  <c:v>29762</c:v>
                </c:pt>
                <c:pt idx="1">
                  <c:v>21456</c:v>
                </c:pt>
                <c:pt idx="2">
                  <c:v>16905</c:v>
                </c:pt>
                <c:pt idx="3">
                  <c:v>13504</c:v>
                </c:pt>
                <c:pt idx="4">
                  <c:v>11044</c:v>
                </c:pt>
                <c:pt idx="5">
                  <c:v>9359</c:v>
                </c:pt>
                <c:pt idx="6">
                  <c:v>8175</c:v>
                </c:pt>
                <c:pt idx="7">
                  <c:v>7240</c:v>
                </c:pt>
                <c:pt idx="8">
                  <c:v>7082</c:v>
                </c:pt>
                <c:pt idx="9">
                  <c:v>6889</c:v>
                </c:pt>
                <c:pt idx="10">
                  <c:v>6858</c:v>
                </c:pt>
                <c:pt idx="11">
                  <c:v>6835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66-4934-AFC4-CBB2F28AB7DE}"/>
            </c:ext>
          </c:extLst>
        </c:ser>
        <c:ser>
          <c:idx val="10"/>
          <c:order val="10"/>
          <c:tx>
            <c:strRef>
              <c:f>data!$A$12</c:f>
              <c:strCache>
                <c:ptCount val="1"/>
                <c:pt idx="0">
                  <c:v>128k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data!$B$12:$M$12</c:f>
              <c:numCache>
                <c:formatCode>General</c:formatCode>
                <c:ptCount val="12"/>
                <c:pt idx="0">
                  <c:v>30042</c:v>
                </c:pt>
                <c:pt idx="1">
                  <c:v>23953</c:v>
                </c:pt>
                <c:pt idx="2">
                  <c:v>22661</c:v>
                </c:pt>
                <c:pt idx="3">
                  <c:v>18952</c:v>
                </c:pt>
                <c:pt idx="4">
                  <c:v>15706</c:v>
                </c:pt>
                <c:pt idx="5">
                  <c:v>13602</c:v>
                </c:pt>
                <c:pt idx="6">
                  <c:v>11761</c:v>
                </c:pt>
                <c:pt idx="7">
                  <c:v>10409</c:v>
                </c:pt>
                <c:pt idx="8">
                  <c:v>10184</c:v>
                </c:pt>
                <c:pt idx="9">
                  <c:v>10137</c:v>
                </c:pt>
                <c:pt idx="10">
                  <c:v>10158</c:v>
                </c:pt>
                <c:pt idx="11">
                  <c:v>9875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366-4934-AFC4-CBB2F28AB7DE}"/>
            </c:ext>
          </c:extLst>
        </c:ser>
        <c:ser>
          <c:idx val="11"/>
          <c:order val="11"/>
          <c:tx>
            <c:strRef>
              <c:f>data!$A$13</c:f>
              <c:strCache>
                <c:ptCount val="1"/>
                <c:pt idx="0">
                  <c:v>64k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data!$B$13:$M$13</c:f>
              <c:numCache>
                <c:formatCode>General</c:formatCode>
                <c:ptCount val="12"/>
                <c:pt idx="0">
                  <c:v>29468</c:v>
                </c:pt>
                <c:pt idx="1">
                  <c:v>23044</c:v>
                </c:pt>
                <c:pt idx="2">
                  <c:v>21501</c:v>
                </c:pt>
                <c:pt idx="3">
                  <c:v>19208</c:v>
                </c:pt>
                <c:pt idx="4">
                  <c:v>15955</c:v>
                </c:pt>
                <c:pt idx="5">
                  <c:v>13551</c:v>
                </c:pt>
                <c:pt idx="6">
                  <c:v>11784</c:v>
                </c:pt>
                <c:pt idx="7">
                  <c:v>10516</c:v>
                </c:pt>
                <c:pt idx="8">
                  <c:v>10364</c:v>
                </c:pt>
                <c:pt idx="9">
                  <c:v>10320</c:v>
                </c:pt>
                <c:pt idx="10">
                  <c:v>10262</c:v>
                </c:pt>
                <c:pt idx="11">
                  <c:v>10132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366-4934-AFC4-CBB2F28AB7DE}"/>
            </c:ext>
          </c:extLst>
        </c:ser>
        <c:ser>
          <c:idx val="12"/>
          <c:order val="12"/>
          <c:tx>
            <c:strRef>
              <c:f>data!$A$14</c:f>
              <c:strCache>
                <c:ptCount val="1"/>
                <c:pt idx="0">
                  <c:v>32k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data!$B$14:$M$14</c:f>
              <c:numCache>
                <c:formatCode>General</c:formatCode>
                <c:ptCount val="12"/>
                <c:pt idx="0">
                  <c:v>28870</c:v>
                </c:pt>
                <c:pt idx="1">
                  <c:v>28719</c:v>
                </c:pt>
                <c:pt idx="2">
                  <c:v>29106</c:v>
                </c:pt>
                <c:pt idx="3">
                  <c:v>27888</c:v>
                </c:pt>
                <c:pt idx="4">
                  <c:v>26884</c:v>
                </c:pt>
                <c:pt idx="5">
                  <c:v>28059</c:v>
                </c:pt>
                <c:pt idx="6">
                  <c:v>26335</c:v>
                </c:pt>
                <c:pt idx="7">
                  <c:v>26110</c:v>
                </c:pt>
                <c:pt idx="8">
                  <c:v>26305</c:v>
                </c:pt>
                <c:pt idx="9">
                  <c:v>29201</c:v>
                </c:pt>
                <c:pt idx="10">
                  <c:v>29054</c:v>
                </c:pt>
                <c:pt idx="11">
                  <c:v>28530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366-4934-AFC4-CBB2F28AB7DE}"/>
            </c:ext>
          </c:extLst>
        </c:ser>
        <c:ser>
          <c:idx val="13"/>
          <c:order val="13"/>
          <c:tx>
            <c:strRef>
              <c:f>data!$A$15</c:f>
              <c:strCache>
                <c:ptCount val="1"/>
                <c:pt idx="0">
                  <c:v>16k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data!$B$15:$M$15</c:f>
              <c:numCache>
                <c:formatCode>General</c:formatCode>
                <c:ptCount val="12"/>
                <c:pt idx="0">
                  <c:v>30341</c:v>
                </c:pt>
                <c:pt idx="1">
                  <c:v>29871</c:v>
                </c:pt>
                <c:pt idx="2">
                  <c:v>30402</c:v>
                </c:pt>
                <c:pt idx="3">
                  <c:v>28973</c:v>
                </c:pt>
                <c:pt idx="4">
                  <c:v>29464</c:v>
                </c:pt>
                <c:pt idx="5">
                  <c:v>28643</c:v>
                </c:pt>
                <c:pt idx="6">
                  <c:v>29046</c:v>
                </c:pt>
                <c:pt idx="7">
                  <c:v>27746</c:v>
                </c:pt>
                <c:pt idx="8">
                  <c:v>26070</c:v>
                </c:pt>
                <c:pt idx="9">
                  <c:v>27955</c:v>
                </c:pt>
                <c:pt idx="10">
                  <c:v>27259</c:v>
                </c:pt>
                <c:pt idx="11">
                  <c:v>25816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366-4934-AFC4-CBB2F28AB7DE}"/>
            </c:ext>
          </c:extLst>
        </c:ser>
        <c:bandFmts/>
        <c:axId val="2085835592"/>
        <c:axId val="2085825864"/>
        <c:axId val="2085623160"/>
      </c:surface3DChart>
      <c:catAx>
        <c:axId val="20858355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Stride (x8 bytes)</a:t>
                </a:r>
              </a:p>
            </c:rich>
          </c:tx>
          <c:layout>
            <c:manualLayout>
              <c:xMode val="edge"/>
              <c:yMode val="edge"/>
              <c:x val="0.13657770709015099"/>
              <c:y val="0.84909405264439197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txPr>
          <a:bodyPr rot="0" vert="horz" anchor="b" anchorCtr="1"/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2085825864"/>
        <c:crosses val="autoZero"/>
        <c:auto val="1"/>
        <c:lblAlgn val="ctr"/>
        <c:lblOffset val="100"/>
        <c:noMultiLvlLbl val="0"/>
      </c:catAx>
      <c:valAx>
        <c:axId val="2085825864"/>
        <c:scaling>
          <c:orientation val="minMax"/>
          <c:max val="32000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Read throughput (MB/s)</a:t>
                </a:r>
              </a:p>
              <a:p>
                <a:pPr>
                  <a:defRPr sz="1200">
                    <a:latin typeface="Arial"/>
                  </a:defRPr>
                </a:pPr>
                <a:endParaRPr lang="en-US" sz="1200">
                  <a:latin typeface="Arial"/>
                </a:endParaRPr>
              </a:p>
            </c:rich>
          </c:tx>
          <c:layout>
            <c:manualLayout>
              <c:xMode val="edge"/>
              <c:yMode val="edge"/>
              <c:x val="2.9427050902444098E-2"/>
              <c:y val="0.2617015621110019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2085835592"/>
        <c:crosses val="autoZero"/>
        <c:crossBetween val="midCat"/>
        <c:majorUnit val="4000"/>
        <c:minorUnit val="500"/>
      </c:valAx>
      <c:serAx>
        <c:axId val="208562316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Size (bytes)</a:t>
                </a:r>
              </a:p>
            </c:rich>
          </c:tx>
          <c:layout>
            <c:manualLayout>
              <c:xMode val="edge"/>
              <c:yMode val="edge"/>
              <c:x val="0.64497276173811602"/>
              <c:y val="0.855644760091263"/>
            </c:manualLayout>
          </c:layout>
          <c:overlay val="0"/>
        </c:title>
        <c:majorTickMark val="out"/>
        <c:minorTickMark val="none"/>
        <c:tickLblPos val="nextTo"/>
        <c:txPr>
          <a:bodyPr rot="0" vert="horz" lIns="2">
            <a:spAutoFit/>
          </a:bodyPr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2085825864"/>
        <c:crosses val="autoZero"/>
        <c:tickLblSkip val="2"/>
        <c:tickMarkSkip val="1"/>
      </c:serAx>
    </c:plotArea>
    <c:plotVisOnly val="1"/>
    <c:dispBlanksAs val="zero"/>
    <c:showDLblsOverMax val="0"/>
  </c:chart>
  <c:spPr>
    <a:ln w="9525">
      <a:solidFill>
        <a:schemeClr val="tx1"/>
      </a:solidFill>
    </a:ln>
  </c:sp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data!$I$1</c:f>
              <c:strCache>
                <c:ptCount val="1"/>
                <c:pt idx="0">
                  <c:v>s8</c:v>
                </c:pt>
              </c:strCache>
            </c:strRef>
          </c:tx>
          <c:invertIfNegative val="0"/>
          <c:cat>
            <c:strRef>
              <c:f>data!$A$2:$A$16</c:f>
              <c:strCache>
                <c:ptCount val="14"/>
                <c:pt idx="0">
                  <c:v>128m</c:v>
                </c:pt>
                <c:pt idx="1">
                  <c:v>64m</c:v>
                </c:pt>
                <c:pt idx="2">
                  <c:v>32m</c:v>
                </c:pt>
                <c:pt idx="3">
                  <c:v>16m</c:v>
                </c:pt>
                <c:pt idx="4">
                  <c:v>8m</c:v>
                </c:pt>
                <c:pt idx="5">
                  <c:v>4m</c:v>
                </c:pt>
                <c:pt idx="6">
                  <c:v>2m</c:v>
                </c:pt>
                <c:pt idx="7">
                  <c:v>1024k</c:v>
                </c:pt>
                <c:pt idx="8">
                  <c:v>512k</c:v>
                </c:pt>
                <c:pt idx="9">
                  <c:v>256k</c:v>
                </c:pt>
                <c:pt idx="10">
                  <c:v>128k</c:v>
                </c:pt>
                <c:pt idx="11">
                  <c:v>64k</c:v>
                </c:pt>
                <c:pt idx="12">
                  <c:v>32k</c:v>
                </c:pt>
                <c:pt idx="13">
                  <c:v>16k</c:v>
                </c:pt>
              </c:strCache>
            </c:strRef>
          </c:cat>
          <c:val>
            <c:numRef>
              <c:f>data!$I$2:$I$16</c:f>
              <c:numCache>
                <c:formatCode>General</c:formatCode>
                <c:ptCount val="15"/>
                <c:pt idx="0">
                  <c:v>2055</c:v>
                </c:pt>
                <c:pt idx="1">
                  <c:v>2058</c:v>
                </c:pt>
                <c:pt idx="2">
                  <c:v>2078</c:v>
                </c:pt>
                <c:pt idx="3">
                  <c:v>2179</c:v>
                </c:pt>
                <c:pt idx="4">
                  <c:v>3289</c:v>
                </c:pt>
                <c:pt idx="5">
                  <c:v>5627</c:v>
                </c:pt>
                <c:pt idx="6">
                  <c:v>5648</c:v>
                </c:pt>
                <c:pt idx="7">
                  <c:v>5628</c:v>
                </c:pt>
                <c:pt idx="8">
                  <c:v>5684</c:v>
                </c:pt>
                <c:pt idx="9">
                  <c:v>7240</c:v>
                </c:pt>
                <c:pt idx="10">
                  <c:v>10409</c:v>
                </c:pt>
                <c:pt idx="11">
                  <c:v>10516</c:v>
                </c:pt>
                <c:pt idx="12">
                  <c:v>26110</c:v>
                </c:pt>
                <c:pt idx="13">
                  <c:v>27746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6B-4F2D-9549-5F1667D7AE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85658424"/>
        <c:axId val="2085643048"/>
      </c:barChart>
      <c:catAx>
        <c:axId val="20856584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Working</a:t>
                </a:r>
                <a:r>
                  <a:rPr lang="en-US" sz="1200" baseline="0">
                    <a:latin typeface="Arial"/>
                  </a:rPr>
                  <a:t> set size (bytes)</a:t>
                </a:r>
                <a:endParaRPr lang="en-US" sz="1200">
                  <a:latin typeface="Arial"/>
                </a:endParaRP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2085643048"/>
        <c:crosses val="autoZero"/>
        <c:auto val="1"/>
        <c:lblAlgn val="ctr"/>
        <c:lblOffset val="100"/>
        <c:noMultiLvlLbl val="0"/>
      </c:catAx>
      <c:valAx>
        <c:axId val="2085643048"/>
        <c:scaling>
          <c:orientation val="minMax"/>
        </c:scaling>
        <c:delete val="0"/>
        <c:axPos val="l"/>
        <c:majorGridlines>
          <c:spPr>
            <a:ln w="9525" cmpd="sng">
              <a:solidFill>
                <a:schemeClr val="tx1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200" baseline="0">
                    <a:latin typeface="Arial"/>
                  </a:defRPr>
                </a:pPr>
                <a:r>
                  <a:rPr lang="en-US" sz="1200" baseline="0">
                    <a:latin typeface="Arial"/>
                  </a:rPr>
                  <a:t>Read throughput (MB/s)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2085658424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solidFill>
            <a:schemeClr val="tx1"/>
          </a:solidFill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2000"/>
            </a:pPr>
            <a:r>
              <a:rPr lang="en-US" sz="2000"/>
              <a:t>Throughput for size = 128K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'stride 128k'!$A$26</c:f>
              <c:strCache>
                <c:ptCount val="1"/>
                <c:pt idx="0">
                  <c:v>Measured</c:v>
                </c:pt>
              </c:strCache>
            </c:strRef>
          </c:tx>
          <c:cat>
            <c:strRef>
              <c:f>'stride 128k'!$B$25:$M$25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'stride 128k'!$B$26:$M$26</c:f>
              <c:numCache>
                <c:formatCode>General</c:formatCode>
                <c:ptCount val="12"/>
                <c:pt idx="0">
                  <c:v>30896</c:v>
                </c:pt>
                <c:pt idx="1">
                  <c:v>25024</c:v>
                </c:pt>
                <c:pt idx="2">
                  <c:v>24135</c:v>
                </c:pt>
                <c:pt idx="3">
                  <c:v>20391</c:v>
                </c:pt>
                <c:pt idx="4">
                  <c:v>17199</c:v>
                </c:pt>
                <c:pt idx="5">
                  <c:v>14634</c:v>
                </c:pt>
                <c:pt idx="6">
                  <c:v>12670</c:v>
                </c:pt>
                <c:pt idx="7">
                  <c:v>11274</c:v>
                </c:pt>
                <c:pt idx="8">
                  <c:v>11248</c:v>
                </c:pt>
                <c:pt idx="9">
                  <c:v>11262</c:v>
                </c:pt>
                <c:pt idx="10">
                  <c:v>11294</c:v>
                </c:pt>
                <c:pt idx="11">
                  <c:v>11251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4F-4BF9-8AD1-A7A5BFFF75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55144488"/>
        <c:axId val="-2053180024"/>
      </c:lineChart>
      <c:catAx>
        <c:axId val="-205514448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zh-CN"/>
          </a:p>
        </c:txPr>
        <c:crossAx val="-2053180024"/>
        <c:crosses val="autoZero"/>
        <c:auto val="1"/>
        <c:lblAlgn val="ctr"/>
        <c:lblOffset val="100"/>
        <c:noMultiLvlLbl val="0"/>
      </c:catAx>
      <c:valAx>
        <c:axId val="-2053180024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/>
                  <a:t>MB/sec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zh-CN"/>
          </a:p>
        </c:txPr>
        <c:crossAx val="-2055144488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1400"/>
          </a:pPr>
          <a:endParaRPr lang="zh-CN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2000"/>
            </a:pPr>
            <a:r>
              <a:rPr lang="en-US" sz="2000"/>
              <a:t>Throughput for size = 128K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'stride 128k'!$A$26</c:f>
              <c:strCache>
                <c:ptCount val="1"/>
                <c:pt idx="0">
                  <c:v>Measured</c:v>
                </c:pt>
              </c:strCache>
            </c:strRef>
          </c:tx>
          <c:cat>
            <c:strRef>
              <c:f>'stride 128k'!$B$25:$M$25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'stride 128k'!$B$26:$M$26</c:f>
              <c:numCache>
                <c:formatCode>General</c:formatCode>
                <c:ptCount val="12"/>
                <c:pt idx="0">
                  <c:v>30896</c:v>
                </c:pt>
                <c:pt idx="1">
                  <c:v>25024</c:v>
                </c:pt>
                <c:pt idx="2">
                  <c:v>24135</c:v>
                </c:pt>
                <c:pt idx="3">
                  <c:v>20391</c:v>
                </c:pt>
                <c:pt idx="4">
                  <c:v>17199</c:v>
                </c:pt>
                <c:pt idx="5">
                  <c:v>14634</c:v>
                </c:pt>
                <c:pt idx="6">
                  <c:v>12670</c:v>
                </c:pt>
                <c:pt idx="7">
                  <c:v>11274</c:v>
                </c:pt>
                <c:pt idx="8">
                  <c:v>11248</c:v>
                </c:pt>
                <c:pt idx="9">
                  <c:v>11262</c:v>
                </c:pt>
                <c:pt idx="10">
                  <c:v>11294</c:v>
                </c:pt>
                <c:pt idx="11">
                  <c:v>11251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4F-45F1-8B61-8060EBD7A3B5}"/>
            </c:ext>
          </c:extLst>
        </c:ser>
        <c:ser>
          <c:idx val="1"/>
          <c:order val="1"/>
          <c:tx>
            <c:strRef>
              <c:f>'stride 128k'!$A$27</c:f>
              <c:strCache>
                <c:ptCount val="1"/>
                <c:pt idx="0">
                  <c:v>Model</c:v>
                </c:pt>
              </c:strCache>
            </c:strRef>
          </c:tx>
          <c:cat>
            <c:strRef>
              <c:f>'stride 128k'!$B$25:$M$25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'stride 128k'!$B$27:$M$27</c:f>
              <c:numCache>
                <c:formatCode>0</c:formatCode>
                <c:ptCount val="12"/>
                <c:pt idx="0">
                  <c:v>30896</c:v>
                </c:pt>
                <c:pt idx="1">
                  <c:v>24743.76423787294</c:v>
                </c:pt>
                <c:pt idx="2">
                  <c:v>20634.810920600521</c:v>
                </c:pt>
                <c:pt idx="3">
                  <c:v>17696.180456366488</c:v>
                </c:pt>
                <c:pt idx="4">
                  <c:v>15490.200678500179</c:v>
                </c:pt>
                <c:pt idx="5">
                  <c:v>13773.24789298868</c:v>
                </c:pt>
                <c:pt idx="6">
                  <c:v>12398.934797864231</c:v>
                </c:pt>
                <c:pt idx="7">
                  <c:v>11274</c:v>
                </c:pt>
                <c:pt idx="8">
                  <c:v>11274</c:v>
                </c:pt>
                <c:pt idx="9">
                  <c:v>11274</c:v>
                </c:pt>
                <c:pt idx="10">
                  <c:v>11274</c:v>
                </c:pt>
                <c:pt idx="11">
                  <c:v>11274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4F-45F1-8B61-8060EBD7A3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4711960"/>
        <c:axId val="-2053502504"/>
      </c:lineChart>
      <c:catAx>
        <c:axId val="206471196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zh-CN"/>
          </a:p>
        </c:txPr>
        <c:crossAx val="-2053502504"/>
        <c:crosses val="autoZero"/>
        <c:auto val="1"/>
        <c:lblAlgn val="ctr"/>
        <c:lblOffset val="100"/>
        <c:noMultiLvlLbl val="0"/>
      </c:catAx>
      <c:valAx>
        <c:axId val="-2053502504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/>
                  <a:t>MB/sec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zh-CN"/>
          </a:p>
        </c:txPr>
        <c:crossAx val="2064711960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1400"/>
          </a:pPr>
          <a:endParaRPr lang="zh-CN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view3D>
      <c:rotX val="15"/>
      <c:rotY val="45"/>
      <c:rAngAx val="0"/>
    </c:view3D>
    <c:floor>
      <c:thickness val="0"/>
      <c:spPr>
        <a:solidFill>
          <a:schemeClr val="bg1">
            <a:lumMod val="85000"/>
          </a:schemeClr>
        </a:solidFill>
      </c:spPr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28498920968212"/>
          <c:y val="2.8386075383512899E-2"/>
          <c:w val="0.69976389617964396"/>
          <c:h val="0.921287118521949"/>
        </c:manualLayout>
      </c:layout>
      <c:surface3DChart>
        <c:wireframe val="0"/>
        <c:ser>
          <c:idx val="0"/>
          <c:order val="0"/>
          <c:tx>
            <c:strRef>
              <c:f>data!$A$2</c:f>
              <c:strCache>
                <c:ptCount val="1"/>
                <c:pt idx="0">
                  <c:v>128m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data!$B$2:$M$2</c:f>
              <c:numCache>
                <c:formatCode>General</c:formatCode>
                <c:ptCount val="12"/>
                <c:pt idx="0">
                  <c:v>5427</c:v>
                </c:pt>
                <c:pt idx="1">
                  <c:v>2757</c:v>
                </c:pt>
                <c:pt idx="2">
                  <c:v>1939</c:v>
                </c:pt>
                <c:pt idx="3">
                  <c:v>1455</c:v>
                </c:pt>
                <c:pt idx="4">
                  <c:v>1151</c:v>
                </c:pt>
                <c:pt idx="5">
                  <c:v>951</c:v>
                </c:pt>
                <c:pt idx="6">
                  <c:v>803</c:v>
                </c:pt>
                <c:pt idx="7">
                  <c:v>701</c:v>
                </c:pt>
                <c:pt idx="8">
                  <c:v>672</c:v>
                </c:pt>
                <c:pt idx="9">
                  <c:v>646</c:v>
                </c:pt>
                <c:pt idx="10">
                  <c:v>626</c:v>
                </c:pt>
                <c:pt idx="11">
                  <c:v>610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83-424D-9EA1-E456D5662717}"/>
            </c:ext>
          </c:extLst>
        </c:ser>
        <c:ser>
          <c:idx val="1"/>
          <c:order val="1"/>
          <c:tx>
            <c:strRef>
              <c:f>data!$A$3</c:f>
              <c:strCache>
                <c:ptCount val="1"/>
                <c:pt idx="0">
                  <c:v>64m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data!$B$3:$M$3</c:f>
              <c:numCache>
                <c:formatCode>General</c:formatCode>
                <c:ptCount val="12"/>
                <c:pt idx="0">
                  <c:v>5496</c:v>
                </c:pt>
                <c:pt idx="1">
                  <c:v>2760</c:v>
                </c:pt>
                <c:pt idx="2">
                  <c:v>1936</c:v>
                </c:pt>
                <c:pt idx="3">
                  <c:v>1459</c:v>
                </c:pt>
                <c:pt idx="4">
                  <c:v>1149</c:v>
                </c:pt>
                <c:pt idx="5">
                  <c:v>949</c:v>
                </c:pt>
                <c:pt idx="6">
                  <c:v>803</c:v>
                </c:pt>
                <c:pt idx="7">
                  <c:v>703</c:v>
                </c:pt>
                <c:pt idx="8">
                  <c:v>666</c:v>
                </c:pt>
                <c:pt idx="9">
                  <c:v>644</c:v>
                </c:pt>
                <c:pt idx="10">
                  <c:v>621</c:v>
                </c:pt>
                <c:pt idx="11">
                  <c:v>610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83-424D-9EA1-E456D5662717}"/>
            </c:ext>
          </c:extLst>
        </c:ser>
        <c:ser>
          <c:idx val="2"/>
          <c:order val="2"/>
          <c:tx>
            <c:strRef>
              <c:f>data!$A$4</c:f>
              <c:strCache>
                <c:ptCount val="1"/>
                <c:pt idx="0">
                  <c:v>32m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data!$B$4:$M$4</c:f>
              <c:numCache>
                <c:formatCode>General</c:formatCode>
                <c:ptCount val="12"/>
                <c:pt idx="0">
                  <c:v>5498</c:v>
                </c:pt>
                <c:pt idx="1">
                  <c:v>2758</c:v>
                </c:pt>
                <c:pt idx="2">
                  <c:v>1938</c:v>
                </c:pt>
                <c:pt idx="3">
                  <c:v>1454</c:v>
                </c:pt>
                <c:pt idx="4">
                  <c:v>1151</c:v>
                </c:pt>
                <c:pt idx="5">
                  <c:v>934</c:v>
                </c:pt>
                <c:pt idx="6">
                  <c:v>811</c:v>
                </c:pt>
                <c:pt idx="7">
                  <c:v>704</c:v>
                </c:pt>
                <c:pt idx="8">
                  <c:v>671</c:v>
                </c:pt>
                <c:pt idx="9">
                  <c:v>645</c:v>
                </c:pt>
                <c:pt idx="10">
                  <c:v>625</c:v>
                </c:pt>
                <c:pt idx="11">
                  <c:v>611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83-424D-9EA1-E456D5662717}"/>
            </c:ext>
          </c:extLst>
        </c:ser>
        <c:ser>
          <c:idx val="3"/>
          <c:order val="3"/>
          <c:tx>
            <c:strRef>
              <c:f>data!$A$5</c:f>
              <c:strCache>
                <c:ptCount val="1"/>
                <c:pt idx="0">
                  <c:v>16m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data!$B$5:$M$5</c:f>
              <c:numCache>
                <c:formatCode>General</c:formatCode>
                <c:ptCount val="12"/>
                <c:pt idx="0">
                  <c:v>5506</c:v>
                </c:pt>
                <c:pt idx="1">
                  <c:v>2769</c:v>
                </c:pt>
                <c:pt idx="2">
                  <c:v>1941</c:v>
                </c:pt>
                <c:pt idx="3">
                  <c:v>1460</c:v>
                </c:pt>
                <c:pt idx="4">
                  <c:v>1153</c:v>
                </c:pt>
                <c:pt idx="5">
                  <c:v>953</c:v>
                </c:pt>
                <c:pt idx="6">
                  <c:v>811</c:v>
                </c:pt>
                <c:pt idx="7">
                  <c:v>705</c:v>
                </c:pt>
                <c:pt idx="8">
                  <c:v>672</c:v>
                </c:pt>
                <c:pt idx="9">
                  <c:v>646</c:v>
                </c:pt>
                <c:pt idx="10">
                  <c:v>626</c:v>
                </c:pt>
                <c:pt idx="11">
                  <c:v>614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783-424D-9EA1-E456D5662717}"/>
            </c:ext>
          </c:extLst>
        </c:ser>
        <c:ser>
          <c:idx val="4"/>
          <c:order val="4"/>
          <c:tx>
            <c:strRef>
              <c:f>data!$A$6</c:f>
              <c:strCache>
                <c:ptCount val="1"/>
                <c:pt idx="0">
                  <c:v>8m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data!$B$6:$M$6</c:f>
              <c:numCache>
                <c:formatCode>General</c:formatCode>
                <c:ptCount val="12"/>
                <c:pt idx="0">
                  <c:v>5657</c:v>
                </c:pt>
                <c:pt idx="1">
                  <c:v>2977</c:v>
                </c:pt>
                <c:pt idx="2">
                  <c:v>2090</c:v>
                </c:pt>
                <c:pt idx="3">
                  <c:v>1586</c:v>
                </c:pt>
                <c:pt idx="4">
                  <c:v>1251</c:v>
                </c:pt>
                <c:pt idx="5">
                  <c:v>1035</c:v>
                </c:pt>
                <c:pt idx="6">
                  <c:v>882</c:v>
                </c:pt>
                <c:pt idx="7">
                  <c:v>766</c:v>
                </c:pt>
                <c:pt idx="8">
                  <c:v>777</c:v>
                </c:pt>
                <c:pt idx="9">
                  <c:v>836</c:v>
                </c:pt>
                <c:pt idx="10">
                  <c:v>1018</c:v>
                </c:pt>
                <c:pt idx="11">
                  <c:v>1365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83-424D-9EA1-E456D5662717}"/>
            </c:ext>
          </c:extLst>
        </c:ser>
        <c:ser>
          <c:idx val="5"/>
          <c:order val="5"/>
          <c:tx>
            <c:strRef>
              <c:f>data!$A$7</c:f>
              <c:strCache>
                <c:ptCount val="1"/>
                <c:pt idx="0">
                  <c:v>4m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data!$B$7:$M$7</c:f>
              <c:numCache>
                <c:formatCode>General</c:formatCode>
                <c:ptCount val="12"/>
                <c:pt idx="0">
                  <c:v>10401</c:v>
                </c:pt>
                <c:pt idx="1">
                  <c:v>8422</c:v>
                </c:pt>
                <c:pt idx="2">
                  <c:v>7522</c:v>
                </c:pt>
                <c:pt idx="3">
                  <c:v>6468</c:v>
                </c:pt>
                <c:pt idx="4">
                  <c:v>5469</c:v>
                </c:pt>
                <c:pt idx="5">
                  <c:v>4809</c:v>
                </c:pt>
                <c:pt idx="6">
                  <c:v>4284</c:v>
                </c:pt>
                <c:pt idx="7">
                  <c:v>3894</c:v>
                </c:pt>
                <c:pt idx="8">
                  <c:v>3900</c:v>
                </c:pt>
                <c:pt idx="9">
                  <c:v>3899</c:v>
                </c:pt>
                <c:pt idx="10">
                  <c:v>3898</c:v>
                </c:pt>
                <c:pt idx="11">
                  <c:v>3897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783-424D-9EA1-E456D5662717}"/>
            </c:ext>
          </c:extLst>
        </c:ser>
        <c:ser>
          <c:idx val="6"/>
          <c:order val="6"/>
          <c:tx>
            <c:strRef>
              <c:f>data!$A$8</c:f>
              <c:strCache>
                <c:ptCount val="1"/>
                <c:pt idx="0">
                  <c:v>2m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data!$B$8:$M$8</c:f>
              <c:numCache>
                <c:formatCode>General</c:formatCode>
                <c:ptCount val="12"/>
                <c:pt idx="0">
                  <c:v>10401</c:v>
                </c:pt>
                <c:pt idx="1">
                  <c:v>8418</c:v>
                </c:pt>
                <c:pt idx="2">
                  <c:v>7517</c:v>
                </c:pt>
                <c:pt idx="3">
                  <c:v>6468</c:v>
                </c:pt>
                <c:pt idx="4">
                  <c:v>5465</c:v>
                </c:pt>
                <c:pt idx="5">
                  <c:v>4804</c:v>
                </c:pt>
                <c:pt idx="6">
                  <c:v>4284</c:v>
                </c:pt>
                <c:pt idx="7">
                  <c:v>3898</c:v>
                </c:pt>
                <c:pt idx="8">
                  <c:v>3896</c:v>
                </c:pt>
                <c:pt idx="9">
                  <c:v>3897</c:v>
                </c:pt>
                <c:pt idx="10">
                  <c:v>3893</c:v>
                </c:pt>
                <c:pt idx="11">
                  <c:v>3897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783-424D-9EA1-E456D5662717}"/>
            </c:ext>
          </c:extLst>
        </c:ser>
        <c:ser>
          <c:idx val="7"/>
          <c:order val="7"/>
          <c:tx>
            <c:strRef>
              <c:f>data!$A$9</c:f>
              <c:strCache>
                <c:ptCount val="1"/>
                <c:pt idx="0">
                  <c:v>1024k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data!$B$9:$M$9</c:f>
              <c:numCache>
                <c:formatCode>General</c:formatCode>
                <c:ptCount val="12"/>
                <c:pt idx="0">
                  <c:v>10479</c:v>
                </c:pt>
                <c:pt idx="1">
                  <c:v>8469</c:v>
                </c:pt>
                <c:pt idx="2">
                  <c:v>7578</c:v>
                </c:pt>
                <c:pt idx="3">
                  <c:v>6508</c:v>
                </c:pt>
                <c:pt idx="4">
                  <c:v>5510</c:v>
                </c:pt>
                <c:pt idx="5">
                  <c:v>4854</c:v>
                </c:pt>
                <c:pt idx="6">
                  <c:v>4326</c:v>
                </c:pt>
                <c:pt idx="7">
                  <c:v>3935</c:v>
                </c:pt>
                <c:pt idx="8">
                  <c:v>3939</c:v>
                </c:pt>
                <c:pt idx="9">
                  <c:v>3945</c:v>
                </c:pt>
                <c:pt idx="10">
                  <c:v>3951</c:v>
                </c:pt>
                <c:pt idx="11">
                  <c:v>3963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783-424D-9EA1-E456D5662717}"/>
            </c:ext>
          </c:extLst>
        </c:ser>
        <c:ser>
          <c:idx val="8"/>
          <c:order val="8"/>
          <c:tx>
            <c:strRef>
              <c:f>data!$A$10</c:f>
              <c:strCache>
                <c:ptCount val="1"/>
                <c:pt idx="0">
                  <c:v>512k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data!$B$10:$M$10</c:f>
              <c:numCache>
                <c:formatCode>General</c:formatCode>
                <c:ptCount val="12"/>
                <c:pt idx="0">
                  <c:v>10486</c:v>
                </c:pt>
                <c:pt idx="1">
                  <c:v>8465</c:v>
                </c:pt>
                <c:pt idx="2">
                  <c:v>7578</c:v>
                </c:pt>
                <c:pt idx="3">
                  <c:v>6508</c:v>
                </c:pt>
                <c:pt idx="4">
                  <c:v>5514</c:v>
                </c:pt>
                <c:pt idx="5">
                  <c:v>4854</c:v>
                </c:pt>
                <c:pt idx="6">
                  <c:v>4330</c:v>
                </c:pt>
                <c:pt idx="7">
                  <c:v>3938</c:v>
                </c:pt>
                <c:pt idx="8">
                  <c:v>3945</c:v>
                </c:pt>
                <c:pt idx="9">
                  <c:v>3952</c:v>
                </c:pt>
                <c:pt idx="10">
                  <c:v>3956</c:v>
                </c:pt>
                <c:pt idx="11">
                  <c:v>3969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783-424D-9EA1-E456D5662717}"/>
            </c:ext>
          </c:extLst>
        </c:ser>
        <c:ser>
          <c:idx val="9"/>
          <c:order val="9"/>
          <c:tx>
            <c:strRef>
              <c:f>data!$A$11</c:f>
              <c:strCache>
                <c:ptCount val="1"/>
                <c:pt idx="0">
                  <c:v>256k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data!$B$11:$M$11</c:f>
              <c:numCache>
                <c:formatCode>General</c:formatCode>
                <c:ptCount val="12"/>
                <c:pt idx="0">
                  <c:v>10479</c:v>
                </c:pt>
                <c:pt idx="1">
                  <c:v>8456</c:v>
                </c:pt>
                <c:pt idx="2">
                  <c:v>7578</c:v>
                </c:pt>
                <c:pt idx="3">
                  <c:v>6503</c:v>
                </c:pt>
                <c:pt idx="4">
                  <c:v>5510</c:v>
                </c:pt>
                <c:pt idx="5">
                  <c:v>4850</c:v>
                </c:pt>
                <c:pt idx="6">
                  <c:v>4322</c:v>
                </c:pt>
                <c:pt idx="7">
                  <c:v>3931</c:v>
                </c:pt>
                <c:pt idx="8">
                  <c:v>3935</c:v>
                </c:pt>
                <c:pt idx="9">
                  <c:v>3938</c:v>
                </c:pt>
                <c:pt idx="10">
                  <c:v>3944</c:v>
                </c:pt>
                <c:pt idx="11">
                  <c:v>3958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783-424D-9EA1-E456D5662717}"/>
            </c:ext>
          </c:extLst>
        </c:ser>
        <c:ser>
          <c:idx val="10"/>
          <c:order val="10"/>
          <c:tx>
            <c:strRef>
              <c:f>data!$A$12</c:f>
              <c:strCache>
                <c:ptCount val="1"/>
                <c:pt idx="0">
                  <c:v>128k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data!$B$12:$M$12</c:f>
              <c:numCache>
                <c:formatCode>General</c:formatCode>
                <c:ptCount val="12"/>
                <c:pt idx="0">
                  <c:v>10473</c:v>
                </c:pt>
                <c:pt idx="1">
                  <c:v>8443</c:v>
                </c:pt>
                <c:pt idx="2">
                  <c:v>7552</c:v>
                </c:pt>
                <c:pt idx="3">
                  <c:v>6488</c:v>
                </c:pt>
                <c:pt idx="4">
                  <c:v>5496</c:v>
                </c:pt>
                <c:pt idx="5">
                  <c:v>4833</c:v>
                </c:pt>
                <c:pt idx="6">
                  <c:v>4307</c:v>
                </c:pt>
                <c:pt idx="7">
                  <c:v>3920</c:v>
                </c:pt>
                <c:pt idx="8">
                  <c:v>3912</c:v>
                </c:pt>
                <c:pt idx="9">
                  <c:v>3922</c:v>
                </c:pt>
                <c:pt idx="10">
                  <c:v>3923</c:v>
                </c:pt>
                <c:pt idx="11">
                  <c:v>3938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783-424D-9EA1-E456D5662717}"/>
            </c:ext>
          </c:extLst>
        </c:ser>
        <c:ser>
          <c:idx val="11"/>
          <c:order val="11"/>
          <c:tx>
            <c:strRef>
              <c:f>data!$A$13</c:f>
              <c:strCache>
                <c:ptCount val="1"/>
                <c:pt idx="0">
                  <c:v>64k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data!$B$13:$M$13</c:f>
              <c:numCache>
                <c:formatCode>General</c:formatCode>
                <c:ptCount val="12"/>
                <c:pt idx="0">
                  <c:v>10460</c:v>
                </c:pt>
                <c:pt idx="1">
                  <c:v>8414</c:v>
                </c:pt>
                <c:pt idx="2">
                  <c:v>7537</c:v>
                </c:pt>
                <c:pt idx="3">
                  <c:v>6463</c:v>
                </c:pt>
                <c:pt idx="4">
                  <c:v>5474</c:v>
                </c:pt>
                <c:pt idx="5">
                  <c:v>4817</c:v>
                </c:pt>
                <c:pt idx="6">
                  <c:v>4295</c:v>
                </c:pt>
                <c:pt idx="7">
                  <c:v>3902</c:v>
                </c:pt>
                <c:pt idx="8">
                  <c:v>3897</c:v>
                </c:pt>
                <c:pt idx="9">
                  <c:v>3899</c:v>
                </c:pt>
                <c:pt idx="10">
                  <c:v>3893</c:v>
                </c:pt>
                <c:pt idx="11">
                  <c:v>3905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C783-424D-9EA1-E456D5662717}"/>
            </c:ext>
          </c:extLst>
        </c:ser>
        <c:ser>
          <c:idx val="12"/>
          <c:order val="12"/>
          <c:tx>
            <c:strRef>
              <c:f>data!$A$14</c:f>
              <c:strCache>
                <c:ptCount val="1"/>
                <c:pt idx="0">
                  <c:v>32k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data!$B$14:$M$14</c:f>
              <c:numCache>
                <c:formatCode>General</c:formatCode>
                <c:ptCount val="12"/>
                <c:pt idx="0">
                  <c:v>17485</c:v>
                </c:pt>
                <c:pt idx="1">
                  <c:v>16744</c:v>
                </c:pt>
                <c:pt idx="2">
                  <c:v>16268</c:v>
                </c:pt>
                <c:pt idx="3">
                  <c:v>15798</c:v>
                </c:pt>
                <c:pt idx="4">
                  <c:v>15242</c:v>
                </c:pt>
                <c:pt idx="5">
                  <c:v>15321</c:v>
                </c:pt>
                <c:pt idx="6">
                  <c:v>14692</c:v>
                </c:pt>
                <c:pt idx="7">
                  <c:v>14158</c:v>
                </c:pt>
                <c:pt idx="8">
                  <c:v>17489</c:v>
                </c:pt>
                <c:pt idx="9">
                  <c:v>17381</c:v>
                </c:pt>
                <c:pt idx="10">
                  <c:v>17327</c:v>
                </c:pt>
                <c:pt idx="11">
                  <c:v>17059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783-424D-9EA1-E456D5662717}"/>
            </c:ext>
          </c:extLst>
        </c:ser>
        <c:ser>
          <c:idx val="13"/>
          <c:order val="13"/>
          <c:tx>
            <c:strRef>
              <c:f>data!$A$15</c:f>
              <c:strCache>
                <c:ptCount val="1"/>
                <c:pt idx="0">
                  <c:v>16k</c:v>
                </c:pt>
              </c:strCache>
            </c:strRef>
          </c:tx>
          <c:cat>
            <c:strRef>
              <c:f>data!$B$1:$M$1</c:f>
              <c:strCache>
                <c:ptCount val="12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  <c:pt idx="7">
                  <c:v>s8</c:v>
                </c:pt>
                <c:pt idx="8">
                  <c:v>s9</c:v>
                </c:pt>
                <c:pt idx="9">
                  <c:v>s10</c:v>
                </c:pt>
                <c:pt idx="10">
                  <c:v>s11</c:v>
                </c:pt>
                <c:pt idx="11">
                  <c:v>s12</c:v>
                </c:pt>
              </c:strCache>
            </c:strRef>
          </c:cat>
          <c:val>
            <c:numRef>
              <c:f>data!$B$15:$M$15</c:f>
              <c:numCache>
                <c:formatCode>General</c:formatCode>
                <c:ptCount val="12"/>
                <c:pt idx="0">
                  <c:v>18756</c:v>
                </c:pt>
                <c:pt idx="1">
                  <c:v>18386</c:v>
                </c:pt>
                <c:pt idx="2">
                  <c:v>17852</c:v>
                </c:pt>
                <c:pt idx="3">
                  <c:v>17688</c:v>
                </c:pt>
                <c:pt idx="4">
                  <c:v>17370</c:v>
                </c:pt>
                <c:pt idx="5">
                  <c:v>17059</c:v>
                </c:pt>
                <c:pt idx="6">
                  <c:v>16919</c:v>
                </c:pt>
                <c:pt idx="7">
                  <c:v>18206</c:v>
                </c:pt>
                <c:pt idx="8">
                  <c:v>18028</c:v>
                </c:pt>
                <c:pt idx="9">
                  <c:v>17773</c:v>
                </c:pt>
                <c:pt idx="10">
                  <c:v>17717</c:v>
                </c:pt>
                <c:pt idx="11">
                  <c:v>17735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C783-424D-9EA1-E456D5662717}"/>
            </c:ext>
          </c:extLst>
        </c:ser>
        <c:bandFmts/>
        <c:axId val="2127064360"/>
        <c:axId val="2127052712"/>
        <c:axId val="2127049608"/>
      </c:surface3DChart>
      <c:catAx>
        <c:axId val="212706436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Stride (x8 bytes)</a:t>
                </a:r>
              </a:p>
            </c:rich>
          </c:tx>
          <c:layout>
            <c:manualLayout>
              <c:xMode val="edge"/>
              <c:yMode val="edge"/>
              <c:x val="0.13657770709015099"/>
              <c:y val="0.84909405264439197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txPr>
          <a:bodyPr rot="0" vert="horz" anchor="b" anchorCtr="1"/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2127052712"/>
        <c:crosses val="autoZero"/>
        <c:auto val="1"/>
        <c:lblAlgn val="ctr"/>
        <c:lblOffset val="100"/>
        <c:noMultiLvlLbl val="0"/>
      </c:catAx>
      <c:valAx>
        <c:axId val="2127052712"/>
        <c:scaling>
          <c:orientation val="minMax"/>
          <c:max val="20000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Read throughput (MB/s)</a:t>
                </a:r>
              </a:p>
              <a:p>
                <a:pPr>
                  <a:defRPr sz="1200">
                    <a:latin typeface="Arial"/>
                  </a:defRPr>
                </a:pPr>
                <a:endParaRPr lang="en-US" sz="1200">
                  <a:latin typeface="Arial"/>
                </a:endParaRPr>
              </a:p>
            </c:rich>
          </c:tx>
          <c:layout>
            <c:manualLayout>
              <c:xMode val="edge"/>
              <c:yMode val="edge"/>
              <c:x val="2.9427050902444098E-2"/>
              <c:y val="0.2617015621110019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2127064360"/>
        <c:crosses val="autoZero"/>
        <c:crossBetween val="midCat"/>
        <c:majorUnit val="2000"/>
        <c:minorUnit val="500"/>
      </c:valAx>
      <c:serAx>
        <c:axId val="2127049608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1200">
                    <a:latin typeface="Arial"/>
                  </a:defRPr>
                </a:pPr>
                <a:r>
                  <a:rPr lang="en-US" sz="1200">
                    <a:latin typeface="Arial"/>
                  </a:rPr>
                  <a:t>Size (bytes)</a:t>
                </a:r>
              </a:p>
            </c:rich>
          </c:tx>
          <c:layout>
            <c:manualLayout>
              <c:xMode val="edge"/>
              <c:yMode val="edge"/>
              <c:x val="0.64497276173811602"/>
              <c:y val="0.855644760091263"/>
            </c:manualLayout>
          </c:layout>
          <c:overlay val="0"/>
        </c:title>
        <c:majorTickMark val="out"/>
        <c:minorTickMark val="none"/>
        <c:tickLblPos val="nextTo"/>
        <c:txPr>
          <a:bodyPr rot="0" vert="horz" lIns="2">
            <a:spAutoFit/>
          </a:bodyPr>
          <a:lstStyle/>
          <a:p>
            <a:pPr>
              <a:defRPr sz="1200">
                <a:latin typeface="Arial"/>
              </a:defRPr>
            </a:pPr>
            <a:endParaRPr lang="zh-CN"/>
          </a:p>
        </c:txPr>
        <c:crossAx val="2127052712"/>
        <c:crosses val="autoZero"/>
        <c:tickLblSkip val="2"/>
        <c:tickMarkSkip val="1"/>
      </c:serAx>
    </c:plotArea>
    <c:plotVisOnly val="1"/>
    <c:dispBlanksAs val="zero"/>
    <c:showDLblsOverMax val="0"/>
  </c:chart>
  <c:spPr>
    <a:ln w="9525">
      <a:solidFill>
        <a:schemeClr val="tx1"/>
      </a:solidFill>
    </a:ln>
  </c:spPr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433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97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use slides 13, 17, 30, and 40–47 as prediction exercises</a:t>
            </a: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88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92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1"/>
          <p:cNvSpPr txBox="1">
            <a:spLocks noChangeArrowheads="1"/>
          </p:cNvSpPr>
          <p:nvPr/>
        </p:nvSpPr>
        <p:spPr bwMode="auto">
          <a:xfrm>
            <a:off x="1233987" y="726094"/>
            <a:ext cx="4835733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31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974391" y="4554201"/>
            <a:ext cx="5354925" cy="4314943"/>
          </a:xfrm>
          <a:noFill/>
          <a:ln/>
        </p:spPr>
        <p:txBody>
          <a:bodyPr wrap="none" lIns="95088" tIns="47544" rIns="95088" bIns="47544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0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43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4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40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82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50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75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87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97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73612" cy="3581400"/>
          </a:xfrm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778" y="4551798"/>
            <a:ext cx="5354947" cy="4315104"/>
          </a:xfrm>
        </p:spPr>
        <p:txBody>
          <a:bodyPr/>
          <a:lstStyle/>
          <a:p>
            <a:r>
              <a:rPr lang="en-US" dirty="0"/>
              <a:t>Pause at the end of this slide to consider that M[0] and M[8] have nothing to do with one another, but that they interfere with one </a:t>
            </a:r>
            <a:r>
              <a:rPr lang="en-US" dirty="0" err="1"/>
              <a:t>anothers</a:t>
            </a:r>
            <a:r>
              <a:rPr lang="en-US" dirty="0"/>
              <a:t>’ existences in the cache.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82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213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33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73612" cy="3581400"/>
          </a:xfrm>
          <a:ln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778" y="4551798"/>
            <a:ext cx="5354947" cy="4315104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359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986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1"/>
          <p:cNvSpPr txBox="1">
            <a:spLocks noChangeArrowheads="1"/>
          </p:cNvSpPr>
          <p:nvPr/>
        </p:nvSpPr>
        <p:spPr bwMode="auto">
          <a:xfrm>
            <a:off x="1276247" y="726094"/>
            <a:ext cx="4752421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4515" name="Rectangle 2"/>
          <p:cNvSpPr txBox="1">
            <a:spLocks noGrp="1" noChangeArrowheads="1"/>
          </p:cNvSpPr>
          <p:nvPr>
            <p:ph type="body"/>
          </p:nvPr>
        </p:nvSpPr>
        <p:spPr>
          <a:xfrm>
            <a:off x="974391" y="4554201"/>
            <a:ext cx="5354925" cy="4314943"/>
          </a:xfrm>
          <a:noFill/>
          <a:ln/>
        </p:spPr>
        <p:txBody>
          <a:bodyPr wrap="none" lIns="95308" tIns="47654" rIns="95308" bIns="47654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687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16byte direct mapped $, 4B blocks -&gt; must be 4 sets to account for all 16B of cache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535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from block with set index bits 00 to 01, displace the line sitting in set 0 from the block with set index 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346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 = 64 (2^6)</a:t>
            </a:r>
          </a:p>
          <a:p>
            <a:r>
              <a:rPr lang="en-US" dirty="0"/>
              <a:t>E = 8 (2^3)</a:t>
            </a:r>
          </a:p>
          <a:p>
            <a:r>
              <a:rPr lang="en-US" dirty="0"/>
              <a:t>S = 64 (2^6) [need to infer from B, E, and Cache Size]</a:t>
            </a:r>
          </a:p>
          <a:p>
            <a:r>
              <a:rPr lang="en-US" dirty="0"/>
              <a:t>Cache Size = 2^15 (32768)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275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0x010 =&gt; 0000 0001 0000, say that it awkwardly segments the bits, but that’s 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605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/>
          </p:nvPr>
        </p:nvSpPr>
        <p:spPr>
          <a:xfrm>
            <a:off x="974391" y="4554201"/>
            <a:ext cx="5354925" cy="4314943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1278663" y="726094"/>
            <a:ext cx="4754835" cy="358260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014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3184" y="4554201"/>
            <a:ext cx="5356133" cy="4314943"/>
          </a:xfrm>
          <a:noFill/>
          <a:ln/>
        </p:spPr>
        <p:txBody>
          <a:bodyPr lIns="95683" tIns="47003" rIns="95683" bIns="47003"/>
          <a:lstStyle/>
          <a:p>
            <a:endParaRPr lang="en-US"/>
          </a:p>
        </p:txBody>
      </p:sp>
      <p:sp>
        <p:nvSpPr>
          <p:cNvPr id="4096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5963"/>
            <a:ext cx="4795838" cy="3598862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7126325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617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13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742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21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AFCB4-6256-E3CC-E97D-FB9DBE49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>
            <a:extLst>
              <a:ext uri="{FF2B5EF4-FFF2-40B4-BE49-F238E27FC236}">
                <a16:creationId xmlns:a16="http://schemas.microsoft.com/office/drawing/2014/main" id="{862E3F8B-0721-C29E-8D5A-6DBDB1444D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>
            <a:extLst>
              <a:ext uri="{FF2B5EF4-FFF2-40B4-BE49-F238E27FC236}">
                <a16:creationId xmlns:a16="http://schemas.microsoft.com/office/drawing/2014/main" id="{0555FB05-FA98-311D-0646-2F81EE0008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6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657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880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963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272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153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27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515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052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3298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312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21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671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1/8</a:t>
            </a:r>
            <a:r>
              <a:rPr lang="en-US" altLang="zh-CN" baseline="0" dirty="0"/>
              <a:t> misses * B^2</a:t>
            </a:r>
            <a:r>
              <a:rPr lang="zh-CN" altLang="en-US" baseline="0" dirty="0"/>
              <a:t>个数（每个</a:t>
            </a:r>
            <a:r>
              <a:rPr lang="en-US" altLang="zh-CN" baseline="0" dirty="0"/>
              <a:t>block</a:t>
            </a:r>
            <a:r>
              <a:rPr lang="zh-CN" altLang="en-US" baseline="0" dirty="0"/>
              <a:t>）</a:t>
            </a:r>
            <a:endParaRPr lang="en-US" altLang="zh-CN" baseline="0" dirty="0"/>
          </a:p>
          <a:p>
            <a:r>
              <a:rPr lang="zh-CN" altLang="en-US" baseline="0" dirty="0"/>
              <a:t>每个矩阵</a:t>
            </a:r>
            <a:r>
              <a:rPr lang="en-US" altLang="zh-CN" baseline="0" dirty="0"/>
              <a:t>n/B</a:t>
            </a:r>
            <a:r>
              <a:rPr lang="zh-CN" altLang="en-US" baseline="0" dirty="0"/>
              <a:t>个</a:t>
            </a:r>
            <a:r>
              <a:rPr lang="en-US" altLang="zh-CN" baseline="0" dirty="0"/>
              <a:t>block</a:t>
            </a:r>
          </a:p>
          <a:p>
            <a:r>
              <a:rPr lang="zh-CN" altLang="en-US" baseline="0" dirty="0"/>
              <a:t>每个</a:t>
            </a:r>
            <a:r>
              <a:rPr lang="en-US" altLang="zh-CN" baseline="0" dirty="0"/>
              <a:t>block</a:t>
            </a:r>
            <a:r>
              <a:rPr lang="zh-CN" altLang="en-US" baseline="0" dirty="0"/>
              <a:t>只会进入</a:t>
            </a:r>
            <a:r>
              <a:rPr lang="en-US" altLang="zh-CN" baseline="0" dirty="0"/>
              <a:t>Cache</a:t>
            </a:r>
            <a:r>
              <a:rPr lang="zh-CN" altLang="en-US" baseline="0"/>
              <a:t>一次</a:t>
            </a:r>
            <a:endParaRPr lang="en-US" altLang="zh-CN" baseline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736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09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579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55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6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4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30437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81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7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92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308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5863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73470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72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44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、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82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2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486400" y="-26988"/>
            <a:ext cx="3721101" cy="27699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200" dirty="0">
                <a:solidFill>
                  <a:schemeClr val="bg1"/>
                </a:solidFill>
                <a:latin typeface="Times New Roman" pitchFamily="18" charset="0"/>
              </a:rPr>
              <a:t>Introduction</a:t>
            </a:r>
            <a:r>
              <a:rPr lang="en-US" altLang="zh-CN" sz="1200" baseline="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Times New Roman" pitchFamily="18" charset="0"/>
              </a:rPr>
              <a:t>to Computer Systems,</a:t>
            </a:r>
            <a:r>
              <a:rPr lang="en-US" altLang="zh-CN" sz="1200" baseline="0" dirty="0">
                <a:solidFill>
                  <a:schemeClr val="bg1"/>
                </a:solidFill>
                <a:latin typeface="Times New Roman" pitchFamily="18" charset="0"/>
              </a:rPr>
              <a:t>  </a:t>
            </a:r>
            <a:r>
              <a:rPr lang="en-US" altLang="zh-CN" sz="1200" dirty="0">
                <a:solidFill>
                  <a:schemeClr val="bg1"/>
                </a:solidFill>
                <a:latin typeface="Times New Roman" pitchFamily="18" charset="0"/>
              </a:rPr>
              <a:t>Peking University 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41212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720850"/>
          </a:xfrm>
        </p:spPr>
        <p:txBody>
          <a:bodyPr/>
          <a:lstStyle/>
          <a:p>
            <a:pPr marL="0" indent="0"/>
            <a:r>
              <a:rPr lang="en-US" dirty="0"/>
              <a:t>Cache Memories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Introduction to Computer Systems</a:t>
            </a:r>
            <a:br>
              <a:rPr lang="en-US" b="0" dirty="0"/>
            </a:br>
            <a:endParaRPr lang="en-US" sz="2000" b="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Cache memory organization and operation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Performance impact of caches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memory mountain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Rearranging loops to improve spatial locality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Using blocking to improve temporal locality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177382" cy="762000"/>
          </a:xfrm>
        </p:spPr>
        <p:txBody>
          <a:bodyPr/>
          <a:lstStyle/>
          <a:p>
            <a:r>
              <a:rPr lang="en-US" dirty="0"/>
              <a:t>Recall: Locality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dirty="0">
                <a:solidFill>
                  <a:srgbClr val="C00000"/>
                </a:solidFill>
              </a:rPr>
              <a:t>Principle of Locality: </a:t>
            </a:r>
            <a:r>
              <a:rPr lang="en-GB" dirty="0"/>
              <a:t>Programs tend to use data and instructions with addresses near or equal to those they have used recently</a:t>
            </a:r>
          </a:p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dirty="0">
              <a:solidFill>
                <a:srgbClr val="C00000"/>
              </a:solidFill>
            </a:endParaRPr>
          </a:p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>
                <a:solidFill>
                  <a:srgbClr val="C00000"/>
                </a:solidFill>
              </a:rPr>
              <a:t>Temporal locality:  </a:t>
            </a:r>
          </a:p>
          <a:p>
            <a:pPr lvl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/>
              <a:t>Recently referenced items are likely </a:t>
            </a:r>
            <a:br>
              <a:rPr lang="en-GB" dirty="0"/>
            </a:br>
            <a:r>
              <a:rPr lang="en-GB" dirty="0"/>
              <a:t>to be referenced again in the near future</a:t>
            </a:r>
          </a:p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dirty="0">
              <a:solidFill>
                <a:srgbClr val="C00000"/>
              </a:solidFill>
            </a:endParaRPr>
          </a:p>
          <a:p>
            <a:pPr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>
                <a:solidFill>
                  <a:srgbClr val="C00000"/>
                </a:solidFill>
              </a:rPr>
              <a:t>Spatial locality:  </a:t>
            </a:r>
          </a:p>
          <a:p>
            <a:pPr lvl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dirty="0"/>
              <a:t>Items with nearby addresses tend </a:t>
            </a:r>
            <a:br>
              <a:rPr lang="en-GB" dirty="0"/>
            </a:br>
            <a:r>
              <a:rPr lang="en-GB" dirty="0"/>
              <a:t>to be referenced close together in time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096000" y="3124200"/>
            <a:ext cx="1905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6489700" y="3124200"/>
            <a:ext cx="381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6" name="Freeform 5"/>
          <p:cNvSpPr/>
          <p:nvPr/>
        </p:nvSpPr>
        <p:spPr bwMode="auto">
          <a:xfrm>
            <a:off x="6319056" y="2614411"/>
            <a:ext cx="627844" cy="433589"/>
          </a:xfrm>
          <a:custGeom>
            <a:avLst/>
            <a:gdLst>
              <a:gd name="connsiteX0" fmla="*/ 290847 w 627844"/>
              <a:gd name="connsiteY0" fmla="*/ 433589 h 433589"/>
              <a:gd name="connsiteX1" fmla="*/ 46149 w 627844"/>
              <a:gd name="connsiteY1" fmla="*/ 72980 h 433589"/>
              <a:gd name="connsiteX2" fmla="*/ 567743 w 627844"/>
              <a:gd name="connsiteY2" fmla="*/ 60101 h 433589"/>
              <a:gd name="connsiteX3" fmla="*/ 406757 w 627844"/>
              <a:gd name="connsiteY3" fmla="*/ 433589 h 43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7844" h="433589">
                <a:moveTo>
                  <a:pt x="290847" y="433589"/>
                </a:moveTo>
                <a:cubicBezTo>
                  <a:pt x="145423" y="284408"/>
                  <a:pt x="0" y="135228"/>
                  <a:pt x="46149" y="72980"/>
                </a:cubicBezTo>
                <a:cubicBezTo>
                  <a:pt x="92298" y="10732"/>
                  <a:pt x="507642" y="0"/>
                  <a:pt x="567743" y="60101"/>
                </a:cubicBezTo>
                <a:cubicBezTo>
                  <a:pt x="627844" y="120202"/>
                  <a:pt x="517300" y="276895"/>
                  <a:pt x="406757" y="433589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6102261" y="4616940"/>
            <a:ext cx="1905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495961" y="4616940"/>
            <a:ext cx="381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6870700" y="4616940"/>
            <a:ext cx="381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11" name="Freeform 10"/>
          <p:cNvSpPr/>
          <p:nvPr/>
        </p:nvSpPr>
        <p:spPr bwMode="auto">
          <a:xfrm>
            <a:off x="6416720" y="4186571"/>
            <a:ext cx="841420" cy="359535"/>
          </a:xfrm>
          <a:custGeom>
            <a:avLst/>
            <a:gdLst>
              <a:gd name="connsiteX0" fmla="*/ 200695 w 841420"/>
              <a:gd name="connsiteY0" fmla="*/ 353095 h 359535"/>
              <a:gd name="connsiteX1" fmla="*/ 91225 w 841420"/>
              <a:gd name="connsiteY1" fmla="*/ 56881 h 359535"/>
              <a:gd name="connsiteX2" fmla="*/ 748048 w 841420"/>
              <a:gd name="connsiteY2" fmla="*/ 50442 h 359535"/>
              <a:gd name="connsiteX3" fmla="*/ 651456 w 841420"/>
              <a:gd name="connsiteY3" fmla="*/ 359535 h 35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1420" h="359535">
                <a:moveTo>
                  <a:pt x="200695" y="353095"/>
                </a:moveTo>
                <a:cubicBezTo>
                  <a:pt x="100347" y="230209"/>
                  <a:pt x="0" y="107323"/>
                  <a:pt x="91225" y="56881"/>
                </a:cubicBezTo>
                <a:cubicBezTo>
                  <a:pt x="182450" y="6439"/>
                  <a:pt x="654676" y="0"/>
                  <a:pt x="748048" y="50442"/>
                </a:cubicBezTo>
                <a:cubicBezTo>
                  <a:pt x="841420" y="100884"/>
                  <a:pt x="746438" y="230209"/>
                  <a:pt x="651456" y="359535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2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ChangeArrowheads="1"/>
          </p:cNvSpPr>
          <p:nvPr>
            <p:ph type="title"/>
          </p:nvPr>
        </p:nvSpPr>
        <p:spPr>
          <a:xfrm>
            <a:off x="61913" y="247650"/>
            <a:ext cx="5765799" cy="782638"/>
          </a:xfrm>
        </p:spPr>
        <p:txBody>
          <a:bodyPr>
            <a:noAutofit/>
          </a:bodyPr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800" dirty="0">
                <a:latin typeface="Arial"/>
                <a:cs typeface="Arial"/>
              </a:rPr>
              <a:t>Recall: Memory</a:t>
            </a:r>
            <a:br>
              <a:rPr lang="en-GB" sz="2800" dirty="0">
                <a:latin typeface="Arial"/>
                <a:cs typeface="Arial"/>
              </a:rPr>
            </a:br>
            <a:r>
              <a:rPr lang="en-GB" sz="2800" dirty="0">
                <a:latin typeface="Arial"/>
                <a:cs typeface="Arial"/>
              </a:rPr>
              <a:t> Hierarchy</a:t>
            </a:r>
          </a:p>
        </p:txBody>
      </p:sp>
      <p:sp>
        <p:nvSpPr>
          <p:cNvPr id="151" name="AutoShape 195"/>
          <p:cNvSpPr>
            <a:spLocks noChangeAspect="1" noChangeArrowheads="1"/>
          </p:cNvSpPr>
          <p:nvPr/>
        </p:nvSpPr>
        <p:spPr bwMode="auto">
          <a:xfrm>
            <a:off x="552450" y="342900"/>
            <a:ext cx="6902450" cy="6456363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  <a:alpha val="7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140000" scaled="0"/>
            <a:tileRect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2" name="Text Box 196"/>
          <p:cNvSpPr txBox="1">
            <a:spLocks noChangeAspect="1" noChangeArrowheads="1"/>
          </p:cNvSpPr>
          <p:nvPr/>
        </p:nvSpPr>
        <p:spPr bwMode="auto">
          <a:xfrm>
            <a:off x="3694391" y="834509"/>
            <a:ext cx="7235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Regs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3" name="Text Box 198"/>
          <p:cNvSpPr txBox="1">
            <a:spLocks noChangeAspect="1" noChangeArrowheads="1"/>
          </p:cNvSpPr>
          <p:nvPr/>
        </p:nvSpPr>
        <p:spPr bwMode="auto">
          <a:xfrm>
            <a:off x="3495400" y="1283385"/>
            <a:ext cx="11215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L1 cache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(SRAM)</a:t>
            </a:r>
          </a:p>
        </p:txBody>
      </p:sp>
      <p:sp>
        <p:nvSpPr>
          <p:cNvPr id="154" name="Text Box 199"/>
          <p:cNvSpPr txBox="1">
            <a:spLocks noChangeAspect="1" noChangeArrowheads="1"/>
          </p:cNvSpPr>
          <p:nvPr/>
        </p:nvSpPr>
        <p:spPr bwMode="auto">
          <a:xfrm>
            <a:off x="3264793" y="3821797"/>
            <a:ext cx="158273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Main memory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(DRAM)</a:t>
            </a:r>
          </a:p>
        </p:txBody>
      </p:sp>
      <p:sp>
        <p:nvSpPr>
          <p:cNvPr id="155" name="Text Box 200"/>
          <p:cNvSpPr txBox="1">
            <a:spLocks noChangeAspect="1" noChangeArrowheads="1"/>
          </p:cNvSpPr>
          <p:nvPr/>
        </p:nvSpPr>
        <p:spPr bwMode="auto">
          <a:xfrm>
            <a:off x="2706309" y="4847322"/>
            <a:ext cx="269970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Local secondary storage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(local disks)</a:t>
            </a:r>
          </a:p>
        </p:txBody>
      </p:sp>
      <p:sp>
        <p:nvSpPr>
          <p:cNvPr id="156" name="Line 203"/>
          <p:cNvSpPr>
            <a:spLocks noChangeAspect="1" noChangeShapeType="1"/>
          </p:cNvSpPr>
          <p:nvPr/>
        </p:nvSpPr>
        <p:spPr bwMode="auto">
          <a:xfrm>
            <a:off x="3513138" y="1265238"/>
            <a:ext cx="9810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7" name="Line 204"/>
          <p:cNvSpPr>
            <a:spLocks noChangeAspect="1" noChangeShapeType="1"/>
          </p:cNvSpPr>
          <p:nvPr/>
        </p:nvSpPr>
        <p:spPr bwMode="auto">
          <a:xfrm>
            <a:off x="3162300" y="1903413"/>
            <a:ext cx="167163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8" name="Line 205"/>
          <p:cNvSpPr>
            <a:spLocks noChangeAspect="1" noChangeShapeType="1"/>
          </p:cNvSpPr>
          <p:nvPr/>
        </p:nvSpPr>
        <p:spPr bwMode="auto">
          <a:xfrm>
            <a:off x="2779713" y="2655888"/>
            <a:ext cx="24479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59" name="Line 222"/>
          <p:cNvSpPr>
            <a:spLocks noChangeAspect="1" noChangeShapeType="1"/>
          </p:cNvSpPr>
          <p:nvPr/>
        </p:nvSpPr>
        <p:spPr bwMode="auto">
          <a:xfrm>
            <a:off x="76200" y="3473450"/>
            <a:ext cx="0" cy="2344738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0" name="Text Box 223"/>
          <p:cNvSpPr txBox="1">
            <a:spLocks noChangeAspect="1" noChangeArrowheads="1"/>
          </p:cNvSpPr>
          <p:nvPr/>
        </p:nvSpPr>
        <p:spPr bwMode="auto">
          <a:xfrm>
            <a:off x="123825" y="3625166"/>
            <a:ext cx="106271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Larger,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slower,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cheaper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(per byte)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storage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devices</a:t>
            </a:r>
          </a:p>
        </p:txBody>
      </p:sp>
      <p:sp>
        <p:nvSpPr>
          <p:cNvPr id="161" name="Line 224"/>
          <p:cNvSpPr>
            <a:spLocks noChangeAspect="1" noChangeShapeType="1"/>
          </p:cNvSpPr>
          <p:nvPr/>
        </p:nvSpPr>
        <p:spPr bwMode="auto">
          <a:xfrm>
            <a:off x="2255838" y="3586163"/>
            <a:ext cx="3475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2" name="Text Box 225"/>
          <p:cNvSpPr txBox="1">
            <a:spLocks noChangeAspect="1" noChangeArrowheads="1"/>
          </p:cNvSpPr>
          <p:nvPr/>
        </p:nvSpPr>
        <p:spPr bwMode="auto">
          <a:xfrm>
            <a:off x="2578100" y="5947460"/>
            <a:ext cx="29561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Remote secondary storage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(e.g., Web servers)</a:t>
            </a:r>
          </a:p>
        </p:txBody>
      </p:sp>
      <p:sp>
        <p:nvSpPr>
          <p:cNvPr id="165" name="Text Box 227"/>
          <p:cNvSpPr txBox="1">
            <a:spLocks noChangeAspect="1" noChangeArrowheads="1"/>
          </p:cNvSpPr>
          <p:nvPr/>
        </p:nvSpPr>
        <p:spPr bwMode="auto">
          <a:xfrm>
            <a:off x="7073306" y="5375119"/>
            <a:ext cx="2062758" cy="73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Local disks hold files retrieved from disks 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on remote</a:t>
            </a:r>
            <a:r>
              <a:rPr kumimoji="0" lang="en-US" sz="14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servers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6" name="Line 235"/>
          <p:cNvSpPr>
            <a:spLocks noChangeAspect="1" noChangeShapeType="1"/>
          </p:cNvSpPr>
          <p:nvPr/>
        </p:nvSpPr>
        <p:spPr bwMode="auto">
          <a:xfrm>
            <a:off x="1708150" y="4632325"/>
            <a:ext cx="457676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7" name="Text Box 236"/>
          <p:cNvSpPr txBox="1">
            <a:spLocks noChangeAspect="1" noChangeArrowheads="1"/>
          </p:cNvSpPr>
          <p:nvPr/>
        </p:nvSpPr>
        <p:spPr bwMode="auto">
          <a:xfrm>
            <a:off x="3495400" y="1948547"/>
            <a:ext cx="11215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L2 cache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(SRAM)</a:t>
            </a:r>
          </a:p>
        </p:txBody>
      </p:sp>
      <p:sp>
        <p:nvSpPr>
          <p:cNvPr id="169" name="Text Box 243"/>
          <p:cNvSpPr txBox="1">
            <a:spLocks noChangeAspect="1" noChangeArrowheads="1"/>
          </p:cNvSpPr>
          <p:nvPr/>
        </p:nvSpPr>
        <p:spPr bwMode="auto">
          <a:xfrm>
            <a:off x="4962526" y="1641476"/>
            <a:ext cx="28384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L1 cache holds cache lines retrieved from the L2 cache.</a:t>
            </a:r>
          </a:p>
        </p:txBody>
      </p:sp>
      <p:sp>
        <p:nvSpPr>
          <p:cNvPr id="171" name="Text Box 233"/>
          <p:cNvSpPr txBox="1">
            <a:spLocks noChangeAspect="1" noChangeArrowheads="1"/>
          </p:cNvSpPr>
          <p:nvPr/>
        </p:nvSpPr>
        <p:spPr bwMode="auto">
          <a:xfrm>
            <a:off x="4573588" y="973465"/>
            <a:ext cx="29194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CPU registers hold words retrieved from </a:t>
            </a:r>
            <a:r>
              <a:rPr kumimoji="0" lang="en-US" sz="140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th</a:t>
            </a:r>
            <a:r>
              <a:rPr lang="en-US" sz="1400" kern="0" dirty="0">
                <a:solidFill>
                  <a:srgbClr val="FF0000"/>
                </a:solidFill>
                <a:latin typeface="Arial"/>
                <a:cs typeface="Arial"/>
              </a:rPr>
              <a:t>e L1 cache</a:t>
            </a: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.</a:t>
            </a:r>
          </a:p>
        </p:txBody>
      </p:sp>
      <p:sp>
        <p:nvSpPr>
          <p:cNvPr id="174" name="Text Box 231"/>
          <p:cNvSpPr txBox="1">
            <a:spLocks noChangeAspect="1" noChangeArrowheads="1"/>
          </p:cNvSpPr>
          <p:nvPr/>
        </p:nvSpPr>
        <p:spPr bwMode="auto">
          <a:xfrm>
            <a:off x="5365751" y="2403473"/>
            <a:ext cx="26289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L2 cache holds cache lines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retrieved from L3 cache</a:t>
            </a:r>
          </a:p>
        </p:txBody>
      </p:sp>
      <p:sp>
        <p:nvSpPr>
          <p:cNvPr id="176" name="Text Box 247"/>
          <p:cNvSpPr txBox="1">
            <a:spLocks noChangeAspect="1" noChangeArrowheads="1"/>
          </p:cNvSpPr>
          <p:nvPr/>
        </p:nvSpPr>
        <p:spPr bwMode="auto">
          <a:xfrm>
            <a:off x="3235325" y="644009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L0:</a:t>
            </a:r>
          </a:p>
        </p:txBody>
      </p:sp>
      <p:sp>
        <p:nvSpPr>
          <p:cNvPr id="177" name="Text Box 248"/>
          <p:cNvSpPr txBox="1">
            <a:spLocks noChangeAspect="1" noChangeArrowheads="1"/>
          </p:cNvSpPr>
          <p:nvPr/>
        </p:nvSpPr>
        <p:spPr bwMode="auto">
          <a:xfrm>
            <a:off x="2867025" y="1353622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L1:</a:t>
            </a:r>
          </a:p>
        </p:txBody>
      </p:sp>
      <p:sp>
        <p:nvSpPr>
          <p:cNvPr id="178" name="Text Box 249"/>
          <p:cNvSpPr txBox="1">
            <a:spLocks noChangeAspect="1" noChangeArrowheads="1"/>
          </p:cNvSpPr>
          <p:nvPr/>
        </p:nvSpPr>
        <p:spPr bwMode="auto">
          <a:xfrm>
            <a:off x="2486025" y="2041009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L2:</a:t>
            </a:r>
          </a:p>
        </p:txBody>
      </p:sp>
      <p:sp>
        <p:nvSpPr>
          <p:cNvPr id="179" name="Text Box 250"/>
          <p:cNvSpPr txBox="1">
            <a:spLocks noChangeAspect="1" noChangeArrowheads="1"/>
          </p:cNvSpPr>
          <p:nvPr/>
        </p:nvSpPr>
        <p:spPr bwMode="auto">
          <a:xfrm>
            <a:off x="2079625" y="2796659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L3:</a:t>
            </a:r>
          </a:p>
        </p:txBody>
      </p:sp>
      <p:sp>
        <p:nvSpPr>
          <p:cNvPr id="180" name="Text Box 251"/>
          <p:cNvSpPr txBox="1">
            <a:spLocks noChangeAspect="1" noChangeArrowheads="1"/>
          </p:cNvSpPr>
          <p:nvPr/>
        </p:nvSpPr>
        <p:spPr bwMode="auto">
          <a:xfrm>
            <a:off x="1554163" y="3795197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L4:</a:t>
            </a:r>
          </a:p>
        </p:txBody>
      </p:sp>
      <p:sp>
        <p:nvSpPr>
          <p:cNvPr id="181" name="Text Box 252"/>
          <p:cNvSpPr txBox="1">
            <a:spLocks noChangeAspect="1" noChangeArrowheads="1"/>
          </p:cNvSpPr>
          <p:nvPr/>
        </p:nvSpPr>
        <p:spPr bwMode="auto">
          <a:xfrm>
            <a:off x="933450" y="4912797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L5:</a:t>
            </a:r>
          </a:p>
        </p:txBody>
      </p:sp>
      <p:sp>
        <p:nvSpPr>
          <p:cNvPr id="182" name="Text Box 289"/>
          <p:cNvSpPr txBox="1">
            <a:spLocks noChangeAspect="1" noChangeArrowheads="1"/>
          </p:cNvSpPr>
          <p:nvPr/>
        </p:nvSpPr>
        <p:spPr bwMode="auto">
          <a:xfrm>
            <a:off x="130175" y="1137553"/>
            <a:ext cx="106271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Smaller,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faster,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costlier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(per byte)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storage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devices</a:t>
            </a:r>
          </a:p>
        </p:txBody>
      </p:sp>
      <p:sp>
        <p:nvSpPr>
          <p:cNvPr id="183" name="Line 291"/>
          <p:cNvSpPr>
            <a:spLocks noChangeShapeType="1"/>
          </p:cNvSpPr>
          <p:nvPr/>
        </p:nvSpPr>
        <p:spPr bwMode="auto">
          <a:xfrm flipH="1" flipV="1">
            <a:off x="90488" y="954088"/>
            <a:ext cx="0" cy="2154237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84" name="Line 292"/>
          <p:cNvSpPr>
            <a:spLocks noChangeAspect="1" noChangeShapeType="1"/>
          </p:cNvSpPr>
          <p:nvPr/>
        </p:nvSpPr>
        <p:spPr bwMode="auto">
          <a:xfrm>
            <a:off x="1117600" y="5743575"/>
            <a:ext cx="5765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85" name="Text Box 293"/>
          <p:cNvSpPr txBox="1">
            <a:spLocks noChangeAspect="1" noChangeArrowheads="1"/>
          </p:cNvSpPr>
          <p:nvPr/>
        </p:nvSpPr>
        <p:spPr bwMode="auto">
          <a:xfrm>
            <a:off x="3495400" y="2780397"/>
            <a:ext cx="11215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L3 cache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(SRAM)</a:t>
            </a:r>
          </a:p>
        </p:txBody>
      </p:sp>
      <p:sp>
        <p:nvSpPr>
          <p:cNvPr id="187" name="Text Box 295"/>
          <p:cNvSpPr txBox="1">
            <a:spLocks noChangeAspect="1" noChangeArrowheads="1"/>
          </p:cNvSpPr>
          <p:nvPr/>
        </p:nvSpPr>
        <p:spPr bwMode="auto">
          <a:xfrm>
            <a:off x="5810250" y="3305501"/>
            <a:ext cx="28765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L3 cache holds cache lines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 retrieved from main memory.</a:t>
            </a:r>
          </a:p>
        </p:txBody>
      </p:sp>
      <p:sp>
        <p:nvSpPr>
          <p:cNvPr id="189" name="Text Box 297"/>
          <p:cNvSpPr txBox="1">
            <a:spLocks noChangeAspect="1" noChangeArrowheads="1"/>
          </p:cNvSpPr>
          <p:nvPr/>
        </p:nvSpPr>
        <p:spPr bwMode="auto">
          <a:xfrm>
            <a:off x="387350" y="5963722"/>
            <a:ext cx="530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L6:</a:t>
            </a:r>
          </a:p>
        </p:txBody>
      </p:sp>
      <p:sp>
        <p:nvSpPr>
          <p:cNvPr id="234" name="Text Box 229"/>
          <p:cNvSpPr txBox="1">
            <a:spLocks noChangeAspect="1" noChangeArrowheads="1"/>
          </p:cNvSpPr>
          <p:nvPr/>
        </p:nvSpPr>
        <p:spPr bwMode="auto">
          <a:xfrm>
            <a:off x="6399690" y="4238399"/>
            <a:ext cx="218418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Main memory holds disk blocks retrieved from local disks.</a:t>
            </a:r>
          </a:p>
        </p:txBody>
      </p:sp>
    </p:spTree>
    <p:extLst>
      <p:ext uri="{BB962C8B-B14F-4D97-AF65-F5344CB8AC3E}">
        <p14:creationId xmlns:p14="http://schemas.microsoft.com/office/powerpoint/2010/main" val="18258092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Up-Down Arrow 34"/>
          <p:cNvSpPr/>
          <p:nvPr/>
        </p:nvSpPr>
        <p:spPr bwMode="auto">
          <a:xfrm>
            <a:off x="3352800" y="2895600"/>
            <a:ext cx="685800" cy="1371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General Cache Concepts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905000" y="4267200"/>
            <a:ext cx="3581400" cy="2057400"/>
          </a:xfrm>
          <a:prstGeom prst="rect">
            <a:avLst/>
          </a:prstGeom>
          <a:solidFill>
            <a:srgbClr val="DEDFF5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905000" y="2272391"/>
            <a:ext cx="3581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0574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8956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37338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5720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0574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28956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37338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45720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20574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28956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37338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45720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11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0574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8956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37338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45720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15</a:t>
            </a:r>
          </a:p>
        </p:txBody>
      </p:sp>
      <p:cxnSp>
        <p:nvCxnSpPr>
          <p:cNvPr id="22" name="Straight Connector 21"/>
          <p:cNvCxnSpPr/>
          <p:nvPr/>
        </p:nvCxnSpPr>
        <p:spPr bwMode="auto">
          <a:xfrm>
            <a:off x="2286000" y="6096000"/>
            <a:ext cx="3048000" cy="1477"/>
          </a:xfrm>
          <a:prstGeom prst="line">
            <a:avLst/>
          </a:prstGeom>
          <a:noFill/>
          <a:ln w="889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ectangle 25"/>
          <p:cNvSpPr/>
          <p:nvPr/>
        </p:nvSpPr>
        <p:spPr bwMode="auto">
          <a:xfrm>
            <a:off x="20574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28956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37338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45720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764" y="2348591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43400"/>
            <a:ext cx="1280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Memory</a:t>
            </a:r>
          </a:p>
        </p:txBody>
      </p: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5635242" y="4147318"/>
            <a:ext cx="3199956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Larger, slower, cheaper memory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</a:t>
            </a:r>
            <a:r>
              <a:rPr lang="en-GB" sz="1600" b="1" dirty="0">
                <a:latin typeface="Calibri" pitchFamily="34" charset="0"/>
              </a:rPr>
              <a:t>iewed as partitioned into “blocks”</a:t>
            </a: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3942800" y="3232918"/>
            <a:ext cx="2839000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Data is copied in block-sized transfer units</a:t>
            </a: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5562600" y="2166311"/>
            <a:ext cx="2930908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Smaller, faster, more expensive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memory caches a  subset of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the blocks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2057400" y="480060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2590800" y="342900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2057400" y="2424791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5589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8" grpId="1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Up-Down Arrow 42"/>
          <p:cNvSpPr/>
          <p:nvPr/>
        </p:nvSpPr>
        <p:spPr bwMode="auto">
          <a:xfrm>
            <a:off x="3352800" y="1295400"/>
            <a:ext cx="685800" cy="990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35" name="Up-Down Arrow 34"/>
          <p:cNvSpPr/>
          <p:nvPr/>
        </p:nvSpPr>
        <p:spPr bwMode="auto">
          <a:xfrm>
            <a:off x="3352800" y="2895600"/>
            <a:ext cx="685800" cy="1371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Cache Concepts: Hit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905000" y="4267200"/>
            <a:ext cx="3581400" cy="205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905000" y="2272391"/>
            <a:ext cx="3581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0574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8956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37338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5720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0574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28956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37338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45720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20574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28956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37338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45720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11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0574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8956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37338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45720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15</a:t>
            </a:r>
          </a:p>
        </p:txBody>
      </p:sp>
      <p:cxnSp>
        <p:nvCxnSpPr>
          <p:cNvPr id="22" name="Straight Connector 21"/>
          <p:cNvCxnSpPr/>
          <p:nvPr/>
        </p:nvCxnSpPr>
        <p:spPr bwMode="auto">
          <a:xfrm>
            <a:off x="2286000" y="6096000"/>
            <a:ext cx="3048000" cy="1477"/>
          </a:xfrm>
          <a:prstGeom prst="line">
            <a:avLst/>
          </a:prstGeom>
          <a:noFill/>
          <a:ln w="889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ectangle 25"/>
          <p:cNvSpPr/>
          <p:nvPr/>
        </p:nvSpPr>
        <p:spPr bwMode="auto">
          <a:xfrm>
            <a:off x="20574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28956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37338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45720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764" y="2348591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43400"/>
            <a:ext cx="1280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Memory</a:t>
            </a:r>
          </a:p>
        </p:txBody>
      </p:sp>
      <p:sp>
        <p:nvSpPr>
          <p:cNvPr id="44" name="Text Box 29"/>
          <p:cNvSpPr txBox="1">
            <a:spLocks noChangeArrowheads="1"/>
          </p:cNvSpPr>
          <p:nvPr/>
        </p:nvSpPr>
        <p:spPr bwMode="auto">
          <a:xfrm>
            <a:off x="5919759" y="1580883"/>
            <a:ext cx="2826906" cy="39613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Data in block b is needed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97173" y="1619517"/>
            <a:ext cx="11844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Request: 14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3733800" y="2425522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48" name="Text Box 29"/>
          <p:cNvSpPr txBox="1">
            <a:spLocks noChangeArrowheads="1"/>
          </p:cNvSpPr>
          <p:nvPr/>
        </p:nvSpPr>
        <p:spPr bwMode="auto">
          <a:xfrm>
            <a:off x="5936094" y="2209800"/>
            <a:ext cx="2154670" cy="6977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Block b is in cache: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i="1" dirty="0">
                <a:solidFill>
                  <a:srgbClr val="C00000"/>
                </a:solidFill>
                <a:latin typeface="Calibri" pitchFamily="34" charset="0"/>
              </a:rPr>
              <a:t>Hit!</a:t>
            </a:r>
            <a:endParaRPr lang="en-GB" sz="2000" b="1" i="1" dirty="0">
              <a:solidFill>
                <a:srgbClr val="C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89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7" grpId="0" animBg="1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Up-Down Arrow 42"/>
          <p:cNvSpPr/>
          <p:nvPr/>
        </p:nvSpPr>
        <p:spPr bwMode="auto">
          <a:xfrm>
            <a:off x="3352800" y="1295400"/>
            <a:ext cx="685800" cy="990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35" name="Up-Down Arrow 34"/>
          <p:cNvSpPr/>
          <p:nvPr/>
        </p:nvSpPr>
        <p:spPr bwMode="auto">
          <a:xfrm>
            <a:off x="3352800" y="2895600"/>
            <a:ext cx="685800" cy="1371600"/>
          </a:xfrm>
          <a:prstGeom prst="upDown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Cache Concepts: Miss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905000" y="4267200"/>
            <a:ext cx="3581400" cy="205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905000" y="2272391"/>
            <a:ext cx="3581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0574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28956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37338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572000" y="4419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0574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28956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37338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4572000" y="4800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20574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28956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37338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4572000" y="5181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11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20574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28956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37338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4572000" y="5562600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15</a:t>
            </a:r>
          </a:p>
        </p:txBody>
      </p:sp>
      <p:cxnSp>
        <p:nvCxnSpPr>
          <p:cNvPr id="22" name="Straight Connector 21"/>
          <p:cNvCxnSpPr/>
          <p:nvPr/>
        </p:nvCxnSpPr>
        <p:spPr bwMode="auto">
          <a:xfrm>
            <a:off x="2286000" y="6096000"/>
            <a:ext cx="3048000" cy="1477"/>
          </a:xfrm>
          <a:prstGeom prst="line">
            <a:avLst/>
          </a:prstGeom>
          <a:noFill/>
          <a:ln w="889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ectangle 25"/>
          <p:cNvSpPr/>
          <p:nvPr/>
        </p:nvSpPr>
        <p:spPr bwMode="auto">
          <a:xfrm>
            <a:off x="20574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28956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37338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14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4572000" y="2424791"/>
            <a:ext cx="7620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764" y="2348591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43400"/>
            <a:ext cx="1280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Memory</a:t>
            </a:r>
          </a:p>
        </p:txBody>
      </p:sp>
      <p:sp>
        <p:nvSpPr>
          <p:cNvPr id="44" name="Text Box 29"/>
          <p:cNvSpPr txBox="1">
            <a:spLocks noChangeArrowheads="1"/>
          </p:cNvSpPr>
          <p:nvPr/>
        </p:nvSpPr>
        <p:spPr bwMode="auto">
          <a:xfrm>
            <a:off x="5919759" y="1580883"/>
            <a:ext cx="2826906" cy="39613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Data in block b is needed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97173" y="1619517"/>
            <a:ext cx="11844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Request: 12</a:t>
            </a:r>
          </a:p>
        </p:txBody>
      </p:sp>
      <p:sp>
        <p:nvSpPr>
          <p:cNvPr id="48" name="Text Box 29"/>
          <p:cNvSpPr txBox="1">
            <a:spLocks noChangeArrowheads="1"/>
          </p:cNvSpPr>
          <p:nvPr/>
        </p:nvSpPr>
        <p:spPr bwMode="auto">
          <a:xfrm>
            <a:off x="5936094" y="2209800"/>
            <a:ext cx="2569847" cy="6977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Block b is not in cache: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solidFill>
                  <a:srgbClr val="C00000"/>
                </a:solidFill>
                <a:latin typeface="Calibri" pitchFamily="34" charset="0"/>
              </a:rPr>
              <a:t>Miss!</a:t>
            </a: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5943600" y="3200400"/>
            <a:ext cx="2585173" cy="6977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Block b is fetched from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i="1" dirty="0">
                <a:latin typeface="Calibri" pitchFamily="34" charset="0"/>
              </a:rPr>
              <a:t>memory</a:t>
            </a:r>
            <a:endParaRPr lang="en-GB" sz="2000" b="1" i="1" dirty="0">
              <a:latin typeface="Calibri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997172" y="3395246"/>
            <a:ext cx="11844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Request: 12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2057400" y="556260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2590800" y="342900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39" name="Rectangle 38"/>
          <p:cNvSpPr/>
          <p:nvPr/>
        </p:nvSpPr>
        <p:spPr bwMode="auto">
          <a:xfrm>
            <a:off x="2057400" y="2426970"/>
            <a:ext cx="762000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12</a:t>
            </a:r>
          </a:p>
        </p:txBody>
      </p:sp>
      <p:sp>
        <p:nvSpPr>
          <p:cNvPr id="42" name="Text Box 29"/>
          <p:cNvSpPr txBox="1">
            <a:spLocks noChangeArrowheads="1"/>
          </p:cNvSpPr>
          <p:nvPr/>
        </p:nvSpPr>
        <p:spPr bwMode="auto">
          <a:xfrm>
            <a:off x="5943600" y="4191000"/>
            <a:ext cx="2810939" cy="175355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latin typeface="Calibri" pitchFamily="34" charset="0"/>
              </a:rPr>
              <a:t>Block b is stored in cache</a:t>
            </a:r>
          </a:p>
          <a:p>
            <a:pPr marL="115888" indent="-115888">
              <a:lnSpc>
                <a:spcPct val="98000"/>
              </a:lnSpc>
              <a:buFont typeface="Arial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dirty="0">
                <a:solidFill>
                  <a:srgbClr val="C00000"/>
                </a:solidFill>
                <a:latin typeface="Calibri" pitchFamily="34" charset="0"/>
              </a:rPr>
              <a:t>Placement policy:</a:t>
            </a:r>
            <a:br>
              <a:rPr lang="en-GB" sz="1800" b="0" dirty="0">
                <a:latin typeface="Calibri" pitchFamily="34" charset="0"/>
              </a:rPr>
            </a:br>
            <a:r>
              <a:rPr lang="en-GB" sz="1800" b="0" dirty="0">
                <a:latin typeface="Calibri" pitchFamily="34" charset="0"/>
              </a:rPr>
              <a:t>determines where b goes</a:t>
            </a:r>
          </a:p>
          <a:p>
            <a:pPr marL="115888" indent="-115888">
              <a:lnSpc>
                <a:spcPct val="98000"/>
              </a:lnSpc>
              <a:buFont typeface="Arial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dirty="0">
                <a:solidFill>
                  <a:srgbClr val="C00000"/>
                </a:solidFill>
                <a:latin typeface="Calibri" pitchFamily="34" charset="0"/>
              </a:rPr>
              <a:t>Replacement policy:</a:t>
            </a:r>
            <a:br>
              <a:rPr lang="en-GB" sz="1800" b="0" dirty="0">
                <a:solidFill>
                  <a:srgbClr val="C00000"/>
                </a:solidFill>
                <a:latin typeface="Calibri" pitchFamily="34" charset="0"/>
              </a:rPr>
            </a:br>
            <a:r>
              <a:rPr lang="en-GB" sz="1800" b="0" dirty="0">
                <a:latin typeface="Calibri" pitchFamily="34" charset="0"/>
              </a:rPr>
              <a:t>determines which block</a:t>
            </a:r>
            <a:br>
              <a:rPr lang="en-GB" sz="1800" b="0" dirty="0">
                <a:latin typeface="Calibri" pitchFamily="34" charset="0"/>
              </a:rPr>
            </a:br>
            <a:r>
              <a:rPr lang="en-GB" sz="1800" b="0" dirty="0">
                <a:latin typeface="Calibri" pitchFamily="34" charset="0"/>
              </a:rPr>
              <a:t>gets evicted (victim)</a:t>
            </a:r>
          </a:p>
        </p:txBody>
      </p:sp>
    </p:spTree>
    <p:extLst>
      <p:ext uri="{BB962C8B-B14F-4D97-AF65-F5344CB8AC3E}">
        <p14:creationId xmlns:p14="http://schemas.microsoft.com/office/powerpoint/2010/main" val="239396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8" grpId="0"/>
      <p:bldP spid="34" grpId="0"/>
      <p:bldP spid="36" grpId="0"/>
      <p:bldP spid="37" grpId="0" animBg="1"/>
      <p:bldP spid="38" grpId="0" animBg="1"/>
      <p:bldP spid="38" grpId="1" animBg="1"/>
      <p:bldP spid="39" grpId="0" animBg="1"/>
      <p:bldP spid="42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Recall: General Caching Concepts: </a:t>
            </a:r>
            <a:br>
              <a:rPr lang="en-US" dirty="0"/>
            </a:br>
            <a:r>
              <a:rPr lang="en-US" dirty="0"/>
              <a:t>3 Types of Cache Misses</a:t>
            </a:r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6875" y="1733550"/>
            <a:ext cx="8518525" cy="497205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Cold (compulsory) miss</a:t>
            </a:r>
          </a:p>
          <a:p>
            <a:pPr lvl="1"/>
            <a:r>
              <a:rPr lang="en-US" dirty="0"/>
              <a:t>Cold misses occur because the cache starts empty and this is the first reference to the block.</a:t>
            </a:r>
          </a:p>
          <a:p>
            <a:r>
              <a:rPr lang="en-US" dirty="0">
                <a:solidFill>
                  <a:srgbClr val="C00000"/>
                </a:solidFill>
              </a:rPr>
              <a:t>Capacity miss</a:t>
            </a:r>
          </a:p>
          <a:p>
            <a:pPr lvl="1"/>
            <a:r>
              <a:rPr lang="en-US" dirty="0"/>
              <a:t>Occurs when the set of active cache blocks (</a:t>
            </a:r>
            <a:r>
              <a:rPr lang="en-US" dirty="0">
                <a:solidFill>
                  <a:srgbClr val="C00000"/>
                </a:solidFill>
              </a:rPr>
              <a:t>working set</a:t>
            </a:r>
            <a:r>
              <a:rPr lang="en-US" dirty="0"/>
              <a:t>) is larger than the cache.</a:t>
            </a:r>
          </a:p>
          <a:p>
            <a:r>
              <a:rPr lang="en-US" dirty="0">
                <a:solidFill>
                  <a:srgbClr val="C00000"/>
                </a:solidFill>
              </a:rPr>
              <a:t>Conflict miss</a:t>
            </a:r>
          </a:p>
          <a:p>
            <a:pPr lvl="1"/>
            <a:r>
              <a:rPr lang="en-US" dirty="0"/>
              <a:t>Most caches limit blocks at level k+1 to a small subset (sometimes a singleton) of the block positions at level k.</a:t>
            </a:r>
          </a:p>
          <a:p>
            <a:pPr lvl="2"/>
            <a:r>
              <a:rPr lang="en-US" dirty="0"/>
              <a:t>E.g. Block </a:t>
            </a:r>
            <a:r>
              <a:rPr lang="en-US" dirty="0" err="1"/>
              <a:t>i</a:t>
            </a:r>
            <a:r>
              <a:rPr lang="en-US" dirty="0"/>
              <a:t> at level k+1 must be placed in block (</a:t>
            </a:r>
            <a:r>
              <a:rPr lang="en-US" dirty="0" err="1"/>
              <a:t>i</a:t>
            </a:r>
            <a:r>
              <a:rPr lang="en-US" dirty="0"/>
              <a:t> mod 4) at level </a:t>
            </a:r>
            <a:r>
              <a:rPr lang="en-US" dirty="0" err="1"/>
              <a:t>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Conflict misses occur when the level </a:t>
            </a:r>
            <a:r>
              <a:rPr lang="en-US" dirty="0" err="1"/>
              <a:t>k</a:t>
            </a:r>
            <a:r>
              <a:rPr lang="en-US" dirty="0"/>
              <a:t> cache is large enough, but multiple data objects all map to the same level </a:t>
            </a:r>
            <a:r>
              <a:rPr lang="en-US" dirty="0" err="1"/>
              <a:t>k</a:t>
            </a:r>
            <a:r>
              <a:rPr lang="en-US" dirty="0"/>
              <a:t> block.</a:t>
            </a:r>
          </a:p>
          <a:p>
            <a:pPr lvl="2"/>
            <a:r>
              <a:rPr lang="en-US" dirty="0"/>
              <a:t>E.g. Referencing blocks 0, 8, 0, 8, 0, 8, ... would miss every time.</a:t>
            </a:r>
          </a:p>
        </p:txBody>
      </p:sp>
    </p:spTree>
    <p:extLst>
      <p:ext uri="{BB962C8B-B14F-4D97-AF65-F5344CB8AC3E}">
        <p14:creationId xmlns:p14="http://schemas.microsoft.com/office/powerpoint/2010/main" val="19450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23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Memories</a:t>
            </a:r>
          </a:p>
        </p:txBody>
      </p:sp>
      <p:sp>
        <p:nvSpPr>
          <p:cNvPr id="187424" name="Rectangle 3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Cache memories </a:t>
            </a:r>
            <a:r>
              <a:rPr lang="en-US" dirty="0"/>
              <a:t>are small, fast SRAM-based memories managed automatically in hardware</a:t>
            </a:r>
          </a:p>
          <a:p>
            <a:pPr lvl="1"/>
            <a:r>
              <a:rPr lang="en-US" dirty="0"/>
              <a:t>Hold frequently accessed blocks of main memory</a:t>
            </a:r>
          </a:p>
          <a:p>
            <a:r>
              <a:rPr lang="en-US"/>
              <a:t>CPU looks </a:t>
            </a:r>
            <a:r>
              <a:rPr lang="en-US" dirty="0"/>
              <a:t>first for data in cache</a:t>
            </a:r>
          </a:p>
          <a:p>
            <a:r>
              <a:rPr lang="en-US" dirty="0"/>
              <a:t>Typical system structure:</a:t>
            </a:r>
          </a:p>
        </p:txBody>
      </p:sp>
      <p:sp>
        <p:nvSpPr>
          <p:cNvPr id="33" name="Rectangle 146"/>
          <p:cNvSpPr>
            <a:spLocks noChangeAspect="1" noChangeArrowheads="1"/>
          </p:cNvSpPr>
          <p:nvPr/>
        </p:nvSpPr>
        <p:spPr bwMode="auto">
          <a:xfrm>
            <a:off x="7258050" y="5653087"/>
            <a:ext cx="819150" cy="8239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/>
              <a:t>Main</a:t>
            </a:r>
          </a:p>
          <a:p>
            <a:pPr algn="ctr"/>
            <a:r>
              <a:rPr lang="en-US" sz="1600"/>
              <a:t>memory</a:t>
            </a:r>
          </a:p>
        </p:txBody>
      </p:sp>
      <p:sp>
        <p:nvSpPr>
          <p:cNvPr id="34" name="AutoShape 201"/>
          <p:cNvSpPr>
            <a:spLocks noChangeAspect="1" noChangeArrowheads="1"/>
          </p:cNvSpPr>
          <p:nvPr/>
        </p:nvSpPr>
        <p:spPr bwMode="auto">
          <a:xfrm>
            <a:off x="5884863" y="5789612"/>
            <a:ext cx="1344612" cy="481013"/>
          </a:xfrm>
          <a:prstGeom prst="leftRightArrow">
            <a:avLst>
              <a:gd name="adj1" fmla="val 50000"/>
              <a:gd name="adj2" fmla="val 55908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35" name="Rectangle 202"/>
          <p:cNvSpPr>
            <a:spLocks noChangeAspect="1" noChangeArrowheads="1"/>
          </p:cNvSpPr>
          <p:nvPr/>
        </p:nvSpPr>
        <p:spPr bwMode="auto">
          <a:xfrm>
            <a:off x="5060950" y="5818187"/>
            <a:ext cx="81915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/>
              <a:t>I/O</a:t>
            </a:r>
          </a:p>
          <a:p>
            <a:pPr algn="ctr"/>
            <a:r>
              <a:rPr lang="en-US" sz="1600"/>
              <a:t>bridge</a:t>
            </a:r>
          </a:p>
        </p:txBody>
      </p:sp>
      <p:sp>
        <p:nvSpPr>
          <p:cNvPr id="36" name="AutoShape 205"/>
          <p:cNvSpPr>
            <a:spLocks noChangeAspect="1" noChangeArrowheads="1"/>
          </p:cNvSpPr>
          <p:nvPr/>
        </p:nvSpPr>
        <p:spPr bwMode="auto">
          <a:xfrm>
            <a:off x="3748088" y="5789612"/>
            <a:ext cx="1309687" cy="481013"/>
          </a:xfrm>
          <a:prstGeom prst="leftRightArrow">
            <a:avLst>
              <a:gd name="adj1" fmla="val 50000"/>
              <a:gd name="adj2" fmla="val 5445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37" name="Rectangle 206"/>
          <p:cNvSpPr>
            <a:spLocks noChangeAspect="1" noChangeArrowheads="1"/>
          </p:cNvSpPr>
          <p:nvPr/>
        </p:nvSpPr>
        <p:spPr bwMode="auto">
          <a:xfrm>
            <a:off x="1349375" y="5818187"/>
            <a:ext cx="23749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/>
              <a:t>Bus interface</a:t>
            </a:r>
          </a:p>
        </p:txBody>
      </p:sp>
      <p:sp>
        <p:nvSpPr>
          <p:cNvPr id="38" name="Rectangle 207"/>
          <p:cNvSpPr>
            <a:spLocks noChangeAspect="1" noChangeArrowheads="1"/>
          </p:cNvSpPr>
          <p:nvPr/>
        </p:nvSpPr>
        <p:spPr bwMode="auto">
          <a:xfrm>
            <a:off x="2862263" y="4622800"/>
            <a:ext cx="615950" cy="138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39" name="Rectangle 208"/>
          <p:cNvSpPr>
            <a:spLocks noChangeAspect="1" noChangeArrowheads="1"/>
          </p:cNvSpPr>
          <p:nvPr/>
        </p:nvSpPr>
        <p:spPr bwMode="auto">
          <a:xfrm>
            <a:off x="2862263" y="4760912"/>
            <a:ext cx="615950" cy="136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0" name="Rectangle 210"/>
          <p:cNvSpPr>
            <a:spLocks noChangeAspect="1" noChangeArrowheads="1"/>
          </p:cNvSpPr>
          <p:nvPr/>
        </p:nvSpPr>
        <p:spPr bwMode="auto">
          <a:xfrm>
            <a:off x="2862263" y="4897437"/>
            <a:ext cx="615950" cy="1381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1" name="Rectangle 211"/>
          <p:cNvSpPr>
            <a:spLocks noChangeAspect="1" noChangeArrowheads="1"/>
          </p:cNvSpPr>
          <p:nvPr/>
        </p:nvSpPr>
        <p:spPr bwMode="auto">
          <a:xfrm>
            <a:off x="2862263" y="5035550"/>
            <a:ext cx="615950" cy="136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2" name="Rectangle 212"/>
          <p:cNvSpPr>
            <a:spLocks noChangeAspect="1" noChangeArrowheads="1"/>
          </p:cNvSpPr>
          <p:nvPr/>
        </p:nvSpPr>
        <p:spPr bwMode="auto">
          <a:xfrm>
            <a:off x="2862263" y="5172075"/>
            <a:ext cx="615950" cy="138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3" name="AutoShape 214"/>
          <p:cNvSpPr>
            <a:spLocks noChangeAspect="1" noChangeArrowheads="1"/>
          </p:cNvSpPr>
          <p:nvPr/>
        </p:nvSpPr>
        <p:spPr bwMode="auto">
          <a:xfrm>
            <a:off x="3559175" y="4622800"/>
            <a:ext cx="400050" cy="3429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4" name="AutoShape 215"/>
          <p:cNvSpPr>
            <a:spLocks noChangeAspect="1" noChangeArrowheads="1"/>
          </p:cNvSpPr>
          <p:nvPr/>
        </p:nvSpPr>
        <p:spPr bwMode="auto">
          <a:xfrm flipH="1">
            <a:off x="3478213" y="4965700"/>
            <a:ext cx="400050" cy="344487"/>
          </a:xfrm>
          <a:prstGeom prst="rightArrow">
            <a:avLst>
              <a:gd name="adj1" fmla="val 50000"/>
              <a:gd name="adj2" fmla="val 2903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5" name="Rectangle 220"/>
          <p:cNvSpPr>
            <a:spLocks noChangeAspect="1" noChangeArrowheads="1"/>
          </p:cNvSpPr>
          <p:nvPr/>
        </p:nvSpPr>
        <p:spPr bwMode="auto">
          <a:xfrm>
            <a:off x="3959225" y="4486275"/>
            <a:ext cx="479425" cy="960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/>
              <a:t>ALU</a:t>
            </a:r>
          </a:p>
        </p:txBody>
      </p:sp>
      <p:sp>
        <p:nvSpPr>
          <p:cNvPr id="46" name="Text Box 221"/>
          <p:cNvSpPr txBox="1">
            <a:spLocks noChangeAspect="1" noChangeArrowheads="1"/>
          </p:cNvSpPr>
          <p:nvPr/>
        </p:nvSpPr>
        <p:spPr bwMode="auto">
          <a:xfrm>
            <a:off x="2613022" y="4316998"/>
            <a:ext cx="11477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Register file</a:t>
            </a:r>
          </a:p>
        </p:txBody>
      </p:sp>
      <p:sp>
        <p:nvSpPr>
          <p:cNvPr id="47" name="AutoShape 222"/>
          <p:cNvSpPr>
            <a:spLocks noChangeAspect="1" noChangeArrowheads="1"/>
          </p:cNvSpPr>
          <p:nvPr/>
        </p:nvSpPr>
        <p:spPr bwMode="auto">
          <a:xfrm>
            <a:off x="2928938" y="5378450"/>
            <a:ext cx="549275" cy="411162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8" name="Rectangle 223"/>
          <p:cNvSpPr>
            <a:spLocks noChangeAspect="1" noChangeArrowheads="1"/>
          </p:cNvSpPr>
          <p:nvPr/>
        </p:nvSpPr>
        <p:spPr bwMode="auto">
          <a:xfrm>
            <a:off x="1196975" y="4279900"/>
            <a:ext cx="3379788" cy="2197100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49" name="Text Box 225"/>
          <p:cNvSpPr txBox="1">
            <a:spLocks noChangeAspect="1" noChangeArrowheads="1"/>
          </p:cNvSpPr>
          <p:nvPr/>
        </p:nvSpPr>
        <p:spPr bwMode="auto">
          <a:xfrm>
            <a:off x="1174448" y="3988385"/>
            <a:ext cx="93246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/>
              <a:t>CPU chip</a:t>
            </a:r>
          </a:p>
        </p:txBody>
      </p:sp>
      <p:sp>
        <p:nvSpPr>
          <p:cNvPr id="50" name="Text Box 229"/>
          <p:cNvSpPr txBox="1">
            <a:spLocks noChangeAspect="1" noChangeArrowheads="1"/>
          </p:cNvSpPr>
          <p:nvPr/>
        </p:nvSpPr>
        <p:spPr bwMode="auto">
          <a:xfrm>
            <a:off x="4656720" y="5155198"/>
            <a:ext cx="112913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System bus</a:t>
            </a:r>
          </a:p>
        </p:txBody>
      </p:sp>
      <p:sp>
        <p:nvSpPr>
          <p:cNvPr id="51" name="Line 230"/>
          <p:cNvSpPr>
            <a:spLocks noChangeAspect="1" noChangeShapeType="1"/>
          </p:cNvSpPr>
          <p:nvPr/>
        </p:nvSpPr>
        <p:spPr bwMode="auto">
          <a:xfrm flipH="1">
            <a:off x="4438650" y="5446712"/>
            <a:ext cx="619125" cy="412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52" name="Text Box 231"/>
          <p:cNvSpPr txBox="1">
            <a:spLocks noChangeAspect="1" noChangeArrowheads="1"/>
          </p:cNvSpPr>
          <p:nvPr/>
        </p:nvSpPr>
        <p:spPr bwMode="auto">
          <a:xfrm>
            <a:off x="5976451" y="5155198"/>
            <a:ext cx="1175722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Memory bus</a:t>
            </a:r>
          </a:p>
        </p:txBody>
      </p:sp>
      <p:sp>
        <p:nvSpPr>
          <p:cNvPr id="53" name="Line 232"/>
          <p:cNvSpPr>
            <a:spLocks noChangeAspect="1" noChangeShapeType="1"/>
          </p:cNvSpPr>
          <p:nvPr/>
        </p:nvSpPr>
        <p:spPr bwMode="auto">
          <a:xfrm>
            <a:off x="6530975" y="5446712"/>
            <a:ext cx="0" cy="412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54" name="Rectangle 233"/>
          <p:cNvSpPr>
            <a:spLocks noChangeAspect="1" noChangeArrowheads="1"/>
          </p:cNvSpPr>
          <p:nvPr/>
        </p:nvSpPr>
        <p:spPr bwMode="auto">
          <a:xfrm>
            <a:off x="1349375" y="4719637"/>
            <a:ext cx="1066800" cy="5207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/>
              <a:t>Cache </a:t>
            </a:r>
          </a:p>
          <a:p>
            <a:pPr algn="ctr"/>
            <a:r>
              <a:rPr lang="en-US" sz="1600" dirty="0"/>
              <a:t>memory</a:t>
            </a:r>
          </a:p>
        </p:txBody>
      </p:sp>
      <p:sp>
        <p:nvSpPr>
          <p:cNvPr id="55" name="AutoShape 234"/>
          <p:cNvSpPr>
            <a:spLocks noChangeAspect="1" noChangeArrowheads="1"/>
          </p:cNvSpPr>
          <p:nvPr/>
        </p:nvSpPr>
        <p:spPr bwMode="auto">
          <a:xfrm>
            <a:off x="1577975" y="5240337"/>
            <a:ext cx="549275" cy="549275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  <p:sp>
        <p:nvSpPr>
          <p:cNvPr id="56" name="AutoShape 236"/>
          <p:cNvSpPr>
            <a:spLocks noChangeAspect="1" noChangeArrowheads="1"/>
          </p:cNvSpPr>
          <p:nvPr/>
        </p:nvSpPr>
        <p:spPr bwMode="auto">
          <a:xfrm flipH="1">
            <a:off x="2441575" y="4767262"/>
            <a:ext cx="400050" cy="344488"/>
          </a:xfrm>
          <a:prstGeom prst="leftRightArrow">
            <a:avLst>
              <a:gd name="adj1" fmla="val 50000"/>
              <a:gd name="adj2" fmla="val 23226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Direct Mapped Cache (E = 1)</a:t>
            </a:r>
          </a:p>
        </p:txBody>
      </p:sp>
      <p:sp>
        <p:nvSpPr>
          <p:cNvPr id="54" name="AutoShape 16"/>
          <p:cNvSpPr>
            <a:spLocks/>
          </p:cNvSpPr>
          <p:nvPr/>
        </p:nvSpPr>
        <p:spPr bwMode="auto">
          <a:xfrm>
            <a:off x="1172867" y="2448735"/>
            <a:ext cx="228600" cy="2961465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alibri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200" y="3625405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 = 2</a:t>
            </a:r>
            <a:r>
              <a:rPr lang="en-US" sz="1800" baseline="30000" dirty="0">
                <a:latin typeface="Calibri" pitchFamily="34" charset="0"/>
              </a:rPr>
              <a:t>s</a:t>
            </a:r>
            <a:r>
              <a:rPr lang="en-US" sz="1800" dirty="0">
                <a:latin typeface="Calibri" pitchFamily="34" charset="0"/>
              </a:rPr>
              <a:t> sets</a:t>
            </a:r>
          </a:p>
        </p:txBody>
      </p:sp>
      <p:cxnSp>
        <p:nvCxnSpPr>
          <p:cNvPr id="125" name="Straight Connector 124"/>
          <p:cNvCxnSpPr/>
          <p:nvPr/>
        </p:nvCxnSpPr>
        <p:spPr bwMode="auto">
          <a:xfrm>
            <a:off x="1905001" y="4640062"/>
            <a:ext cx="3124199" cy="8138"/>
          </a:xfrm>
          <a:prstGeom prst="line">
            <a:avLst/>
          </a:prstGeom>
          <a:noFill/>
          <a:ln w="762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27" name="TextBox 126"/>
          <p:cNvSpPr txBox="1"/>
          <p:nvPr/>
        </p:nvSpPr>
        <p:spPr>
          <a:xfrm>
            <a:off x="381000" y="115466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Direct mapped: Each memory block maps to a single cache line</a:t>
            </a:r>
          </a:p>
          <a:p>
            <a:r>
              <a:rPr lang="en-US" sz="1800" dirty="0">
                <a:latin typeface="Calibri" pitchFamily="34" charset="0"/>
              </a:rPr>
              <a:t>Assume: cache block size 8 bytes</a:t>
            </a:r>
          </a:p>
        </p:txBody>
      </p:sp>
      <p:sp>
        <p:nvSpPr>
          <p:cNvPr id="128" name="Rectangle 127"/>
          <p:cNvSpPr/>
          <p:nvPr/>
        </p:nvSpPr>
        <p:spPr bwMode="auto">
          <a:xfrm>
            <a:off x="6261278" y="270216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 bits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251878" y="270216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0…01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8013878" y="2702162"/>
            <a:ext cx="520522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72200" y="2362200"/>
            <a:ext cx="1572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Address of </a:t>
            </a:r>
            <a:r>
              <a:rPr lang="en-US" sz="1800" dirty="0" err="1">
                <a:latin typeface="Calibri" pitchFamily="34" charset="0"/>
              </a:rPr>
              <a:t>int</a:t>
            </a:r>
            <a:r>
              <a:rPr lang="en-US" sz="1800" dirty="0">
                <a:latin typeface="Calibri" pitchFamily="34" charset="0"/>
              </a:rPr>
              <a:t>:</a:t>
            </a:r>
          </a:p>
        </p:txBody>
      </p:sp>
      <p:sp>
        <p:nvSpPr>
          <p:cNvPr id="132" name="Rectangle 131"/>
          <p:cNvSpPr/>
          <p:nvPr/>
        </p:nvSpPr>
        <p:spPr bwMode="auto">
          <a:xfrm>
            <a:off x="1524000" y="38100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latin typeface="Calibri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3022243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34" name="Rectangle 133"/>
          <p:cNvSpPr/>
          <p:nvPr/>
        </p:nvSpPr>
        <p:spPr bwMode="auto">
          <a:xfrm>
            <a:off x="3294848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 bwMode="auto">
          <a:xfrm>
            <a:off x="3555643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36" name="Rectangle 135"/>
          <p:cNvSpPr/>
          <p:nvPr/>
        </p:nvSpPr>
        <p:spPr bwMode="auto">
          <a:xfrm>
            <a:off x="4977688" y="39243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39" name="Rectangle 138"/>
          <p:cNvSpPr/>
          <p:nvPr/>
        </p:nvSpPr>
        <p:spPr bwMode="auto">
          <a:xfrm>
            <a:off x="2119653" y="3924300"/>
            <a:ext cx="717995" cy="30480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40" name="Rectangle 139"/>
          <p:cNvSpPr/>
          <p:nvPr/>
        </p:nvSpPr>
        <p:spPr bwMode="auto">
          <a:xfrm>
            <a:off x="1650643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41" name="Rectangle 140"/>
          <p:cNvSpPr/>
          <p:nvPr/>
        </p:nvSpPr>
        <p:spPr bwMode="auto">
          <a:xfrm>
            <a:off x="3828971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42" name="Rectangle 141"/>
          <p:cNvSpPr/>
          <p:nvPr/>
        </p:nvSpPr>
        <p:spPr bwMode="auto">
          <a:xfrm>
            <a:off x="4686488" y="39243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43" name="Rectangle 142"/>
          <p:cNvSpPr/>
          <p:nvPr/>
        </p:nvSpPr>
        <p:spPr bwMode="auto">
          <a:xfrm>
            <a:off x="4394566" y="39243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44" name="Rectangle 143"/>
          <p:cNvSpPr/>
          <p:nvPr/>
        </p:nvSpPr>
        <p:spPr bwMode="auto">
          <a:xfrm>
            <a:off x="4102644" y="39243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147" name="Rectangle 146"/>
          <p:cNvSpPr/>
          <p:nvPr/>
        </p:nvSpPr>
        <p:spPr bwMode="auto">
          <a:xfrm>
            <a:off x="1524000" y="31242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latin typeface="Calibri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30222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49" name="Rectangle 148"/>
          <p:cNvSpPr/>
          <p:nvPr/>
        </p:nvSpPr>
        <p:spPr bwMode="auto">
          <a:xfrm>
            <a:off x="3294848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50" name="Rectangle 149"/>
          <p:cNvSpPr/>
          <p:nvPr/>
        </p:nvSpPr>
        <p:spPr bwMode="auto">
          <a:xfrm>
            <a:off x="3555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 bwMode="auto">
          <a:xfrm>
            <a:off x="4977688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52" name="Rectangle 151"/>
          <p:cNvSpPr/>
          <p:nvPr/>
        </p:nvSpPr>
        <p:spPr bwMode="auto">
          <a:xfrm>
            <a:off x="2119653" y="3238500"/>
            <a:ext cx="717995" cy="30480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53" name="Rectangle 152"/>
          <p:cNvSpPr/>
          <p:nvPr/>
        </p:nvSpPr>
        <p:spPr bwMode="auto">
          <a:xfrm>
            <a:off x="1650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54" name="Rectangle 153"/>
          <p:cNvSpPr/>
          <p:nvPr/>
        </p:nvSpPr>
        <p:spPr bwMode="auto">
          <a:xfrm>
            <a:off x="3828971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55" name="Rectangle 154"/>
          <p:cNvSpPr/>
          <p:nvPr/>
        </p:nvSpPr>
        <p:spPr bwMode="auto">
          <a:xfrm>
            <a:off x="4686488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56" name="Rectangle 155"/>
          <p:cNvSpPr/>
          <p:nvPr/>
        </p:nvSpPr>
        <p:spPr bwMode="auto">
          <a:xfrm>
            <a:off x="4394566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57" name="Rectangle 156"/>
          <p:cNvSpPr/>
          <p:nvPr/>
        </p:nvSpPr>
        <p:spPr bwMode="auto">
          <a:xfrm>
            <a:off x="4102644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159" name="Rectangle 158"/>
          <p:cNvSpPr/>
          <p:nvPr/>
        </p:nvSpPr>
        <p:spPr bwMode="auto">
          <a:xfrm>
            <a:off x="1524000" y="24384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latin typeface="Calibri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3022243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61" name="Rectangle 160"/>
          <p:cNvSpPr/>
          <p:nvPr/>
        </p:nvSpPr>
        <p:spPr bwMode="auto">
          <a:xfrm>
            <a:off x="3294848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62" name="Rectangle 161"/>
          <p:cNvSpPr/>
          <p:nvPr/>
        </p:nvSpPr>
        <p:spPr bwMode="auto">
          <a:xfrm>
            <a:off x="3555643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63" name="Rectangle 162"/>
          <p:cNvSpPr/>
          <p:nvPr/>
        </p:nvSpPr>
        <p:spPr bwMode="auto">
          <a:xfrm>
            <a:off x="4977688" y="25527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64" name="Rectangle 163"/>
          <p:cNvSpPr/>
          <p:nvPr/>
        </p:nvSpPr>
        <p:spPr bwMode="auto">
          <a:xfrm>
            <a:off x="2119653" y="2552700"/>
            <a:ext cx="717995" cy="30480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65" name="Rectangle 164"/>
          <p:cNvSpPr/>
          <p:nvPr/>
        </p:nvSpPr>
        <p:spPr bwMode="auto">
          <a:xfrm>
            <a:off x="1650643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66" name="Rectangle 165"/>
          <p:cNvSpPr/>
          <p:nvPr/>
        </p:nvSpPr>
        <p:spPr bwMode="auto">
          <a:xfrm>
            <a:off x="3828971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67" name="Rectangle 166"/>
          <p:cNvSpPr/>
          <p:nvPr/>
        </p:nvSpPr>
        <p:spPr bwMode="auto">
          <a:xfrm>
            <a:off x="4686488" y="25527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68" name="Rectangle 167"/>
          <p:cNvSpPr/>
          <p:nvPr/>
        </p:nvSpPr>
        <p:spPr bwMode="auto">
          <a:xfrm>
            <a:off x="4394566" y="25527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69" name="Rectangle 168"/>
          <p:cNvSpPr/>
          <p:nvPr/>
        </p:nvSpPr>
        <p:spPr bwMode="auto">
          <a:xfrm>
            <a:off x="4102644" y="25527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171" name="Rectangle 170"/>
          <p:cNvSpPr/>
          <p:nvPr/>
        </p:nvSpPr>
        <p:spPr bwMode="auto">
          <a:xfrm>
            <a:off x="1524000" y="48768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latin typeface="Calibri" pitchFamily="34" charset="0"/>
            </a:endParaRPr>
          </a:p>
        </p:txBody>
      </p:sp>
      <p:sp>
        <p:nvSpPr>
          <p:cNvPr id="172" name="Rectangle 171"/>
          <p:cNvSpPr/>
          <p:nvPr/>
        </p:nvSpPr>
        <p:spPr bwMode="auto">
          <a:xfrm>
            <a:off x="3022243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73" name="Rectangle 172"/>
          <p:cNvSpPr/>
          <p:nvPr/>
        </p:nvSpPr>
        <p:spPr bwMode="auto">
          <a:xfrm>
            <a:off x="3294848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74" name="Rectangle 173"/>
          <p:cNvSpPr/>
          <p:nvPr/>
        </p:nvSpPr>
        <p:spPr bwMode="auto">
          <a:xfrm>
            <a:off x="3555643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75" name="Rectangle 174"/>
          <p:cNvSpPr/>
          <p:nvPr/>
        </p:nvSpPr>
        <p:spPr bwMode="auto">
          <a:xfrm>
            <a:off x="4977688" y="49911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76" name="Rectangle 175"/>
          <p:cNvSpPr/>
          <p:nvPr/>
        </p:nvSpPr>
        <p:spPr bwMode="auto">
          <a:xfrm>
            <a:off x="2119653" y="4991100"/>
            <a:ext cx="717995" cy="30480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77" name="Rectangle 176"/>
          <p:cNvSpPr/>
          <p:nvPr/>
        </p:nvSpPr>
        <p:spPr bwMode="auto">
          <a:xfrm>
            <a:off x="1650643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78" name="Rectangle 177"/>
          <p:cNvSpPr/>
          <p:nvPr/>
        </p:nvSpPr>
        <p:spPr bwMode="auto">
          <a:xfrm>
            <a:off x="3828971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79" name="Rectangle 178"/>
          <p:cNvSpPr/>
          <p:nvPr/>
        </p:nvSpPr>
        <p:spPr bwMode="auto">
          <a:xfrm>
            <a:off x="4686488" y="49911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80" name="Rectangle 179"/>
          <p:cNvSpPr/>
          <p:nvPr/>
        </p:nvSpPr>
        <p:spPr bwMode="auto">
          <a:xfrm>
            <a:off x="4394566" y="49911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81" name="Rectangle 180"/>
          <p:cNvSpPr/>
          <p:nvPr/>
        </p:nvSpPr>
        <p:spPr bwMode="auto">
          <a:xfrm>
            <a:off x="4102644" y="49911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cxnSp>
        <p:nvCxnSpPr>
          <p:cNvPr id="183" name="Shape 182"/>
          <p:cNvCxnSpPr>
            <a:stCxn id="129" idx="2"/>
          </p:cNvCxnSpPr>
          <p:nvPr/>
        </p:nvCxnSpPr>
        <p:spPr bwMode="auto">
          <a:xfrm rot="5400000">
            <a:off x="6293638" y="2051660"/>
            <a:ext cx="417890" cy="2260590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6875252" y="3344174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find 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Direct Mapped Cache (E = 1)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1000" y="1154668"/>
            <a:ext cx="6119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Direct mapped: Each memory block maps to a single cache line</a:t>
            </a:r>
          </a:p>
          <a:p>
            <a:r>
              <a:rPr lang="en-US" sz="1800" dirty="0">
                <a:latin typeface="Calibri" pitchFamily="34" charset="0"/>
              </a:rPr>
              <a:t>Assume: cache block size 8 bytes</a:t>
            </a:r>
          </a:p>
        </p:txBody>
      </p:sp>
      <p:sp>
        <p:nvSpPr>
          <p:cNvPr id="128" name="Rectangle 127"/>
          <p:cNvSpPr/>
          <p:nvPr/>
        </p:nvSpPr>
        <p:spPr bwMode="auto">
          <a:xfrm>
            <a:off x="6261278" y="270216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 bits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251878" y="270216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0…01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8013878" y="2702162"/>
            <a:ext cx="520522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72200" y="2362200"/>
            <a:ext cx="1572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Address of </a:t>
            </a:r>
            <a:r>
              <a:rPr lang="en-US" sz="1800" dirty="0" err="1">
                <a:latin typeface="Calibri" pitchFamily="34" charset="0"/>
              </a:rPr>
              <a:t>int</a:t>
            </a:r>
            <a:r>
              <a:rPr lang="en-US" sz="1800" dirty="0">
                <a:latin typeface="Calibri" pitchFamily="34" charset="0"/>
              </a:rPr>
              <a:t>:</a:t>
            </a:r>
          </a:p>
        </p:txBody>
      </p:sp>
      <p:sp>
        <p:nvSpPr>
          <p:cNvPr id="147" name="Rectangle 146"/>
          <p:cNvSpPr/>
          <p:nvPr/>
        </p:nvSpPr>
        <p:spPr bwMode="auto">
          <a:xfrm>
            <a:off x="1524000" y="31242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latin typeface="Calibri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30222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49" name="Rectangle 148"/>
          <p:cNvSpPr/>
          <p:nvPr/>
        </p:nvSpPr>
        <p:spPr bwMode="auto">
          <a:xfrm>
            <a:off x="3294848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50" name="Rectangle 149"/>
          <p:cNvSpPr/>
          <p:nvPr/>
        </p:nvSpPr>
        <p:spPr bwMode="auto">
          <a:xfrm>
            <a:off x="3555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 bwMode="auto">
          <a:xfrm>
            <a:off x="4977688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52" name="Rectangle 151"/>
          <p:cNvSpPr/>
          <p:nvPr/>
        </p:nvSpPr>
        <p:spPr bwMode="auto">
          <a:xfrm>
            <a:off x="2119653" y="3238500"/>
            <a:ext cx="71799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53" name="Rectangle 152"/>
          <p:cNvSpPr/>
          <p:nvPr/>
        </p:nvSpPr>
        <p:spPr bwMode="auto">
          <a:xfrm>
            <a:off x="1650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54" name="Rectangle 153"/>
          <p:cNvSpPr/>
          <p:nvPr/>
        </p:nvSpPr>
        <p:spPr bwMode="auto">
          <a:xfrm>
            <a:off x="3828971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55" name="Rectangle 154"/>
          <p:cNvSpPr/>
          <p:nvPr/>
        </p:nvSpPr>
        <p:spPr bwMode="auto">
          <a:xfrm>
            <a:off x="4686488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56" name="Rectangle 155"/>
          <p:cNvSpPr/>
          <p:nvPr/>
        </p:nvSpPr>
        <p:spPr bwMode="auto">
          <a:xfrm>
            <a:off x="4394566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57" name="Rectangle 156"/>
          <p:cNvSpPr/>
          <p:nvPr/>
        </p:nvSpPr>
        <p:spPr bwMode="auto">
          <a:xfrm>
            <a:off x="4102644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cxnSp>
        <p:nvCxnSpPr>
          <p:cNvPr id="183" name="Shape 182"/>
          <p:cNvCxnSpPr>
            <a:stCxn id="129" idx="2"/>
          </p:cNvCxnSpPr>
          <p:nvPr/>
        </p:nvCxnSpPr>
        <p:spPr bwMode="auto">
          <a:xfrm rot="5400000">
            <a:off x="6293638" y="2051660"/>
            <a:ext cx="417890" cy="2260590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hape 60"/>
          <p:cNvCxnSpPr>
            <a:stCxn id="128" idx="1"/>
          </p:cNvCxnSpPr>
          <p:nvPr/>
        </p:nvCxnSpPr>
        <p:spPr bwMode="auto">
          <a:xfrm rot="10800000" flipV="1">
            <a:off x="2478652" y="2837586"/>
            <a:ext cx="3782627" cy="400914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2368639" y="2514600"/>
            <a:ext cx="246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match: assume yes = hit</a:t>
            </a:r>
          </a:p>
        </p:txBody>
      </p:sp>
      <p:cxnSp>
        <p:nvCxnSpPr>
          <p:cNvPr id="68" name="Straight Connector 67"/>
          <p:cNvCxnSpPr/>
          <p:nvPr/>
        </p:nvCxnSpPr>
        <p:spPr bwMode="auto">
          <a:xfrm rot="5400000">
            <a:off x="1582476" y="3038043"/>
            <a:ext cx="400914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1402727" y="2514600"/>
            <a:ext cx="1021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valid?   +</a:t>
            </a:r>
          </a:p>
        </p:txBody>
      </p:sp>
      <p:cxnSp>
        <p:nvCxnSpPr>
          <p:cNvPr id="71" name="Elbow Connector 70"/>
          <p:cNvCxnSpPr>
            <a:stCxn id="130" idx="2"/>
          </p:cNvCxnSpPr>
          <p:nvPr/>
        </p:nvCxnSpPr>
        <p:spPr bwMode="auto">
          <a:xfrm rot="5400000">
            <a:off x="5976408" y="1245569"/>
            <a:ext cx="570290" cy="4025173"/>
          </a:xfrm>
          <a:prstGeom prst="bentConnector3">
            <a:avLst>
              <a:gd name="adj1" fmla="val 175089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715000" y="3962400"/>
            <a:ext cx="1301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block offset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2124974" y="3242096"/>
            <a:ext cx="717995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9" grpId="0"/>
      <p:bldP spid="26" grpId="0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Direct Mapped Cache (E = 1)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1000" y="1154668"/>
            <a:ext cx="763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Direct mapped: Each memory block maps to a single cache line</a:t>
            </a:r>
          </a:p>
          <a:p>
            <a:r>
              <a:rPr lang="en-US" sz="1800" dirty="0">
                <a:latin typeface="Calibri" pitchFamily="34" charset="0"/>
              </a:rPr>
              <a:t>Assume: cache block size 8 bytes</a:t>
            </a:r>
          </a:p>
        </p:txBody>
      </p:sp>
      <p:sp>
        <p:nvSpPr>
          <p:cNvPr id="128" name="Rectangle 127"/>
          <p:cNvSpPr/>
          <p:nvPr/>
        </p:nvSpPr>
        <p:spPr bwMode="auto">
          <a:xfrm>
            <a:off x="6261278" y="270216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 bits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251878" y="270216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0…01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8013878" y="2702162"/>
            <a:ext cx="520522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72200" y="2362200"/>
            <a:ext cx="1572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Address of </a:t>
            </a:r>
            <a:r>
              <a:rPr lang="en-US" sz="1800" dirty="0" err="1">
                <a:latin typeface="Calibri" pitchFamily="34" charset="0"/>
              </a:rPr>
              <a:t>int</a:t>
            </a:r>
            <a:r>
              <a:rPr lang="en-US" sz="1800" dirty="0">
                <a:latin typeface="Calibri" pitchFamily="34" charset="0"/>
              </a:rPr>
              <a:t>:</a:t>
            </a:r>
          </a:p>
        </p:txBody>
      </p:sp>
      <p:sp>
        <p:nvSpPr>
          <p:cNvPr id="147" name="Rectangle 146"/>
          <p:cNvSpPr/>
          <p:nvPr/>
        </p:nvSpPr>
        <p:spPr bwMode="auto">
          <a:xfrm>
            <a:off x="1524000" y="31242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30222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49" name="Rectangle 148"/>
          <p:cNvSpPr/>
          <p:nvPr/>
        </p:nvSpPr>
        <p:spPr bwMode="auto">
          <a:xfrm>
            <a:off x="3294848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50" name="Rectangle 149"/>
          <p:cNvSpPr/>
          <p:nvPr/>
        </p:nvSpPr>
        <p:spPr bwMode="auto">
          <a:xfrm>
            <a:off x="3555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 bwMode="auto">
          <a:xfrm>
            <a:off x="4977688" y="3238500"/>
            <a:ext cx="292644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52" name="Rectangle 151"/>
          <p:cNvSpPr/>
          <p:nvPr/>
        </p:nvSpPr>
        <p:spPr bwMode="auto">
          <a:xfrm>
            <a:off x="2119653" y="3238500"/>
            <a:ext cx="717995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53" name="Rectangle 152"/>
          <p:cNvSpPr/>
          <p:nvPr/>
        </p:nvSpPr>
        <p:spPr bwMode="auto">
          <a:xfrm>
            <a:off x="1650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54" name="Rectangle 153"/>
          <p:cNvSpPr/>
          <p:nvPr/>
        </p:nvSpPr>
        <p:spPr bwMode="auto">
          <a:xfrm>
            <a:off x="3828971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55" name="Rectangle 154"/>
          <p:cNvSpPr/>
          <p:nvPr/>
        </p:nvSpPr>
        <p:spPr bwMode="auto">
          <a:xfrm>
            <a:off x="4686488" y="3238500"/>
            <a:ext cx="292644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56" name="Rectangle 155"/>
          <p:cNvSpPr/>
          <p:nvPr/>
        </p:nvSpPr>
        <p:spPr bwMode="auto">
          <a:xfrm>
            <a:off x="4394566" y="3238500"/>
            <a:ext cx="292644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57" name="Rectangle 156"/>
          <p:cNvSpPr/>
          <p:nvPr/>
        </p:nvSpPr>
        <p:spPr bwMode="auto">
          <a:xfrm>
            <a:off x="4102644" y="3238500"/>
            <a:ext cx="292644" cy="30480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cxnSp>
        <p:nvCxnSpPr>
          <p:cNvPr id="183" name="Shape 182"/>
          <p:cNvCxnSpPr>
            <a:stCxn id="129" idx="2"/>
          </p:cNvCxnSpPr>
          <p:nvPr/>
        </p:nvCxnSpPr>
        <p:spPr bwMode="auto">
          <a:xfrm rot="5400000">
            <a:off x="6293638" y="2051660"/>
            <a:ext cx="417890" cy="2260590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hape 60"/>
          <p:cNvCxnSpPr>
            <a:stCxn id="128" idx="1"/>
          </p:cNvCxnSpPr>
          <p:nvPr/>
        </p:nvCxnSpPr>
        <p:spPr bwMode="auto">
          <a:xfrm rot="10800000" flipV="1">
            <a:off x="2478652" y="2837586"/>
            <a:ext cx="3782627" cy="400914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2368639" y="2514600"/>
            <a:ext cx="246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match: assume yes = hit</a:t>
            </a:r>
          </a:p>
        </p:txBody>
      </p:sp>
      <p:cxnSp>
        <p:nvCxnSpPr>
          <p:cNvPr id="68" name="Straight Connector 67"/>
          <p:cNvCxnSpPr/>
          <p:nvPr/>
        </p:nvCxnSpPr>
        <p:spPr bwMode="auto">
          <a:xfrm rot="5400000">
            <a:off x="1582476" y="3038043"/>
            <a:ext cx="400914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1402727" y="2514600"/>
            <a:ext cx="1021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valid?   +</a:t>
            </a:r>
          </a:p>
        </p:txBody>
      </p:sp>
      <p:cxnSp>
        <p:nvCxnSpPr>
          <p:cNvPr id="71" name="Elbow Connector 70"/>
          <p:cNvCxnSpPr>
            <a:stCxn id="130" idx="2"/>
          </p:cNvCxnSpPr>
          <p:nvPr/>
        </p:nvCxnSpPr>
        <p:spPr bwMode="auto">
          <a:xfrm rot="5400000">
            <a:off x="5976408" y="1245569"/>
            <a:ext cx="570290" cy="4025173"/>
          </a:xfrm>
          <a:prstGeom prst="bentConnector3">
            <a:avLst>
              <a:gd name="adj1" fmla="val 175089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Down Arrow 25"/>
          <p:cNvSpPr/>
          <p:nvPr/>
        </p:nvSpPr>
        <p:spPr bwMode="auto">
          <a:xfrm flipV="1">
            <a:off x="4330522" y="3581400"/>
            <a:ext cx="733658" cy="1066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40656" y="4659868"/>
            <a:ext cx="2017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int</a:t>
            </a:r>
            <a:r>
              <a:rPr lang="en-US" sz="1800" dirty="0">
                <a:latin typeface="Calibri" pitchFamily="34" charset="0"/>
              </a:rPr>
              <a:t> (4 Bytes) is 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3962400"/>
            <a:ext cx="1301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block offset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6819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If tag doesn’t match: </a:t>
            </a:r>
            <a:r>
              <a:rPr lang="en-US" dirty="0">
                <a:latin typeface="Calibri" pitchFamily="34" charset="0"/>
              </a:rPr>
              <a:t>old line is evicted and replaced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40" name="Rectangle 1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Direct-Mapped Cache Simulation</a:t>
            </a:r>
          </a:p>
        </p:txBody>
      </p:sp>
      <p:sp>
        <p:nvSpPr>
          <p:cNvPr id="149507" name="Rectangle 3"/>
          <p:cNvSpPr>
            <a:spLocks noChangeArrowheads="1"/>
          </p:cNvSpPr>
          <p:nvPr/>
        </p:nvSpPr>
        <p:spPr bwMode="auto">
          <a:xfrm>
            <a:off x="3211513" y="1371600"/>
            <a:ext cx="5856287" cy="31675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4-bit addresses</a:t>
            </a:r>
          </a:p>
          <a:p>
            <a:r>
              <a:rPr lang="en-US" sz="2000" b="0" dirty="0">
                <a:latin typeface="Calibri"/>
                <a:cs typeface="Calibri"/>
              </a:rPr>
              <a:t>S=4 sets, B=2 bytes/block</a:t>
            </a:r>
          </a:p>
          <a:p>
            <a:pPr algn="l">
              <a:lnSpc>
                <a:spcPct val="100000"/>
              </a:lnSpc>
            </a:pPr>
            <a:endParaRPr lang="en-US" sz="2000" b="0" dirty="0">
              <a:latin typeface="Calibri"/>
              <a:cs typeface="Calibri"/>
            </a:endParaRPr>
          </a:p>
          <a:p>
            <a:pPr algn="l">
              <a:lnSpc>
                <a:spcPct val="100000"/>
              </a:lnSpc>
            </a:pPr>
            <a:endParaRPr lang="en-US" sz="2000" b="0" dirty="0">
              <a:latin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Address trace (reads, one byte per read):</a:t>
            </a:r>
          </a:p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	</a:t>
            </a:r>
            <a:r>
              <a:rPr lang="en-US" sz="2000" dirty="0">
                <a:latin typeface="Calibri"/>
                <a:cs typeface="Calibri"/>
              </a:rPr>
              <a:t>0	[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r>
              <a:rPr lang="en-US" sz="2000" u="sng" dirty="0">
                <a:solidFill>
                  <a:srgbClr val="0070C0"/>
                </a:solidFill>
                <a:latin typeface="Calibri"/>
                <a:cs typeface="Calibri"/>
              </a:rPr>
              <a:t>00</a:t>
            </a:r>
            <a:r>
              <a:rPr lang="en-US" sz="2000" dirty="0">
                <a:solidFill>
                  <a:srgbClr val="008000"/>
                </a:solidFill>
                <a:latin typeface="Calibri"/>
                <a:cs typeface="Calibri"/>
              </a:rPr>
              <a:t>0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1	[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r>
              <a:rPr lang="en-US" sz="2000" u="sng" dirty="0">
                <a:solidFill>
                  <a:srgbClr val="0070C0"/>
                </a:solidFill>
                <a:latin typeface="Calibri"/>
                <a:cs typeface="Calibri"/>
              </a:rPr>
              <a:t>00</a:t>
            </a:r>
            <a:r>
              <a:rPr lang="en-US" sz="2000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7	[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r>
              <a:rPr lang="en-US" sz="2000" u="sng" dirty="0">
                <a:solidFill>
                  <a:srgbClr val="0070C0"/>
                </a:solidFill>
                <a:latin typeface="Calibri"/>
                <a:cs typeface="Calibri"/>
              </a:rPr>
              <a:t>11</a:t>
            </a:r>
            <a:r>
              <a:rPr lang="en-US" sz="2000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8	[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lang="en-US" sz="2000" u="sng" dirty="0">
                <a:solidFill>
                  <a:srgbClr val="0070C0"/>
                </a:solidFill>
                <a:latin typeface="Calibri"/>
                <a:cs typeface="Calibri"/>
              </a:rPr>
              <a:t>00</a:t>
            </a:r>
            <a:r>
              <a:rPr lang="en-US" sz="2000" dirty="0">
                <a:solidFill>
                  <a:srgbClr val="008000"/>
                </a:solidFill>
                <a:latin typeface="Calibri"/>
                <a:cs typeface="Calibri"/>
              </a:rPr>
              <a:t>0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0	[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r>
              <a:rPr lang="en-US" sz="2000" u="sng" dirty="0">
                <a:solidFill>
                  <a:srgbClr val="0070C0"/>
                </a:solidFill>
                <a:latin typeface="Calibri"/>
                <a:cs typeface="Calibri"/>
              </a:rPr>
              <a:t>00</a:t>
            </a:r>
            <a:r>
              <a:rPr lang="en-US" sz="2000" dirty="0">
                <a:solidFill>
                  <a:srgbClr val="008000"/>
                </a:solidFill>
                <a:latin typeface="Calibri"/>
                <a:cs typeface="Calibri"/>
              </a:rPr>
              <a:t>0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</a:t>
            </a: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465138" y="1633736"/>
            <a:ext cx="703262" cy="285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solidFill>
                  <a:srgbClr val="C00000"/>
                </a:solidFill>
                <a:latin typeface="Calibri"/>
                <a:cs typeface="Calibri"/>
              </a:rPr>
              <a:t>x</a:t>
            </a:r>
            <a:endParaRPr lang="en-US" sz="2000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584200" y="1295400"/>
            <a:ext cx="52899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 err="1">
                <a:latin typeface="Calibri"/>
                <a:cs typeface="Calibri"/>
              </a:rPr>
              <a:t>t</a:t>
            </a:r>
            <a:r>
              <a:rPr lang="en-US" sz="2000" b="0" dirty="0">
                <a:latin typeface="Calibri"/>
                <a:cs typeface="Calibri"/>
              </a:rPr>
              <a:t>=1</a:t>
            </a:r>
          </a:p>
        </p:txBody>
      </p:sp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1212850" y="1295400"/>
            <a:ext cx="540787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 err="1">
                <a:latin typeface="Calibri"/>
                <a:cs typeface="Calibri"/>
              </a:rPr>
              <a:t>s</a:t>
            </a:r>
            <a:r>
              <a:rPr lang="en-US" sz="2000" b="0" dirty="0">
                <a:latin typeface="Calibri"/>
                <a:cs typeface="Calibri"/>
              </a:rPr>
              <a:t>=2</a:t>
            </a:r>
          </a:p>
        </p:txBody>
      </p:sp>
      <p:sp>
        <p:nvSpPr>
          <p:cNvPr id="149512" name="Rectangle 8"/>
          <p:cNvSpPr>
            <a:spLocks noChangeArrowheads="1"/>
          </p:cNvSpPr>
          <p:nvPr/>
        </p:nvSpPr>
        <p:spPr bwMode="auto">
          <a:xfrm>
            <a:off x="1952625" y="1295400"/>
            <a:ext cx="575227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b=1</a:t>
            </a:r>
          </a:p>
        </p:txBody>
      </p:sp>
      <p:sp>
        <p:nvSpPr>
          <p:cNvPr id="149513" name="Rectangle 9"/>
          <p:cNvSpPr>
            <a:spLocks noChangeArrowheads="1"/>
          </p:cNvSpPr>
          <p:nvPr/>
        </p:nvSpPr>
        <p:spPr bwMode="auto">
          <a:xfrm>
            <a:off x="1182688" y="1633736"/>
            <a:ext cx="703262" cy="285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70C0"/>
                </a:solidFill>
                <a:latin typeface="Calibri"/>
                <a:cs typeface="Calibri"/>
              </a:rPr>
              <a:t>xx</a:t>
            </a:r>
          </a:p>
        </p:txBody>
      </p:sp>
      <p:sp>
        <p:nvSpPr>
          <p:cNvPr id="149514" name="Rectangle 10"/>
          <p:cNvSpPr>
            <a:spLocks noChangeArrowheads="1"/>
          </p:cNvSpPr>
          <p:nvPr/>
        </p:nvSpPr>
        <p:spPr bwMode="auto">
          <a:xfrm>
            <a:off x="1898650" y="1633736"/>
            <a:ext cx="703263" cy="285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8000"/>
                </a:solidFill>
                <a:latin typeface="Calibri"/>
                <a:cs typeface="Calibri"/>
              </a:rPr>
              <a:t>x</a:t>
            </a:r>
          </a:p>
        </p:txBody>
      </p:sp>
      <p:grpSp>
        <p:nvGrpSpPr>
          <p:cNvPr id="2" name="Group 175"/>
          <p:cNvGrpSpPr>
            <a:grpSpLocks/>
          </p:cNvGrpSpPr>
          <p:nvPr/>
        </p:nvGrpSpPr>
        <p:grpSpPr bwMode="auto">
          <a:xfrm>
            <a:off x="3352800" y="5137150"/>
            <a:ext cx="2662237" cy="306388"/>
            <a:chOff x="2027" y="3244"/>
            <a:chExt cx="1677" cy="193"/>
          </a:xfrm>
          <a:solidFill>
            <a:srgbClr val="DEDFF5"/>
          </a:solidFill>
        </p:grpSpPr>
        <p:sp>
          <p:nvSpPr>
            <p:cNvPr id="149516" name="Rectangle 12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49517" name="Rectangle 13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endParaRPr lang="en-US" sz="2000" b="0" dirty="0">
                <a:latin typeface="Calibri"/>
                <a:cs typeface="Calibri"/>
              </a:endParaRPr>
            </a:p>
          </p:txBody>
        </p:sp>
        <p:sp>
          <p:nvSpPr>
            <p:cNvPr id="149518" name="Rectangle 14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endParaRPr lang="en-US" sz="2000" b="0" dirty="0">
                <a:latin typeface="Calibri"/>
                <a:cs typeface="Calibri"/>
              </a:endParaRPr>
            </a:p>
          </p:txBody>
        </p:sp>
      </p:grpSp>
      <p:sp>
        <p:nvSpPr>
          <p:cNvPr id="149519" name="Rectangle 15"/>
          <p:cNvSpPr>
            <a:spLocks noChangeArrowheads="1"/>
          </p:cNvSpPr>
          <p:nvPr/>
        </p:nvSpPr>
        <p:spPr bwMode="auto">
          <a:xfrm>
            <a:off x="3502025" y="4724400"/>
            <a:ext cx="310982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v</a:t>
            </a:r>
          </a:p>
        </p:txBody>
      </p:sp>
      <p:sp>
        <p:nvSpPr>
          <p:cNvPr id="149520" name="Rectangle 16"/>
          <p:cNvSpPr>
            <a:spLocks noChangeArrowheads="1"/>
          </p:cNvSpPr>
          <p:nvPr/>
        </p:nvSpPr>
        <p:spPr bwMode="auto">
          <a:xfrm>
            <a:off x="3979862" y="4724400"/>
            <a:ext cx="531269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solidFill>
                  <a:srgbClr val="C00000"/>
                </a:solidFill>
                <a:latin typeface="Calibri"/>
                <a:cs typeface="Calibri"/>
              </a:rPr>
              <a:t>Tag</a:t>
            </a:r>
          </a:p>
        </p:txBody>
      </p:sp>
      <p:sp>
        <p:nvSpPr>
          <p:cNvPr id="149521" name="Rectangle 17"/>
          <p:cNvSpPr>
            <a:spLocks noChangeArrowheads="1"/>
          </p:cNvSpPr>
          <p:nvPr/>
        </p:nvSpPr>
        <p:spPr bwMode="auto">
          <a:xfrm>
            <a:off x="4937125" y="4724400"/>
            <a:ext cx="741413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Block</a:t>
            </a:r>
          </a:p>
        </p:txBody>
      </p:sp>
      <p:sp>
        <p:nvSpPr>
          <p:cNvPr id="149522" name="Rectangle 18"/>
          <p:cNvSpPr>
            <a:spLocks noChangeArrowheads="1"/>
          </p:cNvSpPr>
          <p:nvPr/>
        </p:nvSpPr>
        <p:spPr bwMode="auto">
          <a:xfrm>
            <a:off x="3352800" y="5446713"/>
            <a:ext cx="55721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b="0" dirty="0">
                <a:latin typeface="Calibri"/>
                <a:cs typeface="Calibri"/>
              </a:rPr>
              <a:t>0</a:t>
            </a:r>
          </a:p>
        </p:txBody>
      </p:sp>
      <p:sp>
        <p:nvSpPr>
          <p:cNvPr id="149523" name="Rectangle 19"/>
          <p:cNvSpPr>
            <a:spLocks noChangeArrowheads="1"/>
          </p:cNvSpPr>
          <p:nvPr/>
        </p:nvSpPr>
        <p:spPr bwMode="auto">
          <a:xfrm>
            <a:off x="3927475" y="5446713"/>
            <a:ext cx="65246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24" name="Rectangle 20"/>
          <p:cNvSpPr>
            <a:spLocks noChangeArrowheads="1"/>
          </p:cNvSpPr>
          <p:nvPr/>
        </p:nvSpPr>
        <p:spPr bwMode="auto">
          <a:xfrm>
            <a:off x="4595812" y="5446713"/>
            <a:ext cx="141922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25" name="Rectangle 21"/>
          <p:cNvSpPr>
            <a:spLocks noChangeArrowheads="1"/>
          </p:cNvSpPr>
          <p:nvPr/>
        </p:nvSpPr>
        <p:spPr bwMode="auto">
          <a:xfrm>
            <a:off x="3352800" y="5770563"/>
            <a:ext cx="55721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b="0" dirty="0">
                <a:latin typeface="Calibri"/>
                <a:cs typeface="Calibri"/>
              </a:rPr>
              <a:t>0</a:t>
            </a:r>
          </a:p>
        </p:txBody>
      </p:sp>
      <p:sp>
        <p:nvSpPr>
          <p:cNvPr id="149526" name="Rectangle 22"/>
          <p:cNvSpPr>
            <a:spLocks noChangeArrowheads="1"/>
          </p:cNvSpPr>
          <p:nvPr/>
        </p:nvSpPr>
        <p:spPr bwMode="auto">
          <a:xfrm>
            <a:off x="3927475" y="5770563"/>
            <a:ext cx="65246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27" name="Rectangle 23"/>
          <p:cNvSpPr>
            <a:spLocks noChangeArrowheads="1"/>
          </p:cNvSpPr>
          <p:nvPr/>
        </p:nvSpPr>
        <p:spPr bwMode="auto">
          <a:xfrm>
            <a:off x="4595812" y="5770563"/>
            <a:ext cx="141922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28" name="Rectangle 24"/>
          <p:cNvSpPr>
            <a:spLocks noChangeArrowheads="1"/>
          </p:cNvSpPr>
          <p:nvPr/>
        </p:nvSpPr>
        <p:spPr bwMode="auto">
          <a:xfrm>
            <a:off x="3352800" y="6094413"/>
            <a:ext cx="55721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b="0" dirty="0">
                <a:latin typeface="Calibri"/>
                <a:cs typeface="Calibri"/>
              </a:rPr>
              <a:t>0</a:t>
            </a:r>
          </a:p>
        </p:txBody>
      </p:sp>
      <p:sp>
        <p:nvSpPr>
          <p:cNvPr id="149529" name="Rectangle 25"/>
          <p:cNvSpPr>
            <a:spLocks noChangeArrowheads="1"/>
          </p:cNvSpPr>
          <p:nvPr/>
        </p:nvSpPr>
        <p:spPr bwMode="auto">
          <a:xfrm>
            <a:off x="3927475" y="6094413"/>
            <a:ext cx="65246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530" name="Rectangle 26"/>
          <p:cNvSpPr>
            <a:spLocks noChangeArrowheads="1"/>
          </p:cNvSpPr>
          <p:nvPr/>
        </p:nvSpPr>
        <p:spPr bwMode="auto">
          <a:xfrm>
            <a:off x="4595812" y="6094413"/>
            <a:ext cx="141922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49678" name="Text Box 174"/>
          <p:cNvSpPr txBox="1">
            <a:spLocks noChangeArrowheads="1"/>
          </p:cNvSpPr>
          <p:nvPr/>
        </p:nvSpPr>
        <p:spPr bwMode="auto">
          <a:xfrm>
            <a:off x="6657975" y="2968823"/>
            <a:ext cx="647111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 dirty="0">
                <a:solidFill>
                  <a:srgbClr val="C00000"/>
                </a:solidFill>
                <a:latin typeface="Calibri"/>
                <a:cs typeface="Calibri"/>
              </a:rPr>
              <a:t>miss</a:t>
            </a:r>
          </a:p>
        </p:txBody>
      </p:sp>
      <p:grpSp>
        <p:nvGrpSpPr>
          <p:cNvPr id="3" name="Group 176"/>
          <p:cNvGrpSpPr>
            <a:grpSpLocks/>
          </p:cNvGrpSpPr>
          <p:nvPr/>
        </p:nvGrpSpPr>
        <p:grpSpPr bwMode="auto">
          <a:xfrm>
            <a:off x="3352800" y="5132900"/>
            <a:ext cx="2662237" cy="306388"/>
            <a:chOff x="2027" y="3244"/>
            <a:chExt cx="1677" cy="193"/>
          </a:xfrm>
          <a:solidFill>
            <a:srgbClr val="DEDFF5"/>
          </a:solidFill>
        </p:grpSpPr>
        <p:sp>
          <p:nvSpPr>
            <p:cNvPr id="149681" name="Rectangle 177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49682" name="Rectangle 178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49683" name="Rectangle 179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M[0-1]</a:t>
              </a:r>
            </a:p>
          </p:txBody>
        </p:sp>
      </p:grpSp>
      <p:sp>
        <p:nvSpPr>
          <p:cNvPr id="149684" name="Text Box 180"/>
          <p:cNvSpPr txBox="1">
            <a:spLocks noChangeArrowheads="1"/>
          </p:cNvSpPr>
          <p:nvPr/>
        </p:nvSpPr>
        <p:spPr bwMode="auto">
          <a:xfrm>
            <a:off x="6748463" y="3273623"/>
            <a:ext cx="462265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 dirty="0">
                <a:solidFill>
                  <a:srgbClr val="C00000"/>
                </a:solidFill>
                <a:latin typeface="Calibri"/>
                <a:cs typeface="Calibri"/>
              </a:rPr>
              <a:t>hit</a:t>
            </a:r>
          </a:p>
        </p:txBody>
      </p:sp>
      <p:sp>
        <p:nvSpPr>
          <p:cNvPr id="149685" name="Text Box 181"/>
          <p:cNvSpPr txBox="1">
            <a:spLocks noChangeArrowheads="1"/>
          </p:cNvSpPr>
          <p:nvPr/>
        </p:nvSpPr>
        <p:spPr bwMode="auto">
          <a:xfrm>
            <a:off x="6657975" y="3548063"/>
            <a:ext cx="647111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 dirty="0">
                <a:solidFill>
                  <a:srgbClr val="C00000"/>
                </a:solidFill>
                <a:latin typeface="Calibri"/>
                <a:cs typeface="Calibri"/>
              </a:rPr>
              <a:t>miss</a:t>
            </a:r>
          </a:p>
        </p:txBody>
      </p:sp>
      <p:grpSp>
        <p:nvGrpSpPr>
          <p:cNvPr id="4" name="Group 182"/>
          <p:cNvGrpSpPr>
            <a:grpSpLocks/>
          </p:cNvGrpSpPr>
          <p:nvPr/>
        </p:nvGrpSpPr>
        <p:grpSpPr bwMode="auto">
          <a:xfrm>
            <a:off x="3352800" y="6092826"/>
            <a:ext cx="2662237" cy="306387"/>
            <a:chOff x="2027" y="3244"/>
            <a:chExt cx="1677" cy="193"/>
          </a:xfrm>
          <a:solidFill>
            <a:srgbClr val="DEDFF5"/>
          </a:solidFill>
        </p:grpSpPr>
        <p:sp>
          <p:nvSpPr>
            <p:cNvPr id="149687" name="Rectangle 183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 dirty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49688" name="Rectangle 184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 dirty="0"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49689" name="Rectangle 185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M[6-7]</a:t>
              </a:r>
            </a:p>
          </p:txBody>
        </p:sp>
      </p:grpSp>
      <p:sp>
        <p:nvSpPr>
          <p:cNvPr id="149690" name="Text Box 186"/>
          <p:cNvSpPr txBox="1">
            <a:spLocks noChangeArrowheads="1"/>
          </p:cNvSpPr>
          <p:nvPr/>
        </p:nvSpPr>
        <p:spPr bwMode="auto">
          <a:xfrm>
            <a:off x="6657975" y="3883223"/>
            <a:ext cx="647111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 dirty="0">
                <a:solidFill>
                  <a:srgbClr val="C00000"/>
                </a:solidFill>
                <a:latin typeface="Calibri"/>
                <a:cs typeface="Calibri"/>
              </a:rPr>
              <a:t>miss</a:t>
            </a:r>
          </a:p>
        </p:txBody>
      </p:sp>
      <p:grpSp>
        <p:nvGrpSpPr>
          <p:cNvPr id="5" name="Group 187"/>
          <p:cNvGrpSpPr>
            <a:grpSpLocks/>
          </p:cNvGrpSpPr>
          <p:nvPr/>
        </p:nvGrpSpPr>
        <p:grpSpPr bwMode="auto">
          <a:xfrm>
            <a:off x="3352800" y="5139408"/>
            <a:ext cx="2662237" cy="306388"/>
            <a:chOff x="2027" y="3244"/>
            <a:chExt cx="1677" cy="193"/>
          </a:xfrm>
          <a:solidFill>
            <a:srgbClr val="DEDFF5"/>
          </a:solidFill>
        </p:grpSpPr>
        <p:sp>
          <p:nvSpPr>
            <p:cNvPr id="149692" name="Rectangle 188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49693" name="Rectangle 189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49694" name="Rectangle 190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M[8-9]</a:t>
              </a:r>
            </a:p>
          </p:txBody>
        </p:sp>
      </p:grpSp>
      <p:sp>
        <p:nvSpPr>
          <p:cNvPr id="149695" name="Text Box 191"/>
          <p:cNvSpPr txBox="1">
            <a:spLocks noChangeArrowheads="1"/>
          </p:cNvSpPr>
          <p:nvPr/>
        </p:nvSpPr>
        <p:spPr bwMode="auto">
          <a:xfrm>
            <a:off x="6657975" y="4188023"/>
            <a:ext cx="647111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 dirty="0">
                <a:solidFill>
                  <a:srgbClr val="C00000"/>
                </a:solidFill>
                <a:latin typeface="Calibri"/>
                <a:cs typeface="Calibri"/>
              </a:rPr>
              <a:t>miss</a:t>
            </a:r>
          </a:p>
        </p:txBody>
      </p:sp>
      <p:grpSp>
        <p:nvGrpSpPr>
          <p:cNvPr id="6" name="Group 192"/>
          <p:cNvGrpSpPr>
            <a:grpSpLocks/>
          </p:cNvGrpSpPr>
          <p:nvPr/>
        </p:nvGrpSpPr>
        <p:grpSpPr bwMode="auto">
          <a:xfrm>
            <a:off x="3930103" y="5131606"/>
            <a:ext cx="2087562" cy="306388"/>
            <a:chOff x="2389" y="3244"/>
            <a:chExt cx="1315" cy="193"/>
          </a:xfrm>
          <a:solidFill>
            <a:srgbClr val="DEDFF5"/>
          </a:solidFill>
        </p:grpSpPr>
        <p:sp>
          <p:nvSpPr>
            <p:cNvPr id="149698" name="Rectangle 194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 dirty="0"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49699" name="Rectangle 195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M[0-1]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2667000" y="511706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alibri" pitchFamily="34" charset="0"/>
              </a:rPr>
              <a:t>Set 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67000" y="5422397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alibri" pitchFamily="34" charset="0"/>
              </a:rPr>
              <a:t>Set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67000" y="5727726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alibri" pitchFamily="34" charset="0"/>
              </a:rPr>
              <a:t>Set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67000" y="603305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alibri" pitchFamily="34" charset="0"/>
              </a:rPr>
              <a:t>Set 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678" grpId="0"/>
      <p:bldP spid="149684" grpId="0"/>
      <p:bldP spid="149685" grpId="0"/>
      <p:bldP spid="149690" grpId="0"/>
      <p:bldP spid="14969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961660" cy="762000"/>
          </a:xfrm>
        </p:spPr>
        <p:txBody>
          <a:bodyPr/>
          <a:lstStyle/>
          <a:p>
            <a:r>
              <a:rPr lang="en-US" dirty="0"/>
              <a:t>E-way Set Associative Cache (Here: E = 2)</a:t>
            </a:r>
          </a:p>
        </p:txBody>
      </p:sp>
      <p:cxnSp>
        <p:nvCxnSpPr>
          <p:cNvPr id="125" name="Straight Connector 124"/>
          <p:cNvCxnSpPr/>
          <p:nvPr/>
        </p:nvCxnSpPr>
        <p:spPr bwMode="auto">
          <a:xfrm>
            <a:off x="762000" y="4800600"/>
            <a:ext cx="6598924" cy="17189"/>
          </a:xfrm>
          <a:prstGeom prst="line">
            <a:avLst/>
          </a:prstGeom>
          <a:noFill/>
          <a:ln w="762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27" name="TextBox 126"/>
          <p:cNvSpPr txBox="1"/>
          <p:nvPr/>
        </p:nvSpPr>
        <p:spPr>
          <a:xfrm>
            <a:off x="381000" y="1154668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latin typeface="Calibri" pitchFamily="34" charset="0"/>
              </a:rPr>
              <a:t>Each memory block maps to E  cache lines </a:t>
            </a:r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Assume: cache block size 8 bytes</a:t>
            </a:r>
          </a:p>
        </p:txBody>
      </p:sp>
      <p:sp>
        <p:nvSpPr>
          <p:cNvPr id="128" name="Rectangle 127"/>
          <p:cNvSpPr/>
          <p:nvPr/>
        </p:nvSpPr>
        <p:spPr bwMode="auto">
          <a:xfrm>
            <a:off x="6566078" y="186275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 bits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556678" y="186275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0…01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8318678" y="1862752"/>
            <a:ext cx="520522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77000" y="1522790"/>
            <a:ext cx="212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Address of short </a:t>
            </a:r>
            <a:r>
              <a:rPr lang="en-US" sz="1800" dirty="0" err="1">
                <a:latin typeface="Calibri" pitchFamily="34" charset="0"/>
              </a:rPr>
              <a:t>int</a:t>
            </a:r>
            <a:r>
              <a:rPr lang="en-US" sz="1800" dirty="0">
                <a:latin typeface="Calibri" pitchFamily="34" charset="0"/>
              </a:rPr>
              <a:t>:</a:t>
            </a:r>
          </a:p>
        </p:txBody>
      </p:sp>
      <p:sp>
        <p:nvSpPr>
          <p:cNvPr id="73" name="Rectangle 72"/>
          <p:cNvSpPr/>
          <p:nvPr/>
        </p:nvSpPr>
        <p:spPr bwMode="auto">
          <a:xfrm>
            <a:off x="457200" y="2514600"/>
            <a:ext cx="70866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606607" y="2590803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1899924" y="26894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 bwMode="auto">
          <a:xfrm>
            <a:off x="2135242" y="26894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 bwMode="auto">
          <a:xfrm>
            <a:off x="2360367" y="26894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 bwMode="auto">
          <a:xfrm>
            <a:off x="3587907" y="26894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80" name="Rectangle 79"/>
          <p:cNvSpPr/>
          <p:nvPr/>
        </p:nvSpPr>
        <p:spPr bwMode="auto">
          <a:xfrm>
            <a:off x="1120788" y="2689469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81" name="Rectangle 80"/>
          <p:cNvSpPr/>
          <p:nvPr/>
        </p:nvSpPr>
        <p:spPr bwMode="auto">
          <a:xfrm>
            <a:off x="715928" y="26894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82" name="Rectangle 81"/>
          <p:cNvSpPr/>
          <p:nvPr/>
        </p:nvSpPr>
        <p:spPr bwMode="auto">
          <a:xfrm>
            <a:off x="2596309" y="26894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 bwMode="auto">
          <a:xfrm>
            <a:off x="3336537" y="26894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84" name="Rectangle 83"/>
          <p:cNvSpPr/>
          <p:nvPr/>
        </p:nvSpPr>
        <p:spPr bwMode="auto">
          <a:xfrm>
            <a:off x="3084544" y="26894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 bwMode="auto">
          <a:xfrm>
            <a:off x="2832550" y="26894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87" name="Rectangle 86"/>
          <p:cNvSpPr/>
          <p:nvPr/>
        </p:nvSpPr>
        <p:spPr bwMode="auto">
          <a:xfrm>
            <a:off x="4080935" y="2594046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88" name="Rectangle 87"/>
          <p:cNvSpPr/>
          <p:nvPr/>
        </p:nvSpPr>
        <p:spPr bwMode="auto">
          <a:xfrm>
            <a:off x="5374252" y="26927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 bwMode="auto">
          <a:xfrm>
            <a:off x="5609570" y="26927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5834695" y="26927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 bwMode="auto">
          <a:xfrm>
            <a:off x="7062235" y="26927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 bwMode="auto">
          <a:xfrm>
            <a:off x="4595116" y="2692712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93" name="Rectangle 92"/>
          <p:cNvSpPr/>
          <p:nvPr/>
        </p:nvSpPr>
        <p:spPr bwMode="auto">
          <a:xfrm>
            <a:off x="4190256" y="26927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94" name="Rectangle 93"/>
          <p:cNvSpPr/>
          <p:nvPr/>
        </p:nvSpPr>
        <p:spPr bwMode="auto">
          <a:xfrm>
            <a:off x="6070637" y="26927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95" name="Rectangle 94"/>
          <p:cNvSpPr/>
          <p:nvPr/>
        </p:nvSpPr>
        <p:spPr bwMode="auto">
          <a:xfrm>
            <a:off x="6810865" y="26927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96" name="Rectangle 95"/>
          <p:cNvSpPr/>
          <p:nvPr/>
        </p:nvSpPr>
        <p:spPr bwMode="auto">
          <a:xfrm>
            <a:off x="6558872" y="26927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 bwMode="auto">
          <a:xfrm>
            <a:off x="6306878" y="26927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100" name="Rectangle 99"/>
          <p:cNvSpPr/>
          <p:nvPr/>
        </p:nvSpPr>
        <p:spPr bwMode="auto">
          <a:xfrm>
            <a:off x="457200" y="3200400"/>
            <a:ext cx="70866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606607" y="3276603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1899924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16" name="Rectangle 115"/>
          <p:cNvSpPr/>
          <p:nvPr/>
        </p:nvSpPr>
        <p:spPr bwMode="auto">
          <a:xfrm>
            <a:off x="2135242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 bwMode="auto">
          <a:xfrm>
            <a:off x="2360367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18" name="Rectangle 117"/>
          <p:cNvSpPr/>
          <p:nvPr/>
        </p:nvSpPr>
        <p:spPr bwMode="auto">
          <a:xfrm>
            <a:off x="3587907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19" name="Rectangle 118"/>
          <p:cNvSpPr/>
          <p:nvPr/>
        </p:nvSpPr>
        <p:spPr bwMode="auto">
          <a:xfrm>
            <a:off x="1120788" y="3375269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20" name="Rectangle 119"/>
          <p:cNvSpPr/>
          <p:nvPr/>
        </p:nvSpPr>
        <p:spPr bwMode="auto">
          <a:xfrm>
            <a:off x="715928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21" name="Rectangle 120"/>
          <p:cNvSpPr/>
          <p:nvPr/>
        </p:nvSpPr>
        <p:spPr bwMode="auto">
          <a:xfrm>
            <a:off x="2596309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22" name="Rectangle 121"/>
          <p:cNvSpPr/>
          <p:nvPr/>
        </p:nvSpPr>
        <p:spPr bwMode="auto">
          <a:xfrm>
            <a:off x="3336537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 bwMode="auto">
          <a:xfrm>
            <a:off x="3084544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24" name="Rectangle 123"/>
          <p:cNvSpPr/>
          <p:nvPr/>
        </p:nvSpPr>
        <p:spPr bwMode="auto">
          <a:xfrm>
            <a:off x="2832550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 bwMode="auto">
          <a:xfrm>
            <a:off x="4080935" y="3279846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5374252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 bwMode="auto">
          <a:xfrm>
            <a:off x="5609570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06" name="Rectangle 105"/>
          <p:cNvSpPr/>
          <p:nvPr/>
        </p:nvSpPr>
        <p:spPr bwMode="auto">
          <a:xfrm>
            <a:off x="5834695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07" name="Rectangle 106"/>
          <p:cNvSpPr/>
          <p:nvPr/>
        </p:nvSpPr>
        <p:spPr bwMode="auto">
          <a:xfrm>
            <a:off x="7062235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08" name="Rectangle 107"/>
          <p:cNvSpPr/>
          <p:nvPr/>
        </p:nvSpPr>
        <p:spPr bwMode="auto">
          <a:xfrm>
            <a:off x="4595116" y="3378512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09" name="Rectangle 108"/>
          <p:cNvSpPr/>
          <p:nvPr/>
        </p:nvSpPr>
        <p:spPr bwMode="auto">
          <a:xfrm>
            <a:off x="4190256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10" name="Rectangle 109"/>
          <p:cNvSpPr/>
          <p:nvPr/>
        </p:nvSpPr>
        <p:spPr bwMode="auto">
          <a:xfrm>
            <a:off x="6070637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6810865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12" name="Rectangle 111"/>
          <p:cNvSpPr/>
          <p:nvPr/>
        </p:nvSpPr>
        <p:spPr bwMode="auto">
          <a:xfrm>
            <a:off x="6558872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13" name="Rectangle 112"/>
          <p:cNvSpPr/>
          <p:nvPr/>
        </p:nvSpPr>
        <p:spPr bwMode="auto">
          <a:xfrm>
            <a:off x="6306878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137" name="Rectangle 136"/>
          <p:cNvSpPr/>
          <p:nvPr/>
        </p:nvSpPr>
        <p:spPr bwMode="auto">
          <a:xfrm>
            <a:off x="457200" y="3886200"/>
            <a:ext cx="70866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91" name="Rectangle 190"/>
          <p:cNvSpPr/>
          <p:nvPr/>
        </p:nvSpPr>
        <p:spPr bwMode="auto">
          <a:xfrm>
            <a:off x="606607" y="3962403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92" name="Rectangle 191"/>
          <p:cNvSpPr/>
          <p:nvPr/>
        </p:nvSpPr>
        <p:spPr bwMode="auto">
          <a:xfrm>
            <a:off x="1899924" y="40610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93" name="Rectangle 192"/>
          <p:cNvSpPr/>
          <p:nvPr/>
        </p:nvSpPr>
        <p:spPr bwMode="auto">
          <a:xfrm>
            <a:off x="2135242" y="40610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94" name="Rectangle 193"/>
          <p:cNvSpPr/>
          <p:nvPr/>
        </p:nvSpPr>
        <p:spPr bwMode="auto">
          <a:xfrm>
            <a:off x="2360367" y="40610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95" name="Rectangle 194"/>
          <p:cNvSpPr/>
          <p:nvPr/>
        </p:nvSpPr>
        <p:spPr bwMode="auto">
          <a:xfrm>
            <a:off x="3587907" y="40610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96" name="Rectangle 195"/>
          <p:cNvSpPr/>
          <p:nvPr/>
        </p:nvSpPr>
        <p:spPr bwMode="auto">
          <a:xfrm>
            <a:off x="1120788" y="4061069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97" name="Rectangle 196"/>
          <p:cNvSpPr/>
          <p:nvPr/>
        </p:nvSpPr>
        <p:spPr bwMode="auto">
          <a:xfrm>
            <a:off x="715928" y="40610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98" name="Rectangle 197"/>
          <p:cNvSpPr/>
          <p:nvPr/>
        </p:nvSpPr>
        <p:spPr bwMode="auto">
          <a:xfrm>
            <a:off x="2596309" y="40610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99" name="Rectangle 198"/>
          <p:cNvSpPr/>
          <p:nvPr/>
        </p:nvSpPr>
        <p:spPr bwMode="auto">
          <a:xfrm>
            <a:off x="3336537" y="40610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200" name="Rectangle 199"/>
          <p:cNvSpPr/>
          <p:nvPr/>
        </p:nvSpPr>
        <p:spPr bwMode="auto">
          <a:xfrm>
            <a:off x="3084544" y="40610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201" name="Rectangle 200"/>
          <p:cNvSpPr/>
          <p:nvPr/>
        </p:nvSpPr>
        <p:spPr bwMode="auto">
          <a:xfrm>
            <a:off x="2832550" y="40610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146" name="Rectangle 145"/>
          <p:cNvSpPr/>
          <p:nvPr/>
        </p:nvSpPr>
        <p:spPr bwMode="auto">
          <a:xfrm>
            <a:off x="4080935" y="3965646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5374252" y="40643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70" name="Rectangle 169"/>
          <p:cNvSpPr/>
          <p:nvPr/>
        </p:nvSpPr>
        <p:spPr bwMode="auto">
          <a:xfrm>
            <a:off x="5609570" y="40643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82" name="Rectangle 181"/>
          <p:cNvSpPr/>
          <p:nvPr/>
        </p:nvSpPr>
        <p:spPr bwMode="auto">
          <a:xfrm>
            <a:off x="5834695" y="40643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84" name="Rectangle 183"/>
          <p:cNvSpPr/>
          <p:nvPr/>
        </p:nvSpPr>
        <p:spPr bwMode="auto">
          <a:xfrm>
            <a:off x="7062235" y="40643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85" name="Rectangle 184"/>
          <p:cNvSpPr/>
          <p:nvPr/>
        </p:nvSpPr>
        <p:spPr bwMode="auto">
          <a:xfrm>
            <a:off x="4595116" y="4064312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86" name="Rectangle 185"/>
          <p:cNvSpPr/>
          <p:nvPr/>
        </p:nvSpPr>
        <p:spPr bwMode="auto">
          <a:xfrm>
            <a:off x="4190256" y="40643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87" name="Rectangle 186"/>
          <p:cNvSpPr/>
          <p:nvPr/>
        </p:nvSpPr>
        <p:spPr bwMode="auto">
          <a:xfrm>
            <a:off x="6070637" y="40643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88" name="Rectangle 187"/>
          <p:cNvSpPr/>
          <p:nvPr/>
        </p:nvSpPr>
        <p:spPr bwMode="auto">
          <a:xfrm>
            <a:off x="6810865" y="40643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89" name="Rectangle 188"/>
          <p:cNvSpPr/>
          <p:nvPr/>
        </p:nvSpPr>
        <p:spPr bwMode="auto">
          <a:xfrm>
            <a:off x="6558872" y="40643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90" name="Rectangle 189"/>
          <p:cNvSpPr/>
          <p:nvPr/>
        </p:nvSpPr>
        <p:spPr bwMode="auto">
          <a:xfrm>
            <a:off x="6306878" y="40643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205" name="Rectangle 204"/>
          <p:cNvSpPr/>
          <p:nvPr/>
        </p:nvSpPr>
        <p:spPr bwMode="auto">
          <a:xfrm>
            <a:off x="457200" y="5102157"/>
            <a:ext cx="70866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219" name="Rectangle 218"/>
          <p:cNvSpPr/>
          <p:nvPr/>
        </p:nvSpPr>
        <p:spPr bwMode="auto">
          <a:xfrm>
            <a:off x="606607" y="5178360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220" name="Rectangle 219"/>
          <p:cNvSpPr/>
          <p:nvPr/>
        </p:nvSpPr>
        <p:spPr bwMode="auto">
          <a:xfrm>
            <a:off x="1899924" y="52770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221" name="Rectangle 220"/>
          <p:cNvSpPr/>
          <p:nvPr/>
        </p:nvSpPr>
        <p:spPr bwMode="auto">
          <a:xfrm>
            <a:off x="2135242" y="52770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222" name="Rectangle 221"/>
          <p:cNvSpPr/>
          <p:nvPr/>
        </p:nvSpPr>
        <p:spPr bwMode="auto">
          <a:xfrm>
            <a:off x="2360367" y="52770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223" name="Rectangle 222"/>
          <p:cNvSpPr/>
          <p:nvPr/>
        </p:nvSpPr>
        <p:spPr bwMode="auto">
          <a:xfrm>
            <a:off x="3587907" y="5277026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224" name="Rectangle 223"/>
          <p:cNvSpPr/>
          <p:nvPr/>
        </p:nvSpPr>
        <p:spPr bwMode="auto">
          <a:xfrm>
            <a:off x="1120788" y="5277026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225" name="Rectangle 224"/>
          <p:cNvSpPr/>
          <p:nvPr/>
        </p:nvSpPr>
        <p:spPr bwMode="auto">
          <a:xfrm>
            <a:off x="715928" y="52770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226" name="Rectangle 225"/>
          <p:cNvSpPr/>
          <p:nvPr/>
        </p:nvSpPr>
        <p:spPr bwMode="auto">
          <a:xfrm>
            <a:off x="2596309" y="52770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227" name="Rectangle 226"/>
          <p:cNvSpPr/>
          <p:nvPr/>
        </p:nvSpPr>
        <p:spPr bwMode="auto">
          <a:xfrm>
            <a:off x="3336537" y="5277026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228" name="Rectangle 227"/>
          <p:cNvSpPr/>
          <p:nvPr/>
        </p:nvSpPr>
        <p:spPr bwMode="auto">
          <a:xfrm>
            <a:off x="3084544" y="5277026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229" name="Rectangle 228"/>
          <p:cNvSpPr/>
          <p:nvPr/>
        </p:nvSpPr>
        <p:spPr bwMode="auto">
          <a:xfrm>
            <a:off x="2832550" y="5277026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208" name="Rectangle 207"/>
          <p:cNvSpPr/>
          <p:nvPr/>
        </p:nvSpPr>
        <p:spPr bwMode="auto">
          <a:xfrm>
            <a:off x="4080935" y="5181603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209" name="Rectangle 208"/>
          <p:cNvSpPr/>
          <p:nvPr/>
        </p:nvSpPr>
        <p:spPr bwMode="auto">
          <a:xfrm>
            <a:off x="5374252" y="5280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210" name="Rectangle 209"/>
          <p:cNvSpPr/>
          <p:nvPr/>
        </p:nvSpPr>
        <p:spPr bwMode="auto">
          <a:xfrm>
            <a:off x="5609570" y="5280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211" name="Rectangle 210"/>
          <p:cNvSpPr/>
          <p:nvPr/>
        </p:nvSpPr>
        <p:spPr bwMode="auto">
          <a:xfrm>
            <a:off x="5834695" y="5280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212" name="Rectangle 211"/>
          <p:cNvSpPr/>
          <p:nvPr/>
        </p:nvSpPr>
        <p:spPr bwMode="auto">
          <a:xfrm>
            <a:off x="7062235" y="5280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213" name="Rectangle 212"/>
          <p:cNvSpPr/>
          <p:nvPr/>
        </p:nvSpPr>
        <p:spPr bwMode="auto">
          <a:xfrm>
            <a:off x="4595116" y="5280269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214" name="Rectangle 213"/>
          <p:cNvSpPr/>
          <p:nvPr/>
        </p:nvSpPr>
        <p:spPr bwMode="auto">
          <a:xfrm>
            <a:off x="4190256" y="5280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215" name="Rectangle 214"/>
          <p:cNvSpPr/>
          <p:nvPr/>
        </p:nvSpPr>
        <p:spPr bwMode="auto">
          <a:xfrm>
            <a:off x="6070637" y="5280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216" name="Rectangle 215"/>
          <p:cNvSpPr/>
          <p:nvPr/>
        </p:nvSpPr>
        <p:spPr bwMode="auto">
          <a:xfrm>
            <a:off x="6810865" y="5280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217" name="Rectangle 216"/>
          <p:cNvSpPr/>
          <p:nvPr/>
        </p:nvSpPr>
        <p:spPr bwMode="auto">
          <a:xfrm>
            <a:off x="6558872" y="5280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218" name="Rectangle 217"/>
          <p:cNvSpPr/>
          <p:nvPr/>
        </p:nvSpPr>
        <p:spPr bwMode="auto">
          <a:xfrm>
            <a:off x="6306878" y="5280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cxnSp>
        <p:nvCxnSpPr>
          <p:cNvPr id="231" name="Shape 230"/>
          <p:cNvCxnSpPr>
            <a:stCxn id="129" idx="2"/>
            <a:endCxn id="100" idx="3"/>
          </p:cNvCxnSpPr>
          <p:nvPr/>
        </p:nvCxnSpPr>
        <p:spPr bwMode="auto">
          <a:xfrm rot="5400000">
            <a:off x="7054128" y="2623272"/>
            <a:ext cx="1373222" cy="393878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2" name="TextBox 131"/>
          <p:cNvSpPr txBox="1"/>
          <p:nvPr/>
        </p:nvSpPr>
        <p:spPr>
          <a:xfrm>
            <a:off x="7924800" y="324657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find 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8245269" cy="762000"/>
          </a:xfrm>
        </p:spPr>
        <p:txBody>
          <a:bodyPr/>
          <a:lstStyle/>
          <a:p>
            <a:r>
              <a:rPr lang="en-US" dirty="0"/>
              <a:t>E-way Set Associative Cache (Here: E = 2)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1000" y="1154668"/>
            <a:ext cx="4233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latin typeface="Calibri" pitchFamily="34" charset="0"/>
              </a:rPr>
              <a:t>Each memory block maps to E cache lines </a:t>
            </a:r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Assume: cache block size 8 bytes</a:t>
            </a:r>
          </a:p>
        </p:txBody>
      </p:sp>
      <p:sp>
        <p:nvSpPr>
          <p:cNvPr id="128" name="Rectangle 127"/>
          <p:cNvSpPr/>
          <p:nvPr/>
        </p:nvSpPr>
        <p:spPr bwMode="auto">
          <a:xfrm>
            <a:off x="6566078" y="186275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 bits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556678" y="186275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0…01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8318678" y="1862752"/>
            <a:ext cx="520522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77000" y="1522790"/>
            <a:ext cx="212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Address of short </a:t>
            </a:r>
            <a:r>
              <a:rPr lang="en-US" sz="1800" dirty="0" err="1">
                <a:latin typeface="Calibri" pitchFamily="34" charset="0"/>
              </a:rPr>
              <a:t>int</a:t>
            </a:r>
            <a:r>
              <a:rPr lang="en-US" sz="1800" dirty="0">
                <a:latin typeface="Calibri" pitchFamily="34" charset="0"/>
              </a:rPr>
              <a:t>:</a:t>
            </a:r>
          </a:p>
        </p:txBody>
      </p:sp>
      <p:sp>
        <p:nvSpPr>
          <p:cNvPr id="100" name="Rectangle 99"/>
          <p:cNvSpPr/>
          <p:nvPr/>
        </p:nvSpPr>
        <p:spPr bwMode="auto">
          <a:xfrm>
            <a:off x="457200" y="3200400"/>
            <a:ext cx="70866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606607" y="3276603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1899924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16" name="Rectangle 115"/>
          <p:cNvSpPr/>
          <p:nvPr/>
        </p:nvSpPr>
        <p:spPr bwMode="auto">
          <a:xfrm>
            <a:off x="2135242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 bwMode="auto">
          <a:xfrm>
            <a:off x="2360367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18" name="Rectangle 117"/>
          <p:cNvSpPr/>
          <p:nvPr/>
        </p:nvSpPr>
        <p:spPr bwMode="auto">
          <a:xfrm>
            <a:off x="3587907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19" name="Rectangle 118"/>
          <p:cNvSpPr/>
          <p:nvPr/>
        </p:nvSpPr>
        <p:spPr bwMode="auto">
          <a:xfrm>
            <a:off x="1120788" y="3375269"/>
            <a:ext cx="61978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20" name="Rectangle 119"/>
          <p:cNvSpPr/>
          <p:nvPr/>
        </p:nvSpPr>
        <p:spPr bwMode="auto">
          <a:xfrm>
            <a:off x="715928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21" name="Rectangle 120"/>
          <p:cNvSpPr/>
          <p:nvPr/>
        </p:nvSpPr>
        <p:spPr bwMode="auto">
          <a:xfrm>
            <a:off x="2596309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22" name="Rectangle 121"/>
          <p:cNvSpPr/>
          <p:nvPr/>
        </p:nvSpPr>
        <p:spPr bwMode="auto">
          <a:xfrm>
            <a:off x="3336537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 bwMode="auto">
          <a:xfrm>
            <a:off x="3084544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24" name="Rectangle 123"/>
          <p:cNvSpPr/>
          <p:nvPr/>
        </p:nvSpPr>
        <p:spPr bwMode="auto">
          <a:xfrm>
            <a:off x="2832550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 bwMode="auto">
          <a:xfrm>
            <a:off x="4080935" y="3279846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5374252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 bwMode="auto">
          <a:xfrm>
            <a:off x="5609570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06" name="Rectangle 105"/>
          <p:cNvSpPr/>
          <p:nvPr/>
        </p:nvSpPr>
        <p:spPr bwMode="auto">
          <a:xfrm>
            <a:off x="5834695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07" name="Rectangle 106"/>
          <p:cNvSpPr/>
          <p:nvPr/>
        </p:nvSpPr>
        <p:spPr bwMode="auto">
          <a:xfrm>
            <a:off x="7062235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08" name="Rectangle 107"/>
          <p:cNvSpPr/>
          <p:nvPr/>
        </p:nvSpPr>
        <p:spPr bwMode="auto">
          <a:xfrm>
            <a:off x="4595116" y="3378512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09" name="Rectangle 108"/>
          <p:cNvSpPr/>
          <p:nvPr/>
        </p:nvSpPr>
        <p:spPr bwMode="auto">
          <a:xfrm>
            <a:off x="4190256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10" name="Rectangle 109"/>
          <p:cNvSpPr/>
          <p:nvPr/>
        </p:nvSpPr>
        <p:spPr bwMode="auto">
          <a:xfrm>
            <a:off x="6070637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6810865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12" name="Rectangle 111"/>
          <p:cNvSpPr/>
          <p:nvPr/>
        </p:nvSpPr>
        <p:spPr bwMode="auto">
          <a:xfrm>
            <a:off x="6558872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13" name="Rectangle 112"/>
          <p:cNvSpPr/>
          <p:nvPr/>
        </p:nvSpPr>
        <p:spPr bwMode="auto">
          <a:xfrm>
            <a:off x="6306878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cxnSp>
        <p:nvCxnSpPr>
          <p:cNvPr id="231" name="Shape 230"/>
          <p:cNvCxnSpPr>
            <a:stCxn id="129" idx="2"/>
            <a:endCxn id="100" idx="3"/>
          </p:cNvCxnSpPr>
          <p:nvPr/>
        </p:nvCxnSpPr>
        <p:spPr bwMode="auto">
          <a:xfrm rot="5400000">
            <a:off x="7054128" y="2623272"/>
            <a:ext cx="1373222" cy="393878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hape 131"/>
          <p:cNvCxnSpPr>
            <a:stCxn id="128" idx="1"/>
            <a:endCxn id="108" idx="0"/>
          </p:cNvCxnSpPr>
          <p:nvPr/>
        </p:nvCxnSpPr>
        <p:spPr bwMode="auto">
          <a:xfrm rot="10800000" flipV="1">
            <a:off x="4905012" y="1998176"/>
            <a:ext cx="1661067" cy="1380336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Shape 133"/>
          <p:cNvCxnSpPr>
            <a:stCxn id="128" idx="1"/>
            <a:endCxn id="119" idx="0"/>
          </p:cNvCxnSpPr>
          <p:nvPr/>
        </p:nvCxnSpPr>
        <p:spPr bwMode="auto">
          <a:xfrm rot="10800000" flipV="1">
            <a:off x="1430684" y="1998175"/>
            <a:ext cx="5135395" cy="1377093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3429000" y="1981200"/>
            <a:ext cx="15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compare both</a:t>
            </a:r>
          </a:p>
        </p:txBody>
      </p:sp>
      <p:cxnSp>
        <p:nvCxnSpPr>
          <p:cNvPr id="136" name="Straight Connector 135"/>
          <p:cNvCxnSpPr/>
          <p:nvPr/>
        </p:nvCxnSpPr>
        <p:spPr bwMode="auto">
          <a:xfrm rot="5400000">
            <a:off x="636949" y="3171463"/>
            <a:ext cx="400914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8" name="TextBox 137"/>
          <p:cNvSpPr txBox="1"/>
          <p:nvPr/>
        </p:nvSpPr>
        <p:spPr>
          <a:xfrm>
            <a:off x="457200" y="2628106"/>
            <a:ext cx="1021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valid?  +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418537" y="2641599"/>
            <a:ext cx="1691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match: yes = hit</a:t>
            </a:r>
          </a:p>
        </p:txBody>
      </p:sp>
      <p:cxnSp>
        <p:nvCxnSpPr>
          <p:cNvPr id="143" name="Elbow Connector 142"/>
          <p:cNvCxnSpPr>
            <a:stCxn id="130" idx="2"/>
            <a:endCxn id="124" idx="2"/>
          </p:cNvCxnSpPr>
          <p:nvPr/>
        </p:nvCxnSpPr>
        <p:spPr bwMode="auto">
          <a:xfrm rot="5400000">
            <a:off x="5016510" y="75949"/>
            <a:ext cx="1504779" cy="5620080"/>
          </a:xfrm>
          <a:prstGeom prst="bentConnector3">
            <a:avLst>
              <a:gd name="adj1" fmla="val 148388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5" name="TextBox 144"/>
          <p:cNvSpPr txBox="1"/>
          <p:nvPr/>
        </p:nvSpPr>
        <p:spPr>
          <a:xfrm>
            <a:off x="5105400" y="4355068"/>
            <a:ext cx="1301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block offset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1124185" y="3377238"/>
            <a:ext cx="619789" cy="26311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/>
      <p:bldP spid="138" grpId="0"/>
      <p:bldP spid="139" grpId="0"/>
      <p:bldP spid="145" grpId="0"/>
      <p:bldP spid="4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8245269" cy="762000"/>
          </a:xfrm>
        </p:spPr>
        <p:txBody>
          <a:bodyPr/>
          <a:lstStyle/>
          <a:p>
            <a:r>
              <a:rPr lang="en-US" dirty="0"/>
              <a:t>E-way Set Associative Cache (Here: E = 2)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1000" y="1154668"/>
            <a:ext cx="4233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latin typeface="Calibri" pitchFamily="34" charset="0"/>
              </a:rPr>
              <a:t>Each memory block maps to E cache lines </a:t>
            </a:r>
            <a:endParaRPr lang="en-US" sz="180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Assume: cache block size 8 bytes</a:t>
            </a:r>
          </a:p>
        </p:txBody>
      </p:sp>
      <p:sp>
        <p:nvSpPr>
          <p:cNvPr id="128" name="Rectangle 127"/>
          <p:cNvSpPr/>
          <p:nvPr/>
        </p:nvSpPr>
        <p:spPr bwMode="auto">
          <a:xfrm>
            <a:off x="6566078" y="186275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 bits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7556678" y="186275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0…01</a:t>
            </a:r>
          </a:p>
        </p:txBody>
      </p:sp>
      <p:sp>
        <p:nvSpPr>
          <p:cNvPr id="130" name="Rectangle 129"/>
          <p:cNvSpPr/>
          <p:nvPr/>
        </p:nvSpPr>
        <p:spPr bwMode="auto">
          <a:xfrm>
            <a:off x="8318678" y="1862752"/>
            <a:ext cx="520522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100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77000" y="1522790"/>
            <a:ext cx="212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Address of short </a:t>
            </a:r>
            <a:r>
              <a:rPr lang="en-US" sz="1800" dirty="0" err="1">
                <a:latin typeface="Calibri" pitchFamily="34" charset="0"/>
              </a:rPr>
              <a:t>int</a:t>
            </a:r>
            <a:r>
              <a:rPr lang="en-US" sz="1800" dirty="0">
                <a:latin typeface="Calibri" pitchFamily="34" charset="0"/>
              </a:rPr>
              <a:t>:</a:t>
            </a:r>
          </a:p>
        </p:txBody>
      </p:sp>
      <p:sp>
        <p:nvSpPr>
          <p:cNvPr id="100" name="Rectangle 99"/>
          <p:cNvSpPr/>
          <p:nvPr/>
        </p:nvSpPr>
        <p:spPr bwMode="auto">
          <a:xfrm>
            <a:off x="457200" y="3200400"/>
            <a:ext cx="70866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606607" y="3276603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1899924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16" name="Rectangle 115"/>
          <p:cNvSpPr/>
          <p:nvPr/>
        </p:nvSpPr>
        <p:spPr bwMode="auto">
          <a:xfrm>
            <a:off x="2135242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 bwMode="auto">
          <a:xfrm>
            <a:off x="2360367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18" name="Rectangle 117"/>
          <p:cNvSpPr/>
          <p:nvPr/>
        </p:nvSpPr>
        <p:spPr bwMode="auto">
          <a:xfrm>
            <a:off x="3587907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19" name="Rectangle 118"/>
          <p:cNvSpPr/>
          <p:nvPr/>
        </p:nvSpPr>
        <p:spPr bwMode="auto">
          <a:xfrm>
            <a:off x="1120788" y="3375269"/>
            <a:ext cx="619789" cy="26311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20" name="Rectangle 119"/>
          <p:cNvSpPr/>
          <p:nvPr/>
        </p:nvSpPr>
        <p:spPr bwMode="auto">
          <a:xfrm>
            <a:off x="715928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21" name="Rectangle 120"/>
          <p:cNvSpPr/>
          <p:nvPr/>
        </p:nvSpPr>
        <p:spPr bwMode="auto">
          <a:xfrm>
            <a:off x="2596309" y="3375269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22" name="Rectangle 121"/>
          <p:cNvSpPr/>
          <p:nvPr/>
        </p:nvSpPr>
        <p:spPr bwMode="auto">
          <a:xfrm>
            <a:off x="3336537" y="3375269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 bwMode="auto">
          <a:xfrm>
            <a:off x="3084544" y="3375269"/>
            <a:ext cx="252617" cy="26311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24" name="Rectangle 123"/>
          <p:cNvSpPr/>
          <p:nvPr/>
        </p:nvSpPr>
        <p:spPr bwMode="auto">
          <a:xfrm>
            <a:off x="2832550" y="3375269"/>
            <a:ext cx="252617" cy="263110"/>
          </a:xfrm>
          <a:prstGeom prst="rect">
            <a:avLst/>
          </a:prstGeom>
          <a:solidFill>
            <a:srgbClr val="A9E39D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 bwMode="auto">
          <a:xfrm>
            <a:off x="4080935" y="3279846"/>
            <a:ext cx="3321928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5374252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 bwMode="auto">
          <a:xfrm>
            <a:off x="5609570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06" name="Rectangle 105"/>
          <p:cNvSpPr/>
          <p:nvPr/>
        </p:nvSpPr>
        <p:spPr bwMode="auto">
          <a:xfrm>
            <a:off x="5834695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07" name="Rectangle 106"/>
          <p:cNvSpPr/>
          <p:nvPr/>
        </p:nvSpPr>
        <p:spPr bwMode="auto">
          <a:xfrm>
            <a:off x="7062235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08" name="Rectangle 107"/>
          <p:cNvSpPr/>
          <p:nvPr/>
        </p:nvSpPr>
        <p:spPr bwMode="auto">
          <a:xfrm>
            <a:off x="4595116" y="3378512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09" name="Rectangle 108"/>
          <p:cNvSpPr/>
          <p:nvPr/>
        </p:nvSpPr>
        <p:spPr bwMode="auto">
          <a:xfrm>
            <a:off x="4190256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10" name="Rectangle 109"/>
          <p:cNvSpPr/>
          <p:nvPr/>
        </p:nvSpPr>
        <p:spPr bwMode="auto">
          <a:xfrm>
            <a:off x="6070637" y="3378512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6810865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12" name="Rectangle 111"/>
          <p:cNvSpPr/>
          <p:nvPr/>
        </p:nvSpPr>
        <p:spPr bwMode="auto">
          <a:xfrm>
            <a:off x="6558872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13" name="Rectangle 112"/>
          <p:cNvSpPr/>
          <p:nvPr/>
        </p:nvSpPr>
        <p:spPr bwMode="auto">
          <a:xfrm>
            <a:off x="6306878" y="3378512"/>
            <a:ext cx="252617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cxnSp>
        <p:nvCxnSpPr>
          <p:cNvPr id="231" name="Shape 230"/>
          <p:cNvCxnSpPr>
            <a:stCxn id="129" idx="2"/>
            <a:endCxn id="100" idx="3"/>
          </p:cNvCxnSpPr>
          <p:nvPr/>
        </p:nvCxnSpPr>
        <p:spPr bwMode="auto">
          <a:xfrm rot="5400000">
            <a:off x="7054128" y="2623272"/>
            <a:ext cx="1373222" cy="393878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hape 131"/>
          <p:cNvCxnSpPr>
            <a:stCxn id="128" idx="1"/>
            <a:endCxn id="108" idx="0"/>
          </p:cNvCxnSpPr>
          <p:nvPr/>
        </p:nvCxnSpPr>
        <p:spPr bwMode="auto">
          <a:xfrm rot="10800000" flipV="1">
            <a:off x="4905012" y="1998176"/>
            <a:ext cx="1661067" cy="1380336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Shape 133"/>
          <p:cNvCxnSpPr>
            <a:stCxn id="128" idx="1"/>
            <a:endCxn id="119" idx="0"/>
          </p:cNvCxnSpPr>
          <p:nvPr/>
        </p:nvCxnSpPr>
        <p:spPr bwMode="auto">
          <a:xfrm rot="10800000" flipV="1">
            <a:off x="1430684" y="1998175"/>
            <a:ext cx="5135395" cy="1377093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3429000" y="1981200"/>
            <a:ext cx="1529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compare both</a:t>
            </a:r>
          </a:p>
        </p:txBody>
      </p:sp>
      <p:cxnSp>
        <p:nvCxnSpPr>
          <p:cNvPr id="136" name="Straight Connector 135"/>
          <p:cNvCxnSpPr/>
          <p:nvPr/>
        </p:nvCxnSpPr>
        <p:spPr bwMode="auto">
          <a:xfrm rot="5400000">
            <a:off x="636949" y="3171463"/>
            <a:ext cx="400914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8" name="TextBox 137"/>
          <p:cNvSpPr txBox="1"/>
          <p:nvPr/>
        </p:nvSpPr>
        <p:spPr>
          <a:xfrm>
            <a:off x="457200" y="2641599"/>
            <a:ext cx="1021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valid?  +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418537" y="2641599"/>
            <a:ext cx="1691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match: yes = hit</a:t>
            </a:r>
          </a:p>
        </p:txBody>
      </p:sp>
      <p:cxnSp>
        <p:nvCxnSpPr>
          <p:cNvPr id="143" name="Elbow Connector 142"/>
          <p:cNvCxnSpPr>
            <a:stCxn id="130" idx="2"/>
            <a:endCxn id="124" idx="2"/>
          </p:cNvCxnSpPr>
          <p:nvPr/>
        </p:nvCxnSpPr>
        <p:spPr bwMode="auto">
          <a:xfrm rot="5400000">
            <a:off x="5016510" y="75949"/>
            <a:ext cx="1504779" cy="5620080"/>
          </a:xfrm>
          <a:prstGeom prst="bentConnector3">
            <a:avLst>
              <a:gd name="adj1" fmla="val 148388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5" name="TextBox 144"/>
          <p:cNvSpPr txBox="1"/>
          <p:nvPr/>
        </p:nvSpPr>
        <p:spPr>
          <a:xfrm>
            <a:off x="5105400" y="4355068"/>
            <a:ext cx="1301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block offset</a:t>
            </a:r>
          </a:p>
        </p:txBody>
      </p:sp>
      <p:sp>
        <p:nvSpPr>
          <p:cNvPr id="43" name="Down Arrow 42"/>
          <p:cNvSpPr/>
          <p:nvPr/>
        </p:nvSpPr>
        <p:spPr bwMode="auto">
          <a:xfrm flipV="1">
            <a:off x="2717407" y="3733800"/>
            <a:ext cx="733658" cy="1066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03399" y="4812268"/>
            <a:ext cx="2570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short </a:t>
            </a:r>
            <a:r>
              <a:rPr lang="en-US" sz="1800" dirty="0" err="1">
                <a:latin typeface="Calibri" pitchFamily="34" charset="0"/>
              </a:rPr>
              <a:t>int</a:t>
            </a:r>
            <a:r>
              <a:rPr lang="en-US" sz="1800" dirty="0">
                <a:latin typeface="Calibri" pitchFamily="34" charset="0"/>
              </a:rPr>
              <a:t> (2 Bytes) is here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562600"/>
            <a:ext cx="79785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itchFamily="34" charset="0"/>
              </a:rPr>
              <a:t>No match: </a:t>
            </a:r>
          </a:p>
          <a:p>
            <a:pPr marL="228600" indent="-228600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</a:rPr>
              <a:t>One line in set is selected for eviction and replacement</a:t>
            </a:r>
          </a:p>
          <a:p>
            <a:pPr marL="228600" indent="-228600">
              <a:buFont typeface="Arial" pitchFamily="34" charset="0"/>
              <a:buChar char="•"/>
            </a:pPr>
            <a:r>
              <a:rPr lang="en-US" dirty="0">
                <a:latin typeface="Calibri" pitchFamily="34" charset="0"/>
              </a:rPr>
              <a:t>Replacement policies: random, least recently used (LRU),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02" name="Rectangle 50"/>
          <p:cNvSpPr>
            <a:spLocks noChangeArrowheads="1"/>
          </p:cNvSpPr>
          <p:nvPr/>
        </p:nvSpPr>
        <p:spPr bwMode="auto">
          <a:xfrm>
            <a:off x="3922713" y="5213015"/>
            <a:ext cx="2662237" cy="397545"/>
          </a:xfrm>
          <a:prstGeom prst="rect">
            <a:avLst/>
          </a:prstGeom>
          <a:solidFill>
            <a:srgbClr val="DEDFF5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prstTxWarp prst="textNoShape">
              <a:avLst/>
            </a:prstTxWarp>
            <a:spAutoFit/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801" name="Rectangle 49"/>
          <p:cNvSpPr>
            <a:spLocks noChangeArrowheads="1"/>
          </p:cNvSpPr>
          <p:nvPr/>
        </p:nvSpPr>
        <p:spPr bwMode="auto">
          <a:xfrm>
            <a:off x="3922713" y="6030577"/>
            <a:ext cx="2662237" cy="397545"/>
          </a:xfrm>
          <a:prstGeom prst="rect">
            <a:avLst/>
          </a:prstGeom>
          <a:solidFill>
            <a:srgbClr val="DEDFF5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 anchor="ctr">
            <a:prstTxWarp prst="textNoShape">
              <a:avLst/>
            </a:prstTxWarp>
            <a:spAutoFit/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101182" cy="762000"/>
          </a:xfrm>
        </p:spPr>
        <p:txBody>
          <a:bodyPr/>
          <a:lstStyle/>
          <a:p>
            <a:r>
              <a:rPr lang="en-US" dirty="0"/>
              <a:t>2-Way Set Associative Cache Simulation</a:t>
            </a:r>
          </a:p>
        </p:txBody>
      </p:sp>
      <p:sp>
        <p:nvSpPr>
          <p:cNvPr id="202755" name="Rectangle 3"/>
          <p:cNvSpPr>
            <a:spLocks noChangeArrowheads="1"/>
          </p:cNvSpPr>
          <p:nvPr/>
        </p:nvSpPr>
        <p:spPr bwMode="auto">
          <a:xfrm>
            <a:off x="3245672" y="1731417"/>
            <a:ext cx="5475287" cy="285975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4-bit addresses (M=16 bytes) </a:t>
            </a:r>
          </a:p>
          <a:p>
            <a:r>
              <a:rPr lang="en-US" sz="2000" b="0" dirty="0">
                <a:latin typeface="Calibri"/>
                <a:cs typeface="Calibri"/>
              </a:rPr>
              <a:t>S=2 sets, B=2 bytes/block </a:t>
            </a:r>
          </a:p>
          <a:p>
            <a:endParaRPr lang="en-US" sz="2000" b="0" dirty="0">
              <a:latin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Address trace (reads, one byte per read):</a:t>
            </a:r>
          </a:p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	</a:t>
            </a:r>
            <a:r>
              <a:rPr lang="en-US" sz="2000" dirty="0">
                <a:latin typeface="Calibri"/>
                <a:cs typeface="Calibri"/>
              </a:rPr>
              <a:t>0	[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00</a:t>
            </a:r>
            <a:r>
              <a:rPr lang="en-US" sz="2000" u="sng" dirty="0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r>
              <a:rPr lang="en-US" sz="2000" dirty="0">
                <a:solidFill>
                  <a:srgbClr val="008000"/>
                </a:solidFill>
                <a:latin typeface="Calibri"/>
                <a:cs typeface="Calibri"/>
              </a:rPr>
              <a:t>0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1	[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00</a:t>
            </a:r>
            <a:r>
              <a:rPr lang="en-US" sz="2000" u="sng" dirty="0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r>
              <a:rPr lang="en-US" sz="2000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7	[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01</a:t>
            </a:r>
            <a:r>
              <a:rPr lang="en-US" sz="2000" u="sng" dirty="0">
                <a:solidFill>
                  <a:srgbClr val="0070C0"/>
                </a:solidFill>
                <a:latin typeface="Calibri"/>
                <a:cs typeface="Calibri"/>
              </a:rPr>
              <a:t>1</a:t>
            </a:r>
            <a:r>
              <a:rPr lang="en-US" sz="2000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8	[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10</a:t>
            </a:r>
            <a:r>
              <a:rPr lang="en-US" sz="2000" u="sng" dirty="0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r>
              <a:rPr lang="en-US" sz="2000" dirty="0">
                <a:solidFill>
                  <a:srgbClr val="008000"/>
                </a:solidFill>
                <a:latin typeface="Calibri"/>
                <a:cs typeface="Calibri"/>
              </a:rPr>
              <a:t>0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],  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	0	[</a:t>
            </a: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00</a:t>
            </a:r>
            <a:r>
              <a:rPr lang="en-US" sz="2000" u="sng" dirty="0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r>
              <a:rPr lang="en-US" sz="2000" dirty="0">
                <a:solidFill>
                  <a:srgbClr val="008000"/>
                </a:solidFill>
                <a:latin typeface="Calibri"/>
                <a:cs typeface="Calibri"/>
              </a:rPr>
              <a:t>0</a:t>
            </a:r>
            <a:r>
              <a:rPr lang="en-US" sz="2000" baseline="-25000" dirty="0">
                <a:latin typeface="Calibri"/>
                <a:cs typeface="Calibri"/>
              </a:rPr>
              <a:t>2</a:t>
            </a:r>
            <a:r>
              <a:rPr lang="en-US" sz="2000" dirty="0">
                <a:latin typeface="Calibri"/>
                <a:cs typeface="Calibri"/>
              </a:rPr>
              <a:t>]</a:t>
            </a:r>
          </a:p>
        </p:txBody>
      </p:sp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457200" y="1841500"/>
            <a:ext cx="703262" cy="285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xx</a:t>
            </a:r>
          </a:p>
        </p:txBody>
      </p:sp>
      <p:sp>
        <p:nvSpPr>
          <p:cNvPr id="202757" name="Rectangle 5"/>
          <p:cNvSpPr>
            <a:spLocks noChangeArrowheads="1"/>
          </p:cNvSpPr>
          <p:nvPr/>
        </p:nvSpPr>
        <p:spPr bwMode="auto">
          <a:xfrm>
            <a:off x="576262" y="1507455"/>
            <a:ext cx="52638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t=2</a:t>
            </a:r>
          </a:p>
        </p:txBody>
      </p:sp>
      <p:sp>
        <p:nvSpPr>
          <p:cNvPr id="202758" name="Rectangle 6"/>
          <p:cNvSpPr>
            <a:spLocks noChangeArrowheads="1"/>
          </p:cNvSpPr>
          <p:nvPr/>
        </p:nvSpPr>
        <p:spPr bwMode="auto">
          <a:xfrm>
            <a:off x="1204912" y="1507455"/>
            <a:ext cx="553937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s=1</a:t>
            </a:r>
          </a:p>
        </p:txBody>
      </p:sp>
      <p:sp>
        <p:nvSpPr>
          <p:cNvPr id="202759" name="Rectangle 7"/>
          <p:cNvSpPr>
            <a:spLocks noChangeArrowheads="1"/>
          </p:cNvSpPr>
          <p:nvPr/>
        </p:nvSpPr>
        <p:spPr bwMode="auto">
          <a:xfrm>
            <a:off x="1944687" y="1507455"/>
            <a:ext cx="581238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b=1</a:t>
            </a:r>
          </a:p>
        </p:txBody>
      </p:sp>
      <p:sp>
        <p:nvSpPr>
          <p:cNvPr id="202760" name="Rectangle 8"/>
          <p:cNvSpPr>
            <a:spLocks noChangeArrowheads="1"/>
          </p:cNvSpPr>
          <p:nvPr/>
        </p:nvSpPr>
        <p:spPr bwMode="auto">
          <a:xfrm>
            <a:off x="1174750" y="1841500"/>
            <a:ext cx="703262" cy="285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70C0"/>
                </a:solidFill>
                <a:latin typeface="Calibri"/>
                <a:cs typeface="Calibri"/>
              </a:rPr>
              <a:t>x</a:t>
            </a:r>
          </a:p>
        </p:txBody>
      </p:sp>
      <p:sp>
        <p:nvSpPr>
          <p:cNvPr id="202761" name="Rectangle 9"/>
          <p:cNvSpPr>
            <a:spLocks noChangeArrowheads="1"/>
          </p:cNvSpPr>
          <p:nvPr/>
        </p:nvSpPr>
        <p:spPr bwMode="auto">
          <a:xfrm>
            <a:off x="1890712" y="1841500"/>
            <a:ext cx="703263" cy="285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8000"/>
                </a:solidFill>
                <a:latin typeface="Calibri"/>
                <a:cs typeface="Calibri"/>
              </a:rPr>
              <a:t>x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922713" y="5106988"/>
            <a:ext cx="2662237" cy="306387"/>
            <a:chOff x="2027" y="3244"/>
            <a:chExt cx="1677" cy="193"/>
          </a:xfrm>
          <a:solidFill>
            <a:srgbClr val="DEDFF5"/>
          </a:solidFill>
        </p:grpSpPr>
        <p:sp>
          <p:nvSpPr>
            <p:cNvPr id="202763" name="Rectangle 11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202764" name="Rectangle 12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endParaRPr lang="en-US" sz="2000" b="0" dirty="0">
                <a:latin typeface="Calibri"/>
                <a:cs typeface="Calibri"/>
              </a:endParaRPr>
            </a:p>
          </p:txBody>
        </p:sp>
        <p:sp>
          <p:nvSpPr>
            <p:cNvPr id="202765" name="Rectangle 13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endParaRPr lang="en-US" sz="2000" b="0" dirty="0">
                <a:latin typeface="Calibri"/>
                <a:cs typeface="Calibri"/>
              </a:endParaRPr>
            </a:p>
          </p:txBody>
        </p:sp>
      </p:grpSp>
      <p:sp>
        <p:nvSpPr>
          <p:cNvPr id="202766" name="Rectangle 14"/>
          <p:cNvSpPr>
            <a:spLocks noChangeArrowheads="1"/>
          </p:cNvSpPr>
          <p:nvPr/>
        </p:nvSpPr>
        <p:spPr bwMode="auto">
          <a:xfrm>
            <a:off x="4071938" y="4724400"/>
            <a:ext cx="316918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alibri"/>
                <a:cs typeface="Calibri"/>
              </a:rPr>
              <a:t>v</a:t>
            </a: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202767" name="Rectangle 15"/>
          <p:cNvSpPr>
            <a:spLocks noChangeArrowheads="1"/>
          </p:cNvSpPr>
          <p:nvPr/>
        </p:nvSpPr>
        <p:spPr bwMode="auto">
          <a:xfrm>
            <a:off x="4549775" y="4724400"/>
            <a:ext cx="538533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C00000"/>
                </a:solidFill>
                <a:latin typeface="Calibri"/>
                <a:cs typeface="Calibri"/>
              </a:rPr>
              <a:t>Tag</a:t>
            </a:r>
          </a:p>
        </p:txBody>
      </p:sp>
      <p:sp>
        <p:nvSpPr>
          <p:cNvPr id="202768" name="Rectangle 16"/>
          <p:cNvSpPr>
            <a:spLocks noChangeArrowheads="1"/>
          </p:cNvSpPr>
          <p:nvPr/>
        </p:nvSpPr>
        <p:spPr bwMode="auto">
          <a:xfrm>
            <a:off x="5410200" y="4724400"/>
            <a:ext cx="757819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Block</a:t>
            </a:r>
          </a:p>
        </p:txBody>
      </p:sp>
      <p:sp>
        <p:nvSpPr>
          <p:cNvPr id="202769" name="Rectangle 17"/>
          <p:cNvSpPr>
            <a:spLocks noChangeArrowheads="1"/>
          </p:cNvSpPr>
          <p:nvPr/>
        </p:nvSpPr>
        <p:spPr bwMode="auto">
          <a:xfrm>
            <a:off x="3922713" y="5416550"/>
            <a:ext cx="55721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>
                <a:latin typeface="Calibri"/>
                <a:cs typeface="Calibri"/>
              </a:rPr>
              <a:t>0</a:t>
            </a:r>
          </a:p>
        </p:txBody>
      </p:sp>
      <p:sp>
        <p:nvSpPr>
          <p:cNvPr id="202770" name="Rectangle 18"/>
          <p:cNvSpPr>
            <a:spLocks noChangeArrowheads="1"/>
          </p:cNvSpPr>
          <p:nvPr/>
        </p:nvSpPr>
        <p:spPr bwMode="auto">
          <a:xfrm>
            <a:off x="4497388" y="5416550"/>
            <a:ext cx="65246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71" name="Rectangle 19"/>
          <p:cNvSpPr>
            <a:spLocks noChangeArrowheads="1"/>
          </p:cNvSpPr>
          <p:nvPr/>
        </p:nvSpPr>
        <p:spPr bwMode="auto">
          <a:xfrm>
            <a:off x="5165725" y="5416550"/>
            <a:ext cx="141922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72" name="Rectangle 20"/>
          <p:cNvSpPr>
            <a:spLocks noChangeArrowheads="1"/>
          </p:cNvSpPr>
          <p:nvPr/>
        </p:nvSpPr>
        <p:spPr bwMode="auto">
          <a:xfrm>
            <a:off x="3922713" y="5924550"/>
            <a:ext cx="55721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>
                <a:latin typeface="Calibri"/>
                <a:cs typeface="Calibri"/>
              </a:rPr>
              <a:t>0</a:t>
            </a:r>
          </a:p>
        </p:txBody>
      </p:sp>
      <p:sp>
        <p:nvSpPr>
          <p:cNvPr id="202773" name="Rectangle 21"/>
          <p:cNvSpPr>
            <a:spLocks noChangeArrowheads="1"/>
          </p:cNvSpPr>
          <p:nvPr/>
        </p:nvSpPr>
        <p:spPr bwMode="auto">
          <a:xfrm>
            <a:off x="4497388" y="5924550"/>
            <a:ext cx="65246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74" name="Rectangle 22"/>
          <p:cNvSpPr>
            <a:spLocks noChangeArrowheads="1"/>
          </p:cNvSpPr>
          <p:nvPr/>
        </p:nvSpPr>
        <p:spPr bwMode="auto">
          <a:xfrm>
            <a:off x="5165725" y="5924550"/>
            <a:ext cx="141922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75" name="Rectangle 23"/>
          <p:cNvSpPr>
            <a:spLocks noChangeArrowheads="1"/>
          </p:cNvSpPr>
          <p:nvPr/>
        </p:nvSpPr>
        <p:spPr bwMode="auto">
          <a:xfrm>
            <a:off x="3922713" y="6248400"/>
            <a:ext cx="55721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>
                <a:latin typeface="Calibri"/>
                <a:cs typeface="Calibri"/>
              </a:rPr>
              <a:t>0</a:t>
            </a:r>
          </a:p>
        </p:txBody>
      </p:sp>
      <p:sp>
        <p:nvSpPr>
          <p:cNvPr id="202776" name="Rectangle 24"/>
          <p:cNvSpPr>
            <a:spLocks noChangeArrowheads="1"/>
          </p:cNvSpPr>
          <p:nvPr/>
        </p:nvSpPr>
        <p:spPr bwMode="auto">
          <a:xfrm>
            <a:off x="4497388" y="6248400"/>
            <a:ext cx="652462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77" name="Rectangle 25"/>
          <p:cNvSpPr>
            <a:spLocks noChangeArrowheads="1"/>
          </p:cNvSpPr>
          <p:nvPr/>
        </p:nvSpPr>
        <p:spPr bwMode="auto">
          <a:xfrm>
            <a:off x="5165725" y="6248400"/>
            <a:ext cx="141922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202779" name="Text Box 27"/>
          <p:cNvSpPr txBox="1">
            <a:spLocks noChangeArrowheads="1"/>
          </p:cNvSpPr>
          <p:nvPr/>
        </p:nvSpPr>
        <p:spPr bwMode="auto">
          <a:xfrm>
            <a:off x="6657975" y="3057921"/>
            <a:ext cx="647111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 dirty="0">
                <a:solidFill>
                  <a:srgbClr val="C00000"/>
                </a:solidFill>
                <a:latin typeface="Calibri"/>
                <a:cs typeface="Calibri"/>
              </a:rPr>
              <a:t>miss</a:t>
            </a:r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3922712" y="5096908"/>
            <a:ext cx="2662237" cy="306387"/>
            <a:chOff x="2027" y="3244"/>
            <a:chExt cx="1677" cy="193"/>
          </a:xfrm>
          <a:solidFill>
            <a:srgbClr val="DEDFF5"/>
          </a:solidFill>
        </p:grpSpPr>
        <p:sp>
          <p:nvSpPr>
            <p:cNvPr id="202781" name="Rectangle 29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02782" name="Rectangle 30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 dirty="0">
                  <a:latin typeface="Calibri"/>
                  <a:cs typeface="Calibri"/>
                </a:rPr>
                <a:t>00</a:t>
              </a:r>
            </a:p>
          </p:txBody>
        </p:sp>
        <p:sp>
          <p:nvSpPr>
            <p:cNvPr id="202783" name="Rectangle 31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M[0-1]</a:t>
              </a:r>
            </a:p>
          </p:txBody>
        </p:sp>
      </p:grpSp>
      <p:sp>
        <p:nvSpPr>
          <p:cNvPr id="202784" name="Text Box 32"/>
          <p:cNvSpPr txBox="1">
            <a:spLocks noChangeArrowheads="1"/>
          </p:cNvSpPr>
          <p:nvPr/>
        </p:nvSpPr>
        <p:spPr bwMode="auto">
          <a:xfrm>
            <a:off x="6748463" y="3349823"/>
            <a:ext cx="462265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 dirty="0">
                <a:solidFill>
                  <a:srgbClr val="C00000"/>
                </a:solidFill>
                <a:latin typeface="Calibri"/>
                <a:cs typeface="Calibri"/>
              </a:rPr>
              <a:t>hit</a:t>
            </a:r>
          </a:p>
        </p:txBody>
      </p:sp>
      <p:sp>
        <p:nvSpPr>
          <p:cNvPr id="202785" name="Text Box 33"/>
          <p:cNvSpPr txBox="1">
            <a:spLocks noChangeArrowheads="1"/>
          </p:cNvSpPr>
          <p:nvPr/>
        </p:nvSpPr>
        <p:spPr bwMode="auto">
          <a:xfrm>
            <a:off x="6657975" y="3654623"/>
            <a:ext cx="647111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 dirty="0">
                <a:solidFill>
                  <a:srgbClr val="C00000"/>
                </a:solidFill>
                <a:latin typeface="Calibri"/>
                <a:cs typeface="Calibri"/>
              </a:rPr>
              <a:t>miss</a:t>
            </a:r>
          </a:p>
        </p:txBody>
      </p: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3922713" y="5921375"/>
            <a:ext cx="2662237" cy="306387"/>
            <a:chOff x="2027" y="3244"/>
            <a:chExt cx="1677" cy="193"/>
          </a:xfrm>
          <a:solidFill>
            <a:srgbClr val="DEDFF5"/>
          </a:solidFill>
        </p:grpSpPr>
        <p:sp>
          <p:nvSpPr>
            <p:cNvPr id="202787" name="Rectangle 35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02788" name="Rectangle 36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 dirty="0">
                  <a:latin typeface="Calibri"/>
                  <a:cs typeface="Calibri"/>
                </a:rPr>
                <a:t>01</a:t>
              </a:r>
            </a:p>
          </p:txBody>
        </p:sp>
        <p:sp>
          <p:nvSpPr>
            <p:cNvPr id="202789" name="Rectangle 37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M[6-7]</a:t>
              </a:r>
            </a:p>
          </p:txBody>
        </p:sp>
      </p:grpSp>
      <p:sp>
        <p:nvSpPr>
          <p:cNvPr id="202790" name="Text Box 38"/>
          <p:cNvSpPr txBox="1">
            <a:spLocks noChangeArrowheads="1"/>
          </p:cNvSpPr>
          <p:nvPr/>
        </p:nvSpPr>
        <p:spPr bwMode="auto">
          <a:xfrm>
            <a:off x="6657975" y="3959423"/>
            <a:ext cx="647111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 dirty="0">
                <a:solidFill>
                  <a:srgbClr val="C00000"/>
                </a:solidFill>
                <a:latin typeface="Calibri"/>
                <a:cs typeface="Calibri"/>
              </a:rPr>
              <a:t>miss</a:t>
            </a:r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3922713" y="5413375"/>
            <a:ext cx="2662237" cy="306388"/>
            <a:chOff x="2027" y="3244"/>
            <a:chExt cx="1677" cy="193"/>
          </a:xfrm>
          <a:solidFill>
            <a:srgbClr val="DEDFF5"/>
          </a:solidFill>
        </p:grpSpPr>
        <p:sp>
          <p:nvSpPr>
            <p:cNvPr id="202792" name="Rectangle 40"/>
            <p:cNvSpPr>
              <a:spLocks noChangeArrowheads="1"/>
            </p:cNvSpPr>
            <p:nvPr/>
          </p:nvSpPr>
          <p:spPr bwMode="auto">
            <a:xfrm>
              <a:off x="2027" y="3244"/>
              <a:ext cx="35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202793" name="Rectangle 41"/>
            <p:cNvSpPr>
              <a:spLocks noChangeArrowheads="1"/>
            </p:cNvSpPr>
            <p:nvPr/>
          </p:nvSpPr>
          <p:spPr bwMode="auto">
            <a:xfrm>
              <a:off x="2389" y="3244"/>
              <a:ext cx="411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 dirty="0">
                  <a:latin typeface="Calibri"/>
                  <a:cs typeface="Calibri"/>
                </a:rPr>
                <a:t>10</a:t>
              </a:r>
            </a:p>
          </p:txBody>
        </p:sp>
        <p:sp>
          <p:nvSpPr>
            <p:cNvPr id="202794" name="Rectangle 42"/>
            <p:cNvSpPr>
              <a:spLocks noChangeArrowheads="1"/>
            </p:cNvSpPr>
            <p:nvPr/>
          </p:nvSpPr>
          <p:spPr bwMode="auto">
            <a:xfrm>
              <a:off x="2810" y="3244"/>
              <a:ext cx="894" cy="19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M[8-9]</a:t>
              </a:r>
            </a:p>
          </p:txBody>
        </p:sp>
      </p:grpSp>
      <p:sp>
        <p:nvSpPr>
          <p:cNvPr id="202795" name="Text Box 43"/>
          <p:cNvSpPr txBox="1">
            <a:spLocks noChangeArrowheads="1"/>
          </p:cNvSpPr>
          <p:nvPr/>
        </p:nvSpPr>
        <p:spPr bwMode="auto">
          <a:xfrm>
            <a:off x="6748463" y="4264223"/>
            <a:ext cx="462265" cy="30777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2000" b="0" dirty="0">
                <a:solidFill>
                  <a:srgbClr val="C00000"/>
                </a:solidFill>
                <a:latin typeface="Calibri"/>
                <a:cs typeface="Calibri"/>
              </a:rPr>
              <a:t>hit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25750" y="5416550"/>
            <a:ext cx="858838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27045" y="5181600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alibri" pitchFamily="34" charset="0"/>
              </a:rPr>
              <a:t>Set 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27045" y="603146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alibri" pitchFamily="34" charset="0"/>
              </a:rPr>
              <a:t>Set 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79" grpId="0"/>
      <p:bldP spid="202784" grpId="0"/>
      <p:bldP spid="202785" grpId="0"/>
      <p:bldP spid="202790" grpId="0"/>
      <p:bldP spid="20279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Cache Organization (S, E, B)</a:t>
            </a:r>
            <a:endParaRPr lang="en-US" dirty="0"/>
          </a:p>
        </p:txBody>
      </p:sp>
      <p:sp>
        <p:nvSpPr>
          <p:cNvPr id="8" name="AutoShape 16"/>
          <p:cNvSpPr>
            <a:spLocks/>
          </p:cNvSpPr>
          <p:nvPr/>
        </p:nvSpPr>
        <p:spPr bwMode="auto">
          <a:xfrm rot="5400000">
            <a:off x="4114801" y="-495835"/>
            <a:ext cx="228600" cy="4648201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grpSp>
        <p:nvGrpSpPr>
          <p:cNvPr id="3" name="Group 79"/>
          <p:cNvGrpSpPr/>
          <p:nvPr/>
        </p:nvGrpSpPr>
        <p:grpSpPr>
          <a:xfrm>
            <a:off x="1905000" y="2078999"/>
            <a:ext cx="4648200" cy="492484"/>
            <a:chOff x="1637766" y="1995289"/>
            <a:chExt cx="4648200" cy="492484"/>
          </a:xfrm>
        </p:grpSpPr>
        <p:sp>
          <p:nvSpPr>
            <p:cNvPr id="34" name="Rectangle 33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cxnSp>
          <p:nvCxnSpPr>
            <p:cNvPr id="38" name="Straight Connector 37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Rectangle 36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cxnSp>
        <p:nvCxnSpPr>
          <p:cNvPr id="45" name="Straight Connector 44"/>
          <p:cNvCxnSpPr/>
          <p:nvPr/>
        </p:nvCxnSpPr>
        <p:spPr bwMode="auto">
          <a:xfrm>
            <a:off x="2133600" y="4019283"/>
            <a:ext cx="4267200" cy="11116"/>
          </a:xfrm>
          <a:prstGeom prst="line">
            <a:avLst/>
          </a:prstGeom>
          <a:noFill/>
          <a:ln w="762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AutoShape 16"/>
          <p:cNvSpPr>
            <a:spLocks/>
          </p:cNvSpPr>
          <p:nvPr/>
        </p:nvSpPr>
        <p:spPr bwMode="auto">
          <a:xfrm>
            <a:off x="1524000" y="2067735"/>
            <a:ext cx="228600" cy="2732865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886200" y="134463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E = 2</a:t>
            </a:r>
            <a:r>
              <a:rPr lang="en-US" sz="1800" baseline="30000" dirty="0">
                <a:latin typeface="Calibri" pitchFamily="34" charset="0"/>
              </a:rPr>
              <a:t>e</a:t>
            </a:r>
            <a:r>
              <a:rPr lang="en-US" sz="1800" dirty="0">
                <a:latin typeface="Calibri" pitchFamily="34" charset="0"/>
              </a:rPr>
              <a:t> lines per set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7333" y="3244405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 = 2</a:t>
            </a:r>
            <a:r>
              <a:rPr lang="en-US" sz="1800" baseline="30000" dirty="0">
                <a:latin typeface="Calibri" pitchFamily="34" charset="0"/>
              </a:rPr>
              <a:t>s</a:t>
            </a:r>
            <a:r>
              <a:rPr lang="en-US" sz="1800" dirty="0">
                <a:latin typeface="Calibri" pitchFamily="34" charset="0"/>
              </a:rPr>
              <a:t> sets</a:t>
            </a:r>
          </a:p>
        </p:txBody>
      </p:sp>
      <p:cxnSp>
        <p:nvCxnSpPr>
          <p:cNvPr id="59" name="Straight Connector 58"/>
          <p:cNvCxnSpPr>
            <a:endCxn id="61" idx="1"/>
          </p:cNvCxnSpPr>
          <p:nvPr/>
        </p:nvCxnSpPr>
        <p:spPr bwMode="auto">
          <a:xfrm flipV="1">
            <a:off x="6553202" y="2070349"/>
            <a:ext cx="596798" cy="10416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7150000" y="1885683"/>
            <a:ext cx="470000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</a:rPr>
              <a:t>set</a:t>
            </a:r>
          </a:p>
        </p:txBody>
      </p:sp>
      <p:cxnSp>
        <p:nvCxnSpPr>
          <p:cNvPr id="62" name="Straight Connector 61"/>
          <p:cNvCxnSpPr/>
          <p:nvPr/>
        </p:nvCxnSpPr>
        <p:spPr bwMode="auto">
          <a:xfrm>
            <a:off x="6096000" y="2338583"/>
            <a:ext cx="914400" cy="13845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6971766" y="227835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</a:rPr>
              <a:t>line</a:t>
            </a:r>
          </a:p>
        </p:txBody>
      </p:sp>
      <p:grpSp>
        <p:nvGrpSpPr>
          <p:cNvPr id="4" name="Group 80"/>
          <p:cNvGrpSpPr/>
          <p:nvPr/>
        </p:nvGrpSpPr>
        <p:grpSpPr>
          <a:xfrm>
            <a:off x="1905000" y="2647683"/>
            <a:ext cx="4648200" cy="492484"/>
            <a:chOff x="1637766" y="1995289"/>
            <a:chExt cx="4648200" cy="492484"/>
          </a:xfrm>
        </p:grpSpPr>
        <p:sp>
          <p:nvSpPr>
            <p:cNvPr id="82" name="Rectangle 81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83" name="Rectangle 82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84" name="Rectangle 83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cxnSp>
          <p:nvCxnSpPr>
            <p:cNvPr id="86" name="Straight Connector 85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5" name="Rectangle 84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5" name="Group 86"/>
          <p:cNvGrpSpPr/>
          <p:nvPr/>
        </p:nvGrpSpPr>
        <p:grpSpPr>
          <a:xfrm>
            <a:off x="1905000" y="3221999"/>
            <a:ext cx="4648200" cy="492484"/>
            <a:chOff x="1637766" y="1995289"/>
            <a:chExt cx="4648200" cy="492484"/>
          </a:xfrm>
        </p:grpSpPr>
        <p:sp>
          <p:nvSpPr>
            <p:cNvPr id="88" name="Rectangle 87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89" name="Rectangle 88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90" name="Rectangle 89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cxnSp>
          <p:nvCxnSpPr>
            <p:cNvPr id="92" name="Straight Connector 91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1" name="Rectangle 90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6" name="Group 92"/>
          <p:cNvGrpSpPr/>
          <p:nvPr/>
        </p:nvGrpSpPr>
        <p:grpSpPr>
          <a:xfrm>
            <a:off x="1905000" y="4288799"/>
            <a:ext cx="4648200" cy="492484"/>
            <a:chOff x="1637766" y="1995289"/>
            <a:chExt cx="4648200" cy="492484"/>
          </a:xfrm>
        </p:grpSpPr>
        <p:sp>
          <p:nvSpPr>
            <p:cNvPr id="94" name="Rectangle 93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95" name="Rectangle 94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96" name="Rectangle 95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cxnSp>
          <p:nvCxnSpPr>
            <p:cNvPr id="98" name="Straight Connector 97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7" name="Rectangle 96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99" name="Trapezoid 98"/>
          <p:cNvSpPr/>
          <p:nvPr/>
        </p:nvSpPr>
        <p:spPr bwMode="auto">
          <a:xfrm>
            <a:off x="2146824" y="4709564"/>
            <a:ext cx="3523449" cy="865914"/>
          </a:xfrm>
          <a:prstGeom prst="trapezoid">
            <a:avLst>
              <a:gd name="adj" fmla="val 135061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2146824" y="5575478"/>
            <a:ext cx="3523449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3645068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3917673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 bwMode="auto">
          <a:xfrm>
            <a:off x="4178468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 bwMode="auto">
          <a:xfrm>
            <a:off x="5092868" y="5689778"/>
            <a:ext cx="4572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B-1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4451073" y="5689778"/>
            <a:ext cx="64179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cxnSp>
        <p:nvCxnSpPr>
          <p:cNvPr id="70" name="Straight Connector 69"/>
          <p:cNvCxnSpPr/>
          <p:nvPr/>
        </p:nvCxnSpPr>
        <p:spPr bwMode="auto">
          <a:xfrm>
            <a:off x="4585224" y="5841384"/>
            <a:ext cx="457200" cy="1588"/>
          </a:xfrm>
          <a:prstGeom prst="line">
            <a:avLst/>
          </a:prstGeom>
          <a:noFill/>
          <a:ln w="381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72" name="Rectangle 71"/>
          <p:cNvSpPr/>
          <p:nvPr/>
        </p:nvSpPr>
        <p:spPr bwMode="auto">
          <a:xfrm>
            <a:off x="2742478" y="5689778"/>
            <a:ext cx="71799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73" name="Rectangle 72"/>
          <p:cNvSpPr/>
          <p:nvPr/>
        </p:nvSpPr>
        <p:spPr bwMode="auto">
          <a:xfrm>
            <a:off x="2273468" y="5702122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77" name="AutoShape 16"/>
          <p:cNvSpPr>
            <a:spLocks/>
          </p:cNvSpPr>
          <p:nvPr/>
        </p:nvSpPr>
        <p:spPr bwMode="auto">
          <a:xfrm rot="16200000" flipV="1">
            <a:off x="4496145" y="5333467"/>
            <a:ext cx="228600" cy="1905000"/>
          </a:xfrm>
          <a:prstGeom prst="leftBrace">
            <a:avLst>
              <a:gd name="adj1" fmla="val 136972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012058" y="6374902"/>
            <a:ext cx="392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B = 2</a:t>
            </a:r>
            <a:r>
              <a:rPr lang="en-US" sz="1800" baseline="30000" dirty="0">
                <a:latin typeface="Calibri" pitchFamily="34" charset="0"/>
              </a:rPr>
              <a:t>b</a:t>
            </a:r>
            <a:r>
              <a:rPr lang="en-US" sz="1800" dirty="0">
                <a:latin typeface="Calibri" pitchFamily="34" charset="0"/>
              </a:rPr>
              <a:t> bytes per cache block (the data)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96000" y="5112603"/>
            <a:ext cx="31512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Cache size:</a:t>
            </a:r>
          </a:p>
          <a:p>
            <a:r>
              <a:rPr lang="en-US" i="1" dirty="0">
                <a:latin typeface="Calibri" pitchFamily="34" charset="0"/>
              </a:rPr>
              <a:t>C = S x E x B data bytes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43288" y="6336268"/>
            <a:ext cx="9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valid bit</a:t>
            </a:r>
          </a:p>
        </p:txBody>
      </p:sp>
      <p:cxnSp>
        <p:nvCxnSpPr>
          <p:cNvPr id="55" name="Straight Connector 54"/>
          <p:cNvCxnSpPr/>
          <p:nvPr/>
        </p:nvCxnSpPr>
        <p:spPr bwMode="auto">
          <a:xfrm rot="5400000" flipH="1" flipV="1">
            <a:off x="2285206" y="6158528"/>
            <a:ext cx="304800" cy="158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2" grpId="0" animBg="1"/>
      <p:bldP spid="73" grpId="0" animBg="1"/>
      <p:bldP spid="77" grpId="0" animBg="1"/>
      <p:bldP spid="78" grpId="0"/>
      <p:bldP spid="100" grpId="0"/>
      <p:bldP spid="5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FB4A-85F0-FE02-318E-A25C211F76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Can S/E/B not be the power of 2s? </a:t>
            </a:r>
          </a:p>
        </p:txBody>
      </p:sp>
    </p:spTree>
    <p:extLst>
      <p:ext uri="{BB962C8B-B14F-4D97-AF65-F5344CB8AC3E}">
        <p14:creationId xmlns:p14="http://schemas.microsoft.com/office/powerpoint/2010/main" val="1226411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Read</a:t>
            </a:r>
          </a:p>
        </p:txBody>
      </p:sp>
      <p:sp>
        <p:nvSpPr>
          <p:cNvPr id="8" name="AutoShape 16"/>
          <p:cNvSpPr>
            <a:spLocks/>
          </p:cNvSpPr>
          <p:nvPr/>
        </p:nvSpPr>
        <p:spPr bwMode="auto">
          <a:xfrm rot="5400000">
            <a:off x="3558235" y="-290401"/>
            <a:ext cx="228600" cy="4237334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grpSp>
        <p:nvGrpSpPr>
          <p:cNvPr id="3" name="Group 79"/>
          <p:cNvGrpSpPr/>
          <p:nvPr/>
        </p:nvGrpSpPr>
        <p:grpSpPr>
          <a:xfrm>
            <a:off x="1553867" y="2078999"/>
            <a:ext cx="4237333" cy="492484"/>
            <a:chOff x="1637766" y="1995289"/>
            <a:chExt cx="4648200" cy="492484"/>
          </a:xfrm>
        </p:grpSpPr>
        <p:sp>
          <p:nvSpPr>
            <p:cNvPr id="34" name="Rectangle 33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cxnSp>
          <p:nvCxnSpPr>
            <p:cNvPr id="38" name="Straight Connector 37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45" name="Straight Connector 44"/>
          <p:cNvCxnSpPr/>
          <p:nvPr/>
        </p:nvCxnSpPr>
        <p:spPr bwMode="auto">
          <a:xfrm>
            <a:off x="1782467" y="4019283"/>
            <a:ext cx="3875673" cy="10096"/>
          </a:xfrm>
          <a:prstGeom prst="line">
            <a:avLst/>
          </a:prstGeom>
          <a:noFill/>
          <a:ln w="762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AutoShape 16"/>
          <p:cNvSpPr>
            <a:spLocks/>
          </p:cNvSpPr>
          <p:nvPr/>
        </p:nvSpPr>
        <p:spPr bwMode="auto">
          <a:xfrm>
            <a:off x="1172867" y="2067735"/>
            <a:ext cx="228600" cy="2732865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300213" y="134463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E = 2</a:t>
            </a:r>
            <a:r>
              <a:rPr lang="en-US" sz="1800" baseline="30000" dirty="0">
                <a:latin typeface="Calibri" pitchFamily="34" charset="0"/>
              </a:rPr>
              <a:t>e</a:t>
            </a:r>
            <a:r>
              <a:rPr lang="en-US" sz="1800" dirty="0">
                <a:latin typeface="Calibri" pitchFamily="34" charset="0"/>
              </a:rPr>
              <a:t> lines per set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00" y="3244405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 = 2</a:t>
            </a:r>
            <a:r>
              <a:rPr lang="en-US" sz="1800" baseline="30000" dirty="0">
                <a:latin typeface="Calibri" pitchFamily="34" charset="0"/>
              </a:rPr>
              <a:t>s</a:t>
            </a:r>
            <a:r>
              <a:rPr lang="en-US" sz="1800" dirty="0">
                <a:latin typeface="Calibri" pitchFamily="34" charset="0"/>
              </a:rPr>
              <a:t> sets</a:t>
            </a:r>
          </a:p>
        </p:txBody>
      </p:sp>
      <p:grpSp>
        <p:nvGrpSpPr>
          <p:cNvPr id="4" name="Group 80"/>
          <p:cNvGrpSpPr/>
          <p:nvPr/>
        </p:nvGrpSpPr>
        <p:grpSpPr>
          <a:xfrm>
            <a:off x="1553867" y="2647683"/>
            <a:ext cx="4237333" cy="492484"/>
            <a:chOff x="1637766" y="1995289"/>
            <a:chExt cx="4648200" cy="492484"/>
          </a:xfrm>
        </p:grpSpPr>
        <p:sp>
          <p:nvSpPr>
            <p:cNvPr id="82" name="Rectangle 81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83" name="Rectangle 82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84" name="Rectangle 83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85" name="Rectangle 84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cxnSp>
          <p:nvCxnSpPr>
            <p:cNvPr id="86" name="Straight Connector 85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" name="Group 86"/>
          <p:cNvGrpSpPr/>
          <p:nvPr/>
        </p:nvGrpSpPr>
        <p:grpSpPr>
          <a:xfrm>
            <a:off x="1553867" y="3221999"/>
            <a:ext cx="4237333" cy="492484"/>
            <a:chOff x="1637766" y="1995289"/>
            <a:chExt cx="4648200" cy="492484"/>
          </a:xfrm>
        </p:grpSpPr>
        <p:sp>
          <p:nvSpPr>
            <p:cNvPr id="88" name="Rectangle 87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89" name="Rectangle 88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90" name="Rectangle 89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91" name="Rectangle 90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cxnSp>
          <p:nvCxnSpPr>
            <p:cNvPr id="92" name="Straight Connector 91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" name="Group 92"/>
          <p:cNvGrpSpPr/>
          <p:nvPr/>
        </p:nvGrpSpPr>
        <p:grpSpPr>
          <a:xfrm>
            <a:off x="1553867" y="4288799"/>
            <a:ext cx="4237333" cy="492484"/>
            <a:chOff x="1637766" y="1995289"/>
            <a:chExt cx="4648200" cy="492484"/>
          </a:xfrm>
        </p:grpSpPr>
        <p:sp>
          <p:nvSpPr>
            <p:cNvPr id="94" name="Rectangle 93"/>
            <p:cNvSpPr/>
            <p:nvPr/>
          </p:nvSpPr>
          <p:spPr bwMode="auto">
            <a:xfrm>
              <a:off x="1637766" y="1995289"/>
              <a:ext cx="4648200" cy="492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95" name="Rectangle 94"/>
            <p:cNvSpPr/>
            <p:nvPr/>
          </p:nvSpPr>
          <p:spPr bwMode="auto">
            <a:xfrm>
              <a:off x="1784795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96" name="Rectangle 95"/>
            <p:cNvSpPr/>
            <p:nvPr/>
          </p:nvSpPr>
          <p:spPr bwMode="auto">
            <a:xfrm>
              <a:off x="3048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4953000" y="2090806"/>
              <a:ext cx="1187005" cy="31237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cxnSp>
          <p:nvCxnSpPr>
            <p:cNvPr id="98" name="Straight Connector 97"/>
            <p:cNvCxnSpPr/>
            <p:nvPr/>
          </p:nvCxnSpPr>
          <p:spPr bwMode="auto">
            <a:xfrm>
              <a:off x="4349839" y="2254873"/>
              <a:ext cx="609600" cy="1588"/>
            </a:xfrm>
            <a:prstGeom prst="line">
              <a:avLst/>
            </a:prstGeom>
            <a:noFill/>
            <a:ln w="762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9" name="Trapezoid 98"/>
          <p:cNvSpPr/>
          <p:nvPr/>
        </p:nvSpPr>
        <p:spPr bwMode="auto">
          <a:xfrm>
            <a:off x="1619863" y="4709564"/>
            <a:ext cx="3523449" cy="865914"/>
          </a:xfrm>
          <a:prstGeom prst="trapezoid">
            <a:avLst>
              <a:gd name="adj" fmla="val 141754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1619863" y="5575478"/>
            <a:ext cx="3523449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3118107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3390712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 bwMode="auto">
          <a:xfrm>
            <a:off x="3651507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68" name="Rectangle 67"/>
          <p:cNvSpPr/>
          <p:nvPr/>
        </p:nvSpPr>
        <p:spPr bwMode="auto">
          <a:xfrm>
            <a:off x="4565907" y="5689778"/>
            <a:ext cx="457200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B-1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3924112" y="5689778"/>
            <a:ext cx="64179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cxnSp>
        <p:nvCxnSpPr>
          <p:cNvPr id="70" name="Straight Connector 69"/>
          <p:cNvCxnSpPr/>
          <p:nvPr/>
        </p:nvCxnSpPr>
        <p:spPr bwMode="auto">
          <a:xfrm>
            <a:off x="4058263" y="5841384"/>
            <a:ext cx="457200" cy="1588"/>
          </a:xfrm>
          <a:prstGeom prst="line">
            <a:avLst/>
          </a:prstGeom>
          <a:noFill/>
          <a:ln w="381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72" name="Rectangle 71"/>
          <p:cNvSpPr/>
          <p:nvPr/>
        </p:nvSpPr>
        <p:spPr bwMode="auto">
          <a:xfrm>
            <a:off x="2215517" y="5689778"/>
            <a:ext cx="717995" cy="304800"/>
          </a:xfrm>
          <a:prstGeom prst="rect">
            <a:avLst/>
          </a:prstGeom>
          <a:solidFill>
            <a:srgbClr val="FF9999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73" name="Rectangle 72"/>
          <p:cNvSpPr/>
          <p:nvPr/>
        </p:nvSpPr>
        <p:spPr bwMode="auto">
          <a:xfrm>
            <a:off x="1746507" y="5689778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2556" y="6107668"/>
            <a:ext cx="9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valid bit</a:t>
            </a:r>
          </a:p>
        </p:txBody>
      </p:sp>
      <p:cxnSp>
        <p:nvCxnSpPr>
          <p:cNvPr id="76" name="Straight Connector 75"/>
          <p:cNvCxnSpPr/>
          <p:nvPr/>
        </p:nvCxnSpPr>
        <p:spPr bwMode="auto">
          <a:xfrm rot="5400000" flipH="1" flipV="1">
            <a:off x="1867506" y="6138001"/>
            <a:ext cx="304800" cy="158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7" name="AutoShape 16"/>
          <p:cNvSpPr>
            <a:spLocks/>
          </p:cNvSpPr>
          <p:nvPr/>
        </p:nvSpPr>
        <p:spPr bwMode="auto">
          <a:xfrm rot="16200000" flipV="1">
            <a:off x="3969184" y="5333467"/>
            <a:ext cx="228600" cy="1905000"/>
          </a:xfrm>
          <a:prstGeom prst="leftBrace">
            <a:avLst>
              <a:gd name="adj1" fmla="val 136972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485097" y="6374902"/>
            <a:ext cx="3834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B = 2</a:t>
            </a:r>
            <a:r>
              <a:rPr lang="en-US" sz="1800" baseline="30000" dirty="0">
                <a:latin typeface="Calibri" pitchFamily="34" charset="0"/>
              </a:rPr>
              <a:t>b</a:t>
            </a:r>
            <a:r>
              <a:rPr lang="en-US" sz="1800" dirty="0">
                <a:latin typeface="Calibri" pitchFamily="34" charset="0"/>
              </a:rPr>
              <a:t> bytes per cache block (the data)</a:t>
            </a:r>
          </a:p>
        </p:txBody>
      </p:sp>
      <p:sp>
        <p:nvSpPr>
          <p:cNvPr id="51" name="Rectangle 50"/>
          <p:cNvSpPr/>
          <p:nvPr/>
        </p:nvSpPr>
        <p:spPr bwMode="auto">
          <a:xfrm>
            <a:off x="6337478" y="2853352"/>
            <a:ext cx="990600" cy="270848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 bits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7328078" y="2853352"/>
            <a:ext cx="7620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s bits</a:t>
            </a:r>
          </a:p>
        </p:txBody>
      </p:sp>
      <p:sp>
        <p:nvSpPr>
          <p:cNvPr id="53" name="Rectangle 52"/>
          <p:cNvSpPr/>
          <p:nvPr/>
        </p:nvSpPr>
        <p:spPr bwMode="auto">
          <a:xfrm>
            <a:off x="8090078" y="2853352"/>
            <a:ext cx="685800" cy="27084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b bits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8400" y="2513390"/>
            <a:ext cx="1810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Address of word:</a:t>
            </a:r>
          </a:p>
        </p:txBody>
      </p:sp>
      <p:sp>
        <p:nvSpPr>
          <p:cNvPr id="58" name="AutoShape 16"/>
          <p:cNvSpPr>
            <a:spLocks/>
          </p:cNvSpPr>
          <p:nvPr/>
        </p:nvSpPr>
        <p:spPr bwMode="auto">
          <a:xfrm rot="16200000" flipV="1">
            <a:off x="6718478" y="2822218"/>
            <a:ext cx="228600" cy="990598"/>
          </a:xfrm>
          <a:prstGeom prst="leftBrace">
            <a:avLst>
              <a:gd name="adj1" fmla="val 75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60" name="AutoShape 16"/>
          <p:cNvSpPr>
            <a:spLocks/>
          </p:cNvSpPr>
          <p:nvPr/>
        </p:nvSpPr>
        <p:spPr bwMode="auto">
          <a:xfrm rot="16200000" flipV="1">
            <a:off x="7594779" y="2933702"/>
            <a:ext cx="228600" cy="761998"/>
          </a:xfrm>
          <a:prstGeom prst="leftBrace">
            <a:avLst>
              <a:gd name="adj1" fmla="val 75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1" name="AutoShape 16"/>
          <p:cNvSpPr>
            <a:spLocks/>
          </p:cNvSpPr>
          <p:nvPr/>
        </p:nvSpPr>
        <p:spPr bwMode="auto">
          <a:xfrm rot="16200000" flipV="1">
            <a:off x="8280578" y="3009901"/>
            <a:ext cx="228600" cy="609600"/>
          </a:xfrm>
          <a:prstGeom prst="leftBrace">
            <a:avLst>
              <a:gd name="adj1" fmla="val 75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594772" y="3365678"/>
            <a:ext cx="485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tag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60273" y="3364468"/>
            <a:ext cx="705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set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index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33195" y="3364468"/>
            <a:ext cx="738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block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offset</a:t>
            </a:r>
          </a:p>
        </p:txBody>
      </p:sp>
      <p:cxnSp>
        <p:nvCxnSpPr>
          <p:cNvPr id="93" name="Shape 92"/>
          <p:cNvCxnSpPr>
            <a:stCxn id="80" idx="2"/>
            <a:endCxn id="94" idx="3"/>
          </p:cNvCxnSpPr>
          <p:nvPr/>
        </p:nvCxnSpPr>
        <p:spPr bwMode="auto">
          <a:xfrm rot="5400000">
            <a:off x="6489930" y="3312069"/>
            <a:ext cx="524242" cy="1921702"/>
          </a:xfrm>
          <a:prstGeom prst="bentConnector2">
            <a:avLst/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Elbow Connector 101"/>
          <p:cNvCxnSpPr>
            <a:stCxn id="81" idx="2"/>
            <a:endCxn id="67" idx="0"/>
          </p:cNvCxnSpPr>
          <p:nvPr/>
        </p:nvCxnSpPr>
        <p:spPr bwMode="auto">
          <a:xfrm rot="5400000">
            <a:off x="5255680" y="2542930"/>
            <a:ext cx="1678979" cy="4614717"/>
          </a:xfrm>
          <a:prstGeom prst="bentConnector3">
            <a:avLst>
              <a:gd name="adj1" fmla="val 63807"/>
            </a:avLst>
          </a:prstGeom>
          <a:noFill/>
          <a:ln w="254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4" name="TextBox 103"/>
          <p:cNvSpPr txBox="1"/>
          <p:nvPr/>
        </p:nvSpPr>
        <p:spPr>
          <a:xfrm>
            <a:off x="6471298" y="5054956"/>
            <a:ext cx="2015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rPr>
              <a:t>data begins at this offset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11007" y="531674"/>
            <a:ext cx="2415982" cy="175432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115888" indent="-115888">
              <a:buFont typeface="Arial" pitchFamily="34" charset="0"/>
              <a:buChar char="•"/>
            </a:pP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Locate set</a:t>
            </a:r>
          </a:p>
          <a:p>
            <a:pPr marL="115888" indent="-115888">
              <a:buFont typeface="Arial" pitchFamily="34" charset="0"/>
              <a:buChar char="•"/>
            </a:pP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Check if any line in set</a:t>
            </a:r>
            <a:br>
              <a:rPr lang="en-US" sz="1800" i="1" dirty="0">
                <a:solidFill>
                  <a:srgbClr val="C00000"/>
                </a:solidFill>
                <a:latin typeface="Calibri" pitchFamily="34" charset="0"/>
              </a:rPr>
            </a:b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has matching tag</a:t>
            </a:r>
          </a:p>
          <a:p>
            <a:pPr marL="115888" indent="-115888">
              <a:buFont typeface="Arial" pitchFamily="34" charset="0"/>
              <a:buChar char="•"/>
            </a:pP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Yes + line valid: hit</a:t>
            </a:r>
          </a:p>
          <a:p>
            <a:pPr marL="115888" indent="-115888">
              <a:buFont typeface="Arial" pitchFamily="34" charset="0"/>
              <a:buChar char="•"/>
            </a:pP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Locate data starting</a:t>
            </a:r>
            <a:br>
              <a:rPr lang="en-US" sz="1800" i="1" dirty="0">
                <a:solidFill>
                  <a:srgbClr val="C00000"/>
                </a:solidFill>
                <a:latin typeface="Calibri" pitchFamily="34" charset="0"/>
              </a:rPr>
            </a:b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at offset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2" grpId="0" animBg="1"/>
      <p:bldP spid="73" grpId="0" animBg="1"/>
      <p:bldP spid="74" grpId="0"/>
      <p:bldP spid="77" grpId="0" animBg="1"/>
      <p:bldP spid="78" grpId="0"/>
      <p:bldP spid="10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310040"/>
            <a:ext cx="8716962" cy="782638"/>
          </a:xfrm>
        </p:spPr>
        <p:txBody>
          <a:bodyPr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What about writes?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3" y="1220788"/>
            <a:ext cx="8459787" cy="5322887"/>
          </a:xfrm>
        </p:spPr>
        <p:txBody>
          <a:bodyPr lIns="90360" tIns="44280" rIns="90360" bIns="44280"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/>
              <a:t>Multiple copies of data exist:</a:t>
            </a:r>
          </a:p>
          <a:p>
            <a:pPr lvl="1" eaLnBrk="1" hangingPunct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/>
              <a:t>L1, L2, L3, Main Memory, Disk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/>
              <a:t>What to do on a write-hit?</a:t>
            </a:r>
          </a:p>
          <a:p>
            <a:pPr lvl="1" eaLnBrk="1" hangingPunct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>
                <a:solidFill>
                  <a:srgbClr val="C00000"/>
                </a:solidFill>
              </a:rPr>
              <a:t>Write-through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(write immediately to memory)</a:t>
            </a:r>
          </a:p>
          <a:p>
            <a:pPr lvl="1" eaLnBrk="1" hangingPunct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>
                <a:solidFill>
                  <a:srgbClr val="C00000"/>
                </a:solidFill>
              </a:rPr>
              <a:t>Write-back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(defer write to memory until replacement of line)</a:t>
            </a:r>
          </a:p>
          <a:p>
            <a:pPr lvl="2" eaLnBrk="1" hangingPunct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/>
              <a:t>Each cache line needs a dirty bit (set if data has been written to)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/>
              <a:t>What to do on a write-miss?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>
                <a:solidFill>
                  <a:srgbClr val="C00000"/>
                </a:solidFill>
              </a:rPr>
              <a:t>Write-allocate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(load into cache, update line in cache)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/>
              <a:t>Good if more writes to the location will follow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>
                <a:solidFill>
                  <a:srgbClr val="C00000"/>
                </a:solidFill>
              </a:rPr>
              <a:t>No-write-allocate (write around)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(writes straight to memory, does not load into cache)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/>
              <a:t>Typical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b="1" dirty="0"/>
              <a:t>Write-back + Write-allocate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lang="en-GB" dirty="0"/>
              <a:t>Write-through + No-write-allocate</a:t>
            </a:r>
          </a:p>
          <a:p>
            <a:pPr marL="457200" lvl="1" indent="0"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endParaRPr lang="en-GB" b="1" dirty="0"/>
          </a:p>
          <a:p>
            <a:pPr eaLnBrk="1" hangingPunct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898C84B-AA62-46AB-AA15-871E5ABD77E7}"/>
              </a:ext>
            </a:extLst>
          </p:cNvPr>
          <p:cNvGrpSpPr/>
          <p:nvPr/>
        </p:nvGrpSpPr>
        <p:grpSpPr>
          <a:xfrm>
            <a:off x="4640515" y="1115144"/>
            <a:ext cx="4274886" cy="1168756"/>
            <a:chOff x="4640515" y="1115144"/>
            <a:chExt cx="4274886" cy="11687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690D2F-94CA-46F3-B0C1-ECDDC670F484}"/>
                </a:ext>
              </a:extLst>
            </p:cNvPr>
            <p:cNvSpPr/>
            <p:nvPr/>
          </p:nvSpPr>
          <p:spPr bwMode="auto">
            <a:xfrm>
              <a:off x="5105401" y="1115144"/>
              <a:ext cx="3810000" cy="5334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sz="1600" dirty="0">
                <a:latin typeface="Calibri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A61489-AF1F-495F-9662-ACDFCF5D0785}"/>
                </a:ext>
              </a:extLst>
            </p:cNvPr>
            <p:cNvSpPr/>
            <p:nvPr/>
          </p:nvSpPr>
          <p:spPr bwMode="auto">
            <a:xfrm>
              <a:off x="6890195" y="1229444"/>
              <a:ext cx="27260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988EA04-4BEB-4525-B309-38C7D3AE601F}"/>
                </a:ext>
              </a:extLst>
            </p:cNvPr>
            <p:cNvSpPr/>
            <p:nvPr/>
          </p:nvSpPr>
          <p:spPr bwMode="auto">
            <a:xfrm>
              <a:off x="7162800" y="1229444"/>
              <a:ext cx="27260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8E4A191-F7BE-406E-8AE9-5FA6AB0F8771}"/>
                </a:ext>
              </a:extLst>
            </p:cNvPr>
            <p:cNvSpPr/>
            <p:nvPr/>
          </p:nvSpPr>
          <p:spPr bwMode="auto">
            <a:xfrm>
              <a:off x="7423595" y="1229444"/>
              <a:ext cx="27260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CAFE3F-94B7-44FC-A97A-92746D96E4D6}"/>
                </a:ext>
              </a:extLst>
            </p:cNvPr>
            <p:cNvSpPr/>
            <p:nvPr/>
          </p:nvSpPr>
          <p:spPr bwMode="auto">
            <a:xfrm>
              <a:off x="8337995" y="1229444"/>
              <a:ext cx="457200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  <a:normAutofit fontScale="92500" lnSpcReduction="10000"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B-1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0FFBF3-95FF-4EDE-BDE4-BD1270D31EE6}"/>
                </a:ext>
              </a:extLst>
            </p:cNvPr>
            <p:cNvSpPr/>
            <p:nvPr/>
          </p:nvSpPr>
          <p:spPr bwMode="auto">
            <a:xfrm>
              <a:off x="7696200" y="1229444"/>
              <a:ext cx="64179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sz="1600" dirty="0">
                <a:latin typeface="Calibri" pitchFamily="34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42B926A-F0F7-4294-9BCF-85DE6FB35580}"/>
                </a:ext>
              </a:extLst>
            </p:cNvPr>
            <p:cNvCxnSpPr/>
            <p:nvPr/>
          </p:nvCxnSpPr>
          <p:spPr bwMode="auto">
            <a:xfrm>
              <a:off x="7830351" y="1381050"/>
              <a:ext cx="457200" cy="1588"/>
            </a:xfrm>
            <a:prstGeom prst="line">
              <a:avLst/>
            </a:prstGeom>
            <a:noFill/>
            <a:ln w="381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0086BF-4128-41E1-8E73-ECD9017F66B3}"/>
                </a:ext>
              </a:extLst>
            </p:cNvPr>
            <p:cNvSpPr/>
            <p:nvPr/>
          </p:nvSpPr>
          <p:spPr bwMode="auto">
            <a:xfrm>
              <a:off x="5987605" y="1229444"/>
              <a:ext cx="71799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tag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D6AD96-F1D5-46B3-A9B7-6A81D774D635}"/>
                </a:ext>
              </a:extLst>
            </p:cNvPr>
            <p:cNvSpPr/>
            <p:nvPr/>
          </p:nvSpPr>
          <p:spPr bwMode="auto">
            <a:xfrm>
              <a:off x="5597532" y="1241788"/>
              <a:ext cx="27260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solidFill>
                    <a:srgbClr val="FF0000"/>
                  </a:solidFill>
                  <a:latin typeface="Calibri" pitchFamily="34" charset="0"/>
                </a:rPr>
                <a:t>d</a:t>
              </a:r>
            </a:p>
          </p:txBody>
        </p:sp>
        <p:sp>
          <p:nvSpPr>
            <p:cNvPr id="14" name="AutoShape 16">
              <a:extLst>
                <a:ext uri="{FF2B5EF4-FFF2-40B4-BE49-F238E27FC236}">
                  <a16:creationId xmlns:a16="http://schemas.microsoft.com/office/drawing/2014/main" id="{F34C5FB5-5038-4987-A605-585F80961717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7741272" y="873133"/>
              <a:ext cx="228600" cy="1905000"/>
            </a:xfrm>
            <a:prstGeom prst="leftBrace">
              <a:avLst>
                <a:gd name="adj1" fmla="val 136972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D164E5B-243A-47D1-AC3A-BCF10493B75B}"/>
                </a:ext>
              </a:extLst>
            </p:cNvPr>
            <p:cNvSpPr txBox="1"/>
            <p:nvPr/>
          </p:nvSpPr>
          <p:spPr>
            <a:xfrm>
              <a:off x="7257185" y="1914568"/>
              <a:ext cx="13054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B = 2</a:t>
              </a:r>
              <a:r>
                <a:rPr lang="en-US" sz="1800" baseline="30000" dirty="0">
                  <a:latin typeface="Calibri" pitchFamily="34" charset="0"/>
                </a:rPr>
                <a:t>b</a:t>
              </a:r>
              <a:r>
                <a:rPr lang="en-US" sz="1800" dirty="0">
                  <a:latin typeface="Calibri" pitchFamily="34" charset="0"/>
                </a:rPr>
                <a:t> bytes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997F52E-3BDC-4634-B04A-D5351C8A6A43}"/>
                </a:ext>
              </a:extLst>
            </p:cNvPr>
            <p:cNvGrpSpPr/>
            <p:nvPr/>
          </p:nvGrpSpPr>
          <p:grpSpPr>
            <a:xfrm>
              <a:off x="5544193" y="1567588"/>
              <a:ext cx="947695" cy="633800"/>
              <a:chOff x="5493251" y="1546588"/>
              <a:chExt cx="947695" cy="633800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1B93D58-55AD-4132-BC5D-AB21CD389806}"/>
                  </a:ext>
                </a:extLst>
              </p:cNvPr>
              <p:cNvSpPr txBox="1"/>
              <p:nvPr/>
            </p:nvSpPr>
            <p:spPr>
              <a:xfrm>
                <a:off x="5493251" y="1811056"/>
                <a:ext cx="9476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srgbClr val="FF0000"/>
                    </a:solidFill>
                    <a:latin typeface="Calibri" pitchFamily="34" charset="0"/>
                  </a:rPr>
                  <a:t>dirty bit</a:t>
                </a: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FE34A27-7183-4BE6-81AE-87BA878A14F7}"/>
                  </a:ext>
                </a:extLst>
              </p:cNvPr>
              <p:cNvCxnSpPr/>
              <p:nvPr/>
            </p:nvCxnSpPr>
            <p:spPr bwMode="auto">
              <a:xfrm rot="5400000" flipH="1" flipV="1">
                <a:off x="5530333" y="1698194"/>
                <a:ext cx="304800" cy="1588"/>
              </a:xfrm>
              <a:prstGeom prst="line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BB16A6C-021C-46CF-BEED-15D5351629E1}"/>
                </a:ext>
              </a:extLst>
            </p:cNvPr>
            <p:cNvSpPr/>
            <p:nvPr/>
          </p:nvSpPr>
          <p:spPr bwMode="auto">
            <a:xfrm>
              <a:off x="5178914" y="1241788"/>
              <a:ext cx="27260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68659F-8892-44D1-B582-178F1EFD031B}"/>
                </a:ext>
              </a:extLst>
            </p:cNvPr>
            <p:cNvSpPr txBox="1"/>
            <p:nvPr/>
          </p:nvSpPr>
          <p:spPr>
            <a:xfrm>
              <a:off x="4640515" y="1814224"/>
              <a:ext cx="952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valid bit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94C774F-73BC-43A6-A330-0046DF999987}"/>
                </a:ext>
              </a:extLst>
            </p:cNvPr>
            <p:cNvCxnSpPr/>
            <p:nvPr/>
          </p:nvCxnSpPr>
          <p:spPr bwMode="auto">
            <a:xfrm rot="5400000" flipH="1" flipV="1">
              <a:off x="5176878" y="1706187"/>
              <a:ext cx="304800" cy="158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4C527-D2A5-4698-9728-35512B952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Write-back Write-allocate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76054-0FD1-49E3-8A45-129D66313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write to address X is issued</a:t>
            </a:r>
          </a:p>
          <a:p>
            <a:r>
              <a:rPr lang="en-US" dirty="0"/>
              <a:t>If it is a hit</a:t>
            </a:r>
          </a:p>
          <a:p>
            <a:pPr lvl="1"/>
            <a:r>
              <a:rPr lang="en-US" dirty="0"/>
              <a:t>Update the contents of block</a:t>
            </a:r>
          </a:p>
          <a:p>
            <a:pPr lvl="1"/>
            <a:r>
              <a:rPr lang="en-US" dirty="0"/>
              <a:t>Set dirty bit to 1 (bit is sticky and only cleared on eviction)</a:t>
            </a:r>
          </a:p>
          <a:p>
            <a:pPr lvl="1"/>
            <a:endParaRPr lang="en-US" dirty="0"/>
          </a:p>
          <a:p>
            <a:r>
              <a:rPr lang="en-US" dirty="0"/>
              <a:t>If it is a miss</a:t>
            </a:r>
          </a:p>
          <a:p>
            <a:pPr lvl="1"/>
            <a:r>
              <a:rPr lang="en-US" dirty="0"/>
              <a:t>Fetch block from memory (per a read miss)</a:t>
            </a:r>
          </a:p>
          <a:p>
            <a:pPr lvl="1"/>
            <a:r>
              <a:rPr lang="en-US" dirty="0"/>
              <a:t>The perform the write operations (per a write hit)</a:t>
            </a:r>
          </a:p>
          <a:p>
            <a:endParaRPr lang="en-US" dirty="0"/>
          </a:p>
          <a:p>
            <a:r>
              <a:rPr lang="en-US" dirty="0"/>
              <a:t>If a line is evicted and dirty bit is set to 1</a:t>
            </a:r>
          </a:p>
          <a:p>
            <a:pPr lvl="1"/>
            <a:r>
              <a:rPr lang="en-US" dirty="0"/>
              <a:t>The entire block of 2</a:t>
            </a:r>
            <a:r>
              <a:rPr lang="en-US" baseline="30000" dirty="0"/>
              <a:t>b</a:t>
            </a:r>
            <a:r>
              <a:rPr lang="en-US" dirty="0"/>
              <a:t> bytes are written back to memory</a:t>
            </a:r>
          </a:p>
          <a:p>
            <a:pPr lvl="1"/>
            <a:r>
              <a:rPr lang="en-US" dirty="0"/>
              <a:t>Dirty bit is cleared (set to 0)</a:t>
            </a:r>
          </a:p>
          <a:p>
            <a:pPr lvl="1"/>
            <a:r>
              <a:rPr lang="en-US" dirty="0"/>
              <a:t>Line is replaced by new contents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27F343-B1D2-46F1-9D3C-FBAFA5FE9329}"/>
              </a:ext>
            </a:extLst>
          </p:cNvPr>
          <p:cNvGrpSpPr/>
          <p:nvPr/>
        </p:nvGrpSpPr>
        <p:grpSpPr>
          <a:xfrm>
            <a:off x="4640515" y="1115144"/>
            <a:ext cx="4274886" cy="1168756"/>
            <a:chOff x="4640515" y="1115144"/>
            <a:chExt cx="4274886" cy="11687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F24B62-1833-45FE-BEB3-0A4906B24B0B}"/>
                </a:ext>
              </a:extLst>
            </p:cNvPr>
            <p:cNvSpPr/>
            <p:nvPr/>
          </p:nvSpPr>
          <p:spPr bwMode="auto">
            <a:xfrm>
              <a:off x="5105401" y="1115144"/>
              <a:ext cx="3810000" cy="5334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sz="1600" dirty="0">
                <a:latin typeface="Calibri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3BBEDA3-F967-4754-9A8A-716DD61B75D7}"/>
                </a:ext>
              </a:extLst>
            </p:cNvPr>
            <p:cNvSpPr/>
            <p:nvPr/>
          </p:nvSpPr>
          <p:spPr bwMode="auto">
            <a:xfrm>
              <a:off x="6890195" y="1229444"/>
              <a:ext cx="27260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0333E2-34E2-4E27-898F-ACC53266E13A}"/>
                </a:ext>
              </a:extLst>
            </p:cNvPr>
            <p:cNvSpPr/>
            <p:nvPr/>
          </p:nvSpPr>
          <p:spPr bwMode="auto">
            <a:xfrm>
              <a:off x="7162800" y="1229444"/>
              <a:ext cx="27260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24D33A-D190-4E61-BBF1-5B06E6B0F86A}"/>
                </a:ext>
              </a:extLst>
            </p:cNvPr>
            <p:cNvSpPr/>
            <p:nvPr/>
          </p:nvSpPr>
          <p:spPr bwMode="auto">
            <a:xfrm>
              <a:off x="7423595" y="1229444"/>
              <a:ext cx="27260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7D317C5-CB96-44A1-AE26-662CDF076223}"/>
                </a:ext>
              </a:extLst>
            </p:cNvPr>
            <p:cNvSpPr/>
            <p:nvPr/>
          </p:nvSpPr>
          <p:spPr bwMode="auto">
            <a:xfrm>
              <a:off x="8337995" y="1229444"/>
              <a:ext cx="457200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  <a:normAutofit fontScale="92500" lnSpcReduction="10000"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B-1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16B030C-2C11-439D-B953-385B27F957FF}"/>
                </a:ext>
              </a:extLst>
            </p:cNvPr>
            <p:cNvSpPr/>
            <p:nvPr/>
          </p:nvSpPr>
          <p:spPr bwMode="auto">
            <a:xfrm>
              <a:off x="7696200" y="1229444"/>
              <a:ext cx="64179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sz="1600" dirty="0">
                <a:latin typeface="Calibri" pitchFamily="34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5F1018B-D5B2-4F24-A2E9-10AFB6E4D14D}"/>
                </a:ext>
              </a:extLst>
            </p:cNvPr>
            <p:cNvCxnSpPr/>
            <p:nvPr/>
          </p:nvCxnSpPr>
          <p:spPr bwMode="auto">
            <a:xfrm>
              <a:off x="7830351" y="1381050"/>
              <a:ext cx="457200" cy="1588"/>
            </a:xfrm>
            <a:prstGeom prst="line">
              <a:avLst/>
            </a:prstGeom>
            <a:noFill/>
            <a:ln w="38100" cap="rnd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4AB069-7D0E-4E83-BE0D-6413A25DF008}"/>
                </a:ext>
              </a:extLst>
            </p:cNvPr>
            <p:cNvSpPr/>
            <p:nvPr/>
          </p:nvSpPr>
          <p:spPr bwMode="auto">
            <a:xfrm>
              <a:off x="5987605" y="1229444"/>
              <a:ext cx="71799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tag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C62244-EE9F-498D-A9E8-0FE0A9FD3B99}"/>
                </a:ext>
              </a:extLst>
            </p:cNvPr>
            <p:cNvSpPr/>
            <p:nvPr/>
          </p:nvSpPr>
          <p:spPr bwMode="auto">
            <a:xfrm>
              <a:off x="5597532" y="1241788"/>
              <a:ext cx="27260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solidFill>
                    <a:srgbClr val="FF0000"/>
                  </a:solidFill>
                  <a:latin typeface="Calibri" pitchFamily="34" charset="0"/>
                </a:rPr>
                <a:t>d</a:t>
              </a:r>
            </a:p>
          </p:txBody>
        </p:sp>
        <p:sp>
          <p:nvSpPr>
            <p:cNvPr id="14" name="AutoShape 16">
              <a:extLst>
                <a:ext uri="{FF2B5EF4-FFF2-40B4-BE49-F238E27FC236}">
                  <a16:creationId xmlns:a16="http://schemas.microsoft.com/office/drawing/2014/main" id="{3B8161DD-1B53-4264-A821-168452F5847C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7741272" y="873133"/>
              <a:ext cx="228600" cy="1905000"/>
            </a:xfrm>
            <a:prstGeom prst="leftBrace">
              <a:avLst>
                <a:gd name="adj1" fmla="val 136972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79F0DB-323B-40BD-AC32-2CE5C9D81012}"/>
                </a:ext>
              </a:extLst>
            </p:cNvPr>
            <p:cNvSpPr txBox="1"/>
            <p:nvPr/>
          </p:nvSpPr>
          <p:spPr>
            <a:xfrm>
              <a:off x="7257185" y="1914568"/>
              <a:ext cx="13054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B = 2</a:t>
              </a:r>
              <a:r>
                <a:rPr lang="en-US" sz="1800" baseline="30000" dirty="0">
                  <a:latin typeface="Calibri" pitchFamily="34" charset="0"/>
                </a:rPr>
                <a:t>b</a:t>
              </a:r>
              <a:r>
                <a:rPr lang="en-US" sz="1800" dirty="0">
                  <a:latin typeface="Calibri" pitchFamily="34" charset="0"/>
                </a:rPr>
                <a:t> bytes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F8C5D75-24E3-4626-882B-269CCDFB483C}"/>
                </a:ext>
              </a:extLst>
            </p:cNvPr>
            <p:cNvGrpSpPr/>
            <p:nvPr/>
          </p:nvGrpSpPr>
          <p:grpSpPr>
            <a:xfrm>
              <a:off x="5544193" y="1567588"/>
              <a:ext cx="947695" cy="633800"/>
              <a:chOff x="5493251" y="1546588"/>
              <a:chExt cx="947695" cy="633800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4D40A4-E1FE-4882-8D96-8A489643DD87}"/>
                  </a:ext>
                </a:extLst>
              </p:cNvPr>
              <p:cNvSpPr txBox="1"/>
              <p:nvPr/>
            </p:nvSpPr>
            <p:spPr>
              <a:xfrm>
                <a:off x="5493251" y="1811056"/>
                <a:ext cx="9476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srgbClr val="FF0000"/>
                    </a:solidFill>
                    <a:latin typeface="Calibri" pitchFamily="34" charset="0"/>
                  </a:rPr>
                  <a:t>dirty bit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6F302B9-D0C8-4393-8A92-65844516E220}"/>
                  </a:ext>
                </a:extLst>
              </p:cNvPr>
              <p:cNvCxnSpPr/>
              <p:nvPr/>
            </p:nvCxnSpPr>
            <p:spPr bwMode="auto">
              <a:xfrm rot="5400000" flipH="1" flipV="1">
                <a:off x="5530333" y="1698194"/>
                <a:ext cx="304800" cy="1588"/>
              </a:xfrm>
              <a:prstGeom prst="line">
                <a:avLst/>
              </a:prstGeom>
              <a:no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37C7307-EEEC-437A-B137-6255C2312C0D}"/>
                </a:ext>
              </a:extLst>
            </p:cNvPr>
            <p:cNvSpPr/>
            <p:nvPr/>
          </p:nvSpPr>
          <p:spPr bwMode="auto">
            <a:xfrm>
              <a:off x="5178914" y="1241788"/>
              <a:ext cx="272605" cy="3048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1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9EB4685-EDA7-4DC0-8261-D80EB4A39354}"/>
                </a:ext>
              </a:extLst>
            </p:cNvPr>
            <p:cNvSpPr txBox="1"/>
            <p:nvPr/>
          </p:nvSpPr>
          <p:spPr>
            <a:xfrm>
              <a:off x="4640515" y="1814224"/>
              <a:ext cx="952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valid bit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13519C-9E2C-4AB9-8FA5-9B9F8FF9BB95}"/>
                </a:ext>
              </a:extLst>
            </p:cNvPr>
            <p:cNvCxnSpPr/>
            <p:nvPr/>
          </p:nvCxnSpPr>
          <p:spPr bwMode="auto">
            <a:xfrm rot="5400000" flipH="1" flipV="1">
              <a:off x="5176878" y="1706187"/>
              <a:ext cx="304800" cy="158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782978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Index Using Middle Bits?	</a:t>
            </a:r>
          </a:p>
        </p:txBody>
      </p:sp>
      <p:sp>
        <p:nvSpPr>
          <p:cNvPr id="54" name="AutoShape 16"/>
          <p:cNvSpPr>
            <a:spLocks/>
          </p:cNvSpPr>
          <p:nvPr/>
        </p:nvSpPr>
        <p:spPr bwMode="auto">
          <a:xfrm>
            <a:off x="1172867" y="2448735"/>
            <a:ext cx="228600" cy="2961465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 dirty="0">
              <a:latin typeface="Calibri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200" y="3625405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 = 2</a:t>
            </a:r>
            <a:r>
              <a:rPr lang="en-US" sz="1800" baseline="30000" dirty="0">
                <a:latin typeface="Calibri" pitchFamily="34" charset="0"/>
              </a:rPr>
              <a:t>s</a:t>
            </a:r>
            <a:r>
              <a:rPr lang="en-US" sz="1800" dirty="0">
                <a:latin typeface="Calibri" pitchFamily="34" charset="0"/>
              </a:rPr>
              <a:t> sets</a:t>
            </a:r>
          </a:p>
        </p:txBody>
      </p:sp>
      <p:cxnSp>
        <p:nvCxnSpPr>
          <p:cNvPr id="125" name="Straight Connector 124"/>
          <p:cNvCxnSpPr/>
          <p:nvPr/>
        </p:nvCxnSpPr>
        <p:spPr bwMode="auto">
          <a:xfrm>
            <a:off x="1905001" y="4640062"/>
            <a:ext cx="3124199" cy="8138"/>
          </a:xfrm>
          <a:prstGeom prst="line">
            <a:avLst/>
          </a:prstGeom>
          <a:noFill/>
          <a:ln w="76200" cap="rnd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27" name="TextBox 126"/>
          <p:cNvSpPr txBox="1"/>
          <p:nvPr/>
        </p:nvSpPr>
        <p:spPr>
          <a:xfrm>
            <a:off x="381000" y="1154668"/>
            <a:ext cx="3298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Direct mapped: One line per set</a:t>
            </a:r>
          </a:p>
          <a:p>
            <a:r>
              <a:rPr lang="en-US" sz="1800" dirty="0">
                <a:latin typeface="Calibri" pitchFamily="34" charset="0"/>
              </a:rPr>
              <a:t>Assume: cache block size 8 bytes</a:t>
            </a:r>
          </a:p>
        </p:txBody>
      </p:sp>
      <p:sp>
        <p:nvSpPr>
          <p:cNvPr id="132" name="Rectangle 131"/>
          <p:cNvSpPr/>
          <p:nvPr/>
        </p:nvSpPr>
        <p:spPr bwMode="auto">
          <a:xfrm>
            <a:off x="1524000" y="38100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latin typeface="Calibri" pitchFamily="34" charset="0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3022243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34" name="Rectangle 133"/>
          <p:cNvSpPr/>
          <p:nvPr/>
        </p:nvSpPr>
        <p:spPr bwMode="auto">
          <a:xfrm>
            <a:off x="3294848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 bwMode="auto">
          <a:xfrm>
            <a:off x="3555643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36" name="Rectangle 135"/>
          <p:cNvSpPr/>
          <p:nvPr/>
        </p:nvSpPr>
        <p:spPr bwMode="auto">
          <a:xfrm>
            <a:off x="4977688" y="39243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39" name="Rectangle 138"/>
          <p:cNvSpPr/>
          <p:nvPr/>
        </p:nvSpPr>
        <p:spPr bwMode="auto">
          <a:xfrm>
            <a:off x="2119653" y="3924300"/>
            <a:ext cx="717995" cy="30480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40" name="Rectangle 139"/>
          <p:cNvSpPr/>
          <p:nvPr/>
        </p:nvSpPr>
        <p:spPr bwMode="auto">
          <a:xfrm>
            <a:off x="1650643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41" name="Rectangle 140"/>
          <p:cNvSpPr/>
          <p:nvPr/>
        </p:nvSpPr>
        <p:spPr bwMode="auto">
          <a:xfrm>
            <a:off x="3828971" y="39243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42" name="Rectangle 141"/>
          <p:cNvSpPr/>
          <p:nvPr/>
        </p:nvSpPr>
        <p:spPr bwMode="auto">
          <a:xfrm>
            <a:off x="4686488" y="39243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43" name="Rectangle 142"/>
          <p:cNvSpPr/>
          <p:nvPr/>
        </p:nvSpPr>
        <p:spPr bwMode="auto">
          <a:xfrm>
            <a:off x="4394566" y="39243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44" name="Rectangle 143"/>
          <p:cNvSpPr/>
          <p:nvPr/>
        </p:nvSpPr>
        <p:spPr bwMode="auto">
          <a:xfrm>
            <a:off x="4102644" y="39243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147" name="Rectangle 146"/>
          <p:cNvSpPr/>
          <p:nvPr/>
        </p:nvSpPr>
        <p:spPr bwMode="auto">
          <a:xfrm>
            <a:off x="1524000" y="31242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latin typeface="Calibri" pitchFamily="34" charset="0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30222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49" name="Rectangle 148"/>
          <p:cNvSpPr/>
          <p:nvPr/>
        </p:nvSpPr>
        <p:spPr bwMode="auto">
          <a:xfrm>
            <a:off x="3294848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50" name="Rectangle 149"/>
          <p:cNvSpPr/>
          <p:nvPr/>
        </p:nvSpPr>
        <p:spPr bwMode="auto">
          <a:xfrm>
            <a:off x="3555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 bwMode="auto">
          <a:xfrm>
            <a:off x="4977688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52" name="Rectangle 151"/>
          <p:cNvSpPr/>
          <p:nvPr/>
        </p:nvSpPr>
        <p:spPr bwMode="auto">
          <a:xfrm>
            <a:off x="2119653" y="3238500"/>
            <a:ext cx="717995" cy="30480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53" name="Rectangle 152"/>
          <p:cNvSpPr/>
          <p:nvPr/>
        </p:nvSpPr>
        <p:spPr bwMode="auto">
          <a:xfrm>
            <a:off x="1650643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54" name="Rectangle 153"/>
          <p:cNvSpPr/>
          <p:nvPr/>
        </p:nvSpPr>
        <p:spPr bwMode="auto">
          <a:xfrm>
            <a:off x="3828971" y="32385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55" name="Rectangle 154"/>
          <p:cNvSpPr/>
          <p:nvPr/>
        </p:nvSpPr>
        <p:spPr bwMode="auto">
          <a:xfrm>
            <a:off x="4686488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56" name="Rectangle 155"/>
          <p:cNvSpPr/>
          <p:nvPr/>
        </p:nvSpPr>
        <p:spPr bwMode="auto">
          <a:xfrm>
            <a:off x="4394566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57" name="Rectangle 156"/>
          <p:cNvSpPr/>
          <p:nvPr/>
        </p:nvSpPr>
        <p:spPr bwMode="auto">
          <a:xfrm>
            <a:off x="4102644" y="32385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159" name="Rectangle 158"/>
          <p:cNvSpPr/>
          <p:nvPr/>
        </p:nvSpPr>
        <p:spPr bwMode="auto">
          <a:xfrm>
            <a:off x="1524000" y="24384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latin typeface="Calibri" pitchFamily="34" charset="0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3022243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61" name="Rectangle 160"/>
          <p:cNvSpPr/>
          <p:nvPr/>
        </p:nvSpPr>
        <p:spPr bwMode="auto">
          <a:xfrm>
            <a:off x="3294848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62" name="Rectangle 161"/>
          <p:cNvSpPr/>
          <p:nvPr/>
        </p:nvSpPr>
        <p:spPr bwMode="auto">
          <a:xfrm>
            <a:off x="3555643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63" name="Rectangle 162"/>
          <p:cNvSpPr/>
          <p:nvPr/>
        </p:nvSpPr>
        <p:spPr bwMode="auto">
          <a:xfrm>
            <a:off x="4977688" y="25527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64" name="Rectangle 163"/>
          <p:cNvSpPr/>
          <p:nvPr/>
        </p:nvSpPr>
        <p:spPr bwMode="auto">
          <a:xfrm>
            <a:off x="2119653" y="2552700"/>
            <a:ext cx="717995" cy="30480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65" name="Rectangle 164"/>
          <p:cNvSpPr/>
          <p:nvPr/>
        </p:nvSpPr>
        <p:spPr bwMode="auto">
          <a:xfrm>
            <a:off x="1650643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66" name="Rectangle 165"/>
          <p:cNvSpPr/>
          <p:nvPr/>
        </p:nvSpPr>
        <p:spPr bwMode="auto">
          <a:xfrm>
            <a:off x="3828971" y="25527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67" name="Rectangle 166"/>
          <p:cNvSpPr/>
          <p:nvPr/>
        </p:nvSpPr>
        <p:spPr bwMode="auto">
          <a:xfrm>
            <a:off x="4686488" y="25527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68" name="Rectangle 167"/>
          <p:cNvSpPr/>
          <p:nvPr/>
        </p:nvSpPr>
        <p:spPr bwMode="auto">
          <a:xfrm>
            <a:off x="4394566" y="25527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69" name="Rectangle 168"/>
          <p:cNvSpPr/>
          <p:nvPr/>
        </p:nvSpPr>
        <p:spPr bwMode="auto">
          <a:xfrm>
            <a:off x="4102644" y="25527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sp>
        <p:nvSpPr>
          <p:cNvPr id="171" name="Rectangle 170"/>
          <p:cNvSpPr/>
          <p:nvPr/>
        </p:nvSpPr>
        <p:spPr bwMode="auto">
          <a:xfrm>
            <a:off x="1524000" y="4876800"/>
            <a:ext cx="3848288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latin typeface="Calibri" pitchFamily="34" charset="0"/>
            </a:endParaRPr>
          </a:p>
        </p:txBody>
      </p:sp>
      <p:sp>
        <p:nvSpPr>
          <p:cNvPr id="172" name="Rectangle 171"/>
          <p:cNvSpPr/>
          <p:nvPr/>
        </p:nvSpPr>
        <p:spPr bwMode="auto">
          <a:xfrm>
            <a:off x="3022243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0</a:t>
            </a:r>
          </a:p>
        </p:txBody>
      </p:sp>
      <p:sp>
        <p:nvSpPr>
          <p:cNvPr id="173" name="Rectangle 172"/>
          <p:cNvSpPr/>
          <p:nvPr/>
        </p:nvSpPr>
        <p:spPr bwMode="auto">
          <a:xfrm>
            <a:off x="3294848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1</a:t>
            </a:r>
          </a:p>
        </p:txBody>
      </p:sp>
      <p:sp>
        <p:nvSpPr>
          <p:cNvPr id="174" name="Rectangle 173"/>
          <p:cNvSpPr/>
          <p:nvPr/>
        </p:nvSpPr>
        <p:spPr bwMode="auto">
          <a:xfrm>
            <a:off x="3555643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2</a:t>
            </a:r>
          </a:p>
        </p:txBody>
      </p:sp>
      <p:sp>
        <p:nvSpPr>
          <p:cNvPr id="175" name="Rectangle 174"/>
          <p:cNvSpPr/>
          <p:nvPr/>
        </p:nvSpPr>
        <p:spPr bwMode="auto">
          <a:xfrm>
            <a:off x="4977688" y="49911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7</a:t>
            </a:r>
          </a:p>
        </p:txBody>
      </p:sp>
      <p:sp>
        <p:nvSpPr>
          <p:cNvPr id="176" name="Rectangle 175"/>
          <p:cNvSpPr/>
          <p:nvPr/>
        </p:nvSpPr>
        <p:spPr bwMode="auto">
          <a:xfrm>
            <a:off x="2119653" y="4991100"/>
            <a:ext cx="717995" cy="30480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77" name="Rectangle 176"/>
          <p:cNvSpPr/>
          <p:nvPr/>
        </p:nvSpPr>
        <p:spPr bwMode="auto">
          <a:xfrm>
            <a:off x="1650643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78" name="Rectangle 177"/>
          <p:cNvSpPr/>
          <p:nvPr/>
        </p:nvSpPr>
        <p:spPr bwMode="auto">
          <a:xfrm>
            <a:off x="3828971" y="4991100"/>
            <a:ext cx="272605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3</a:t>
            </a:r>
          </a:p>
        </p:txBody>
      </p:sp>
      <p:sp>
        <p:nvSpPr>
          <p:cNvPr id="179" name="Rectangle 178"/>
          <p:cNvSpPr/>
          <p:nvPr/>
        </p:nvSpPr>
        <p:spPr bwMode="auto">
          <a:xfrm>
            <a:off x="4686488" y="49911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6</a:t>
            </a:r>
          </a:p>
        </p:txBody>
      </p:sp>
      <p:sp>
        <p:nvSpPr>
          <p:cNvPr id="180" name="Rectangle 179"/>
          <p:cNvSpPr/>
          <p:nvPr/>
        </p:nvSpPr>
        <p:spPr bwMode="auto">
          <a:xfrm>
            <a:off x="4394566" y="49911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5</a:t>
            </a:r>
          </a:p>
        </p:txBody>
      </p:sp>
      <p:sp>
        <p:nvSpPr>
          <p:cNvPr id="181" name="Rectangle 180"/>
          <p:cNvSpPr/>
          <p:nvPr/>
        </p:nvSpPr>
        <p:spPr bwMode="auto">
          <a:xfrm>
            <a:off x="4102644" y="4991100"/>
            <a:ext cx="292644" cy="30480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4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372288" y="1676400"/>
            <a:ext cx="3390712" cy="2042867"/>
            <a:chOff x="5372288" y="1676400"/>
            <a:chExt cx="3390712" cy="2042867"/>
          </a:xfrm>
        </p:grpSpPr>
        <p:sp>
          <p:nvSpPr>
            <p:cNvPr id="14" name="Rounded Rectangle 13"/>
            <p:cNvSpPr/>
            <p:nvPr/>
          </p:nvSpPr>
          <p:spPr bwMode="auto">
            <a:xfrm>
              <a:off x="5562600" y="1710266"/>
              <a:ext cx="3200400" cy="2009001"/>
            </a:xfrm>
            <a:prstGeom prst="roundRect">
              <a:avLst/>
            </a:prstGeom>
            <a:solidFill>
              <a:srgbClr val="F6F5BD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8" name="Rectangle 127"/>
            <p:cNvSpPr/>
            <p:nvPr/>
          </p:nvSpPr>
          <p:spPr bwMode="auto">
            <a:xfrm>
              <a:off x="6261278" y="2702162"/>
              <a:ext cx="990600" cy="270848"/>
            </a:xfrm>
            <a:prstGeom prst="rect">
              <a:avLst/>
            </a:prstGeom>
            <a:solidFill>
              <a:srgbClr val="FF99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t bits</a:t>
              </a:r>
            </a:p>
          </p:txBody>
        </p:sp>
        <p:sp>
          <p:nvSpPr>
            <p:cNvPr id="129" name="Rectangle 128"/>
            <p:cNvSpPr/>
            <p:nvPr/>
          </p:nvSpPr>
          <p:spPr bwMode="auto">
            <a:xfrm>
              <a:off x="7251878" y="2702162"/>
              <a:ext cx="762000" cy="270848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0…01</a:t>
              </a:r>
            </a:p>
          </p:txBody>
        </p:sp>
        <p:sp>
          <p:nvSpPr>
            <p:cNvPr id="130" name="Rectangle 129"/>
            <p:cNvSpPr/>
            <p:nvPr/>
          </p:nvSpPr>
          <p:spPr bwMode="auto">
            <a:xfrm>
              <a:off x="8013878" y="2702162"/>
              <a:ext cx="520522" cy="270848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en-US" sz="1600" dirty="0">
                  <a:solidFill>
                    <a:srgbClr val="000000"/>
                  </a:solidFill>
                  <a:latin typeface="Calibri" pitchFamily="34" charset="0"/>
                </a:rPr>
                <a:t>100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6172200" y="2362200"/>
              <a:ext cx="15729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Address of </a:t>
              </a:r>
              <a:r>
                <a:rPr lang="en-US" sz="1800" dirty="0" err="1">
                  <a:latin typeface="Calibri" pitchFamily="34" charset="0"/>
                </a:rPr>
                <a:t>int</a:t>
              </a:r>
              <a:r>
                <a:rPr lang="en-US" sz="1800" dirty="0">
                  <a:latin typeface="Calibri" pitchFamily="34" charset="0"/>
                </a:rPr>
                <a:t>:</a:t>
              </a:r>
            </a:p>
          </p:txBody>
        </p:sp>
        <p:cxnSp>
          <p:nvCxnSpPr>
            <p:cNvPr id="183" name="Shape 182"/>
            <p:cNvCxnSpPr>
              <a:stCxn id="129" idx="2"/>
            </p:cNvCxnSpPr>
            <p:nvPr/>
          </p:nvCxnSpPr>
          <p:spPr bwMode="auto">
            <a:xfrm rot="5400000">
              <a:off x="6293638" y="2051660"/>
              <a:ext cx="417890" cy="2260590"/>
            </a:xfrm>
            <a:prstGeom prst="bentConnector2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0" name="TextBox 59"/>
            <p:cNvSpPr txBox="1"/>
            <p:nvPr/>
          </p:nvSpPr>
          <p:spPr>
            <a:xfrm>
              <a:off x="6875252" y="3344174"/>
              <a:ext cx="899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find set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691834" y="1676400"/>
              <a:ext cx="30417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800000"/>
                  </a:solidFill>
                  <a:latin typeface="Calibri" pitchFamily="34" charset="0"/>
                </a:rPr>
                <a:t>Standard Method: </a:t>
              </a:r>
            </a:p>
            <a:p>
              <a:r>
                <a:rPr lang="en-US" sz="1800" dirty="0">
                  <a:solidFill>
                    <a:srgbClr val="800000"/>
                  </a:solidFill>
                  <a:latin typeface="Calibri" pitchFamily="34" charset="0"/>
                </a:rPr>
                <a:t>Middle bit indexing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372289" y="3996267"/>
            <a:ext cx="3361256" cy="2023533"/>
            <a:chOff x="5372289" y="3996267"/>
            <a:chExt cx="3361256" cy="2023533"/>
          </a:xfrm>
        </p:grpSpPr>
        <p:sp>
          <p:nvSpPr>
            <p:cNvPr id="78" name="Rounded Rectangle 77"/>
            <p:cNvSpPr/>
            <p:nvPr/>
          </p:nvSpPr>
          <p:spPr bwMode="auto">
            <a:xfrm>
              <a:off x="5533145" y="4010799"/>
              <a:ext cx="3200400" cy="2009001"/>
            </a:xfrm>
            <a:prstGeom prst="roundRect">
              <a:avLst/>
            </a:prstGeom>
            <a:solidFill>
              <a:srgbClr val="D5F1CF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7175678" y="4988162"/>
              <a:ext cx="990600" cy="270848"/>
            </a:xfrm>
            <a:prstGeom prst="rect">
              <a:avLst/>
            </a:prstGeom>
            <a:solidFill>
              <a:srgbClr val="FF9999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t bits</a:t>
              </a: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6413678" y="4988162"/>
              <a:ext cx="762000" cy="270848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alibri" pitchFamily="34" charset="0"/>
                </a:rPr>
                <a:t>1…11</a:t>
              </a: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8166278" y="4988162"/>
              <a:ext cx="520522" cy="270848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en-US" sz="1600" dirty="0">
                  <a:solidFill>
                    <a:srgbClr val="000000"/>
                  </a:solidFill>
                  <a:latin typeface="Calibri" pitchFamily="34" charset="0"/>
                </a:rPr>
                <a:t>100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324600" y="4648200"/>
              <a:ext cx="15729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Address of </a:t>
              </a:r>
              <a:r>
                <a:rPr lang="en-US" sz="1800" dirty="0" err="1">
                  <a:latin typeface="Calibri" pitchFamily="34" charset="0"/>
                </a:rPr>
                <a:t>int</a:t>
              </a:r>
              <a:r>
                <a:rPr lang="en-US" sz="1800" dirty="0">
                  <a:latin typeface="Calibri" pitchFamily="34" charset="0"/>
                </a:rPr>
                <a:t>: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811475" y="5307569"/>
              <a:ext cx="899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find set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691836" y="3996267"/>
              <a:ext cx="21435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800000"/>
                  </a:solidFill>
                  <a:latin typeface="Calibri" pitchFamily="34" charset="0"/>
                </a:rPr>
                <a:t>Alternative Method:</a:t>
              </a:r>
            </a:p>
            <a:p>
              <a:r>
                <a:rPr lang="en-US" sz="1800" dirty="0">
                  <a:solidFill>
                    <a:srgbClr val="800000"/>
                  </a:solidFill>
                  <a:latin typeface="Calibri" pitchFamily="34" charset="0"/>
                </a:rPr>
                <a:t>High bit indexing</a:t>
              </a:r>
            </a:p>
          </p:txBody>
        </p:sp>
        <p:cxnSp>
          <p:nvCxnSpPr>
            <p:cNvPr id="69" name="Shape 182"/>
            <p:cNvCxnSpPr/>
            <p:nvPr/>
          </p:nvCxnSpPr>
          <p:spPr bwMode="auto">
            <a:xfrm rot="10800000" flipV="1">
              <a:off x="5691835" y="5259010"/>
              <a:ext cx="1130295" cy="417890"/>
            </a:xfrm>
            <a:prstGeom prst="bentConnector3">
              <a:avLst>
                <a:gd name="adj1" fmla="val -937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Shape 182"/>
            <p:cNvCxnSpPr>
              <a:endCxn id="171" idx="3"/>
            </p:cNvCxnSpPr>
            <p:nvPr/>
          </p:nvCxnSpPr>
          <p:spPr bwMode="auto">
            <a:xfrm rot="16200000" flipV="1">
              <a:off x="5265362" y="5250427"/>
              <a:ext cx="533401" cy="319547"/>
            </a:xfrm>
            <a:prstGeom prst="bentConnector2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57728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9" y="435678"/>
            <a:ext cx="4976982" cy="762000"/>
          </a:xfrm>
        </p:spPr>
        <p:txBody>
          <a:bodyPr/>
          <a:lstStyle/>
          <a:p>
            <a:r>
              <a:rPr lang="en-US" sz="3200" dirty="0"/>
              <a:t>Illustration of Indexing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5851525" cy="1076325"/>
          </a:xfrm>
        </p:spPr>
        <p:txBody>
          <a:bodyPr/>
          <a:lstStyle/>
          <a:p>
            <a:r>
              <a:rPr lang="en-US" dirty="0"/>
              <a:t>64-byte memory</a:t>
            </a:r>
          </a:p>
          <a:p>
            <a:pPr lvl="1"/>
            <a:r>
              <a:rPr lang="en-US" dirty="0"/>
              <a:t>6-bit addresses</a:t>
            </a:r>
          </a:p>
          <a:p>
            <a:r>
              <a:rPr lang="en-US" dirty="0"/>
              <a:t>16 byte, direct-mapped cache</a:t>
            </a:r>
          </a:p>
          <a:p>
            <a:r>
              <a:rPr lang="en-US" dirty="0"/>
              <a:t>Block size = 4. (Thus, 4 sets; why?)</a:t>
            </a:r>
          </a:p>
          <a:p>
            <a:r>
              <a:rPr lang="en-US" dirty="0"/>
              <a:t>2 bits tag, 2 bits index, 2 bits offset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2362200" y="5105400"/>
            <a:ext cx="2438400" cy="381000"/>
            <a:chOff x="5867400" y="5181600"/>
            <a:chExt cx="2438400" cy="381000"/>
          </a:xfrm>
          <a:solidFill>
            <a:srgbClr val="F1C7C7"/>
          </a:solidFill>
        </p:grpSpPr>
        <p:sp>
          <p:nvSpPr>
            <p:cNvPr id="4" name="Rectangle 3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362200" y="5562600"/>
            <a:ext cx="2438400" cy="381000"/>
            <a:chOff x="5867400" y="5181600"/>
            <a:chExt cx="2438400" cy="381000"/>
          </a:xfrm>
        </p:grpSpPr>
        <p:sp>
          <p:nvSpPr>
            <p:cNvPr id="10" name="Rectangle 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362200" y="4648200"/>
            <a:ext cx="2438400" cy="381000"/>
            <a:chOff x="5867400" y="5181600"/>
            <a:chExt cx="2438400" cy="381000"/>
          </a:xfrm>
          <a:solidFill>
            <a:srgbClr val="F6F5BD"/>
          </a:solidFill>
        </p:grpSpPr>
        <p:sp>
          <p:nvSpPr>
            <p:cNvPr id="15" name="Rectangle 14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362200" y="4191000"/>
            <a:ext cx="2438400" cy="381000"/>
            <a:chOff x="5867400" y="5181600"/>
            <a:chExt cx="2438400" cy="381000"/>
          </a:xfrm>
          <a:solidFill>
            <a:srgbClr val="CCFFCC"/>
          </a:solidFill>
        </p:grpSpPr>
        <p:sp>
          <p:nvSpPr>
            <p:cNvPr id="20" name="Rectangle 1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25" name="Rectangle 24"/>
          <p:cNvSpPr/>
          <p:nvPr/>
        </p:nvSpPr>
        <p:spPr bwMode="auto">
          <a:xfrm>
            <a:off x="1219200" y="4199467"/>
            <a:ext cx="914399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Set 0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1219200" y="4648200"/>
            <a:ext cx="914399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Set 1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1219200" y="5105400"/>
            <a:ext cx="914399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Set 2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1219200" y="5562600"/>
            <a:ext cx="914399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Set 3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510711" y="6248400"/>
            <a:ext cx="2438400" cy="381000"/>
            <a:chOff x="5867400" y="5181600"/>
            <a:chExt cx="2438400" cy="381000"/>
          </a:xfrm>
          <a:noFill/>
        </p:grpSpPr>
        <p:sp>
          <p:nvSpPr>
            <p:cNvPr id="33" name="Rectangle 32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12" name="Rectangle 111"/>
          <p:cNvSpPr/>
          <p:nvPr/>
        </p:nvSpPr>
        <p:spPr bwMode="auto">
          <a:xfrm>
            <a:off x="8077200" y="6239933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1111xx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13" name="Group 112"/>
          <p:cNvGrpSpPr/>
          <p:nvPr/>
        </p:nvGrpSpPr>
        <p:grpSpPr>
          <a:xfrm>
            <a:off x="5510711" y="5858933"/>
            <a:ext cx="2438400" cy="381000"/>
            <a:chOff x="5867400" y="5181600"/>
            <a:chExt cx="2438400" cy="381000"/>
          </a:xfrm>
          <a:noFill/>
        </p:grpSpPr>
        <p:sp>
          <p:nvSpPr>
            <p:cNvPr id="114" name="Rectangle 113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18" name="Rectangle 117"/>
          <p:cNvSpPr/>
          <p:nvPr/>
        </p:nvSpPr>
        <p:spPr bwMode="auto">
          <a:xfrm>
            <a:off x="8077200" y="5850466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1110xx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19" name="Group 118"/>
          <p:cNvGrpSpPr/>
          <p:nvPr/>
        </p:nvGrpSpPr>
        <p:grpSpPr>
          <a:xfrm>
            <a:off x="5510711" y="5469466"/>
            <a:ext cx="2438400" cy="381000"/>
            <a:chOff x="5867400" y="5181600"/>
            <a:chExt cx="2438400" cy="381000"/>
          </a:xfrm>
          <a:noFill/>
        </p:grpSpPr>
        <p:sp>
          <p:nvSpPr>
            <p:cNvPr id="120" name="Rectangle 11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1" name="Rectangle 12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2" name="Rectangle 12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3" name="Rectangle 12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24" name="Rectangle 123"/>
          <p:cNvSpPr/>
          <p:nvPr/>
        </p:nvSpPr>
        <p:spPr bwMode="auto">
          <a:xfrm>
            <a:off x="8077200" y="5460999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1101xx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25" name="Group 124"/>
          <p:cNvGrpSpPr/>
          <p:nvPr/>
        </p:nvGrpSpPr>
        <p:grpSpPr>
          <a:xfrm>
            <a:off x="5510711" y="5079999"/>
            <a:ext cx="2438400" cy="381000"/>
            <a:chOff x="5867400" y="5181600"/>
            <a:chExt cx="2438400" cy="381000"/>
          </a:xfrm>
          <a:noFill/>
        </p:grpSpPr>
        <p:sp>
          <p:nvSpPr>
            <p:cNvPr id="126" name="Rectangle 125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7" name="Rectangle 126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8" name="Rectangle 127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9" name="Rectangle 128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30" name="Rectangle 129"/>
          <p:cNvSpPr/>
          <p:nvPr/>
        </p:nvSpPr>
        <p:spPr bwMode="auto">
          <a:xfrm>
            <a:off x="8077200" y="5071532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1100xx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31" name="Group 130"/>
          <p:cNvGrpSpPr/>
          <p:nvPr/>
        </p:nvGrpSpPr>
        <p:grpSpPr>
          <a:xfrm>
            <a:off x="5510711" y="4690532"/>
            <a:ext cx="2438400" cy="381000"/>
            <a:chOff x="5867400" y="5181600"/>
            <a:chExt cx="2438400" cy="381000"/>
          </a:xfrm>
          <a:noFill/>
        </p:grpSpPr>
        <p:sp>
          <p:nvSpPr>
            <p:cNvPr id="132" name="Rectangle 131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3" name="Rectangle 132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4" name="Rectangle 133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5" name="Rectangle 134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36" name="Rectangle 135"/>
          <p:cNvSpPr/>
          <p:nvPr/>
        </p:nvSpPr>
        <p:spPr bwMode="auto">
          <a:xfrm>
            <a:off x="8077200" y="4682065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1011xx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37" name="Group 136"/>
          <p:cNvGrpSpPr/>
          <p:nvPr/>
        </p:nvGrpSpPr>
        <p:grpSpPr>
          <a:xfrm>
            <a:off x="5510711" y="4301065"/>
            <a:ext cx="2438400" cy="381000"/>
            <a:chOff x="5867400" y="5181600"/>
            <a:chExt cx="2438400" cy="381000"/>
          </a:xfrm>
          <a:noFill/>
        </p:grpSpPr>
        <p:sp>
          <p:nvSpPr>
            <p:cNvPr id="138" name="Rectangle 137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9" name="Rectangle 138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0" name="Rectangle 139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1" name="Rectangle 140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42" name="Rectangle 141"/>
          <p:cNvSpPr/>
          <p:nvPr/>
        </p:nvSpPr>
        <p:spPr bwMode="auto">
          <a:xfrm>
            <a:off x="8077200" y="4292598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1010xx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43" name="Group 142"/>
          <p:cNvGrpSpPr/>
          <p:nvPr/>
        </p:nvGrpSpPr>
        <p:grpSpPr>
          <a:xfrm>
            <a:off x="5510711" y="3911598"/>
            <a:ext cx="2438400" cy="381000"/>
            <a:chOff x="5867400" y="5181600"/>
            <a:chExt cx="2438400" cy="381000"/>
          </a:xfrm>
          <a:noFill/>
        </p:grpSpPr>
        <p:sp>
          <p:nvSpPr>
            <p:cNvPr id="144" name="Rectangle 143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5" name="Rectangle 144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6" name="Rectangle 145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7" name="Rectangle 146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48" name="Rectangle 147"/>
          <p:cNvSpPr/>
          <p:nvPr/>
        </p:nvSpPr>
        <p:spPr bwMode="auto">
          <a:xfrm>
            <a:off x="8077200" y="3903131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1001xx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49" name="Group 148"/>
          <p:cNvGrpSpPr/>
          <p:nvPr/>
        </p:nvGrpSpPr>
        <p:grpSpPr>
          <a:xfrm>
            <a:off x="5510711" y="3522131"/>
            <a:ext cx="2438400" cy="381000"/>
            <a:chOff x="5867400" y="5181600"/>
            <a:chExt cx="2438400" cy="381000"/>
          </a:xfrm>
          <a:noFill/>
        </p:grpSpPr>
        <p:sp>
          <p:nvSpPr>
            <p:cNvPr id="150" name="Rectangle 14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1" name="Rectangle 15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2" name="Rectangle 15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3" name="Rectangle 15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54" name="Rectangle 153"/>
          <p:cNvSpPr/>
          <p:nvPr/>
        </p:nvSpPr>
        <p:spPr bwMode="auto">
          <a:xfrm>
            <a:off x="8077200" y="3513664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1000xx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55" name="Group 154"/>
          <p:cNvGrpSpPr/>
          <p:nvPr/>
        </p:nvGrpSpPr>
        <p:grpSpPr>
          <a:xfrm>
            <a:off x="5510711" y="3132664"/>
            <a:ext cx="2438400" cy="381000"/>
            <a:chOff x="5867400" y="5181600"/>
            <a:chExt cx="2438400" cy="381000"/>
          </a:xfrm>
          <a:noFill/>
        </p:grpSpPr>
        <p:sp>
          <p:nvSpPr>
            <p:cNvPr id="156" name="Rectangle 155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7" name="Rectangle 156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8" name="Rectangle 157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9" name="Rectangle 158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60" name="Rectangle 159"/>
          <p:cNvSpPr/>
          <p:nvPr/>
        </p:nvSpPr>
        <p:spPr bwMode="auto">
          <a:xfrm>
            <a:off x="8077200" y="3124197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0111xx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61" name="Group 160"/>
          <p:cNvGrpSpPr/>
          <p:nvPr/>
        </p:nvGrpSpPr>
        <p:grpSpPr>
          <a:xfrm>
            <a:off x="5510711" y="2743197"/>
            <a:ext cx="2438400" cy="381000"/>
            <a:chOff x="5867400" y="5181600"/>
            <a:chExt cx="2438400" cy="381000"/>
          </a:xfrm>
          <a:noFill/>
        </p:grpSpPr>
        <p:sp>
          <p:nvSpPr>
            <p:cNvPr id="162" name="Rectangle 161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3" name="Rectangle 162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4" name="Rectangle 163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66" name="Rectangle 165"/>
          <p:cNvSpPr/>
          <p:nvPr/>
        </p:nvSpPr>
        <p:spPr bwMode="auto">
          <a:xfrm>
            <a:off x="8077200" y="2734730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0110xx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67" name="Group 166"/>
          <p:cNvGrpSpPr/>
          <p:nvPr/>
        </p:nvGrpSpPr>
        <p:grpSpPr>
          <a:xfrm>
            <a:off x="5510711" y="2353730"/>
            <a:ext cx="2438400" cy="381000"/>
            <a:chOff x="5867400" y="5181600"/>
            <a:chExt cx="2438400" cy="381000"/>
          </a:xfrm>
          <a:noFill/>
        </p:grpSpPr>
        <p:sp>
          <p:nvSpPr>
            <p:cNvPr id="168" name="Rectangle 167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9" name="Rectangle 168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0" name="Rectangle 169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1" name="Rectangle 170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72" name="Rectangle 171"/>
          <p:cNvSpPr/>
          <p:nvPr/>
        </p:nvSpPr>
        <p:spPr bwMode="auto">
          <a:xfrm>
            <a:off x="8077200" y="2345263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0101xx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73" name="Group 172"/>
          <p:cNvGrpSpPr/>
          <p:nvPr/>
        </p:nvGrpSpPr>
        <p:grpSpPr>
          <a:xfrm>
            <a:off x="5510711" y="1964263"/>
            <a:ext cx="2438400" cy="381000"/>
            <a:chOff x="5867400" y="5181600"/>
            <a:chExt cx="2438400" cy="381000"/>
          </a:xfrm>
          <a:noFill/>
        </p:grpSpPr>
        <p:sp>
          <p:nvSpPr>
            <p:cNvPr id="174" name="Rectangle 173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5" name="Rectangle 174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7" name="Rectangle 176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78" name="Rectangle 177"/>
          <p:cNvSpPr/>
          <p:nvPr/>
        </p:nvSpPr>
        <p:spPr bwMode="auto">
          <a:xfrm>
            <a:off x="8077200" y="1955796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0100xx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79" name="Group 178"/>
          <p:cNvGrpSpPr/>
          <p:nvPr/>
        </p:nvGrpSpPr>
        <p:grpSpPr>
          <a:xfrm>
            <a:off x="5510711" y="1574796"/>
            <a:ext cx="2438400" cy="381000"/>
            <a:chOff x="5867400" y="5181600"/>
            <a:chExt cx="2438400" cy="381000"/>
          </a:xfrm>
          <a:noFill/>
        </p:grpSpPr>
        <p:sp>
          <p:nvSpPr>
            <p:cNvPr id="180" name="Rectangle 17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1" name="Rectangle 18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2" name="Rectangle 18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3" name="Rectangle 18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84" name="Rectangle 183"/>
          <p:cNvSpPr/>
          <p:nvPr/>
        </p:nvSpPr>
        <p:spPr bwMode="auto">
          <a:xfrm>
            <a:off x="8077200" y="1566329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0011xx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85" name="Group 184"/>
          <p:cNvGrpSpPr/>
          <p:nvPr/>
        </p:nvGrpSpPr>
        <p:grpSpPr>
          <a:xfrm>
            <a:off x="5510711" y="1185329"/>
            <a:ext cx="2438400" cy="381000"/>
            <a:chOff x="5867400" y="5181600"/>
            <a:chExt cx="2438400" cy="381000"/>
          </a:xfrm>
          <a:noFill/>
        </p:grpSpPr>
        <p:sp>
          <p:nvSpPr>
            <p:cNvPr id="186" name="Rectangle 185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7" name="Rectangle 186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8" name="Rectangle 187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9" name="Rectangle 188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90" name="Rectangle 189"/>
          <p:cNvSpPr/>
          <p:nvPr/>
        </p:nvSpPr>
        <p:spPr bwMode="auto">
          <a:xfrm>
            <a:off x="8077200" y="1176862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0010xx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91" name="Group 190"/>
          <p:cNvGrpSpPr/>
          <p:nvPr/>
        </p:nvGrpSpPr>
        <p:grpSpPr>
          <a:xfrm>
            <a:off x="5510711" y="795862"/>
            <a:ext cx="2438400" cy="381000"/>
            <a:chOff x="5867400" y="5181600"/>
            <a:chExt cx="2438400" cy="381000"/>
          </a:xfrm>
          <a:noFill/>
        </p:grpSpPr>
        <p:sp>
          <p:nvSpPr>
            <p:cNvPr id="192" name="Rectangle 191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93" name="Rectangle 192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94" name="Rectangle 193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95" name="Rectangle 194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96" name="Rectangle 195"/>
          <p:cNvSpPr/>
          <p:nvPr/>
        </p:nvSpPr>
        <p:spPr bwMode="auto">
          <a:xfrm>
            <a:off x="8077200" y="787395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0001xx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97" name="Group 196"/>
          <p:cNvGrpSpPr/>
          <p:nvPr/>
        </p:nvGrpSpPr>
        <p:grpSpPr>
          <a:xfrm>
            <a:off x="5510711" y="406395"/>
            <a:ext cx="2438400" cy="381000"/>
            <a:chOff x="5867400" y="5181600"/>
            <a:chExt cx="2438400" cy="381000"/>
          </a:xfrm>
          <a:noFill/>
        </p:grpSpPr>
        <p:sp>
          <p:nvSpPr>
            <p:cNvPr id="198" name="Rectangle 197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99" name="Rectangle 198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00" name="Rectangle 199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01" name="Rectangle 200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202" name="Rectangle 201"/>
          <p:cNvSpPr/>
          <p:nvPr/>
        </p:nvSpPr>
        <p:spPr bwMode="auto">
          <a:xfrm>
            <a:off x="8077200" y="397928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0000xx</a:t>
            </a:r>
            <a:endParaRPr lang="en-US"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012801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9" y="435678"/>
            <a:ext cx="4976982" cy="762000"/>
          </a:xfrm>
        </p:spPr>
        <p:txBody>
          <a:bodyPr/>
          <a:lstStyle/>
          <a:p>
            <a:r>
              <a:rPr lang="en-US" sz="3200" dirty="0"/>
              <a:t>Middle Bit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5851525" cy="1076325"/>
          </a:xfrm>
        </p:spPr>
        <p:txBody>
          <a:bodyPr/>
          <a:lstStyle/>
          <a:p>
            <a:r>
              <a:rPr lang="en-US" dirty="0"/>
              <a:t>Addresses of form </a:t>
            </a:r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TT</a:t>
            </a: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SS</a:t>
            </a:r>
            <a:r>
              <a:rPr lang="en-US" dirty="0">
                <a:latin typeface="Courier New"/>
                <a:cs typeface="Courier New"/>
              </a:rPr>
              <a:t>BB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TT</a:t>
            </a:r>
            <a:r>
              <a:rPr lang="en-US" dirty="0"/>
              <a:t>	Tag bits</a:t>
            </a:r>
          </a:p>
          <a:p>
            <a:pPr lvl="1"/>
            <a:r>
              <a:rPr lang="en-US" b="1" dirty="0">
                <a:solidFill>
                  <a:srgbClr val="3366FF"/>
                </a:solidFill>
                <a:latin typeface="Courier New"/>
                <a:cs typeface="Courier New"/>
              </a:rPr>
              <a:t>SS</a:t>
            </a:r>
            <a:r>
              <a:rPr lang="en-US" dirty="0"/>
              <a:t>	Set index bits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/>
                <a:cs typeface="Courier New"/>
              </a:rPr>
              <a:t>BB</a:t>
            </a:r>
            <a:r>
              <a:rPr lang="en-US" dirty="0"/>
              <a:t>	Offset bits</a:t>
            </a:r>
          </a:p>
          <a:p>
            <a:pPr algn="just"/>
            <a:r>
              <a:rPr lang="en-US" dirty="0"/>
              <a:t>Makes good use of spatial locality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2362200" y="5105400"/>
            <a:ext cx="2438400" cy="381000"/>
            <a:chOff x="5867400" y="5181600"/>
            <a:chExt cx="2438400" cy="381000"/>
          </a:xfrm>
          <a:solidFill>
            <a:srgbClr val="F1C7C7"/>
          </a:solidFill>
        </p:grpSpPr>
        <p:sp>
          <p:nvSpPr>
            <p:cNvPr id="4" name="Rectangle 3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362200" y="5562600"/>
            <a:ext cx="2438400" cy="381000"/>
            <a:chOff x="5867400" y="5181600"/>
            <a:chExt cx="2438400" cy="381000"/>
          </a:xfrm>
        </p:grpSpPr>
        <p:sp>
          <p:nvSpPr>
            <p:cNvPr id="10" name="Rectangle 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362200" y="4648200"/>
            <a:ext cx="2438400" cy="381000"/>
            <a:chOff x="5867400" y="5181600"/>
            <a:chExt cx="2438400" cy="381000"/>
          </a:xfrm>
          <a:solidFill>
            <a:srgbClr val="F6F5BD"/>
          </a:solidFill>
        </p:grpSpPr>
        <p:sp>
          <p:nvSpPr>
            <p:cNvPr id="15" name="Rectangle 14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362200" y="4191000"/>
            <a:ext cx="2438400" cy="381000"/>
            <a:chOff x="5867400" y="5181600"/>
            <a:chExt cx="2438400" cy="381000"/>
          </a:xfrm>
          <a:solidFill>
            <a:srgbClr val="CCFFCC"/>
          </a:solidFill>
        </p:grpSpPr>
        <p:sp>
          <p:nvSpPr>
            <p:cNvPr id="20" name="Rectangle 1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25" name="Rectangle 24"/>
          <p:cNvSpPr/>
          <p:nvPr/>
        </p:nvSpPr>
        <p:spPr bwMode="auto">
          <a:xfrm>
            <a:off x="1219200" y="4199467"/>
            <a:ext cx="914399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Set 0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1219200" y="4648200"/>
            <a:ext cx="914399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Set 1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1219200" y="5105400"/>
            <a:ext cx="914399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Set 2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1219200" y="5562600"/>
            <a:ext cx="914399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Set 3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510711" y="6248400"/>
            <a:ext cx="2438400" cy="381000"/>
            <a:chOff x="5867400" y="5181600"/>
            <a:chExt cx="2438400" cy="381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3" name="Rectangle 32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12" name="Rectangle 111"/>
          <p:cNvSpPr/>
          <p:nvPr/>
        </p:nvSpPr>
        <p:spPr bwMode="auto">
          <a:xfrm>
            <a:off x="8077200" y="6239933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1111xx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13" name="Group 112"/>
          <p:cNvGrpSpPr/>
          <p:nvPr/>
        </p:nvGrpSpPr>
        <p:grpSpPr>
          <a:xfrm>
            <a:off x="5510711" y="5858933"/>
            <a:ext cx="2438400" cy="381000"/>
            <a:chOff x="5867400" y="5181600"/>
            <a:chExt cx="2438400" cy="381000"/>
          </a:xfrm>
          <a:solidFill>
            <a:srgbClr val="F1C7C7"/>
          </a:solidFill>
        </p:grpSpPr>
        <p:sp>
          <p:nvSpPr>
            <p:cNvPr id="114" name="Rectangle 113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18" name="Rectangle 117"/>
          <p:cNvSpPr/>
          <p:nvPr/>
        </p:nvSpPr>
        <p:spPr bwMode="auto">
          <a:xfrm>
            <a:off x="8077200" y="5850466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1110xx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19" name="Group 118"/>
          <p:cNvGrpSpPr/>
          <p:nvPr/>
        </p:nvGrpSpPr>
        <p:grpSpPr>
          <a:xfrm>
            <a:off x="5510711" y="5469466"/>
            <a:ext cx="2438400" cy="381000"/>
            <a:chOff x="5867400" y="5181600"/>
            <a:chExt cx="2438400" cy="381000"/>
          </a:xfrm>
          <a:solidFill>
            <a:srgbClr val="F6F5BD"/>
          </a:solidFill>
        </p:grpSpPr>
        <p:sp>
          <p:nvSpPr>
            <p:cNvPr id="120" name="Rectangle 11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1" name="Rectangle 12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2" name="Rectangle 12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3" name="Rectangle 12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24" name="Rectangle 123"/>
          <p:cNvSpPr/>
          <p:nvPr/>
        </p:nvSpPr>
        <p:spPr bwMode="auto">
          <a:xfrm>
            <a:off x="8077200" y="5460999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1101xx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25" name="Group 124"/>
          <p:cNvGrpSpPr/>
          <p:nvPr/>
        </p:nvGrpSpPr>
        <p:grpSpPr>
          <a:xfrm>
            <a:off x="5510711" y="5079999"/>
            <a:ext cx="2438400" cy="381000"/>
            <a:chOff x="5867400" y="5181600"/>
            <a:chExt cx="2438400" cy="381000"/>
          </a:xfrm>
          <a:solidFill>
            <a:srgbClr val="CCFFCC"/>
          </a:solidFill>
        </p:grpSpPr>
        <p:sp>
          <p:nvSpPr>
            <p:cNvPr id="126" name="Rectangle 125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7" name="Rectangle 126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8" name="Rectangle 127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9" name="Rectangle 128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30" name="Rectangle 129"/>
          <p:cNvSpPr/>
          <p:nvPr/>
        </p:nvSpPr>
        <p:spPr bwMode="auto">
          <a:xfrm>
            <a:off x="8077200" y="5071532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1100xx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31" name="Group 130"/>
          <p:cNvGrpSpPr/>
          <p:nvPr/>
        </p:nvGrpSpPr>
        <p:grpSpPr>
          <a:xfrm>
            <a:off x="5510711" y="4690532"/>
            <a:ext cx="2438400" cy="381000"/>
            <a:chOff x="5867400" y="5181600"/>
            <a:chExt cx="2438400" cy="381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2" name="Rectangle 131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3" name="Rectangle 132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4" name="Rectangle 133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5" name="Rectangle 134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36" name="Rectangle 135"/>
          <p:cNvSpPr/>
          <p:nvPr/>
        </p:nvSpPr>
        <p:spPr bwMode="auto">
          <a:xfrm>
            <a:off x="8077200" y="4682065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1011xx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37" name="Group 136"/>
          <p:cNvGrpSpPr/>
          <p:nvPr/>
        </p:nvGrpSpPr>
        <p:grpSpPr>
          <a:xfrm>
            <a:off x="5510711" y="4301065"/>
            <a:ext cx="2438400" cy="381000"/>
            <a:chOff x="5867400" y="5181600"/>
            <a:chExt cx="2438400" cy="381000"/>
          </a:xfrm>
          <a:solidFill>
            <a:srgbClr val="F1C7C7"/>
          </a:solidFill>
        </p:grpSpPr>
        <p:sp>
          <p:nvSpPr>
            <p:cNvPr id="138" name="Rectangle 137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9" name="Rectangle 138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0" name="Rectangle 139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1" name="Rectangle 140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42" name="Rectangle 141"/>
          <p:cNvSpPr/>
          <p:nvPr/>
        </p:nvSpPr>
        <p:spPr bwMode="auto">
          <a:xfrm>
            <a:off x="8077200" y="4292598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1010xx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43" name="Group 142"/>
          <p:cNvGrpSpPr/>
          <p:nvPr/>
        </p:nvGrpSpPr>
        <p:grpSpPr>
          <a:xfrm>
            <a:off x="5510711" y="3911598"/>
            <a:ext cx="2438400" cy="381000"/>
            <a:chOff x="5867400" y="5181600"/>
            <a:chExt cx="2438400" cy="381000"/>
          </a:xfrm>
          <a:solidFill>
            <a:srgbClr val="F6F5BD"/>
          </a:solidFill>
        </p:grpSpPr>
        <p:sp>
          <p:nvSpPr>
            <p:cNvPr id="144" name="Rectangle 143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5" name="Rectangle 144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6" name="Rectangle 145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7" name="Rectangle 146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48" name="Rectangle 147"/>
          <p:cNvSpPr/>
          <p:nvPr/>
        </p:nvSpPr>
        <p:spPr bwMode="auto">
          <a:xfrm>
            <a:off x="8077200" y="3903131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1001xx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49" name="Group 148"/>
          <p:cNvGrpSpPr/>
          <p:nvPr/>
        </p:nvGrpSpPr>
        <p:grpSpPr>
          <a:xfrm>
            <a:off x="5510711" y="3522131"/>
            <a:ext cx="2438400" cy="381000"/>
            <a:chOff x="5867400" y="5181600"/>
            <a:chExt cx="2438400" cy="381000"/>
          </a:xfrm>
          <a:solidFill>
            <a:srgbClr val="CCFFCC"/>
          </a:solidFill>
        </p:grpSpPr>
        <p:sp>
          <p:nvSpPr>
            <p:cNvPr id="150" name="Rectangle 14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1" name="Rectangle 15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2" name="Rectangle 15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3" name="Rectangle 15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54" name="Rectangle 153"/>
          <p:cNvSpPr/>
          <p:nvPr/>
        </p:nvSpPr>
        <p:spPr bwMode="auto">
          <a:xfrm>
            <a:off x="8077200" y="3513664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1000xx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55" name="Group 154"/>
          <p:cNvGrpSpPr/>
          <p:nvPr/>
        </p:nvGrpSpPr>
        <p:grpSpPr>
          <a:xfrm>
            <a:off x="5510711" y="3132664"/>
            <a:ext cx="2438400" cy="381000"/>
            <a:chOff x="5867400" y="5181600"/>
            <a:chExt cx="2438400" cy="381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6" name="Rectangle 155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7" name="Rectangle 156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8" name="Rectangle 157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9" name="Rectangle 158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60" name="Rectangle 159"/>
          <p:cNvSpPr/>
          <p:nvPr/>
        </p:nvSpPr>
        <p:spPr bwMode="auto">
          <a:xfrm>
            <a:off x="8077200" y="3124197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0111xx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61" name="Group 160"/>
          <p:cNvGrpSpPr/>
          <p:nvPr/>
        </p:nvGrpSpPr>
        <p:grpSpPr>
          <a:xfrm>
            <a:off x="5510711" y="2743197"/>
            <a:ext cx="2438400" cy="381000"/>
            <a:chOff x="5867400" y="5181600"/>
            <a:chExt cx="2438400" cy="381000"/>
          </a:xfrm>
          <a:solidFill>
            <a:srgbClr val="F1C7C7"/>
          </a:solidFill>
        </p:grpSpPr>
        <p:sp>
          <p:nvSpPr>
            <p:cNvPr id="162" name="Rectangle 161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3" name="Rectangle 162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4" name="Rectangle 163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66" name="Rectangle 165"/>
          <p:cNvSpPr/>
          <p:nvPr/>
        </p:nvSpPr>
        <p:spPr bwMode="auto">
          <a:xfrm>
            <a:off x="8077200" y="2734730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0110xx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67" name="Group 166"/>
          <p:cNvGrpSpPr/>
          <p:nvPr/>
        </p:nvGrpSpPr>
        <p:grpSpPr>
          <a:xfrm>
            <a:off x="5510711" y="2353730"/>
            <a:ext cx="2438400" cy="381000"/>
            <a:chOff x="5867400" y="5181600"/>
            <a:chExt cx="2438400" cy="381000"/>
          </a:xfrm>
          <a:solidFill>
            <a:srgbClr val="F6F5BD"/>
          </a:solidFill>
        </p:grpSpPr>
        <p:sp>
          <p:nvSpPr>
            <p:cNvPr id="168" name="Rectangle 167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9" name="Rectangle 168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0" name="Rectangle 169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1" name="Rectangle 170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72" name="Rectangle 171"/>
          <p:cNvSpPr/>
          <p:nvPr/>
        </p:nvSpPr>
        <p:spPr bwMode="auto">
          <a:xfrm>
            <a:off x="8077200" y="2345263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0101xx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73" name="Group 172"/>
          <p:cNvGrpSpPr/>
          <p:nvPr/>
        </p:nvGrpSpPr>
        <p:grpSpPr>
          <a:xfrm>
            <a:off x="5510711" y="1964263"/>
            <a:ext cx="2438400" cy="381000"/>
            <a:chOff x="5867400" y="5181600"/>
            <a:chExt cx="2438400" cy="381000"/>
          </a:xfrm>
          <a:solidFill>
            <a:srgbClr val="CCFFCC"/>
          </a:solidFill>
        </p:grpSpPr>
        <p:sp>
          <p:nvSpPr>
            <p:cNvPr id="174" name="Rectangle 173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5" name="Rectangle 174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7" name="Rectangle 176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78" name="Rectangle 177"/>
          <p:cNvSpPr/>
          <p:nvPr/>
        </p:nvSpPr>
        <p:spPr bwMode="auto">
          <a:xfrm>
            <a:off x="8077200" y="1955796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0100xx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79" name="Group 178"/>
          <p:cNvGrpSpPr/>
          <p:nvPr/>
        </p:nvGrpSpPr>
        <p:grpSpPr>
          <a:xfrm>
            <a:off x="5510711" y="1574796"/>
            <a:ext cx="2438400" cy="381000"/>
            <a:chOff x="5867400" y="5181600"/>
            <a:chExt cx="2438400" cy="381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80" name="Rectangle 17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1" name="Rectangle 18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2" name="Rectangle 18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3" name="Rectangle 18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84" name="Rectangle 183"/>
          <p:cNvSpPr/>
          <p:nvPr/>
        </p:nvSpPr>
        <p:spPr bwMode="auto">
          <a:xfrm>
            <a:off x="8077200" y="1566329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0011xx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85" name="Group 184"/>
          <p:cNvGrpSpPr/>
          <p:nvPr/>
        </p:nvGrpSpPr>
        <p:grpSpPr>
          <a:xfrm>
            <a:off x="5510711" y="1185329"/>
            <a:ext cx="2438400" cy="381000"/>
            <a:chOff x="5867400" y="5181600"/>
            <a:chExt cx="2438400" cy="381000"/>
          </a:xfrm>
          <a:solidFill>
            <a:srgbClr val="F1C7C7"/>
          </a:solidFill>
        </p:grpSpPr>
        <p:sp>
          <p:nvSpPr>
            <p:cNvPr id="186" name="Rectangle 185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7" name="Rectangle 186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8" name="Rectangle 187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9" name="Rectangle 188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90" name="Rectangle 189"/>
          <p:cNvSpPr/>
          <p:nvPr/>
        </p:nvSpPr>
        <p:spPr bwMode="auto">
          <a:xfrm>
            <a:off x="8077200" y="1176862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0010xx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91" name="Group 190"/>
          <p:cNvGrpSpPr/>
          <p:nvPr/>
        </p:nvGrpSpPr>
        <p:grpSpPr>
          <a:xfrm>
            <a:off x="5510711" y="795862"/>
            <a:ext cx="2438400" cy="381000"/>
            <a:chOff x="5867400" y="5181600"/>
            <a:chExt cx="2438400" cy="381000"/>
          </a:xfrm>
          <a:solidFill>
            <a:srgbClr val="F6F5BD"/>
          </a:solidFill>
        </p:grpSpPr>
        <p:sp>
          <p:nvSpPr>
            <p:cNvPr id="192" name="Rectangle 191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93" name="Rectangle 192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94" name="Rectangle 193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95" name="Rectangle 194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96" name="Rectangle 195"/>
          <p:cNvSpPr/>
          <p:nvPr/>
        </p:nvSpPr>
        <p:spPr bwMode="auto">
          <a:xfrm>
            <a:off x="8077200" y="787395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0001xx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97" name="Group 196"/>
          <p:cNvGrpSpPr/>
          <p:nvPr/>
        </p:nvGrpSpPr>
        <p:grpSpPr>
          <a:xfrm>
            <a:off x="5510711" y="406395"/>
            <a:ext cx="2438400" cy="381000"/>
            <a:chOff x="5867400" y="5181600"/>
            <a:chExt cx="2438400" cy="381000"/>
          </a:xfrm>
          <a:solidFill>
            <a:srgbClr val="CCFFCC"/>
          </a:solidFill>
        </p:grpSpPr>
        <p:sp>
          <p:nvSpPr>
            <p:cNvPr id="198" name="Rectangle 197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99" name="Rectangle 198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00" name="Rectangle 199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01" name="Rectangle 200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202" name="Rectangle 201"/>
          <p:cNvSpPr/>
          <p:nvPr/>
        </p:nvSpPr>
        <p:spPr bwMode="auto">
          <a:xfrm>
            <a:off x="8077200" y="397928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0000xx</a:t>
            </a:r>
            <a:endParaRPr lang="en-US"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555769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9" y="435678"/>
            <a:ext cx="4976982" cy="762000"/>
          </a:xfrm>
        </p:spPr>
        <p:txBody>
          <a:bodyPr/>
          <a:lstStyle/>
          <a:p>
            <a:r>
              <a:rPr lang="en-US" sz="3200" dirty="0"/>
              <a:t>High Bit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5013325" cy="1076325"/>
          </a:xfrm>
        </p:spPr>
        <p:txBody>
          <a:bodyPr/>
          <a:lstStyle/>
          <a:p>
            <a:r>
              <a:rPr lang="en-US" dirty="0"/>
              <a:t>Addresses of form </a:t>
            </a:r>
            <a:r>
              <a:rPr lang="en-US" dirty="0">
                <a:solidFill>
                  <a:srgbClr val="3366FF"/>
                </a:solidFill>
                <a:latin typeface="Courier New"/>
                <a:cs typeface="Courier New"/>
              </a:rPr>
              <a:t>SS</a:t>
            </a:r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TT</a:t>
            </a:r>
            <a:r>
              <a:rPr lang="en-US" dirty="0">
                <a:latin typeface="Courier New"/>
                <a:cs typeface="Courier New"/>
              </a:rPr>
              <a:t>BB</a:t>
            </a:r>
          </a:p>
          <a:p>
            <a:pPr lvl="1"/>
            <a:r>
              <a:rPr lang="en-US" b="1" dirty="0">
                <a:solidFill>
                  <a:srgbClr val="3366FF"/>
                </a:solidFill>
                <a:latin typeface="Courier New"/>
                <a:cs typeface="Courier New"/>
              </a:rPr>
              <a:t>SS</a:t>
            </a:r>
            <a:r>
              <a:rPr lang="en-US" dirty="0"/>
              <a:t>	Set index bits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TT</a:t>
            </a:r>
            <a:r>
              <a:rPr lang="en-US" dirty="0"/>
              <a:t>	Tag bits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/>
                <a:cs typeface="Courier New"/>
              </a:rPr>
              <a:t>BB</a:t>
            </a:r>
            <a:r>
              <a:rPr lang="en-US" dirty="0"/>
              <a:t>	Offset bits</a:t>
            </a:r>
          </a:p>
          <a:p>
            <a:pPr algn="just"/>
            <a:r>
              <a:rPr lang="en-US" dirty="0"/>
              <a:t>Program with high spatial locality would generate lots of conflicts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2362200" y="5105400"/>
            <a:ext cx="2438400" cy="381000"/>
            <a:chOff x="5867400" y="5181600"/>
            <a:chExt cx="2438400" cy="381000"/>
          </a:xfrm>
          <a:solidFill>
            <a:srgbClr val="F1C7C7"/>
          </a:solidFill>
        </p:grpSpPr>
        <p:sp>
          <p:nvSpPr>
            <p:cNvPr id="4" name="Rectangle 3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362200" y="5562600"/>
            <a:ext cx="2438400" cy="381000"/>
            <a:chOff x="5867400" y="5181600"/>
            <a:chExt cx="2438400" cy="381000"/>
          </a:xfrm>
        </p:grpSpPr>
        <p:sp>
          <p:nvSpPr>
            <p:cNvPr id="10" name="Rectangle 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362200" y="4648200"/>
            <a:ext cx="2438400" cy="381000"/>
            <a:chOff x="5867400" y="5181600"/>
            <a:chExt cx="2438400" cy="381000"/>
          </a:xfrm>
          <a:solidFill>
            <a:srgbClr val="F6F5BD"/>
          </a:solidFill>
        </p:grpSpPr>
        <p:sp>
          <p:nvSpPr>
            <p:cNvPr id="15" name="Rectangle 14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362200" y="4191000"/>
            <a:ext cx="2438400" cy="381000"/>
            <a:chOff x="5867400" y="5181600"/>
            <a:chExt cx="2438400" cy="381000"/>
          </a:xfrm>
          <a:solidFill>
            <a:srgbClr val="CCFFCC"/>
          </a:solidFill>
        </p:grpSpPr>
        <p:sp>
          <p:nvSpPr>
            <p:cNvPr id="20" name="Rectangle 1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25" name="Rectangle 24"/>
          <p:cNvSpPr/>
          <p:nvPr/>
        </p:nvSpPr>
        <p:spPr bwMode="auto">
          <a:xfrm>
            <a:off x="1219200" y="4199467"/>
            <a:ext cx="914399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Set 0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1219200" y="4648200"/>
            <a:ext cx="914399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Set 1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1219200" y="5105400"/>
            <a:ext cx="914399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Set 2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1219200" y="5562600"/>
            <a:ext cx="914399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Calibri" pitchFamily="34" charset="0"/>
              </a:rPr>
              <a:t>Set 3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510711" y="6248400"/>
            <a:ext cx="2438400" cy="381000"/>
            <a:chOff x="5867400" y="5181600"/>
            <a:chExt cx="2438400" cy="381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3" name="Rectangle 32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12" name="Rectangle 111"/>
          <p:cNvSpPr/>
          <p:nvPr/>
        </p:nvSpPr>
        <p:spPr bwMode="auto">
          <a:xfrm>
            <a:off x="8077200" y="6239933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1111xx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13" name="Group 112"/>
          <p:cNvGrpSpPr/>
          <p:nvPr/>
        </p:nvGrpSpPr>
        <p:grpSpPr>
          <a:xfrm>
            <a:off x="5510711" y="5858933"/>
            <a:ext cx="2438400" cy="381000"/>
            <a:chOff x="5867400" y="5181600"/>
            <a:chExt cx="2438400" cy="381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14" name="Rectangle 113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18" name="Rectangle 117"/>
          <p:cNvSpPr/>
          <p:nvPr/>
        </p:nvSpPr>
        <p:spPr bwMode="auto">
          <a:xfrm>
            <a:off x="8077200" y="5850466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1110xx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19" name="Group 118"/>
          <p:cNvGrpSpPr/>
          <p:nvPr/>
        </p:nvGrpSpPr>
        <p:grpSpPr>
          <a:xfrm>
            <a:off x="5510711" y="5469466"/>
            <a:ext cx="2438400" cy="381000"/>
            <a:chOff x="5867400" y="5181600"/>
            <a:chExt cx="2438400" cy="381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20" name="Rectangle 11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1" name="Rectangle 12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2" name="Rectangle 12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3" name="Rectangle 12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24" name="Rectangle 123"/>
          <p:cNvSpPr/>
          <p:nvPr/>
        </p:nvSpPr>
        <p:spPr bwMode="auto">
          <a:xfrm>
            <a:off x="8077200" y="5460999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1101xx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25" name="Group 124"/>
          <p:cNvGrpSpPr/>
          <p:nvPr/>
        </p:nvGrpSpPr>
        <p:grpSpPr>
          <a:xfrm>
            <a:off x="5510711" y="5079999"/>
            <a:ext cx="2438400" cy="381000"/>
            <a:chOff x="5867400" y="5181600"/>
            <a:chExt cx="2438400" cy="381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26" name="Rectangle 125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7" name="Rectangle 126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8" name="Rectangle 127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9" name="Rectangle 128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30" name="Rectangle 129"/>
          <p:cNvSpPr/>
          <p:nvPr/>
        </p:nvSpPr>
        <p:spPr bwMode="auto">
          <a:xfrm>
            <a:off x="8077200" y="5071532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1100xx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31" name="Group 130"/>
          <p:cNvGrpSpPr/>
          <p:nvPr/>
        </p:nvGrpSpPr>
        <p:grpSpPr>
          <a:xfrm>
            <a:off x="5510711" y="4690532"/>
            <a:ext cx="2438400" cy="381000"/>
            <a:chOff x="5867400" y="5181600"/>
            <a:chExt cx="2438400" cy="381000"/>
          </a:xfrm>
          <a:solidFill>
            <a:srgbClr val="F1C7C7"/>
          </a:solidFill>
        </p:grpSpPr>
        <p:sp>
          <p:nvSpPr>
            <p:cNvPr id="132" name="Rectangle 131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3" name="Rectangle 132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4" name="Rectangle 133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5" name="Rectangle 134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36" name="Rectangle 135"/>
          <p:cNvSpPr/>
          <p:nvPr/>
        </p:nvSpPr>
        <p:spPr bwMode="auto">
          <a:xfrm>
            <a:off x="8077200" y="4682065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1011xx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37" name="Group 136"/>
          <p:cNvGrpSpPr/>
          <p:nvPr/>
        </p:nvGrpSpPr>
        <p:grpSpPr>
          <a:xfrm>
            <a:off x="5510711" y="4301065"/>
            <a:ext cx="2438400" cy="381000"/>
            <a:chOff x="5867400" y="5181600"/>
            <a:chExt cx="2438400" cy="381000"/>
          </a:xfrm>
          <a:solidFill>
            <a:srgbClr val="F1C7C7"/>
          </a:solidFill>
        </p:grpSpPr>
        <p:sp>
          <p:nvSpPr>
            <p:cNvPr id="138" name="Rectangle 137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39" name="Rectangle 138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0" name="Rectangle 139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1" name="Rectangle 140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42" name="Rectangle 141"/>
          <p:cNvSpPr/>
          <p:nvPr/>
        </p:nvSpPr>
        <p:spPr bwMode="auto">
          <a:xfrm>
            <a:off x="8077200" y="4292598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1010xx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43" name="Group 142"/>
          <p:cNvGrpSpPr/>
          <p:nvPr/>
        </p:nvGrpSpPr>
        <p:grpSpPr>
          <a:xfrm>
            <a:off x="5510711" y="3911598"/>
            <a:ext cx="2438400" cy="381000"/>
            <a:chOff x="5867400" y="5181600"/>
            <a:chExt cx="2438400" cy="381000"/>
          </a:xfrm>
          <a:solidFill>
            <a:srgbClr val="F1C7C7"/>
          </a:solidFill>
        </p:grpSpPr>
        <p:sp>
          <p:nvSpPr>
            <p:cNvPr id="144" name="Rectangle 143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5" name="Rectangle 144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6" name="Rectangle 145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47" name="Rectangle 146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48" name="Rectangle 147"/>
          <p:cNvSpPr/>
          <p:nvPr/>
        </p:nvSpPr>
        <p:spPr bwMode="auto">
          <a:xfrm>
            <a:off x="8077200" y="3903131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1001xx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49" name="Group 148"/>
          <p:cNvGrpSpPr/>
          <p:nvPr/>
        </p:nvGrpSpPr>
        <p:grpSpPr>
          <a:xfrm>
            <a:off x="5510711" y="3522131"/>
            <a:ext cx="2438400" cy="381000"/>
            <a:chOff x="5867400" y="5181600"/>
            <a:chExt cx="2438400" cy="381000"/>
          </a:xfrm>
          <a:solidFill>
            <a:srgbClr val="F1C7C7"/>
          </a:solidFill>
        </p:grpSpPr>
        <p:sp>
          <p:nvSpPr>
            <p:cNvPr id="150" name="Rectangle 14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1" name="Rectangle 15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2" name="Rectangle 15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3" name="Rectangle 15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54" name="Rectangle 153"/>
          <p:cNvSpPr/>
          <p:nvPr/>
        </p:nvSpPr>
        <p:spPr bwMode="auto">
          <a:xfrm>
            <a:off x="8077200" y="3513664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1000xx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55" name="Group 154"/>
          <p:cNvGrpSpPr/>
          <p:nvPr/>
        </p:nvGrpSpPr>
        <p:grpSpPr>
          <a:xfrm>
            <a:off x="5510711" y="3132664"/>
            <a:ext cx="2438400" cy="381000"/>
            <a:chOff x="5867400" y="5181600"/>
            <a:chExt cx="2438400" cy="381000"/>
          </a:xfrm>
          <a:solidFill>
            <a:srgbClr val="F6F5BD"/>
          </a:solidFill>
        </p:grpSpPr>
        <p:sp>
          <p:nvSpPr>
            <p:cNvPr id="156" name="Rectangle 155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7" name="Rectangle 156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8" name="Rectangle 157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59" name="Rectangle 158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60" name="Rectangle 159"/>
          <p:cNvSpPr/>
          <p:nvPr/>
        </p:nvSpPr>
        <p:spPr bwMode="auto">
          <a:xfrm>
            <a:off x="8077200" y="3124197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0111xx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61" name="Group 160"/>
          <p:cNvGrpSpPr/>
          <p:nvPr/>
        </p:nvGrpSpPr>
        <p:grpSpPr>
          <a:xfrm>
            <a:off x="5510711" y="2743197"/>
            <a:ext cx="2438400" cy="381000"/>
            <a:chOff x="5867400" y="5181600"/>
            <a:chExt cx="2438400" cy="381000"/>
          </a:xfrm>
          <a:solidFill>
            <a:srgbClr val="F6F5BD"/>
          </a:solidFill>
        </p:grpSpPr>
        <p:sp>
          <p:nvSpPr>
            <p:cNvPr id="162" name="Rectangle 161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3" name="Rectangle 162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4" name="Rectangle 163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66" name="Rectangle 165"/>
          <p:cNvSpPr/>
          <p:nvPr/>
        </p:nvSpPr>
        <p:spPr bwMode="auto">
          <a:xfrm>
            <a:off x="8077200" y="2734730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0110xx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67" name="Group 166"/>
          <p:cNvGrpSpPr/>
          <p:nvPr/>
        </p:nvGrpSpPr>
        <p:grpSpPr>
          <a:xfrm>
            <a:off x="5510711" y="2353730"/>
            <a:ext cx="2438400" cy="381000"/>
            <a:chOff x="5867400" y="5181600"/>
            <a:chExt cx="2438400" cy="381000"/>
          </a:xfrm>
          <a:solidFill>
            <a:srgbClr val="F6F5BD"/>
          </a:solidFill>
        </p:grpSpPr>
        <p:sp>
          <p:nvSpPr>
            <p:cNvPr id="168" name="Rectangle 167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69" name="Rectangle 168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0" name="Rectangle 169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1" name="Rectangle 170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72" name="Rectangle 171"/>
          <p:cNvSpPr/>
          <p:nvPr/>
        </p:nvSpPr>
        <p:spPr bwMode="auto">
          <a:xfrm>
            <a:off x="8077200" y="2345263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0101xx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73" name="Group 172"/>
          <p:cNvGrpSpPr/>
          <p:nvPr/>
        </p:nvGrpSpPr>
        <p:grpSpPr>
          <a:xfrm>
            <a:off x="5510711" y="1964263"/>
            <a:ext cx="2438400" cy="381000"/>
            <a:chOff x="5867400" y="5181600"/>
            <a:chExt cx="2438400" cy="381000"/>
          </a:xfrm>
          <a:solidFill>
            <a:srgbClr val="F6F5BD"/>
          </a:solidFill>
        </p:grpSpPr>
        <p:sp>
          <p:nvSpPr>
            <p:cNvPr id="174" name="Rectangle 173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5" name="Rectangle 174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77" name="Rectangle 176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78" name="Rectangle 177"/>
          <p:cNvSpPr/>
          <p:nvPr/>
        </p:nvSpPr>
        <p:spPr bwMode="auto">
          <a:xfrm>
            <a:off x="8077200" y="1955796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0100xx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79" name="Group 178"/>
          <p:cNvGrpSpPr/>
          <p:nvPr/>
        </p:nvGrpSpPr>
        <p:grpSpPr>
          <a:xfrm>
            <a:off x="5510711" y="1574796"/>
            <a:ext cx="2438400" cy="381000"/>
            <a:chOff x="5867400" y="5181600"/>
            <a:chExt cx="2438400" cy="381000"/>
          </a:xfrm>
          <a:solidFill>
            <a:srgbClr val="CCFFCC"/>
          </a:solidFill>
        </p:grpSpPr>
        <p:sp>
          <p:nvSpPr>
            <p:cNvPr id="180" name="Rectangle 179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1" name="Rectangle 180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2" name="Rectangle 181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3" name="Rectangle 182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84" name="Rectangle 183"/>
          <p:cNvSpPr/>
          <p:nvPr/>
        </p:nvSpPr>
        <p:spPr bwMode="auto">
          <a:xfrm>
            <a:off x="8077200" y="1566329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0011xx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85" name="Group 184"/>
          <p:cNvGrpSpPr/>
          <p:nvPr/>
        </p:nvGrpSpPr>
        <p:grpSpPr>
          <a:xfrm>
            <a:off x="5510711" y="1185329"/>
            <a:ext cx="2438400" cy="381000"/>
            <a:chOff x="5867400" y="5181600"/>
            <a:chExt cx="2438400" cy="381000"/>
          </a:xfrm>
          <a:solidFill>
            <a:srgbClr val="CCFFCC"/>
          </a:solidFill>
        </p:grpSpPr>
        <p:sp>
          <p:nvSpPr>
            <p:cNvPr id="186" name="Rectangle 185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7" name="Rectangle 186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8" name="Rectangle 187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89" name="Rectangle 188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90" name="Rectangle 189"/>
          <p:cNvSpPr/>
          <p:nvPr/>
        </p:nvSpPr>
        <p:spPr bwMode="auto">
          <a:xfrm>
            <a:off x="8077200" y="1176862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0010xx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91" name="Group 190"/>
          <p:cNvGrpSpPr/>
          <p:nvPr/>
        </p:nvGrpSpPr>
        <p:grpSpPr>
          <a:xfrm>
            <a:off x="5510711" y="795862"/>
            <a:ext cx="2438400" cy="381000"/>
            <a:chOff x="5867400" y="5181600"/>
            <a:chExt cx="2438400" cy="381000"/>
          </a:xfrm>
          <a:solidFill>
            <a:srgbClr val="CCFFCC"/>
          </a:solidFill>
        </p:grpSpPr>
        <p:sp>
          <p:nvSpPr>
            <p:cNvPr id="192" name="Rectangle 191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93" name="Rectangle 192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94" name="Rectangle 193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95" name="Rectangle 194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96" name="Rectangle 195"/>
          <p:cNvSpPr/>
          <p:nvPr/>
        </p:nvSpPr>
        <p:spPr bwMode="auto">
          <a:xfrm>
            <a:off x="8077200" y="787395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0001xx</a:t>
            </a:r>
            <a:endParaRPr lang="en-US" sz="1800" dirty="0">
              <a:latin typeface="Courier New"/>
              <a:cs typeface="Courier New"/>
            </a:endParaRPr>
          </a:p>
        </p:txBody>
      </p:sp>
      <p:grpSp>
        <p:nvGrpSpPr>
          <p:cNvPr id="197" name="Group 196"/>
          <p:cNvGrpSpPr/>
          <p:nvPr/>
        </p:nvGrpSpPr>
        <p:grpSpPr>
          <a:xfrm>
            <a:off x="5510711" y="406395"/>
            <a:ext cx="2438400" cy="381000"/>
            <a:chOff x="5867400" y="5181600"/>
            <a:chExt cx="2438400" cy="381000"/>
          </a:xfrm>
          <a:solidFill>
            <a:srgbClr val="CCFFCC"/>
          </a:solidFill>
        </p:grpSpPr>
        <p:sp>
          <p:nvSpPr>
            <p:cNvPr id="198" name="Rectangle 197"/>
            <p:cNvSpPr/>
            <p:nvPr/>
          </p:nvSpPr>
          <p:spPr bwMode="auto">
            <a:xfrm>
              <a:off x="58674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99" name="Rectangle 198"/>
            <p:cNvSpPr/>
            <p:nvPr/>
          </p:nvSpPr>
          <p:spPr bwMode="auto">
            <a:xfrm>
              <a:off x="64770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00" name="Rectangle 199"/>
            <p:cNvSpPr/>
            <p:nvPr/>
          </p:nvSpPr>
          <p:spPr bwMode="auto">
            <a:xfrm>
              <a:off x="70866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01" name="Rectangle 200"/>
            <p:cNvSpPr/>
            <p:nvPr/>
          </p:nvSpPr>
          <p:spPr bwMode="auto">
            <a:xfrm>
              <a:off x="7696200" y="5181600"/>
              <a:ext cx="609600" cy="381000"/>
            </a:xfrm>
            <a:prstGeom prst="rect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202" name="Rectangle 201"/>
          <p:cNvSpPr/>
          <p:nvPr/>
        </p:nvSpPr>
        <p:spPr bwMode="auto">
          <a:xfrm>
            <a:off x="8077200" y="397928"/>
            <a:ext cx="990600" cy="38100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ourier New"/>
                <a:cs typeface="Courier New"/>
              </a:rPr>
              <a:t>0000xx</a:t>
            </a:r>
            <a:endParaRPr lang="en-US"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919037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425"/>
          <p:cNvSpPr>
            <a:spLocks noChangeArrowheads="1"/>
          </p:cNvSpPr>
          <p:nvPr/>
        </p:nvSpPr>
        <p:spPr bwMode="auto">
          <a:xfrm>
            <a:off x="228600" y="1676400"/>
            <a:ext cx="6172200" cy="38862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1" name="Rectangle 404"/>
          <p:cNvSpPr>
            <a:spLocks noChangeArrowheads="1"/>
          </p:cNvSpPr>
          <p:nvPr/>
        </p:nvSpPr>
        <p:spPr bwMode="auto">
          <a:xfrm>
            <a:off x="381000" y="1981200"/>
            <a:ext cx="2122488" cy="2438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0" name="Rectangle 413"/>
          <p:cNvSpPr>
            <a:spLocks noChangeArrowheads="1"/>
          </p:cNvSpPr>
          <p:nvPr/>
        </p:nvSpPr>
        <p:spPr bwMode="auto">
          <a:xfrm>
            <a:off x="4114800" y="1981200"/>
            <a:ext cx="2122488" cy="2438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Intel Core i7 Cache Hierarchy</a:t>
            </a:r>
          </a:p>
        </p:txBody>
      </p:sp>
      <p:sp>
        <p:nvSpPr>
          <p:cNvPr id="4" name="Rectangle 396"/>
          <p:cNvSpPr>
            <a:spLocks noChangeArrowheads="1"/>
          </p:cNvSpPr>
          <p:nvPr/>
        </p:nvSpPr>
        <p:spPr bwMode="auto">
          <a:xfrm>
            <a:off x="546100" y="2133600"/>
            <a:ext cx="9779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 dirty="0" err="1"/>
              <a:t>Regs</a:t>
            </a:r>
            <a:endParaRPr lang="en-US" sz="1800" dirty="0"/>
          </a:p>
        </p:txBody>
      </p:sp>
      <p:sp>
        <p:nvSpPr>
          <p:cNvPr id="5" name="Rectangle 397"/>
          <p:cNvSpPr>
            <a:spLocks noChangeArrowheads="1"/>
          </p:cNvSpPr>
          <p:nvPr/>
        </p:nvSpPr>
        <p:spPr bwMode="auto">
          <a:xfrm>
            <a:off x="588963" y="2781300"/>
            <a:ext cx="782637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/>
              <a:t>L1 </a:t>
            </a:r>
          </a:p>
          <a:p>
            <a:pPr algn="ctr"/>
            <a:r>
              <a:rPr lang="en-US" sz="1800"/>
              <a:t>d-cache</a:t>
            </a:r>
          </a:p>
        </p:txBody>
      </p:sp>
      <p:sp>
        <p:nvSpPr>
          <p:cNvPr id="6" name="Rectangle 399"/>
          <p:cNvSpPr>
            <a:spLocks noChangeArrowheads="1"/>
          </p:cNvSpPr>
          <p:nvPr/>
        </p:nvSpPr>
        <p:spPr bwMode="auto">
          <a:xfrm>
            <a:off x="1524000" y="2781300"/>
            <a:ext cx="795338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 dirty="0"/>
              <a:t>L1 </a:t>
            </a:r>
          </a:p>
          <a:p>
            <a:pPr algn="ctr"/>
            <a:r>
              <a:rPr lang="en-US" sz="1800" dirty="0" err="1"/>
              <a:t>i</a:t>
            </a:r>
            <a:r>
              <a:rPr lang="en-US" sz="1800" dirty="0"/>
              <a:t>-cache</a:t>
            </a:r>
          </a:p>
        </p:txBody>
      </p:sp>
      <p:sp>
        <p:nvSpPr>
          <p:cNvPr id="7" name="Rectangle 400"/>
          <p:cNvSpPr>
            <a:spLocks noChangeArrowheads="1"/>
          </p:cNvSpPr>
          <p:nvPr/>
        </p:nvSpPr>
        <p:spPr bwMode="auto">
          <a:xfrm>
            <a:off x="609600" y="3695700"/>
            <a:ext cx="1709738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800"/>
              <a:t>L2 unified cache</a:t>
            </a:r>
          </a:p>
        </p:txBody>
      </p:sp>
      <p:sp>
        <p:nvSpPr>
          <p:cNvPr id="8" name="Line 401"/>
          <p:cNvSpPr>
            <a:spLocks noChangeShapeType="1"/>
          </p:cNvSpPr>
          <p:nvPr/>
        </p:nvSpPr>
        <p:spPr bwMode="auto">
          <a:xfrm>
            <a:off x="1066800" y="24384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9" name="Line 402"/>
          <p:cNvSpPr>
            <a:spLocks noChangeShapeType="1"/>
          </p:cNvSpPr>
          <p:nvPr/>
        </p:nvSpPr>
        <p:spPr bwMode="auto">
          <a:xfrm>
            <a:off x="1066800" y="33528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0" name="Line 403"/>
          <p:cNvSpPr>
            <a:spLocks noChangeShapeType="1"/>
          </p:cNvSpPr>
          <p:nvPr/>
        </p:nvSpPr>
        <p:spPr bwMode="auto">
          <a:xfrm>
            <a:off x="1905000" y="33528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2" name="Text Box 405"/>
          <p:cNvSpPr txBox="1">
            <a:spLocks noChangeArrowheads="1"/>
          </p:cNvSpPr>
          <p:nvPr/>
        </p:nvSpPr>
        <p:spPr bwMode="auto">
          <a:xfrm>
            <a:off x="304800" y="1676400"/>
            <a:ext cx="773694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Core 0</a:t>
            </a:r>
          </a:p>
        </p:txBody>
      </p:sp>
      <p:sp>
        <p:nvSpPr>
          <p:cNvPr id="13" name="Rectangle 406"/>
          <p:cNvSpPr>
            <a:spLocks noChangeArrowheads="1"/>
          </p:cNvSpPr>
          <p:nvPr/>
        </p:nvSpPr>
        <p:spPr bwMode="auto">
          <a:xfrm>
            <a:off x="4279900" y="2133600"/>
            <a:ext cx="9779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/>
              <a:t>Regs</a:t>
            </a:r>
          </a:p>
        </p:txBody>
      </p:sp>
      <p:sp>
        <p:nvSpPr>
          <p:cNvPr id="14" name="Rectangle 407"/>
          <p:cNvSpPr>
            <a:spLocks noChangeArrowheads="1"/>
          </p:cNvSpPr>
          <p:nvPr/>
        </p:nvSpPr>
        <p:spPr bwMode="auto">
          <a:xfrm>
            <a:off x="4322763" y="2781300"/>
            <a:ext cx="782637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 dirty="0"/>
              <a:t>L1 </a:t>
            </a:r>
          </a:p>
          <a:p>
            <a:pPr algn="ctr"/>
            <a:r>
              <a:rPr lang="en-US" sz="1800" dirty="0" err="1"/>
              <a:t>d</a:t>
            </a:r>
            <a:r>
              <a:rPr lang="en-US" sz="1800" dirty="0"/>
              <a:t>-cache</a:t>
            </a:r>
          </a:p>
        </p:txBody>
      </p:sp>
      <p:sp>
        <p:nvSpPr>
          <p:cNvPr id="15" name="Rectangle 408"/>
          <p:cNvSpPr>
            <a:spLocks noChangeArrowheads="1"/>
          </p:cNvSpPr>
          <p:nvPr/>
        </p:nvSpPr>
        <p:spPr bwMode="auto">
          <a:xfrm>
            <a:off x="5257800" y="2781300"/>
            <a:ext cx="795338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/>
              <a:t>L1 </a:t>
            </a:r>
          </a:p>
          <a:p>
            <a:pPr algn="ctr"/>
            <a:r>
              <a:rPr lang="en-US" sz="1800"/>
              <a:t>i-cache</a:t>
            </a:r>
          </a:p>
        </p:txBody>
      </p:sp>
      <p:sp>
        <p:nvSpPr>
          <p:cNvPr id="16" name="Rectangle 409"/>
          <p:cNvSpPr>
            <a:spLocks noChangeArrowheads="1"/>
          </p:cNvSpPr>
          <p:nvPr/>
        </p:nvSpPr>
        <p:spPr bwMode="auto">
          <a:xfrm>
            <a:off x="4343400" y="3695700"/>
            <a:ext cx="1709738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800"/>
              <a:t>L2 unified cache</a:t>
            </a:r>
          </a:p>
        </p:txBody>
      </p:sp>
      <p:sp>
        <p:nvSpPr>
          <p:cNvPr id="17" name="Line 410"/>
          <p:cNvSpPr>
            <a:spLocks noChangeShapeType="1"/>
          </p:cNvSpPr>
          <p:nvPr/>
        </p:nvSpPr>
        <p:spPr bwMode="auto">
          <a:xfrm>
            <a:off x="4800600" y="24384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8" name="Line 411"/>
          <p:cNvSpPr>
            <a:spLocks noChangeShapeType="1"/>
          </p:cNvSpPr>
          <p:nvPr/>
        </p:nvSpPr>
        <p:spPr bwMode="auto">
          <a:xfrm>
            <a:off x="4800600" y="33528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9" name="Line 412"/>
          <p:cNvSpPr>
            <a:spLocks noChangeShapeType="1"/>
          </p:cNvSpPr>
          <p:nvPr/>
        </p:nvSpPr>
        <p:spPr bwMode="auto">
          <a:xfrm>
            <a:off x="5638800" y="33528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1" name="Text Box 414"/>
          <p:cNvSpPr txBox="1">
            <a:spLocks noChangeArrowheads="1"/>
          </p:cNvSpPr>
          <p:nvPr/>
        </p:nvSpPr>
        <p:spPr bwMode="auto">
          <a:xfrm>
            <a:off x="4038600" y="1676400"/>
            <a:ext cx="773694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/>
              <a:t>Core 3</a:t>
            </a:r>
          </a:p>
        </p:txBody>
      </p:sp>
      <p:sp>
        <p:nvSpPr>
          <p:cNvPr id="22" name="Text Box 415"/>
          <p:cNvSpPr txBox="1">
            <a:spLocks noChangeArrowheads="1"/>
          </p:cNvSpPr>
          <p:nvPr/>
        </p:nvSpPr>
        <p:spPr bwMode="auto">
          <a:xfrm>
            <a:off x="2971800" y="2983468"/>
            <a:ext cx="723900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/>
              <a:t>…</a:t>
            </a:r>
          </a:p>
        </p:txBody>
      </p:sp>
      <p:sp>
        <p:nvSpPr>
          <p:cNvPr id="23" name="Line 417"/>
          <p:cNvSpPr>
            <a:spLocks noChangeShapeType="1"/>
          </p:cNvSpPr>
          <p:nvPr/>
        </p:nvSpPr>
        <p:spPr bwMode="auto">
          <a:xfrm>
            <a:off x="1447800" y="4267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4" name="Line 418"/>
          <p:cNvSpPr>
            <a:spLocks noChangeShapeType="1"/>
          </p:cNvSpPr>
          <p:nvPr/>
        </p:nvSpPr>
        <p:spPr bwMode="auto">
          <a:xfrm>
            <a:off x="5181600" y="4267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5" name="Rectangle 419"/>
          <p:cNvSpPr>
            <a:spLocks noChangeArrowheads="1"/>
          </p:cNvSpPr>
          <p:nvPr/>
        </p:nvSpPr>
        <p:spPr bwMode="auto">
          <a:xfrm>
            <a:off x="1098550" y="4800600"/>
            <a:ext cx="4387850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800"/>
              <a:t>L3 unified cache</a:t>
            </a:r>
          </a:p>
          <a:p>
            <a:pPr algn="ctr"/>
            <a:r>
              <a:rPr lang="en-US" sz="1800"/>
              <a:t>(shared by all cores)</a:t>
            </a:r>
          </a:p>
        </p:txBody>
      </p:sp>
      <p:sp>
        <p:nvSpPr>
          <p:cNvPr id="26" name="Rectangle 420"/>
          <p:cNvSpPr>
            <a:spLocks noChangeArrowheads="1"/>
          </p:cNvSpPr>
          <p:nvPr/>
        </p:nvSpPr>
        <p:spPr bwMode="auto">
          <a:xfrm>
            <a:off x="228600" y="6057900"/>
            <a:ext cx="6172200" cy="5715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800"/>
              <a:t>Main memory</a:t>
            </a:r>
          </a:p>
        </p:txBody>
      </p:sp>
      <p:sp>
        <p:nvSpPr>
          <p:cNvPr id="27" name="Line 421"/>
          <p:cNvSpPr>
            <a:spLocks noChangeShapeType="1"/>
          </p:cNvSpPr>
          <p:nvPr/>
        </p:nvSpPr>
        <p:spPr bwMode="auto">
          <a:xfrm>
            <a:off x="3371850" y="53721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9" name="Text Box 426"/>
          <p:cNvSpPr txBox="1">
            <a:spLocks noChangeArrowheads="1"/>
          </p:cNvSpPr>
          <p:nvPr/>
        </p:nvSpPr>
        <p:spPr bwMode="auto">
          <a:xfrm>
            <a:off x="152400" y="1295400"/>
            <a:ext cx="192075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Processor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200" y="1676400"/>
            <a:ext cx="2514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L1 </a:t>
            </a:r>
            <a:r>
              <a:rPr lang="en-US" sz="1800" dirty="0" err="1">
                <a:latin typeface="Calibri" pitchFamily="34" charset="0"/>
              </a:rPr>
              <a:t>i</a:t>
            </a:r>
            <a:r>
              <a:rPr lang="en-US" sz="1800" dirty="0">
                <a:latin typeface="Calibri" pitchFamily="34" charset="0"/>
              </a:rPr>
              <a:t>-cache and </a:t>
            </a:r>
            <a:r>
              <a:rPr lang="en-US" sz="1800" dirty="0" err="1">
                <a:latin typeface="Calibri" pitchFamily="34" charset="0"/>
              </a:rPr>
              <a:t>d</a:t>
            </a:r>
            <a:r>
              <a:rPr lang="en-US" sz="1800" dirty="0">
                <a:latin typeface="Calibri" pitchFamily="34" charset="0"/>
              </a:rPr>
              <a:t>-cache:</a:t>
            </a:r>
          </a:p>
          <a:p>
            <a:pPr lvl="1"/>
            <a:r>
              <a:rPr lang="en-US" sz="1800" b="0" dirty="0">
                <a:latin typeface="Calibri" pitchFamily="34" charset="0"/>
              </a:rPr>
              <a:t>32 kB,  8-way, </a:t>
            </a:r>
          </a:p>
          <a:p>
            <a:pPr lvl="1"/>
            <a:r>
              <a:rPr lang="en-US" sz="1800" b="0" dirty="0">
                <a:latin typeface="Calibri" pitchFamily="34" charset="0"/>
              </a:rPr>
              <a:t>Access: 4 cycles</a:t>
            </a:r>
          </a:p>
          <a:p>
            <a:endParaRPr lang="en-US" sz="1800" b="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L2 unified cache:</a:t>
            </a:r>
          </a:p>
          <a:p>
            <a:pPr lvl="1"/>
            <a:r>
              <a:rPr lang="en-US" sz="1800" b="0" dirty="0">
                <a:latin typeface="Calibri" pitchFamily="34" charset="0"/>
              </a:rPr>
              <a:t> 256 kB, 8-way, </a:t>
            </a:r>
          </a:p>
          <a:p>
            <a:pPr lvl="1"/>
            <a:r>
              <a:rPr lang="en-US" sz="1800" b="0" dirty="0">
                <a:latin typeface="Calibri" pitchFamily="34" charset="0"/>
              </a:rPr>
              <a:t>Access: 10 cycles</a:t>
            </a:r>
          </a:p>
          <a:p>
            <a:pPr lvl="1"/>
            <a:endParaRPr lang="en-US" sz="1800" b="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L3 unified cache:</a:t>
            </a:r>
          </a:p>
          <a:p>
            <a:pPr lvl="1"/>
            <a:r>
              <a:rPr lang="en-US" sz="1800" b="0" dirty="0">
                <a:latin typeface="Calibri" pitchFamily="34" charset="0"/>
              </a:rPr>
              <a:t>8 MB, 16-way,</a:t>
            </a:r>
          </a:p>
          <a:p>
            <a:pPr lvl="1"/>
            <a:r>
              <a:rPr lang="en-US" sz="1800" b="0" dirty="0">
                <a:latin typeface="Calibri" pitchFamily="34" charset="0"/>
              </a:rPr>
              <a:t>Access: 40-75 cycles</a:t>
            </a:r>
          </a:p>
          <a:p>
            <a:pPr lvl="1"/>
            <a:endParaRPr lang="en-US" sz="1800" b="0" dirty="0">
              <a:latin typeface="Calibri" pitchFamily="34" charset="0"/>
            </a:endParaRPr>
          </a:p>
          <a:p>
            <a:r>
              <a:rPr lang="en-US" sz="1800" dirty="0">
                <a:latin typeface="Calibri" pitchFamily="34" charset="0"/>
              </a:rPr>
              <a:t>Block size</a:t>
            </a:r>
            <a:r>
              <a:rPr lang="en-US" sz="1800" b="0" dirty="0">
                <a:latin typeface="Calibri" pitchFamily="34" charset="0"/>
              </a:rPr>
              <a:t>: 64 bytes for all caches.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57762" y="4112063"/>
            <a:ext cx="2690238" cy="2441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200103" y="4800600"/>
            <a:ext cx="5791497" cy="1752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8245269" cy="762000"/>
          </a:xfrm>
        </p:spPr>
        <p:txBody>
          <a:bodyPr/>
          <a:lstStyle/>
          <a:p>
            <a:r>
              <a:rPr lang="en-US" dirty="0"/>
              <a:t>Example: Core i7 L1 Data Cache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57762" y="1188162"/>
            <a:ext cx="7338438" cy="2871436"/>
            <a:chOff x="357762" y="1188162"/>
            <a:chExt cx="7338438" cy="2871436"/>
          </a:xfrm>
        </p:grpSpPr>
        <p:sp>
          <p:nvSpPr>
            <p:cNvPr id="6" name="Rectangle 5"/>
            <p:cNvSpPr/>
            <p:nvPr/>
          </p:nvSpPr>
          <p:spPr bwMode="auto">
            <a:xfrm>
              <a:off x="357762" y="1188162"/>
              <a:ext cx="7337528" cy="287143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494548" y="1473875"/>
              <a:ext cx="1125629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800" dirty="0">
                <a:latin typeface="Calibri" pitchFamily="34" charset="0"/>
              </a:endParaRPr>
            </a:p>
            <a:p>
              <a:endParaRPr lang="en-US" sz="1800" dirty="0">
                <a:latin typeface="Calibri" pitchFamily="34" charset="0"/>
              </a:endParaRPr>
            </a:p>
            <a:p>
              <a:endParaRPr lang="en-US" sz="1800" dirty="0">
                <a:latin typeface="Calibri" pitchFamily="34" charset="0"/>
              </a:endParaRPr>
            </a:p>
            <a:p>
              <a:r>
                <a:rPr lang="en-US" sz="1800" dirty="0">
                  <a:latin typeface="Calibri" pitchFamily="34" charset="0"/>
                </a:rPr>
                <a:t>B =</a:t>
              </a:r>
            </a:p>
            <a:p>
              <a:r>
                <a:rPr lang="en-US" sz="1800" dirty="0">
                  <a:latin typeface="Calibri" pitchFamily="34" charset="0"/>
                </a:rPr>
                <a:t>S =    , s = </a:t>
              </a:r>
            </a:p>
            <a:p>
              <a:r>
                <a:rPr lang="en-US" sz="1800" dirty="0">
                  <a:latin typeface="Calibri" pitchFamily="34" charset="0"/>
                </a:rPr>
                <a:t>E =    , e = </a:t>
              </a:r>
            </a:p>
            <a:p>
              <a:r>
                <a:rPr lang="en-US" sz="1800" dirty="0">
                  <a:latin typeface="Calibri" pitchFamily="34" charset="0"/>
                </a:rPr>
                <a:t>C = </a:t>
              </a:r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0" y="1188162"/>
              <a:ext cx="4648200" cy="28714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9" name="TextBox 88"/>
          <p:cNvSpPr txBox="1"/>
          <p:nvPr/>
        </p:nvSpPr>
        <p:spPr>
          <a:xfrm>
            <a:off x="494548" y="5477470"/>
            <a:ext cx="19954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Block offset:  . bits</a:t>
            </a:r>
          </a:p>
          <a:p>
            <a:r>
              <a:rPr lang="en-US" sz="1800" dirty="0">
                <a:latin typeface="Calibri" pitchFamily="34" charset="0"/>
              </a:rPr>
              <a:t>Set index: . bits</a:t>
            </a:r>
          </a:p>
          <a:p>
            <a:r>
              <a:rPr lang="en-US" sz="1800" dirty="0">
                <a:latin typeface="Calibri" pitchFamily="34" charset="0"/>
              </a:rPr>
              <a:t>Tag: . bits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48" y="4179869"/>
            <a:ext cx="2044522" cy="126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6" name="TextBox 125"/>
          <p:cNvSpPr txBox="1"/>
          <p:nvPr/>
        </p:nvSpPr>
        <p:spPr>
          <a:xfrm>
            <a:off x="3200103" y="4953000"/>
            <a:ext cx="266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Stack Address: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0x00007f7262a1e010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286955" y="4953000"/>
            <a:ext cx="26244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2344738" algn="r"/>
                <a:tab pos="2398713" algn="r"/>
              </a:tabLst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Block offset:	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0x??</a:t>
            </a:r>
          </a:p>
          <a:p>
            <a:pPr>
              <a:tabLst>
                <a:tab pos="2344738" algn="r"/>
                <a:tab pos="2398713" algn="r"/>
              </a:tabLst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Set index: 	</a:t>
            </a:r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0x??</a:t>
            </a:r>
          </a:p>
          <a:p>
            <a:pPr>
              <a:tabLst>
                <a:tab pos="2344738" algn="r"/>
                <a:tab pos="2398713" algn="r"/>
              </a:tabLst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Tag: 	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0x??</a:t>
            </a: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490" y="750888"/>
            <a:ext cx="1448710" cy="344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2" name="TextBox 291"/>
          <p:cNvSpPr txBox="1"/>
          <p:nvPr/>
        </p:nvSpPr>
        <p:spPr>
          <a:xfrm>
            <a:off x="494548" y="1258669"/>
            <a:ext cx="28331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32 kB 8-way set associative</a:t>
            </a:r>
          </a:p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64 bytes/block</a:t>
            </a:r>
          </a:p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47 bit address range</a:t>
            </a:r>
          </a:p>
        </p:txBody>
      </p:sp>
    </p:spTree>
    <p:extLst>
      <p:ext uri="{BB962C8B-B14F-4D97-AF65-F5344CB8AC3E}">
        <p14:creationId xmlns:p14="http://schemas.microsoft.com/office/powerpoint/2010/main" val="82364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89" grpId="0"/>
      <p:bldP spid="126" grpId="0"/>
      <p:bldP spid="1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57762" y="4112063"/>
            <a:ext cx="2690238" cy="2441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200103" y="4800600"/>
            <a:ext cx="5791497" cy="1752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8245269" cy="762000"/>
          </a:xfrm>
        </p:spPr>
        <p:txBody>
          <a:bodyPr/>
          <a:lstStyle/>
          <a:p>
            <a:r>
              <a:rPr lang="en-US" dirty="0"/>
              <a:t>Example: Core i7 L1 Data Cache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57762" y="1188162"/>
            <a:ext cx="7338438" cy="2871436"/>
            <a:chOff x="357762" y="1188162"/>
            <a:chExt cx="7338438" cy="2871436"/>
          </a:xfrm>
        </p:grpSpPr>
        <p:sp>
          <p:nvSpPr>
            <p:cNvPr id="6" name="Rectangle 5"/>
            <p:cNvSpPr/>
            <p:nvPr/>
          </p:nvSpPr>
          <p:spPr bwMode="auto">
            <a:xfrm>
              <a:off x="357762" y="1188162"/>
              <a:ext cx="7337528" cy="287143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494548" y="1397675"/>
              <a:ext cx="2401619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800" dirty="0">
                <a:latin typeface="Calibri" pitchFamily="34" charset="0"/>
              </a:endParaRPr>
            </a:p>
            <a:p>
              <a:endParaRPr lang="en-US" sz="1800" dirty="0">
                <a:latin typeface="Calibri" pitchFamily="34" charset="0"/>
              </a:endParaRPr>
            </a:p>
            <a:p>
              <a:endParaRPr lang="en-US" sz="1800" dirty="0">
                <a:latin typeface="Calibri" pitchFamily="34" charset="0"/>
              </a:endParaRPr>
            </a:p>
            <a:p>
              <a:r>
                <a:rPr lang="en-US" sz="1800" dirty="0">
                  <a:latin typeface="Calibri" pitchFamily="34" charset="0"/>
                </a:rPr>
                <a:t>B = 64</a:t>
              </a:r>
            </a:p>
            <a:p>
              <a:r>
                <a:rPr lang="en-US" sz="1800" dirty="0">
                  <a:latin typeface="Calibri" pitchFamily="34" charset="0"/>
                </a:rPr>
                <a:t>S = 64, s = 6</a:t>
              </a:r>
            </a:p>
            <a:p>
              <a:r>
                <a:rPr lang="en-US" sz="1800" dirty="0">
                  <a:latin typeface="Calibri" pitchFamily="34" charset="0"/>
                </a:rPr>
                <a:t>E = 8, e = 3</a:t>
              </a:r>
            </a:p>
            <a:p>
              <a:r>
                <a:rPr lang="en-US" sz="1800" dirty="0">
                  <a:latin typeface="Calibri" pitchFamily="34" charset="0"/>
                </a:rPr>
                <a:t>C = 64 x 64 x 8 = 32,768</a:t>
              </a:r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0" y="1188162"/>
              <a:ext cx="4648200" cy="28714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9" name="TextBox 88"/>
          <p:cNvSpPr txBox="1"/>
          <p:nvPr/>
        </p:nvSpPr>
        <p:spPr>
          <a:xfrm>
            <a:off x="494548" y="5477470"/>
            <a:ext cx="1998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Block offset:  6 bits</a:t>
            </a:r>
          </a:p>
          <a:p>
            <a:r>
              <a:rPr lang="en-US" sz="1800" dirty="0">
                <a:latin typeface="Calibri" pitchFamily="34" charset="0"/>
              </a:rPr>
              <a:t>Set index: 6 bits</a:t>
            </a:r>
          </a:p>
          <a:p>
            <a:r>
              <a:rPr lang="en-US" sz="1800" dirty="0">
                <a:latin typeface="Calibri" pitchFamily="34" charset="0"/>
              </a:rPr>
              <a:t>Tag: 35 bits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48" y="4179869"/>
            <a:ext cx="2044522" cy="126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6" name="TextBox 125"/>
          <p:cNvSpPr txBox="1"/>
          <p:nvPr/>
        </p:nvSpPr>
        <p:spPr>
          <a:xfrm>
            <a:off x="3200103" y="4953000"/>
            <a:ext cx="266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Stack Address: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0x00007f7262a1e</a:t>
            </a:r>
            <a:r>
              <a:rPr lang="en-US" sz="1800" u="sng" dirty="0">
                <a:solidFill>
                  <a:srgbClr val="C00000"/>
                </a:solidFill>
                <a:latin typeface="Courier New" pitchFamily="49" charset="0"/>
              </a:rPr>
              <a:t>010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286955" y="4953000"/>
            <a:ext cx="26244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2344738" algn="r"/>
                <a:tab pos="2398713" algn="r"/>
              </a:tabLst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Block offset:	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</a:rPr>
              <a:t>0x10</a:t>
            </a:r>
          </a:p>
          <a:p>
            <a:pPr>
              <a:tabLst>
                <a:tab pos="2344738" algn="r"/>
                <a:tab pos="2398713" algn="r"/>
              </a:tabLst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Set index: 	</a:t>
            </a:r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itchFamily="49" charset="0"/>
              </a:rPr>
              <a:t>0x0</a:t>
            </a:r>
          </a:p>
          <a:p>
            <a:pPr>
              <a:tabLst>
                <a:tab pos="2344738" algn="r"/>
                <a:tab pos="2398713" algn="r"/>
              </a:tabLst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Tag: </a:t>
            </a:r>
            <a:r>
              <a:rPr lang="en-US" sz="1800">
                <a:solidFill>
                  <a:srgbClr val="C00000"/>
                </a:solidFill>
                <a:latin typeface="Calibri" pitchFamily="34" charset="0"/>
              </a:rPr>
              <a:t>	</a:t>
            </a:r>
            <a:r>
              <a:rPr lang="en-US" sz="1800">
                <a:solidFill>
                  <a:srgbClr val="C00000"/>
                </a:solidFill>
                <a:latin typeface="Courier New" pitchFamily="49" charset="0"/>
              </a:rPr>
              <a:t>0x7f7262a1e</a:t>
            </a: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490" y="750888"/>
            <a:ext cx="1448710" cy="344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2" name="TextBox 291"/>
          <p:cNvSpPr txBox="1"/>
          <p:nvPr/>
        </p:nvSpPr>
        <p:spPr>
          <a:xfrm>
            <a:off x="494548" y="1258669"/>
            <a:ext cx="27738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32 kB 8-way set associative</a:t>
            </a:r>
            <a:br>
              <a:rPr lang="en-US" sz="1800" dirty="0">
                <a:solidFill>
                  <a:srgbClr val="C00000"/>
                </a:solidFill>
                <a:latin typeface="Calibri" pitchFamily="34" charset="0"/>
              </a:rPr>
            </a:b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64 bytes/block</a:t>
            </a:r>
          </a:p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47 bit address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2972" y="6031468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B050"/>
                </a:solidFill>
                <a:latin typeface="Courier New" pitchFamily="49" charset="0"/>
              </a:rPr>
              <a:t>0000 00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</a:rPr>
              <a:t>01 0000</a:t>
            </a:r>
            <a:endParaRPr lang="en-US" sz="1800" u="sng" dirty="0">
              <a:solidFill>
                <a:srgbClr val="0070C0"/>
              </a:solidFill>
              <a:latin typeface="Courier New" pitchFamily="49" charset="0"/>
            </a:endParaRPr>
          </a:p>
        </p:txBody>
      </p:sp>
      <p:cxnSp>
        <p:nvCxnSpPr>
          <p:cNvPr id="8" name="Straight Connector 7"/>
          <p:cNvCxnSpPr/>
          <p:nvPr/>
        </p:nvCxnSpPr>
        <p:spPr bwMode="auto">
          <a:xfrm flipV="1">
            <a:off x="4114800" y="5557314"/>
            <a:ext cx="1219200" cy="533400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flipH="1" flipV="1">
            <a:off x="5770056" y="5562600"/>
            <a:ext cx="152400" cy="533400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4321944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Cache Performance Metrics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>
          <a:xfrm>
            <a:off x="396875" y="1362075"/>
            <a:ext cx="8594725" cy="497205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Miss Rate</a:t>
            </a:r>
          </a:p>
          <a:p>
            <a:pPr lvl="1"/>
            <a:r>
              <a:rPr lang="en-GB" dirty="0"/>
              <a:t>Fraction of memory references not found in cache (misses / accesses)</a:t>
            </a:r>
            <a:br>
              <a:rPr lang="en-GB" dirty="0"/>
            </a:br>
            <a:r>
              <a:rPr lang="en-GB" dirty="0"/>
              <a:t>= 1 – hit rate</a:t>
            </a:r>
          </a:p>
          <a:p>
            <a:pPr lvl="1"/>
            <a:r>
              <a:rPr lang="en-GB" dirty="0"/>
              <a:t>Typical numbers (in percentages):</a:t>
            </a:r>
          </a:p>
          <a:p>
            <a:pPr lvl="2"/>
            <a:r>
              <a:rPr lang="en-GB" dirty="0"/>
              <a:t>3-10% for L1</a:t>
            </a:r>
          </a:p>
          <a:p>
            <a:pPr lvl="2"/>
            <a:r>
              <a:rPr lang="en-GB" dirty="0"/>
              <a:t>can be quite small (e.g., &lt; 1%) for L2, depending on size, etc.</a:t>
            </a:r>
          </a:p>
          <a:p>
            <a:r>
              <a:rPr lang="en-GB" dirty="0"/>
              <a:t>Hit Time</a:t>
            </a:r>
          </a:p>
          <a:p>
            <a:pPr lvl="1"/>
            <a:r>
              <a:rPr lang="en-US" altLang="zh-CN" dirty="0"/>
              <a:t>Access time for accessing the cache</a:t>
            </a:r>
            <a:endParaRPr lang="en-GB" dirty="0"/>
          </a:p>
          <a:p>
            <a:pPr lvl="1"/>
            <a:r>
              <a:rPr lang="en-GB" dirty="0"/>
              <a:t>Typical numbers:</a:t>
            </a:r>
          </a:p>
          <a:p>
            <a:pPr lvl="2"/>
            <a:r>
              <a:rPr lang="en-GB" dirty="0"/>
              <a:t>4 clock cycle for L1</a:t>
            </a:r>
          </a:p>
          <a:p>
            <a:pPr lvl="2"/>
            <a:r>
              <a:rPr lang="en-GB" dirty="0"/>
              <a:t>10 clock cycles for L2</a:t>
            </a:r>
          </a:p>
          <a:p>
            <a:r>
              <a:rPr lang="en-GB" dirty="0"/>
              <a:t>Miss Penalty</a:t>
            </a:r>
          </a:p>
          <a:p>
            <a:pPr lvl="1"/>
            <a:r>
              <a:rPr lang="en-GB" dirty="0"/>
              <a:t>Additional time required because of a miss: memory access time – cache access time</a:t>
            </a:r>
          </a:p>
          <a:p>
            <a:pPr lvl="2"/>
            <a:r>
              <a:rPr lang="en-GB" dirty="0"/>
              <a:t>typically 50-200 cycles for main memory (Trend: increasing!)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b"/>
          <a:lstStyle/>
          <a:p>
            <a:pPr eaLnBrk="1" hangingPunct="1"/>
            <a:r>
              <a:rPr lang="en-US" dirty="0"/>
              <a:t>Let’s think about those numbers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>
              <a:defRPr/>
            </a:pPr>
            <a:r>
              <a:rPr lang="en-US" dirty="0"/>
              <a:t>Huge difference between a hit and a miss</a:t>
            </a:r>
          </a:p>
          <a:p>
            <a:pPr lvl="1" eaLnBrk="1" hangingPunct="1">
              <a:lnSpc>
                <a:spcPct val="100000"/>
              </a:lnSpc>
              <a:defRPr/>
            </a:pPr>
            <a:r>
              <a:rPr lang="en-US" sz="1800" dirty="0"/>
              <a:t>Could be 100x, if just L1 and main memory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Would you believe 99% hits is twice as good as 97%?</a:t>
            </a:r>
          </a:p>
          <a:p>
            <a:pPr lvl="1" eaLnBrk="1" hangingPunct="1">
              <a:lnSpc>
                <a:spcPct val="100000"/>
              </a:lnSpc>
              <a:defRPr/>
            </a:pPr>
            <a:r>
              <a:rPr lang="en-US" sz="1800" dirty="0"/>
              <a:t>Consider: </a:t>
            </a:r>
            <a:br>
              <a:rPr lang="en-US" sz="1800" dirty="0"/>
            </a:br>
            <a:r>
              <a:rPr lang="en-US" sz="1800" dirty="0"/>
              <a:t>cache hit time of 1 cycle</a:t>
            </a:r>
            <a:br>
              <a:rPr lang="en-US" sz="1800" dirty="0"/>
            </a:br>
            <a:r>
              <a:rPr lang="en-US" sz="1800" dirty="0"/>
              <a:t>miss penalty of 100 cycles</a:t>
            </a:r>
          </a:p>
          <a:p>
            <a:pPr lvl="1">
              <a:defRPr/>
            </a:pPr>
            <a:endParaRPr lang="en-US" sz="1800" dirty="0"/>
          </a:p>
          <a:p>
            <a:pPr lvl="1">
              <a:defRPr/>
            </a:pPr>
            <a:r>
              <a:rPr lang="en-US" sz="1800" dirty="0"/>
              <a:t>Average access time:</a:t>
            </a:r>
          </a:p>
          <a:p>
            <a:pPr lvl="1" eaLnBrk="1" hangingPunct="1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sz="1800" dirty="0"/>
              <a:t>	 97% hits:  1 cycle + 0.03 * 100 cycles =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b="1" dirty="0">
                <a:solidFill>
                  <a:srgbClr val="C00000"/>
                </a:solidFill>
              </a:rPr>
              <a:t>4 cycles</a:t>
            </a:r>
          </a:p>
          <a:p>
            <a:pPr lvl="1" eaLnBrk="1" hangingPunct="1">
              <a:lnSpc>
                <a:spcPct val="100000"/>
              </a:lnSpc>
              <a:buFont typeface="Wingdings" pitchFamily="2" charset="2"/>
              <a:buNone/>
              <a:defRPr/>
            </a:pPr>
            <a:r>
              <a:rPr lang="en-US" sz="1800" dirty="0"/>
              <a:t>	 99% hits:  1 cycle + 0.01 * 100 cycles = </a:t>
            </a:r>
            <a:r>
              <a:rPr lang="en-US" sz="1800" b="1" dirty="0">
                <a:solidFill>
                  <a:srgbClr val="C00000"/>
                </a:solidFill>
              </a:rPr>
              <a:t>2 cycles</a:t>
            </a:r>
          </a:p>
          <a:p>
            <a:pPr lvl="1" eaLnBrk="1" hangingPunct="1">
              <a:lnSpc>
                <a:spcPct val="100000"/>
              </a:lnSpc>
              <a:buFont typeface="Wingdings" pitchFamily="2" charset="2"/>
              <a:buNone/>
              <a:defRPr/>
            </a:pPr>
            <a:endParaRPr lang="en-US" sz="16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This is why “miss rate” is used instead of “hit rate”</a:t>
            </a:r>
            <a:endParaRPr lang="en-US" sz="1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Cache Friendly Code</a:t>
            </a:r>
          </a:p>
        </p:txBody>
      </p:sp>
      <p:sp>
        <p:nvSpPr>
          <p:cNvPr id="160777" name="Rectangle 9"/>
          <p:cNvSpPr>
            <a:spLocks noGrp="1" noChangeArrowheads="1"/>
          </p:cNvSpPr>
          <p:nvPr>
            <p:ph idx="1"/>
          </p:nvPr>
        </p:nvSpPr>
        <p:spPr>
          <a:xfrm>
            <a:off x="396875" y="1362075"/>
            <a:ext cx="8289925" cy="4972050"/>
          </a:xfrm>
        </p:spPr>
        <p:txBody>
          <a:bodyPr/>
          <a:lstStyle/>
          <a:p>
            <a:r>
              <a:rPr lang="en-US" dirty="0"/>
              <a:t>Make the common case go fast</a:t>
            </a:r>
          </a:p>
          <a:p>
            <a:pPr lvl="1"/>
            <a:r>
              <a:rPr lang="en-US" dirty="0"/>
              <a:t>Focus on the inner loops of the core functions</a:t>
            </a:r>
          </a:p>
          <a:p>
            <a:pPr lvl="1"/>
            <a:endParaRPr lang="en-US" dirty="0"/>
          </a:p>
          <a:p>
            <a:r>
              <a:rPr lang="en-US" dirty="0"/>
              <a:t>Minimize the misses in the inner loops</a:t>
            </a:r>
          </a:p>
          <a:p>
            <a:pPr lvl="1"/>
            <a:r>
              <a:rPr lang="en-US" dirty="0"/>
              <a:t>Repeated references to variables are good (</a:t>
            </a:r>
            <a:r>
              <a:rPr lang="en-US" dirty="0">
                <a:solidFill>
                  <a:srgbClr val="FF0000"/>
                </a:solidFill>
              </a:rPr>
              <a:t>temporal locality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Stride-1 reference patterns are good (</a:t>
            </a:r>
            <a:r>
              <a:rPr lang="en-US" dirty="0">
                <a:solidFill>
                  <a:srgbClr val="FF0000"/>
                </a:solidFill>
              </a:rPr>
              <a:t>spatial locality</a:t>
            </a:r>
            <a:r>
              <a:rPr lang="en-US"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876" y="4800600"/>
            <a:ext cx="85185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Key idea: Our qualitative notion of locality is quantified through our understanding of cache memories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Cache organization and operation</a:t>
            </a:r>
          </a:p>
          <a:p>
            <a:r>
              <a:rPr lang="en-US" dirty="0"/>
              <a:t>Performance impact of caches</a:t>
            </a:r>
          </a:p>
          <a:p>
            <a:pPr lvl="1"/>
            <a:r>
              <a:rPr lang="en-US" dirty="0"/>
              <a:t>The memory mountain</a:t>
            </a:r>
          </a:p>
          <a:p>
            <a:pPr lvl="1"/>
            <a:r>
              <a:rPr lang="en-US" dirty="0">
                <a:solidFill>
                  <a:srgbClr val="BFBFBF"/>
                </a:solidFill>
              </a:rPr>
              <a:t>Rearranging loops to improve spatial locality</a:t>
            </a:r>
          </a:p>
          <a:p>
            <a:pPr lvl="1"/>
            <a:r>
              <a:rPr lang="en-US" dirty="0">
                <a:solidFill>
                  <a:srgbClr val="BFBFBF"/>
                </a:solidFill>
              </a:rPr>
              <a:t>Using blocking to improve temporal locality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8825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Memory Mountain</a:t>
            </a:r>
          </a:p>
        </p:txBody>
      </p:sp>
      <p:sp>
        <p:nvSpPr>
          <p:cNvPr id="16179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Read throughput </a:t>
            </a:r>
            <a:r>
              <a:rPr lang="en-US" dirty="0"/>
              <a:t>(read bandwidth)</a:t>
            </a:r>
          </a:p>
          <a:p>
            <a:pPr lvl="1"/>
            <a:r>
              <a:rPr lang="en-US" dirty="0"/>
              <a:t>Number of bytes read from memory per second (MB/</a:t>
            </a:r>
            <a:r>
              <a:rPr lang="en-US" dirty="0" err="1"/>
              <a:t>s</a:t>
            </a:r>
            <a:r>
              <a:rPr lang="en-US" dirty="0"/>
              <a:t>)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Memory mountain: </a:t>
            </a:r>
            <a:r>
              <a:rPr lang="en-US" dirty="0"/>
              <a:t>Measured read throughput as a function of spatial and temporal locality.</a:t>
            </a:r>
          </a:p>
          <a:p>
            <a:pPr lvl="1"/>
            <a:r>
              <a:rPr lang="en-US" dirty="0"/>
              <a:t>Compact way to characterize memory system performance.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366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0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7592093" cy="762000"/>
          </a:xfrm>
        </p:spPr>
        <p:txBody>
          <a:bodyPr/>
          <a:lstStyle/>
          <a:p>
            <a:r>
              <a:rPr lang="en-US" dirty="0"/>
              <a:t>Memory Mountain Test Function</a:t>
            </a:r>
          </a:p>
        </p:txBody>
      </p:sp>
      <p:sp>
        <p:nvSpPr>
          <p:cNvPr id="162819" name="Text Box 3"/>
          <p:cNvSpPr txBox="1">
            <a:spLocks noChangeArrowheads="1"/>
          </p:cNvSpPr>
          <p:nvPr/>
        </p:nvSpPr>
        <p:spPr bwMode="auto">
          <a:xfrm>
            <a:off x="76200" y="918656"/>
            <a:ext cx="6318391" cy="5863144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data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[MAXELEMS];  </a:t>
            </a:r>
            <a:r>
              <a:rPr lang="en-US" sz="1500" dirty="0">
                <a:solidFill>
                  <a:srgbClr val="CB2418"/>
                </a:solidFill>
                <a:latin typeface="Menlo-Regular"/>
              </a:rPr>
              <a:t>/* Global array to traverse */</a:t>
            </a:r>
          </a:p>
          <a:p>
            <a:endParaRPr lang="en-US" sz="1500" dirty="0">
              <a:solidFill>
                <a:srgbClr val="9D0003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9D0003"/>
                </a:solidFill>
                <a:latin typeface="Menlo-Regular"/>
              </a:rPr>
              <a:t>/* test - Iterate over first "</a:t>
            </a:r>
            <a:r>
              <a:rPr lang="en-US" sz="1500" dirty="0" err="1">
                <a:solidFill>
                  <a:srgbClr val="9D0003"/>
                </a:solidFill>
                <a:latin typeface="Menlo-Regular"/>
              </a:rPr>
              <a:t>elems</a:t>
            </a:r>
            <a:r>
              <a:rPr lang="en-US" sz="1500" dirty="0">
                <a:solidFill>
                  <a:srgbClr val="9D0003"/>
                </a:solidFill>
                <a:latin typeface="Menlo-Regular"/>
              </a:rPr>
              <a:t>" elements of</a:t>
            </a:r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9D0003"/>
                </a:solidFill>
                <a:latin typeface="Menlo-Regular"/>
              </a:rPr>
              <a:t> *        array “data” with stride of "stride", using </a:t>
            </a:r>
          </a:p>
          <a:p>
            <a:r>
              <a:rPr lang="en-US" sz="1500" dirty="0">
                <a:solidFill>
                  <a:srgbClr val="9D0003"/>
                </a:solidFill>
                <a:latin typeface="Menlo-Regular"/>
              </a:rPr>
              <a:t> *        using 4x4 loop unrolling.                                                            </a:t>
            </a:r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9D0003"/>
                </a:solidFill>
                <a:latin typeface="Menlo-Regular"/>
              </a:rPr>
              <a:t> */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</a:p>
          <a:p>
            <a:r>
              <a:rPr lang="en-US" sz="15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4A00FF"/>
                </a:solidFill>
                <a:latin typeface="Menlo-Regular"/>
              </a:rPr>
              <a:t>test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5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/>
              </a:rPr>
              <a:t>elems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5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stride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sx2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=stride*2,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sx3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=stride*3,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sx4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=stride*4;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acc0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= 0,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acc1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= 0,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acc2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= 0,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acc3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= 0;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length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= </a:t>
            </a:r>
            <a:r>
              <a:rPr lang="en-US" sz="1500" dirty="0" err="1">
                <a:solidFill>
                  <a:srgbClr val="000000"/>
                </a:solidFill>
                <a:latin typeface="Menlo-Regular"/>
              </a:rPr>
              <a:t>elems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limit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= length - sx4;</a:t>
            </a:r>
          </a:p>
          <a:p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CB2418"/>
                </a:solidFill>
                <a:latin typeface="Menlo-Regular"/>
              </a:rPr>
              <a:t>/* Combine 4 elements at a time */</a:t>
            </a:r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C200FF"/>
                </a:solidFill>
                <a:latin typeface="Menlo-Regular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(</a:t>
            </a:r>
            <a:r>
              <a:rPr lang="en-US" sz="15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= 0; </a:t>
            </a:r>
            <a:r>
              <a:rPr lang="en-US" sz="15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&lt; limit; </a:t>
            </a:r>
            <a:r>
              <a:rPr lang="en-US" sz="15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+= sx4) {</a:t>
            </a:r>
          </a:p>
          <a:p>
            <a:r>
              <a:rPr lang="it-IT" sz="1500" dirty="0">
                <a:solidFill>
                  <a:srgbClr val="000000"/>
                </a:solidFill>
                <a:latin typeface="Menlo-Regular"/>
              </a:rPr>
              <a:t>        acc0 = acc0 + data[i];</a:t>
            </a:r>
          </a:p>
          <a:p>
            <a:r>
              <a:rPr lang="sv-SE" sz="1500" dirty="0">
                <a:solidFill>
                  <a:srgbClr val="000000"/>
                </a:solidFill>
                <a:latin typeface="Menlo-Regular"/>
              </a:rPr>
              <a:t>        acc1 = acc1 + data[</a:t>
            </a:r>
            <a:r>
              <a:rPr lang="sv-SE" sz="1500" dirty="0" err="1">
                <a:solidFill>
                  <a:srgbClr val="000000"/>
                </a:solidFill>
                <a:latin typeface="Menlo-Regular"/>
              </a:rPr>
              <a:t>i+stride</a:t>
            </a:r>
            <a:r>
              <a:rPr lang="sv-SE" sz="1500" dirty="0">
                <a:solidFill>
                  <a:srgbClr val="000000"/>
                </a:solidFill>
                <a:latin typeface="Menlo-Regular"/>
              </a:rPr>
              <a:t>];</a:t>
            </a:r>
          </a:p>
          <a:p>
            <a:r>
              <a:rPr lang="it-IT" sz="1500" dirty="0">
                <a:solidFill>
                  <a:srgbClr val="000000"/>
                </a:solidFill>
                <a:latin typeface="Menlo-Regular"/>
              </a:rPr>
              <a:t>        acc2 = acc2 + data[i+sx2];</a:t>
            </a:r>
          </a:p>
          <a:p>
            <a:r>
              <a:rPr lang="it-IT" sz="1500" dirty="0">
                <a:solidFill>
                  <a:srgbClr val="000000"/>
                </a:solidFill>
                <a:latin typeface="Menlo-Regular"/>
              </a:rPr>
              <a:t>        acc3 = acc3 + data[i+sx3];</a:t>
            </a:r>
          </a:p>
          <a:p>
            <a:r>
              <a:rPr lang="it-IT" sz="15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endParaRPr lang="it-IT" sz="1500" dirty="0">
              <a:solidFill>
                <a:srgbClr val="000000"/>
              </a:solidFill>
              <a:latin typeface="Menlo-Regular"/>
            </a:endParaRPr>
          </a:p>
          <a:p>
            <a:r>
              <a:rPr lang="it-IT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it-IT" sz="1500" dirty="0">
                <a:solidFill>
                  <a:srgbClr val="CB2418"/>
                </a:solidFill>
                <a:latin typeface="Menlo-Regular"/>
              </a:rPr>
              <a:t>/* Finish any remaining elements */</a:t>
            </a:r>
            <a:endParaRPr lang="it-IT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C200FF"/>
                </a:solidFill>
                <a:latin typeface="Menlo-Regular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(; </a:t>
            </a:r>
            <a:r>
              <a:rPr lang="en-US" sz="15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&lt; length; </a:t>
            </a:r>
            <a:r>
              <a:rPr lang="en-US" sz="1500" dirty="0" err="1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++) {</a:t>
            </a:r>
          </a:p>
          <a:p>
            <a:r>
              <a:rPr lang="it-IT" sz="1500" dirty="0">
                <a:solidFill>
                  <a:srgbClr val="000000"/>
                </a:solidFill>
                <a:latin typeface="Menlo-Regular"/>
              </a:rPr>
              <a:t>        acc0 = acc0 + data[i];</a:t>
            </a:r>
          </a:p>
          <a:p>
            <a:r>
              <a:rPr lang="it-IT" sz="15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C200FF"/>
                </a:solidFill>
                <a:latin typeface="Menlo-Regular"/>
              </a:rPr>
              <a:t>return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((acc0 + acc1) + (acc2 + acc3));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77001" y="1447800"/>
            <a:ext cx="2514600" cy="236220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77001" y="1447800"/>
            <a:ext cx="2590800" cy="39624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sz="1800" dirty="0">
                <a:latin typeface="Calibri" pitchFamily="34" charset="0"/>
              </a:rPr>
              <a:t>Call </a:t>
            </a:r>
            <a:r>
              <a:rPr lang="en-US" sz="1800" dirty="0">
                <a:latin typeface="Courier New"/>
                <a:cs typeface="Courier New"/>
              </a:rPr>
              <a:t>test()</a:t>
            </a:r>
            <a:r>
              <a:rPr lang="en-US" sz="1800" dirty="0">
                <a:latin typeface="Calibri" pitchFamily="34" charset="0"/>
              </a:rPr>
              <a:t> with many combinations of </a:t>
            </a:r>
            <a:r>
              <a:rPr lang="en-US" sz="1800" dirty="0" err="1">
                <a:latin typeface="Courier New"/>
                <a:cs typeface="Courier New"/>
              </a:rPr>
              <a:t>elems</a:t>
            </a:r>
            <a:r>
              <a:rPr lang="en-US" sz="1800" dirty="0">
                <a:latin typeface="Calibri" pitchFamily="34" charset="0"/>
              </a:rPr>
              <a:t> </a:t>
            </a:r>
          </a:p>
          <a:p>
            <a:r>
              <a:rPr lang="en-US" sz="1800" dirty="0">
                <a:latin typeface="Calibri" pitchFamily="34" charset="0"/>
              </a:rPr>
              <a:t>and </a:t>
            </a:r>
            <a:r>
              <a:rPr lang="en-US" sz="1800" dirty="0">
                <a:latin typeface="Courier New"/>
                <a:cs typeface="Courier New"/>
              </a:rPr>
              <a:t>stride.</a:t>
            </a:r>
          </a:p>
          <a:p>
            <a:endParaRPr lang="en-US" sz="1800" dirty="0">
              <a:latin typeface="Courier New"/>
              <a:cs typeface="Courier New"/>
            </a:endParaRPr>
          </a:p>
          <a:p>
            <a:r>
              <a:rPr lang="en-US" sz="1800" dirty="0">
                <a:latin typeface="Courier New"/>
                <a:cs typeface="Courier New"/>
              </a:rPr>
              <a:t>For each </a:t>
            </a:r>
            <a:r>
              <a:rPr lang="en-US" sz="1800" dirty="0" err="1">
                <a:latin typeface="Courier New"/>
                <a:cs typeface="Courier New"/>
              </a:rPr>
              <a:t>elems</a:t>
            </a:r>
            <a:r>
              <a:rPr lang="en-US" sz="1800" dirty="0">
                <a:latin typeface="Courier New"/>
                <a:cs typeface="Courier New"/>
              </a:rPr>
              <a:t> and stride:</a:t>
            </a:r>
          </a:p>
          <a:p>
            <a:endParaRPr lang="en-US" sz="1800" dirty="0">
              <a:latin typeface="Courier New"/>
              <a:cs typeface="Courier New"/>
            </a:endParaRPr>
          </a:p>
          <a:p>
            <a:r>
              <a:rPr lang="en-US" sz="1800" dirty="0">
                <a:latin typeface="Courier New"/>
                <a:cs typeface="Courier New"/>
              </a:rPr>
              <a:t>1. Call test() once to warm up the caches.</a:t>
            </a:r>
          </a:p>
          <a:p>
            <a:endParaRPr lang="en-US" sz="1800" dirty="0">
              <a:latin typeface="Courier New"/>
              <a:cs typeface="Courier New"/>
            </a:endParaRPr>
          </a:p>
          <a:p>
            <a:r>
              <a:rPr lang="en-US" sz="1800" dirty="0">
                <a:latin typeface="Courier New"/>
                <a:cs typeface="Courier New"/>
              </a:rPr>
              <a:t>2. Call test() again and measure the read throughput(MB/s)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581400" y="6477000"/>
            <a:ext cx="2868080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mountain/</a:t>
            </a: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mountain.c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2545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6332F-1F44-E1C9-6898-9D2859B2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0" name="Rectangle 4">
            <a:extLst>
              <a:ext uri="{FF2B5EF4-FFF2-40B4-BE49-F238E27FC236}">
                <a16:creationId xmlns:a16="http://schemas.microsoft.com/office/drawing/2014/main" id="{08DC547F-ABB6-38C4-8154-A34E76EB2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7592093" cy="762000"/>
          </a:xfrm>
        </p:spPr>
        <p:txBody>
          <a:bodyPr/>
          <a:lstStyle/>
          <a:p>
            <a:r>
              <a:rPr lang="en-US" dirty="0"/>
              <a:t>Memory Mountain Test Function</a:t>
            </a:r>
          </a:p>
        </p:txBody>
      </p:sp>
      <p:sp>
        <p:nvSpPr>
          <p:cNvPr id="162819" name="Text Box 3">
            <a:extLst>
              <a:ext uri="{FF2B5EF4-FFF2-40B4-BE49-F238E27FC236}">
                <a16:creationId xmlns:a16="http://schemas.microsoft.com/office/drawing/2014/main" id="{A1FB1F0E-918A-746B-BEE5-A0D50A2B6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918656"/>
            <a:ext cx="6318391" cy="2400657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data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[MAXELEMS];  </a:t>
            </a:r>
            <a:r>
              <a:rPr lang="en-US" sz="1500" dirty="0">
                <a:solidFill>
                  <a:srgbClr val="CB2418"/>
                </a:solidFill>
                <a:latin typeface="Menlo-Regular"/>
              </a:rPr>
              <a:t>/* Global array to traverse */</a:t>
            </a:r>
          </a:p>
          <a:p>
            <a:endParaRPr lang="en-US" sz="1500" dirty="0">
              <a:solidFill>
                <a:srgbClr val="9D0003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4A00FF"/>
                </a:solidFill>
                <a:latin typeface="Menlo-Regular"/>
              </a:rPr>
              <a:t>test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500" dirty="0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/>
              </a:rPr>
              <a:t>elems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500" dirty="0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stride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2D961E"/>
                </a:solidFill>
                <a:latin typeface="Menlo-Regular"/>
              </a:rPr>
              <a:t>long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500" dirty="0" err="1">
                <a:solidFill>
                  <a:srgbClr val="C1651C"/>
                </a:solidFill>
                <a:latin typeface="Menlo-Regular"/>
              </a:rPr>
              <a:t>i</a:t>
            </a:r>
            <a:r>
              <a:rPr lang="en-US" sz="1500" dirty="0">
                <a:solidFill>
                  <a:srgbClr val="C1651C"/>
                </a:solidFill>
                <a:latin typeface="Menlo-Regular"/>
              </a:rPr>
              <a:t>, sum; </a:t>
            </a:r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endParaRPr lang="en-US" sz="15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nn-NO" sz="1500" dirty="0">
                <a:solidFill>
                  <a:srgbClr val="000000"/>
                </a:solidFill>
                <a:latin typeface="Menlo-Regular"/>
              </a:rPr>
              <a:t>for (i = 0; i &lt; elems; i += stride)   </a:t>
            </a:r>
          </a:p>
          <a:p>
            <a:r>
              <a:rPr lang="nn-NO" sz="1500" dirty="0">
                <a:solidFill>
                  <a:srgbClr val="000000"/>
                </a:solidFill>
                <a:latin typeface="Menlo-Regular"/>
              </a:rPr>
              <a:t>	sum += data[i];</a:t>
            </a:r>
          </a:p>
          <a:p>
            <a:endParaRPr lang="it-IT" sz="1500" dirty="0">
              <a:solidFill>
                <a:srgbClr val="000000"/>
              </a:solidFill>
              <a:latin typeface="Menlo-Regular"/>
            </a:endParaRPr>
          </a:p>
          <a:p>
            <a:r>
              <a:rPr lang="it-IT" sz="15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 </a:t>
            </a:r>
            <a:r>
              <a:rPr lang="en-US" sz="1500" dirty="0">
                <a:solidFill>
                  <a:srgbClr val="C200FF"/>
                </a:solidFill>
                <a:latin typeface="Menlo-Regular"/>
              </a:rPr>
              <a:t>return</a:t>
            </a:r>
            <a:r>
              <a:rPr lang="en-US" sz="1500" dirty="0">
                <a:solidFill>
                  <a:srgbClr val="000000"/>
                </a:solidFill>
                <a:latin typeface="Menlo-Regular"/>
              </a:rPr>
              <a:t> (sum);</a:t>
            </a:r>
          </a:p>
          <a:p>
            <a:r>
              <a:rPr lang="en-US" sz="15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A65A8-3A6B-6FBB-20B1-26A462747D0B}"/>
              </a:ext>
            </a:extLst>
          </p:cNvPr>
          <p:cNvSpPr txBox="1"/>
          <p:nvPr/>
        </p:nvSpPr>
        <p:spPr>
          <a:xfrm>
            <a:off x="6477001" y="1447800"/>
            <a:ext cx="2514600" cy="236220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E2C234-418E-83B6-17C4-D71F90789031}"/>
              </a:ext>
            </a:extLst>
          </p:cNvPr>
          <p:cNvSpPr txBox="1"/>
          <p:nvPr/>
        </p:nvSpPr>
        <p:spPr>
          <a:xfrm>
            <a:off x="6477001" y="1447800"/>
            <a:ext cx="2590800" cy="39624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sz="1800" dirty="0">
                <a:latin typeface="Calibri" pitchFamily="34" charset="0"/>
              </a:rPr>
              <a:t>Call </a:t>
            </a:r>
            <a:r>
              <a:rPr lang="en-US" sz="1800" dirty="0">
                <a:latin typeface="Courier New"/>
                <a:cs typeface="Courier New"/>
              </a:rPr>
              <a:t>test()</a:t>
            </a:r>
            <a:r>
              <a:rPr lang="en-US" sz="1800" dirty="0">
                <a:latin typeface="Calibri" pitchFamily="34" charset="0"/>
              </a:rPr>
              <a:t> with many combinations of </a:t>
            </a:r>
            <a:r>
              <a:rPr lang="en-US" sz="1800" dirty="0" err="1">
                <a:latin typeface="Courier New"/>
                <a:cs typeface="Courier New"/>
              </a:rPr>
              <a:t>elems</a:t>
            </a:r>
            <a:r>
              <a:rPr lang="en-US" sz="1800" dirty="0">
                <a:latin typeface="Calibri" pitchFamily="34" charset="0"/>
              </a:rPr>
              <a:t> </a:t>
            </a:r>
          </a:p>
          <a:p>
            <a:r>
              <a:rPr lang="en-US" sz="1800" dirty="0">
                <a:latin typeface="Calibri" pitchFamily="34" charset="0"/>
              </a:rPr>
              <a:t>and </a:t>
            </a:r>
            <a:r>
              <a:rPr lang="en-US" sz="1800" dirty="0">
                <a:latin typeface="Courier New"/>
                <a:cs typeface="Courier New"/>
              </a:rPr>
              <a:t>stride.</a:t>
            </a:r>
          </a:p>
          <a:p>
            <a:endParaRPr lang="en-US" sz="1800" dirty="0">
              <a:latin typeface="Courier New"/>
              <a:cs typeface="Courier New"/>
            </a:endParaRPr>
          </a:p>
          <a:p>
            <a:r>
              <a:rPr lang="en-US" sz="1800" dirty="0">
                <a:latin typeface="Courier New"/>
                <a:cs typeface="Courier New"/>
              </a:rPr>
              <a:t>For each </a:t>
            </a:r>
            <a:r>
              <a:rPr lang="en-US" sz="1800" dirty="0" err="1">
                <a:latin typeface="Courier New"/>
                <a:cs typeface="Courier New"/>
              </a:rPr>
              <a:t>elems</a:t>
            </a:r>
            <a:r>
              <a:rPr lang="en-US" sz="1800" dirty="0">
                <a:latin typeface="Courier New"/>
                <a:cs typeface="Courier New"/>
              </a:rPr>
              <a:t> and stride:</a:t>
            </a:r>
          </a:p>
          <a:p>
            <a:endParaRPr lang="en-US" sz="1800" dirty="0">
              <a:latin typeface="Courier New"/>
              <a:cs typeface="Courier New"/>
            </a:endParaRPr>
          </a:p>
          <a:p>
            <a:r>
              <a:rPr lang="en-US" sz="1800" dirty="0">
                <a:latin typeface="Courier New"/>
                <a:cs typeface="Courier New"/>
              </a:rPr>
              <a:t>1. Call test() once to warm up the caches.</a:t>
            </a:r>
          </a:p>
          <a:p>
            <a:endParaRPr lang="en-US" sz="1800" dirty="0">
              <a:latin typeface="Courier New"/>
              <a:cs typeface="Courier New"/>
            </a:endParaRPr>
          </a:p>
          <a:p>
            <a:r>
              <a:rPr lang="en-US" sz="1800" dirty="0">
                <a:latin typeface="Courier New"/>
                <a:cs typeface="Courier New"/>
              </a:rPr>
              <a:t>2. Call test() again and measure the read throughput(MB/s)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6541974-36FD-FDB8-4051-8FD9B1BC8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6477000"/>
            <a:ext cx="2868080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mountain/</a:t>
            </a: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mountain.c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303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9" y="435678"/>
            <a:ext cx="4824581" cy="762000"/>
          </a:xfrm>
        </p:spPr>
        <p:txBody>
          <a:bodyPr/>
          <a:lstStyle/>
          <a:p>
            <a:r>
              <a:rPr lang="en-US" dirty="0"/>
              <a:t>The Memory Mountain</a:t>
            </a:r>
          </a:p>
        </p:txBody>
      </p:sp>
      <p:graphicFrame>
        <p:nvGraphicFramePr>
          <p:cNvPr id="52" name="Chart 5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46529220"/>
              </p:ext>
            </p:extLst>
          </p:nvPr>
        </p:nvGraphicFramePr>
        <p:xfrm>
          <a:off x="285750" y="876300"/>
          <a:ext cx="85725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7086600" y="304800"/>
            <a:ext cx="1762622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dirty="0"/>
              <a:t>Core i7 </a:t>
            </a:r>
            <a:r>
              <a:rPr lang="en-US" sz="1800" dirty="0" err="1"/>
              <a:t>Haswell</a:t>
            </a:r>
            <a:endParaRPr lang="en-US" sz="1800" dirty="0"/>
          </a:p>
          <a:p>
            <a:pPr algn="l"/>
            <a:r>
              <a:rPr lang="en-US" sz="1800" dirty="0"/>
              <a:t>2.1 GHz</a:t>
            </a:r>
          </a:p>
          <a:p>
            <a:pPr algn="l"/>
            <a:r>
              <a:rPr lang="en-US" sz="1800" dirty="0"/>
              <a:t>32 KB L1 d-cache</a:t>
            </a:r>
          </a:p>
          <a:p>
            <a:pPr algn="l"/>
            <a:r>
              <a:rPr lang="en-US" sz="1800" dirty="0"/>
              <a:t>256 KB L2 cache</a:t>
            </a:r>
          </a:p>
          <a:p>
            <a:pPr algn="l"/>
            <a:r>
              <a:rPr lang="en-US" sz="1800" dirty="0"/>
              <a:t>8 MB L3 cache</a:t>
            </a:r>
          </a:p>
          <a:p>
            <a:pPr algn="l"/>
            <a:r>
              <a:rPr lang="en-US" sz="1800" dirty="0"/>
              <a:t>64 B block size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52400" y="2876551"/>
            <a:ext cx="4495800" cy="2691560"/>
            <a:chOff x="152400" y="2876551"/>
            <a:chExt cx="4495800" cy="2691560"/>
          </a:xfrm>
        </p:grpSpPr>
        <p:sp>
          <p:nvSpPr>
            <p:cNvPr id="62" name="TextBox 61"/>
            <p:cNvSpPr txBox="1"/>
            <p:nvPr/>
          </p:nvSpPr>
          <p:spPr>
            <a:xfrm>
              <a:off x="152400" y="4737114"/>
              <a:ext cx="9906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i="1" dirty="0">
                  <a:solidFill>
                    <a:srgbClr val="FF0000"/>
                  </a:solidFill>
                </a:rPr>
                <a:t>Slopes </a:t>
              </a:r>
            </a:p>
            <a:p>
              <a:pPr algn="l"/>
              <a:r>
                <a:rPr lang="en-US" sz="1600" i="1" dirty="0">
                  <a:solidFill>
                    <a:srgbClr val="FF0000"/>
                  </a:solidFill>
                </a:rPr>
                <a:t>of spatial locality</a:t>
              </a:r>
            </a:p>
          </p:txBody>
        </p:sp>
        <p:cxnSp>
          <p:nvCxnSpPr>
            <p:cNvPr id="63" name="Straight Arrow Connector 62"/>
            <p:cNvCxnSpPr>
              <a:stCxn id="62" idx="3"/>
            </p:cNvCxnSpPr>
            <p:nvPr/>
          </p:nvCxnSpPr>
          <p:spPr bwMode="auto">
            <a:xfrm flipV="1">
              <a:off x="1143000" y="2876551"/>
              <a:ext cx="3505200" cy="227606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Straight Arrow Connector 63"/>
            <p:cNvCxnSpPr>
              <a:stCxn id="62" idx="3"/>
            </p:cNvCxnSpPr>
            <p:nvPr/>
          </p:nvCxnSpPr>
          <p:spPr bwMode="auto">
            <a:xfrm flipV="1">
              <a:off x="1143000" y="4523783"/>
              <a:ext cx="1390650" cy="62883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Straight Arrow Connector 64"/>
            <p:cNvCxnSpPr>
              <a:stCxn id="62" idx="3"/>
            </p:cNvCxnSpPr>
            <p:nvPr/>
          </p:nvCxnSpPr>
          <p:spPr bwMode="auto">
            <a:xfrm flipV="1">
              <a:off x="1143000" y="3591017"/>
              <a:ext cx="2590800" cy="156159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9" name="Group 68"/>
          <p:cNvGrpSpPr/>
          <p:nvPr/>
        </p:nvGrpSpPr>
        <p:grpSpPr>
          <a:xfrm>
            <a:off x="3873193" y="2241606"/>
            <a:ext cx="4661207" cy="3471458"/>
            <a:chOff x="3873193" y="2241606"/>
            <a:chExt cx="4661207" cy="3471458"/>
          </a:xfrm>
        </p:grpSpPr>
        <p:sp>
          <p:nvSpPr>
            <p:cNvPr id="54" name="TextBox 53"/>
            <p:cNvSpPr txBox="1"/>
            <p:nvPr/>
          </p:nvSpPr>
          <p:spPr>
            <a:xfrm>
              <a:off x="7163568" y="3406973"/>
              <a:ext cx="137083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i="1" dirty="0">
                  <a:solidFill>
                    <a:srgbClr val="FF0000"/>
                  </a:solidFill>
                </a:rPr>
                <a:t>Ridges </a:t>
              </a:r>
            </a:p>
            <a:p>
              <a:pPr algn="l"/>
              <a:r>
                <a:rPr lang="en-US" sz="1600" i="1" dirty="0">
                  <a:solidFill>
                    <a:srgbClr val="FF0000"/>
                  </a:solidFill>
                </a:rPr>
                <a:t>of temporal locality</a:t>
              </a: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5957287" y="2241606"/>
              <a:ext cx="412893" cy="338554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  <a:ea typeface="ＭＳ Ｐゴシック" charset="0"/>
                </a:rPr>
                <a:t>L1</a:t>
              </a: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3873193" y="5374510"/>
              <a:ext cx="640620" cy="338554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  <a:ea typeface="ＭＳ Ｐゴシック" charset="0"/>
                </a:rPr>
                <a:t>Mem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  <a:ea typeface="ＭＳ Ｐゴシック" charset="0"/>
              </a:endParaRP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5451902" y="3714750"/>
              <a:ext cx="415498" cy="338554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  <a:ea typeface="ＭＳ Ｐゴシック" charset="0"/>
                </a:rPr>
                <a:t>L2</a:t>
              </a: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4648200" y="4522295"/>
              <a:ext cx="412893" cy="338554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  <a:ea typeface="ＭＳ Ｐゴシック" charset="0"/>
                </a:rPr>
                <a:t>L3</a:t>
              </a:r>
            </a:p>
          </p:txBody>
        </p:sp>
        <p:cxnSp>
          <p:nvCxnSpPr>
            <p:cNvPr id="59" name="Straight Arrow Connector 58"/>
            <p:cNvCxnSpPr>
              <a:stCxn id="54" idx="1"/>
              <a:endCxn id="55" idx="3"/>
            </p:cNvCxnSpPr>
            <p:nvPr/>
          </p:nvCxnSpPr>
          <p:spPr bwMode="auto">
            <a:xfrm flipH="1" flipV="1">
              <a:off x="6370180" y="2410883"/>
              <a:ext cx="793388" cy="1411589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Straight Arrow Connector 59"/>
            <p:cNvCxnSpPr>
              <a:stCxn id="54" idx="1"/>
              <a:endCxn id="57" idx="3"/>
            </p:cNvCxnSpPr>
            <p:nvPr/>
          </p:nvCxnSpPr>
          <p:spPr bwMode="auto">
            <a:xfrm flipH="1">
              <a:off x="5867400" y="3822472"/>
              <a:ext cx="1296168" cy="61555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Straight Arrow Connector 60"/>
            <p:cNvCxnSpPr>
              <a:stCxn id="54" idx="1"/>
              <a:endCxn id="58" idx="3"/>
            </p:cNvCxnSpPr>
            <p:nvPr/>
          </p:nvCxnSpPr>
          <p:spPr bwMode="auto">
            <a:xfrm flipH="1">
              <a:off x="5061093" y="3822472"/>
              <a:ext cx="2102475" cy="8691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Straight Arrow Connector 65"/>
            <p:cNvCxnSpPr>
              <a:stCxn id="54" idx="1"/>
              <a:endCxn id="56" idx="3"/>
            </p:cNvCxnSpPr>
            <p:nvPr/>
          </p:nvCxnSpPr>
          <p:spPr bwMode="auto">
            <a:xfrm flipH="1">
              <a:off x="4513813" y="3822472"/>
              <a:ext cx="2649755" cy="1721315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2" name="Group 11"/>
          <p:cNvGrpSpPr/>
          <p:nvPr/>
        </p:nvGrpSpPr>
        <p:grpSpPr>
          <a:xfrm>
            <a:off x="57498" y="1371600"/>
            <a:ext cx="3447702" cy="932541"/>
            <a:chOff x="57498" y="1371600"/>
            <a:chExt cx="3447702" cy="932541"/>
          </a:xfrm>
        </p:grpSpPr>
        <p:sp>
          <p:nvSpPr>
            <p:cNvPr id="67" name="TextBox 66"/>
            <p:cNvSpPr txBox="1"/>
            <p:nvPr/>
          </p:nvSpPr>
          <p:spPr>
            <a:xfrm>
              <a:off x="57498" y="1371600"/>
              <a:ext cx="1237902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i="1" dirty="0">
                  <a:solidFill>
                    <a:srgbClr val="FF0000"/>
                  </a:solidFill>
                </a:rPr>
                <a:t>Aggressive prefetching</a:t>
              </a:r>
            </a:p>
          </p:txBody>
        </p:sp>
        <p:cxnSp>
          <p:nvCxnSpPr>
            <p:cNvPr id="68" name="Straight Arrow Connector 67"/>
            <p:cNvCxnSpPr>
              <a:stCxn id="67" idx="3"/>
            </p:cNvCxnSpPr>
            <p:nvPr/>
          </p:nvCxnSpPr>
          <p:spPr bwMode="auto">
            <a:xfrm>
              <a:off x="1295400" y="1663988"/>
              <a:ext cx="2209800" cy="64015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45120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Cache organization and operation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Performance impact of caches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memory mountain</a:t>
            </a:r>
          </a:p>
          <a:p>
            <a:pPr lvl="1"/>
            <a:r>
              <a:rPr lang="en-US" dirty="0"/>
              <a:t>Rearranging loops to improve spatial locality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Using blocking to improve temporal locality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Multiplication Example</a:t>
            </a:r>
          </a:p>
        </p:txBody>
      </p:sp>
      <p:sp>
        <p:nvSpPr>
          <p:cNvPr id="167945" name="Rectangle 9"/>
          <p:cNvSpPr>
            <a:spLocks noGrp="1" noChangeArrowheads="1"/>
          </p:cNvSpPr>
          <p:nvPr>
            <p:ph idx="1"/>
          </p:nvPr>
        </p:nvSpPr>
        <p:spPr>
          <a:xfrm>
            <a:off x="396875" y="1362075"/>
            <a:ext cx="3641725" cy="4972050"/>
          </a:xfrm>
        </p:spPr>
        <p:txBody>
          <a:bodyPr/>
          <a:lstStyle/>
          <a:p>
            <a:r>
              <a:rPr lang="en-US" dirty="0"/>
              <a:t>Description:</a:t>
            </a:r>
          </a:p>
          <a:p>
            <a:pPr lvl="1"/>
            <a:r>
              <a:rPr lang="en-US" dirty="0"/>
              <a:t>Multiply N x N matrices</a:t>
            </a:r>
          </a:p>
          <a:p>
            <a:pPr lvl="1"/>
            <a:r>
              <a:rPr lang="en-US" dirty="0"/>
              <a:t>Matrix elements are </a:t>
            </a:r>
            <a:r>
              <a:rPr lang="en-US" dirty="0">
                <a:latin typeface="Calibri"/>
                <a:cs typeface="Calibri"/>
              </a:rPr>
              <a:t>double</a:t>
            </a:r>
            <a:r>
              <a:rPr lang="en-US" dirty="0">
                <a:latin typeface="+mj-lt"/>
                <a:cs typeface="Courier New"/>
              </a:rPr>
              <a:t>s</a:t>
            </a:r>
            <a:r>
              <a:rPr lang="en-US" dirty="0"/>
              <a:t> (8 bytes)</a:t>
            </a:r>
          </a:p>
          <a:p>
            <a:pPr lvl="1"/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 total operations</a:t>
            </a:r>
          </a:p>
          <a:p>
            <a:pPr lvl="1"/>
            <a:r>
              <a:rPr lang="en-US" dirty="0"/>
              <a:t>N reads per source element</a:t>
            </a:r>
          </a:p>
          <a:p>
            <a:pPr lvl="1"/>
            <a:r>
              <a:rPr lang="en-US" dirty="0"/>
              <a:t>N values summed per destination</a:t>
            </a:r>
          </a:p>
          <a:p>
            <a:pPr lvl="2"/>
            <a:r>
              <a:rPr lang="en-US" dirty="0"/>
              <a:t>but may be able to hold in register</a:t>
            </a:r>
          </a:p>
        </p:txBody>
      </p:sp>
      <p:sp>
        <p:nvSpPr>
          <p:cNvPr id="167940" name="Rectangle 4"/>
          <p:cNvSpPr>
            <a:spLocks noChangeArrowheads="1"/>
          </p:cNvSpPr>
          <p:nvPr/>
        </p:nvSpPr>
        <p:spPr bwMode="auto">
          <a:xfrm>
            <a:off x="4270375" y="1546225"/>
            <a:ext cx="4492625" cy="283436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4998"/>
              </a:schemeClr>
            </a:outerShdw>
          </a:effectLst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/* ijk */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for (i=0; i&lt;n; i++) 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for (j=0; j&lt;n; j++)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sum = 0.0;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for (k=0; k&lt;n; k++) 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  sum += a[i][k] * b[k][j];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c[i][j] = sum;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}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} </a:t>
            </a:r>
          </a:p>
        </p:txBody>
      </p:sp>
      <p:sp>
        <p:nvSpPr>
          <p:cNvPr id="167941" name="Rectangle 5"/>
          <p:cNvSpPr>
            <a:spLocks noChangeArrowheads="1"/>
          </p:cNvSpPr>
          <p:nvPr/>
        </p:nvSpPr>
        <p:spPr bwMode="auto">
          <a:xfrm>
            <a:off x="7162800" y="1295400"/>
            <a:ext cx="1878718" cy="643766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solidFill>
                  <a:srgbClr val="FF0000"/>
                </a:solidFill>
                <a:latin typeface="Comic Sans MS" charset="0"/>
              </a:rPr>
              <a:t>Variable </a:t>
            </a:r>
            <a:r>
              <a:rPr lang="en-US" sz="1800" i="1" dirty="0">
                <a:solidFill>
                  <a:srgbClr val="FF0000"/>
                </a:solidFill>
                <a:latin typeface="Courier New" charset="0"/>
              </a:rPr>
              <a:t>sum</a:t>
            </a:r>
            <a:endParaRPr lang="en-US" sz="1800" b="0" i="1" dirty="0">
              <a:solidFill>
                <a:srgbClr val="FF0000"/>
              </a:solidFill>
              <a:latin typeface="Comic Sans MS" charset="0"/>
            </a:endParaRPr>
          </a:p>
          <a:p>
            <a:pPr algn="l">
              <a:lnSpc>
                <a:spcPct val="100000"/>
              </a:lnSpc>
            </a:pPr>
            <a:r>
              <a:rPr lang="en-US" sz="1800" b="0" i="1" dirty="0">
                <a:solidFill>
                  <a:srgbClr val="FF0000"/>
                </a:solidFill>
                <a:latin typeface="Comic Sans MS" charset="0"/>
              </a:rPr>
              <a:t>held in register</a:t>
            </a:r>
            <a:endParaRPr lang="en-US" sz="1800" b="0" dirty="0">
              <a:solidFill>
                <a:srgbClr val="FF0000"/>
              </a:solidFill>
              <a:latin typeface="Comic Sans MS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348413" y="1933575"/>
            <a:ext cx="1676400" cy="695325"/>
            <a:chOff x="3936" y="2064"/>
            <a:chExt cx="1056" cy="288"/>
          </a:xfrm>
        </p:grpSpPr>
        <p:sp>
          <p:nvSpPr>
            <p:cNvPr id="167942" name="Line 6"/>
            <p:cNvSpPr>
              <a:spLocks noChangeShapeType="1"/>
            </p:cNvSpPr>
            <p:nvPr/>
          </p:nvSpPr>
          <p:spPr bwMode="auto">
            <a:xfrm flipH="1">
              <a:off x="3936" y="2352"/>
              <a:ext cx="9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943" name="Line 7"/>
            <p:cNvSpPr>
              <a:spLocks noChangeShapeType="1"/>
            </p:cNvSpPr>
            <p:nvPr/>
          </p:nvSpPr>
          <p:spPr bwMode="auto">
            <a:xfrm flipH="1">
              <a:off x="4848" y="2064"/>
              <a:ext cx="144" cy="2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58000" y="4022928"/>
            <a:ext cx="189842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matmult</a:t>
            </a: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/</a:t>
            </a: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mm.c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91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Miss Rate Analysis for Matrix Multiply</a:t>
            </a:r>
          </a:p>
        </p:txBody>
      </p:sp>
      <p:sp>
        <p:nvSpPr>
          <p:cNvPr id="168992" name="Rectangle 3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Assume:</a:t>
            </a:r>
          </a:p>
          <a:p>
            <a:pPr lvl="1"/>
            <a:r>
              <a:rPr lang="en-US" dirty="0"/>
              <a:t>Block size = 32B (big enough for four </a:t>
            </a:r>
            <a:r>
              <a:rPr lang="en-US" dirty="0">
                <a:latin typeface="Calibri"/>
                <a:cs typeface="Calibri"/>
              </a:rPr>
              <a:t>doubles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Matrix dimension (N) is very large</a:t>
            </a:r>
          </a:p>
          <a:p>
            <a:pPr lvl="2"/>
            <a:r>
              <a:rPr lang="en-US" dirty="0"/>
              <a:t>Approximate 1/N as 0.0</a:t>
            </a:r>
          </a:p>
          <a:p>
            <a:pPr lvl="1"/>
            <a:r>
              <a:rPr lang="en-US" dirty="0"/>
              <a:t>Cache is not even big enough to hold multiple rows</a:t>
            </a:r>
          </a:p>
          <a:p>
            <a:r>
              <a:rPr lang="en-US" dirty="0"/>
              <a:t>Analysis Method:</a:t>
            </a:r>
          </a:p>
          <a:p>
            <a:pPr lvl="1"/>
            <a:r>
              <a:rPr lang="en-US" dirty="0"/>
              <a:t>Look at access pattern of inner loop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3474621" y="4648200"/>
            <a:ext cx="1295400" cy="1752600"/>
            <a:chOff x="1752600" y="4648200"/>
            <a:chExt cx="1295400" cy="1752600"/>
          </a:xfrm>
        </p:grpSpPr>
        <p:sp>
          <p:nvSpPr>
            <p:cNvPr id="168966" name="Rectangle 6"/>
            <p:cNvSpPr>
              <a:spLocks noChangeArrowheads="1"/>
            </p:cNvSpPr>
            <p:nvPr/>
          </p:nvSpPr>
          <p:spPr bwMode="auto">
            <a:xfrm>
              <a:off x="2139950" y="5111750"/>
              <a:ext cx="908050" cy="7429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ourier New"/>
                <a:cs typeface="Courier New"/>
              </a:endParaRPr>
            </a:p>
          </p:txBody>
        </p:sp>
        <p:sp>
          <p:nvSpPr>
            <p:cNvPr id="168967" name="Rectangle 7"/>
            <p:cNvSpPr>
              <a:spLocks noChangeArrowheads="1"/>
            </p:cNvSpPr>
            <p:nvPr/>
          </p:nvSpPr>
          <p:spPr bwMode="auto">
            <a:xfrm>
              <a:off x="2418650" y="5941700"/>
              <a:ext cx="400750" cy="4591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b="0" dirty="0"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68969" name="Line 9"/>
            <p:cNvSpPr>
              <a:spLocks noChangeShapeType="1"/>
            </p:cNvSpPr>
            <p:nvPr/>
          </p:nvSpPr>
          <p:spPr bwMode="auto">
            <a:xfrm>
              <a:off x="2146300" y="4648200"/>
              <a:ext cx="736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  <p:sp>
          <p:nvSpPr>
            <p:cNvPr id="168970" name="Rectangle 10"/>
            <p:cNvSpPr>
              <a:spLocks noChangeArrowheads="1"/>
            </p:cNvSpPr>
            <p:nvPr/>
          </p:nvSpPr>
          <p:spPr bwMode="auto">
            <a:xfrm>
              <a:off x="2271713" y="4662487"/>
              <a:ext cx="320675" cy="366713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 err="1">
                  <a:latin typeface="Courier New"/>
                  <a:cs typeface="Courier New"/>
                </a:rPr>
                <a:t>k</a:t>
              </a:r>
              <a:endParaRPr lang="en-US" sz="1800" dirty="0">
                <a:latin typeface="Courier New"/>
                <a:cs typeface="Courier New"/>
              </a:endParaRPr>
            </a:p>
          </p:txBody>
        </p:sp>
        <p:sp>
          <p:nvSpPr>
            <p:cNvPr id="168972" name="Line 12"/>
            <p:cNvSpPr>
              <a:spLocks noChangeShapeType="1"/>
            </p:cNvSpPr>
            <p:nvPr/>
          </p:nvSpPr>
          <p:spPr bwMode="auto">
            <a:xfrm>
              <a:off x="1752600" y="5130800"/>
              <a:ext cx="0" cy="736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  <p:sp>
          <p:nvSpPr>
            <p:cNvPr id="168973" name="Rectangle 13"/>
            <p:cNvSpPr>
              <a:spLocks noChangeArrowheads="1"/>
            </p:cNvSpPr>
            <p:nvPr/>
          </p:nvSpPr>
          <p:spPr bwMode="auto">
            <a:xfrm>
              <a:off x="1812337" y="5205414"/>
              <a:ext cx="321263" cy="366767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 err="1">
                  <a:latin typeface="Courier New"/>
                  <a:cs typeface="Courier New"/>
                </a:rPr>
                <a:t>i</a:t>
              </a:r>
              <a:endParaRPr lang="en-US" sz="1800" dirty="0">
                <a:latin typeface="Courier New"/>
                <a:cs typeface="Courier New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956975" y="4648200"/>
            <a:ext cx="1255297" cy="1752600"/>
            <a:chOff x="3505200" y="4648200"/>
            <a:chExt cx="1255297" cy="1752600"/>
          </a:xfrm>
        </p:grpSpPr>
        <p:sp>
          <p:nvSpPr>
            <p:cNvPr id="168976" name="Rectangle 16"/>
            <p:cNvSpPr>
              <a:spLocks noChangeArrowheads="1"/>
            </p:cNvSpPr>
            <p:nvPr/>
          </p:nvSpPr>
          <p:spPr bwMode="auto">
            <a:xfrm>
              <a:off x="4114800" y="5941700"/>
              <a:ext cx="388026" cy="4591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b="0" dirty="0"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68978" name="Line 18"/>
            <p:cNvSpPr>
              <a:spLocks noChangeShapeType="1"/>
            </p:cNvSpPr>
            <p:nvPr/>
          </p:nvSpPr>
          <p:spPr bwMode="auto">
            <a:xfrm>
              <a:off x="3505200" y="5118101"/>
              <a:ext cx="0" cy="736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  <p:sp>
          <p:nvSpPr>
            <p:cNvPr id="168979" name="Rectangle 19"/>
            <p:cNvSpPr>
              <a:spLocks noChangeArrowheads="1"/>
            </p:cNvSpPr>
            <p:nvPr/>
          </p:nvSpPr>
          <p:spPr bwMode="auto">
            <a:xfrm>
              <a:off x="3567113" y="5205414"/>
              <a:ext cx="321263" cy="366767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 err="1">
                  <a:latin typeface="Courier New"/>
                  <a:cs typeface="Courier New"/>
                </a:rPr>
                <a:t>k</a:t>
              </a:r>
              <a:endParaRPr lang="en-US" sz="1800" dirty="0">
                <a:latin typeface="Courier New"/>
                <a:cs typeface="Courier New"/>
              </a:endParaRPr>
            </a:p>
          </p:txBody>
        </p:sp>
        <p:sp>
          <p:nvSpPr>
            <p:cNvPr id="168982" name="Rectangle 22"/>
            <p:cNvSpPr>
              <a:spLocks noChangeArrowheads="1"/>
            </p:cNvSpPr>
            <p:nvPr/>
          </p:nvSpPr>
          <p:spPr bwMode="auto">
            <a:xfrm>
              <a:off x="3948113" y="4648200"/>
              <a:ext cx="320675" cy="366713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 err="1">
                  <a:latin typeface="Courier New"/>
                  <a:cs typeface="Courier New"/>
                </a:rPr>
                <a:t>j</a:t>
              </a:r>
              <a:endParaRPr lang="en-US" sz="1800" dirty="0">
                <a:latin typeface="Courier New"/>
                <a:cs typeface="Courier New"/>
              </a:endParaRPr>
            </a:p>
          </p:txBody>
        </p:sp>
        <p:sp>
          <p:nvSpPr>
            <p:cNvPr id="35" name="Rectangle 6"/>
            <p:cNvSpPr>
              <a:spLocks noChangeArrowheads="1"/>
            </p:cNvSpPr>
            <p:nvPr/>
          </p:nvSpPr>
          <p:spPr bwMode="auto">
            <a:xfrm>
              <a:off x="3852447" y="5111749"/>
              <a:ext cx="908050" cy="7429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  <p:sp>
          <p:nvSpPr>
            <p:cNvPr id="37" name="Line 9"/>
            <p:cNvSpPr>
              <a:spLocks noChangeShapeType="1"/>
            </p:cNvSpPr>
            <p:nvPr/>
          </p:nvSpPr>
          <p:spPr bwMode="auto">
            <a:xfrm>
              <a:off x="3852447" y="4648200"/>
              <a:ext cx="736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920750" y="4648200"/>
            <a:ext cx="1301750" cy="1698624"/>
            <a:chOff x="5334000" y="4648200"/>
            <a:chExt cx="1301750" cy="1698624"/>
          </a:xfrm>
        </p:grpSpPr>
        <p:sp>
          <p:nvSpPr>
            <p:cNvPr id="168964" name="Rectangle 4"/>
            <p:cNvSpPr>
              <a:spLocks noChangeArrowheads="1"/>
            </p:cNvSpPr>
            <p:nvPr/>
          </p:nvSpPr>
          <p:spPr bwMode="auto">
            <a:xfrm>
              <a:off x="6019800" y="5887724"/>
              <a:ext cx="405008" cy="4591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b="0" dirty="0"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68986" name="Line 26"/>
            <p:cNvSpPr>
              <a:spLocks noChangeShapeType="1"/>
            </p:cNvSpPr>
            <p:nvPr/>
          </p:nvSpPr>
          <p:spPr bwMode="auto">
            <a:xfrm>
              <a:off x="5334000" y="5118100"/>
              <a:ext cx="0" cy="736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  <p:sp>
          <p:nvSpPr>
            <p:cNvPr id="168987" name="Rectangle 27"/>
            <p:cNvSpPr>
              <a:spLocks noChangeArrowheads="1"/>
            </p:cNvSpPr>
            <p:nvPr/>
          </p:nvSpPr>
          <p:spPr bwMode="auto">
            <a:xfrm>
              <a:off x="5395913" y="5205413"/>
              <a:ext cx="321263" cy="366767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>
                  <a:latin typeface="Courier New"/>
                  <a:cs typeface="Courier New"/>
                </a:rPr>
                <a:t>i</a:t>
              </a:r>
            </a:p>
          </p:txBody>
        </p:sp>
        <p:sp>
          <p:nvSpPr>
            <p:cNvPr id="168990" name="Rectangle 30"/>
            <p:cNvSpPr>
              <a:spLocks noChangeArrowheads="1"/>
            </p:cNvSpPr>
            <p:nvPr/>
          </p:nvSpPr>
          <p:spPr bwMode="auto">
            <a:xfrm>
              <a:off x="5853113" y="4648200"/>
              <a:ext cx="320675" cy="366713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 err="1">
                  <a:latin typeface="Courier New"/>
                  <a:cs typeface="Courier New"/>
                </a:rPr>
                <a:t>j</a:t>
              </a:r>
              <a:endParaRPr lang="en-US" sz="1800" dirty="0">
                <a:latin typeface="Courier New"/>
                <a:cs typeface="Courier New"/>
              </a:endParaRPr>
            </a:p>
          </p:txBody>
        </p:sp>
        <p:sp>
          <p:nvSpPr>
            <p:cNvPr id="36" name="Rectangle 6"/>
            <p:cNvSpPr>
              <a:spLocks noChangeArrowheads="1"/>
            </p:cNvSpPr>
            <p:nvPr/>
          </p:nvSpPr>
          <p:spPr bwMode="auto">
            <a:xfrm>
              <a:off x="5727700" y="5053425"/>
              <a:ext cx="908050" cy="7429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  <p:sp>
          <p:nvSpPr>
            <p:cNvPr id="38" name="Line 9"/>
            <p:cNvSpPr>
              <a:spLocks noChangeShapeType="1"/>
            </p:cNvSpPr>
            <p:nvPr/>
          </p:nvSpPr>
          <p:spPr bwMode="auto">
            <a:xfrm>
              <a:off x="5727700" y="4662487"/>
              <a:ext cx="736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>
                <a:latin typeface="Courier New"/>
                <a:cs typeface="Courier New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590800" y="4642214"/>
            <a:ext cx="533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Calibri" pitchFamily="34" charset="0"/>
              </a:rPr>
              <a:t>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5400" y="4700538"/>
            <a:ext cx="533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Calibri" pitchFamily="34" charset="0"/>
              </a:rPr>
              <a:t>x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9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Layout of C Arrays in Memory (review)</a:t>
            </a:r>
          </a:p>
        </p:txBody>
      </p:sp>
      <p:sp>
        <p:nvSpPr>
          <p:cNvPr id="169991" name="Rectangle 7"/>
          <p:cNvSpPr>
            <a:spLocks noGrp="1" noChangeArrowheads="1"/>
          </p:cNvSpPr>
          <p:nvPr>
            <p:ph idx="1"/>
          </p:nvPr>
        </p:nvSpPr>
        <p:spPr>
          <a:xfrm>
            <a:off x="396875" y="1362075"/>
            <a:ext cx="8366125" cy="497205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dirty="0"/>
              <a:t>C arrays allocated in row-major order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each row in contiguous memory locations</a:t>
            </a:r>
          </a:p>
          <a:p>
            <a:pPr>
              <a:lnSpc>
                <a:spcPct val="85000"/>
              </a:lnSpc>
            </a:pPr>
            <a:r>
              <a:rPr lang="en-US" dirty="0"/>
              <a:t>Stepping through columns in one row:</a:t>
            </a:r>
          </a:p>
          <a:p>
            <a:pPr lvl="1">
              <a:lnSpc>
                <a:spcPct val="90000"/>
              </a:lnSpc>
            </a:pPr>
            <a:r>
              <a:rPr lang="en-US" b="0" dirty="0">
                <a:latin typeface="Courier New" charset="0"/>
              </a:rPr>
              <a:t>for (</a:t>
            </a:r>
            <a:r>
              <a:rPr lang="en-US" b="0" dirty="0" err="1">
                <a:latin typeface="Courier New" charset="0"/>
              </a:rPr>
              <a:t>i</a:t>
            </a:r>
            <a:r>
              <a:rPr lang="en-US" b="0" dirty="0">
                <a:latin typeface="Courier New" charset="0"/>
              </a:rPr>
              <a:t> = 0; </a:t>
            </a:r>
            <a:r>
              <a:rPr lang="en-US" b="0" dirty="0" err="1">
                <a:latin typeface="Courier New" charset="0"/>
              </a:rPr>
              <a:t>i</a:t>
            </a:r>
            <a:r>
              <a:rPr lang="en-US" b="0" dirty="0">
                <a:latin typeface="Courier New" charset="0"/>
              </a:rPr>
              <a:t> &lt; N; </a:t>
            </a:r>
            <a:r>
              <a:rPr lang="en-US" b="0" dirty="0" err="1">
                <a:latin typeface="Courier New" charset="0"/>
              </a:rPr>
              <a:t>i</a:t>
            </a:r>
            <a:r>
              <a:rPr lang="en-US" b="0" dirty="0">
                <a:latin typeface="Courier New" charset="0"/>
              </a:rPr>
              <a:t>++)</a:t>
            </a:r>
          </a:p>
          <a:p>
            <a:pPr lvl="2">
              <a:lnSpc>
                <a:spcPct val="97000"/>
              </a:lnSpc>
              <a:buFont typeface="Wingdings" charset="2"/>
              <a:buNone/>
            </a:pPr>
            <a:r>
              <a:rPr lang="en-US" sz="2000" b="0" dirty="0">
                <a:solidFill>
                  <a:schemeClr val="tx1"/>
                </a:solidFill>
                <a:latin typeface="Courier New" charset="0"/>
              </a:rPr>
              <a:t>sum += a[0][i];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accesses successive elements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if block size (B) &gt; </a:t>
            </a:r>
            <a:r>
              <a:rPr lang="en-US" dirty="0" err="1">
                <a:latin typeface="Calibri"/>
                <a:cs typeface="Calibri"/>
              </a:rPr>
              <a:t>sizeof</a:t>
            </a:r>
            <a:r>
              <a:rPr lang="en-US" dirty="0">
                <a:latin typeface="Calibri"/>
                <a:cs typeface="Calibri"/>
              </a:rPr>
              <a:t>(</a:t>
            </a:r>
            <a:r>
              <a:rPr lang="en-US" dirty="0" err="1">
                <a:latin typeface="Calibri"/>
                <a:cs typeface="Calibri"/>
              </a:rPr>
              <a:t>a</a:t>
            </a:r>
            <a:r>
              <a:rPr lang="en-US" baseline="-25000" dirty="0" err="1">
                <a:latin typeface="Calibri"/>
                <a:cs typeface="Calibri"/>
              </a:rPr>
              <a:t>ij</a:t>
            </a:r>
            <a:r>
              <a:rPr lang="en-US" dirty="0">
                <a:latin typeface="Calibri"/>
                <a:cs typeface="Calibri"/>
              </a:rPr>
              <a:t>) bytes</a:t>
            </a:r>
            <a:r>
              <a:rPr lang="en-US" dirty="0"/>
              <a:t>, exploit spatial locality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miss rate = </a:t>
            </a:r>
            <a:r>
              <a:rPr lang="en-US" dirty="0" err="1">
                <a:latin typeface="Calibri"/>
                <a:cs typeface="Calibri"/>
              </a:rPr>
              <a:t>sizeof</a:t>
            </a:r>
            <a:r>
              <a:rPr lang="en-US" dirty="0">
                <a:latin typeface="Calibri"/>
                <a:cs typeface="Calibri"/>
              </a:rPr>
              <a:t>(</a:t>
            </a:r>
            <a:r>
              <a:rPr lang="en-US" dirty="0" err="1">
                <a:latin typeface="Calibri"/>
                <a:cs typeface="Calibri"/>
              </a:rPr>
              <a:t>a</a:t>
            </a:r>
            <a:r>
              <a:rPr lang="en-US" baseline="-25000" dirty="0" err="1">
                <a:latin typeface="Calibri"/>
                <a:cs typeface="Calibri"/>
              </a:rPr>
              <a:t>ij</a:t>
            </a:r>
            <a:r>
              <a:rPr lang="en-US" dirty="0">
                <a:latin typeface="Calibri"/>
                <a:cs typeface="Calibri"/>
              </a:rPr>
              <a:t>) </a:t>
            </a:r>
            <a:r>
              <a:rPr lang="en-US" dirty="0"/>
              <a:t>/ B</a:t>
            </a:r>
          </a:p>
          <a:p>
            <a:pPr>
              <a:lnSpc>
                <a:spcPct val="85000"/>
              </a:lnSpc>
            </a:pPr>
            <a:r>
              <a:rPr lang="en-US" dirty="0"/>
              <a:t>Stepping through rows in one column:</a:t>
            </a:r>
          </a:p>
          <a:p>
            <a:pPr lvl="1">
              <a:lnSpc>
                <a:spcPct val="90000"/>
              </a:lnSpc>
            </a:pPr>
            <a:r>
              <a:rPr lang="en-US" b="0" dirty="0">
                <a:latin typeface="Courier New" charset="0"/>
              </a:rPr>
              <a:t>for (</a:t>
            </a:r>
            <a:r>
              <a:rPr lang="en-US" b="0" dirty="0" err="1">
                <a:latin typeface="Courier New" charset="0"/>
              </a:rPr>
              <a:t>i</a:t>
            </a:r>
            <a:r>
              <a:rPr lang="en-US" b="0" dirty="0">
                <a:latin typeface="Courier New" charset="0"/>
              </a:rPr>
              <a:t> = 0; </a:t>
            </a:r>
            <a:r>
              <a:rPr lang="en-US" b="0" dirty="0" err="1">
                <a:latin typeface="Courier New" charset="0"/>
              </a:rPr>
              <a:t>i</a:t>
            </a:r>
            <a:r>
              <a:rPr lang="en-US" b="0" dirty="0">
                <a:latin typeface="Courier New" charset="0"/>
              </a:rPr>
              <a:t> &lt; </a:t>
            </a:r>
            <a:r>
              <a:rPr lang="en-US" b="0" dirty="0" err="1">
                <a:latin typeface="Courier New" charset="0"/>
              </a:rPr>
              <a:t>n</a:t>
            </a:r>
            <a:r>
              <a:rPr lang="en-US" b="0" dirty="0">
                <a:latin typeface="Courier New" charset="0"/>
              </a:rPr>
              <a:t>; </a:t>
            </a:r>
            <a:r>
              <a:rPr lang="en-US" b="0" dirty="0" err="1">
                <a:latin typeface="Courier New" charset="0"/>
              </a:rPr>
              <a:t>i</a:t>
            </a:r>
            <a:r>
              <a:rPr lang="en-US" b="0" dirty="0">
                <a:latin typeface="Courier New" charset="0"/>
              </a:rPr>
              <a:t>++)</a:t>
            </a:r>
          </a:p>
          <a:p>
            <a:pPr lvl="2">
              <a:lnSpc>
                <a:spcPct val="97000"/>
              </a:lnSpc>
              <a:buFont typeface="Wingdings" charset="2"/>
              <a:buNone/>
            </a:pPr>
            <a:r>
              <a:rPr lang="en-US" sz="2000" b="0" dirty="0">
                <a:solidFill>
                  <a:schemeClr val="tx1"/>
                </a:solidFill>
                <a:latin typeface="Courier New" charset="0"/>
              </a:rPr>
              <a:t>sum += a[i][0];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accesses distant elements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no spatial locality!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miss rate = 1 (i.e. 100%)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36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Multiplication (ijk)</a:t>
            </a:r>
          </a:p>
        </p:txBody>
      </p:sp>
      <p:sp>
        <p:nvSpPr>
          <p:cNvPr id="171011" name="Rectangle 3"/>
          <p:cNvSpPr>
            <a:spLocks noChangeArrowheads="1"/>
          </p:cNvSpPr>
          <p:nvPr/>
        </p:nvSpPr>
        <p:spPr bwMode="auto">
          <a:xfrm>
            <a:off x="527050" y="1765300"/>
            <a:ext cx="4492625" cy="283436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4998"/>
              </a:schemeClr>
            </a:outerShdw>
          </a:effectLst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/* </a:t>
            </a:r>
            <a:r>
              <a:rPr lang="en-US" sz="1800" dirty="0" err="1">
                <a:latin typeface="Courier New" charset="0"/>
              </a:rPr>
              <a:t>ijk</a:t>
            </a:r>
            <a:r>
              <a:rPr lang="en-US" sz="1800" dirty="0">
                <a:latin typeface="Courier New" charset="0"/>
              </a:rPr>
              <a:t> */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for (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=0;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&lt;</a:t>
            </a:r>
            <a:r>
              <a:rPr lang="en-US" sz="1800" dirty="0" err="1">
                <a:latin typeface="Courier New" charset="0"/>
              </a:rPr>
              <a:t>n</a:t>
            </a:r>
            <a:r>
              <a:rPr lang="en-US" sz="1800" dirty="0">
                <a:latin typeface="Courier New" charset="0"/>
              </a:rPr>
              <a:t>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++) 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for (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=0;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&lt;</a:t>
            </a:r>
            <a:r>
              <a:rPr lang="en-US" sz="1800" dirty="0" err="1">
                <a:latin typeface="Courier New" charset="0"/>
              </a:rPr>
              <a:t>n</a:t>
            </a:r>
            <a:r>
              <a:rPr lang="en-US" sz="1800" dirty="0">
                <a:latin typeface="Courier New" charset="0"/>
              </a:rPr>
              <a:t>;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sum = 0.0;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for (</a:t>
            </a:r>
            <a:r>
              <a:rPr lang="en-US" sz="1800" dirty="0" err="1">
                <a:latin typeface="Courier New" charset="0"/>
              </a:rPr>
              <a:t>k</a:t>
            </a:r>
            <a:r>
              <a:rPr lang="en-US" sz="1800" dirty="0">
                <a:latin typeface="Courier New" charset="0"/>
              </a:rPr>
              <a:t>=0; </a:t>
            </a:r>
            <a:r>
              <a:rPr lang="en-US" sz="1800" dirty="0" err="1">
                <a:latin typeface="Courier New" charset="0"/>
              </a:rPr>
              <a:t>k</a:t>
            </a:r>
            <a:r>
              <a:rPr lang="en-US" sz="1800" dirty="0">
                <a:latin typeface="Courier New" charset="0"/>
              </a:rPr>
              <a:t>&lt;</a:t>
            </a:r>
            <a:r>
              <a:rPr lang="en-US" sz="1800" dirty="0" err="1">
                <a:latin typeface="Courier New" charset="0"/>
              </a:rPr>
              <a:t>n</a:t>
            </a:r>
            <a:r>
              <a:rPr lang="en-US" sz="1800" dirty="0">
                <a:latin typeface="Courier New" charset="0"/>
              </a:rPr>
              <a:t>; </a:t>
            </a:r>
            <a:r>
              <a:rPr lang="en-US" sz="1800" dirty="0" err="1">
                <a:latin typeface="Courier New" charset="0"/>
              </a:rPr>
              <a:t>k</a:t>
            </a:r>
            <a:r>
              <a:rPr lang="en-US" sz="1800" dirty="0">
                <a:latin typeface="Courier New" charset="0"/>
              </a:rPr>
              <a:t>++) 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  </a:t>
            </a:r>
            <a:r>
              <a:rPr lang="en-US" sz="1800" dirty="0">
                <a:solidFill>
                  <a:srgbClr val="FF0000"/>
                </a:solidFill>
                <a:latin typeface="Courier New" charset="0"/>
              </a:rPr>
              <a:t>sum += </a:t>
            </a:r>
            <a:r>
              <a:rPr lang="en-US" sz="1800" dirty="0" err="1">
                <a:solidFill>
                  <a:srgbClr val="FF0000"/>
                </a:solidFill>
                <a:latin typeface="Courier New" charset="0"/>
              </a:rPr>
              <a:t>a[i][k</a:t>
            </a:r>
            <a:r>
              <a:rPr lang="en-US" sz="1800" dirty="0">
                <a:solidFill>
                  <a:srgbClr val="FF0000"/>
                </a:solidFill>
                <a:latin typeface="Courier New" charset="0"/>
              </a:rPr>
              <a:t>] * </a:t>
            </a:r>
            <a:r>
              <a:rPr lang="en-US" sz="1800" dirty="0" err="1">
                <a:solidFill>
                  <a:srgbClr val="FF0000"/>
                </a:solidFill>
                <a:latin typeface="Courier New" charset="0"/>
              </a:rPr>
              <a:t>b[k][j</a:t>
            </a:r>
            <a:r>
              <a:rPr lang="en-US" sz="1800" dirty="0">
                <a:solidFill>
                  <a:srgbClr val="FF0000"/>
                </a:solidFill>
                <a:latin typeface="Courier New" charset="0"/>
              </a:rPr>
              <a:t>];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</a:t>
            </a:r>
            <a:r>
              <a:rPr lang="en-US" sz="1800" dirty="0" err="1">
                <a:latin typeface="Courier New" charset="0"/>
              </a:rPr>
              <a:t>c[i][j</a:t>
            </a:r>
            <a:r>
              <a:rPr lang="en-US" sz="1800" dirty="0">
                <a:latin typeface="Courier New" charset="0"/>
              </a:rPr>
              <a:t>] = sum;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}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} </a:t>
            </a:r>
          </a:p>
        </p:txBody>
      </p:sp>
      <p:sp>
        <p:nvSpPr>
          <p:cNvPr id="171012" name="Rectangle 4"/>
          <p:cNvSpPr>
            <a:spLocks noChangeArrowheads="1"/>
          </p:cNvSpPr>
          <p:nvPr/>
        </p:nvSpPr>
        <p:spPr bwMode="auto">
          <a:xfrm>
            <a:off x="5492750" y="258762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1013" name="Rectangle 5"/>
          <p:cNvSpPr>
            <a:spLocks noChangeArrowheads="1"/>
          </p:cNvSpPr>
          <p:nvPr/>
        </p:nvSpPr>
        <p:spPr bwMode="auto">
          <a:xfrm>
            <a:off x="6711950" y="258762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1014" name="Rectangle 6"/>
          <p:cNvSpPr>
            <a:spLocks noChangeArrowheads="1"/>
          </p:cNvSpPr>
          <p:nvPr/>
        </p:nvSpPr>
        <p:spPr bwMode="auto">
          <a:xfrm>
            <a:off x="7854950" y="258762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1015" name="Rectangle 7"/>
          <p:cNvSpPr>
            <a:spLocks noChangeArrowheads="1"/>
          </p:cNvSpPr>
          <p:nvPr/>
        </p:nvSpPr>
        <p:spPr bwMode="auto">
          <a:xfrm>
            <a:off x="5624513" y="3168650"/>
            <a:ext cx="336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A</a:t>
            </a:r>
          </a:p>
        </p:txBody>
      </p:sp>
      <p:sp>
        <p:nvSpPr>
          <p:cNvPr id="171016" name="Rectangle 8"/>
          <p:cNvSpPr>
            <a:spLocks noChangeArrowheads="1"/>
          </p:cNvSpPr>
          <p:nvPr/>
        </p:nvSpPr>
        <p:spPr bwMode="auto">
          <a:xfrm>
            <a:off x="6843713" y="3168650"/>
            <a:ext cx="32225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</a:t>
            </a:r>
          </a:p>
        </p:txBody>
      </p:sp>
      <p:sp>
        <p:nvSpPr>
          <p:cNvPr id="171017" name="Rectangle 9"/>
          <p:cNvSpPr>
            <a:spLocks noChangeArrowheads="1"/>
          </p:cNvSpPr>
          <p:nvPr/>
        </p:nvSpPr>
        <p:spPr bwMode="auto">
          <a:xfrm>
            <a:off x="7986713" y="3168650"/>
            <a:ext cx="319498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C</a:t>
            </a:r>
          </a:p>
        </p:txBody>
      </p:sp>
      <p:sp>
        <p:nvSpPr>
          <p:cNvPr id="171018" name="Line 10"/>
          <p:cNvSpPr>
            <a:spLocks noChangeShapeType="1"/>
          </p:cNvSpPr>
          <p:nvPr/>
        </p:nvSpPr>
        <p:spPr bwMode="auto">
          <a:xfrm>
            <a:off x="6934200" y="2593975"/>
            <a:ext cx="0" cy="508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1019" name="Line 11"/>
          <p:cNvSpPr>
            <a:spLocks noChangeShapeType="1"/>
          </p:cNvSpPr>
          <p:nvPr/>
        </p:nvSpPr>
        <p:spPr bwMode="auto">
          <a:xfrm>
            <a:off x="5499100" y="2962275"/>
            <a:ext cx="584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1020" name="Rectangle 12"/>
          <p:cNvSpPr>
            <a:spLocks noChangeArrowheads="1"/>
          </p:cNvSpPr>
          <p:nvPr/>
        </p:nvSpPr>
        <p:spPr bwMode="auto">
          <a:xfrm>
            <a:off x="6081713" y="2787650"/>
            <a:ext cx="588877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(i,*)</a:t>
            </a:r>
          </a:p>
        </p:txBody>
      </p:sp>
      <p:sp>
        <p:nvSpPr>
          <p:cNvPr id="171021" name="Rectangle 13"/>
          <p:cNvSpPr>
            <a:spLocks noChangeArrowheads="1"/>
          </p:cNvSpPr>
          <p:nvPr/>
        </p:nvSpPr>
        <p:spPr bwMode="auto">
          <a:xfrm>
            <a:off x="6691313" y="2254250"/>
            <a:ext cx="591382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(*,j)</a:t>
            </a:r>
          </a:p>
        </p:txBody>
      </p:sp>
      <p:sp>
        <p:nvSpPr>
          <p:cNvPr id="171022" name="Rectangle 14"/>
          <p:cNvSpPr>
            <a:spLocks noChangeArrowheads="1"/>
          </p:cNvSpPr>
          <p:nvPr/>
        </p:nvSpPr>
        <p:spPr bwMode="auto">
          <a:xfrm>
            <a:off x="8013700" y="2898775"/>
            <a:ext cx="50800" cy="50800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1023" name="Rectangle 15"/>
          <p:cNvSpPr>
            <a:spLocks noChangeArrowheads="1"/>
          </p:cNvSpPr>
          <p:nvPr/>
        </p:nvSpPr>
        <p:spPr bwMode="auto">
          <a:xfrm>
            <a:off x="7834313" y="2559050"/>
            <a:ext cx="52250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(i,j)</a:t>
            </a:r>
          </a:p>
        </p:txBody>
      </p:sp>
      <p:sp>
        <p:nvSpPr>
          <p:cNvPr id="171024" name="Rectangle 16"/>
          <p:cNvSpPr>
            <a:spLocks noChangeArrowheads="1"/>
          </p:cNvSpPr>
          <p:nvPr/>
        </p:nvSpPr>
        <p:spPr bwMode="auto">
          <a:xfrm>
            <a:off x="5395913" y="1797050"/>
            <a:ext cx="1324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Inner loop:</a:t>
            </a:r>
          </a:p>
        </p:txBody>
      </p:sp>
      <p:sp>
        <p:nvSpPr>
          <p:cNvPr id="171026" name="Rectangle 18"/>
          <p:cNvSpPr>
            <a:spLocks noChangeArrowheads="1"/>
          </p:cNvSpPr>
          <p:nvPr/>
        </p:nvSpPr>
        <p:spPr bwMode="auto">
          <a:xfrm>
            <a:off x="6434138" y="4256088"/>
            <a:ext cx="1067599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Column-</a:t>
            </a:r>
          </a:p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wise</a:t>
            </a:r>
          </a:p>
        </p:txBody>
      </p:sp>
      <p:sp>
        <p:nvSpPr>
          <p:cNvPr id="171027" name="Line 19"/>
          <p:cNvSpPr>
            <a:spLocks noChangeShapeType="1"/>
          </p:cNvSpPr>
          <p:nvPr/>
        </p:nvSpPr>
        <p:spPr bwMode="auto">
          <a:xfrm flipV="1">
            <a:off x="6991351" y="3592513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1028" name="Rectangle 20"/>
          <p:cNvSpPr>
            <a:spLocks noChangeArrowheads="1"/>
          </p:cNvSpPr>
          <p:nvPr/>
        </p:nvSpPr>
        <p:spPr bwMode="auto">
          <a:xfrm>
            <a:off x="5214938" y="4256088"/>
            <a:ext cx="1177605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Row-wise</a:t>
            </a:r>
          </a:p>
        </p:txBody>
      </p:sp>
      <p:sp>
        <p:nvSpPr>
          <p:cNvPr id="171029" name="Line 21"/>
          <p:cNvSpPr>
            <a:spLocks noChangeShapeType="1"/>
          </p:cNvSpPr>
          <p:nvPr/>
        </p:nvSpPr>
        <p:spPr bwMode="auto">
          <a:xfrm flipV="1">
            <a:off x="5772150" y="3592513"/>
            <a:ext cx="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1031" name="Rectangle 23"/>
          <p:cNvSpPr>
            <a:spLocks noChangeArrowheads="1"/>
          </p:cNvSpPr>
          <p:nvPr/>
        </p:nvSpPr>
        <p:spPr bwMode="auto">
          <a:xfrm>
            <a:off x="7808266" y="4256088"/>
            <a:ext cx="726134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Fixed</a:t>
            </a:r>
          </a:p>
        </p:txBody>
      </p:sp>
      <p:sp>
        <p:nvSpPr>
          <p:cNvPr id="171032" name="Line 24"/>
          <p:cNvSpPr>
            <a:spLocks noChangeShapeType="1"/>
          </p:cNvSpPr>
          <p:nvPr/>
        </p:nvSpPr>
        <p:spPr bwMode="auto">
          <a:xfrm flipV="1">
            <a:off x="8147051" y="3592513"/>
            <a:ext cx="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1039" name="Rectangle 31"/>
          <p:cNvSpPr>
            <a:spLocks noChangeArrowheads="1"/>
          </p:cNvSpPr>
          <p:nvPr/>
        </p:nvSpPr>
        <p:spPr bwMode="auto">
          <a:xfrm>
            <a:off x="290513" y="4964113"/>
            <a:ext cx="5073650" cy="12176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</a:bodyPr>
          <a:lstStyle/>
          <a:p>
            <a:pPr marL="223838" indent="-223838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u="sng" dirty="0">
                <a:latin typeface="Calibri"/>
                <a:cs typeface="Calibri"/>
              </a:rPr>
              <a:t>Misses </a:t>
            </a:r>
            <a:r>
              <a:rPr lang="en-US" b="0" u="sng" dirty="0">
                <a:latin typeface="Calibri"/>
                <a:cs typeface="Calibri"/>
              </a:rPr>
              <a:t>per inner loop iteration</a:t>
            </a:r>
            <a:r>
              <a:rPr lang="en-US" sz="2400" b="0" u="sng" dirty="0">
                <a:latin typeface="Calibri"/>
                <a:cs typeface="Calibri"/>
              </a:rPr>
              <a:t>:</a:t>
            </a: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dirty="0">
                <a:latin typeface="Calibri"/>
                <a:cs typeface="Calibri"/>
              </a:rPr>
              <a:t>		</a:t>
            </a:r>
            <a:r>
              <a:rPr lang="en-US" sz="2400" b="0" u="sng" dirty="0">
                <a:latin typeface="Calibri"/>
                <a:cs typeface="Calibri"/>
              </a:rPr>
              <a:t>A</a:t>
            </a:r>
            <a:r>
              <a:rPr lang="en-US" sz="2400" b="0" dirty="0">
                <a:latin typeface="Calibri"/>
                <a:cs typeface="Calibri"/>
              </a:rPr>
              <a:t>	</a:t>
            </a:r>
            <a:r>
              <a:rPr lang="en-US" sz="2400" b="0" u="sng" dirty="0">
                <a:latin typeface="Calibri"/>
                <a:cs typeface="Calibri"/>
              </a:rPr>
              <a:t>B</a:t>
            </a:r>
            <a:r>
              <a:rPr lang="en-US" sz="2400" b="0" dirty="0">
                <a:latin typeface="Calibri"/>
                <a:cs typeface="Calibri"/>
              </a:rPr>
              <a:t>	</a:t>
            </a:r>
            <a:r>
              <a:rPr lang="en-US" sz="2400" b="0" u="sng" dirty="0">
                <a:latin typeface="Calibri"/>
                <a:cs typeface="Calibri"/>
              </a:rPr>
              <a:t>C</a:t>
            </a:r>
            <a:endParaRPr lang="en-US" sz="2400" b="0" dirty="0">
              <a:latin typeface="Calibri"/>
              <a:cs typeface="Calibri"/>
            </a:endParaRP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dirty="0">
                <a:latin typeface="Calibri"/>
                <a:cs typeface="Calibri"/>
              </a:rPr>
              <a:t>		0.25	1.0	0.0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3121249" y="4219576"/>
            <a:ext cx="189842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matmult</a:t>
            </a: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/</a:t>
            </a: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mm.c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59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Multiplication (jik)</a:t>
            </a:r>
          </a:p>
        </p:txBody>
      </p:sp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300038" y="1779588"/>
            <a:ext cx="4721225" cy="283436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tx1">
                <a:alpha val="74998"/>
              </a:schemeClr>
            </a:outerShdw>
          </a:effectLst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/* jik */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for (j=0; j&lt;n; j++)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for (i=0; i&lt;n; i++)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sum = 0.0;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for (k=0; k&lt;n; k++)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  </a:t>
            </a:r>
            <a:r>
              <a:rPr lang="en-US" sz="1800">
                <a:solidFill>
                  <a:srgbClr val="FF0000"/>
                </a:solidFill>
                <a:latin typeface="Courier New" charset="0"/>
              </a:rPr>
              <a:t>sum += a[i][k] * b[k][j];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c[i][j] = sum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}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}</a:t>
            </a:r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>
            <a:off x="5568950" y="2654300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2037" name="Rectangle 5"/>
          <p:cNvSpPr>
            <a:spLocks noChangeArrowheads="1"/>
          </p:cNvSpPr>
          <p:nvPr/>
        </p:nvSpPr>
        <p:spPr bwMode="auto">
          <a:xfrm>
            <a:off x="6788150" y="2654300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2038" name="Rectangle 6"/>
          <p:cNvSpPr>
            <a:spLocks noChangeArrowheads="1"/>
          </p:cNvSpPr>
          <p:nvPr/>
        </p:nvSpPr>
        <p:spPr bwMode="auto">
          <a:xfrm>
            <a:off x="7931150" y="2654300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5700713" y="3235325"/>
            <a:ext cx="336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A</a:t>
            </a:r>
          </a:p>
        </p:txBody>
      </p:sp>
      <p:sp>
        <p:nvSpPr>
          <p:cNvPr id="172040" name="Rectangle 8"/>
          <p:cNvSpPr>
            <a:spLocks noChangeArrowheads="1"/>
          </p:cNvSpPr>
          <p:nvPr/>
        </p:nvSpPr>
        <p:spPr bwMode="auto">
          <a:xfrm>
            <a:off x="6919913" y="3235325"/>
            <a:ext cx="32225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</a:t>
            </a:r>
          </a:p>
        </p:txBody>
      </p:sp>
      <p:sp>
        <p:nvSpPr>
          <p:cNvPr id="172041" name="Rectangle 9"/>
          <p:cNvSpPr>
            <a:spLocks noChangeArrowheads="1"/>
          </p:cNvSpPr>
          <p:nvPr/>
        </p:nvSpPr>
        <p:spPr bwMode="auto">
          <a:xfrm>
            <a:off x="8077200" y="3235325"/>
            <a:ext cx="319498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C</a:t>
            </a:r>
          </a:p>
        </p:txBody>
      </p:sp>
      <p:sp>
        <p:nvSpPr>
          <p:cNvPr id="172042" name="Line 10"/>
          <p:cNvSpPr>
            <a:spLocks noChangeShapeType="1"/>
          </p:cNvSpPr>
          <p:nvPr/>
        </p:nvSpPr>
        <p:spPr bwMode="auto">
          <a:xfrm>
            <a:off x="7010400" y="2660650"/>
            <a:ext cx="0" cy="508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2043" name="Line 11"/>
          <p:cNvSpPr>
            <a:spLocks noChangeShapeType="1"/>
          </p:cNvSpPr>
          <p:nvPr/>
        </p:nvSpPr>
        <p:spPr bwMode="auto">
          <a:xfrm>
            <a:off x="5575300" y="3028950"/>
            <a:ext cx="584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2044" name="Rectangle 12"/>
          <p:cNvSpPr>
            <a:spLocks noChangeArrowheads="1"/>
          </p:cNvSpPr>
          <p:nvPr/>
        </p:nvSpPr>
        <p:spPr bwMode="auto">
          <a:xfrm>
            <a:off x="6157913" y="2854325"/>
            <a:ext cx="588877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(i,*)</a:t>
            </a:r>
          </a:p>
        </p:txBody>
      </p:sp>
      <p:sp>
        <p:nvSpPr>
          <p:cNvPr id="172045" name="Rectangle 13"/>
          <p:cNvSpPr>
            <a:spLocks noChangeArrowheads="1"/>
          </p:cNvSpPr>
          <p:nvPr/>
        </p:nvSpPr>
        <p:spPr bwMode="auto">
          <a:xfrm>
            <a:off x="6767513" y="2320925"/>
            <a:ext cx="591382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(*,j)</a:t>
            </a:r>
          </a:p>
        </p:txBody>
      </p:sp>
      <p:sp>
        <p:nvSpPr>
          <p:cNvPr id="172046" name="Rectangle 14"/>
          <p:cNvSpPr>
            <a:spLocks noChangeArrowheads="1"/>
          </p:cNvSpPr>
          <p:nvPr/>
        </p:nvSpPr>
        <p:spPr bwMode="auto">
          <a:xfrm>
            <a:off x="8089900" y="2965450"/>
            <a:ext cx="50800" cy="50800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2047" name="Rectangle 15"/>
          <p:cNvSpPr>
            <a:spLocks noChangeArrowheads="1"/>
          </p:cNvSpPr>
          <p:nvPr/>
        </p:nvSpPr>
        <p:spPr bwMode="auto">
          <a:xfrm>
            <a:off x="7910513" y="2625725"/>
            <a:ext cx="52250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(i,j)</a:t>
            </a:r>
          </a:p>
        </p:txBody>
      </p:sp>
      <p:sp>
        <p:nvSpPr>
          <p:cNvPr id="172048" name="Rectangle 16"/>
          <p:cNvSpPr>
            <a:spLocks noChangeArrowheads="1"/>
          </p:cNvSpPr>
          <p:nvPr/>
        </p:nvSpPr>
        <p:spPr bwMode="auto">
          <a:xfrm>
            <a:off x="5548313" y="1787525"/>
            <a:ext cx="1324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Inner loop:</a:t>
            </a:r>
          </a:p>
        </p:txBody>
      </p:sp>
      <p:sp>
        <p:nvSpPr>
          <p:cNvPr id="172050" name="Rectangle 18"/>
          <p:cNvSpPr>
            <a:spLocks noChangeArrowheads="1"/>
          </p:cNvSpPr>
          <p:nvPr/>
        </p:nvSpPr>
        <p:spPr bwMode="auto">
          <a:xfrm>
            <a:off x="5334000" y="4244975"/>
            <a:ext cx="1177605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Row-wise</a:t>
            </a:r>
          </a:p>
        </p:txBody>
      </p:sp>
      <p:sp>
        <p:nvSpPr>
          <p:cNvPr id="172051" name="Line 19"/>
          <p:cNvSpPr>
            <a:spLocks noChangeShapeType="1"/>
          </p:cNvSpPr>
          <p:nvPr/>
        </p:nvSpPr>
        <p:spPr bwMode="auto">
          <a:xfrm flipV="1">
            <a:off x="5891213" y="3581400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72053" name="Rectangle 21"/>
          <p:cNvSpPr>
            <a:spLocks noChangeArrowheads="1"/>
          </p:cNvSpPr>
          <p:nvPr/>
        </p:nvSpPr>
        <p:spPr bwMode="auto">
          <a:xfrm>
            <a:off x="6535738" y="4244975"/>
            <a:ext cx="1067599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Column-</a:t>
            </a:r>
          </a:p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wise</a:t>
            </a:r>
          </a:p>
        </p:txBody>
      </p:sp>
      <p:sp>
        <p:nvSpPr>
          <p:cNvPr id="172054" name="Line 22"/>
          <p:cNvSpPr>
            <a:spLocks noChangeShapeType="1"/>
          </p:cNvSpPr>
          <p:nvPr/>
        </p:nvSpPr>
        <p:spPr bwMode="auto">
          <a:xfrm flipV="1">
            <a:off x="7092951" y="3581400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72056" name="Rectangle 24"/>
          <p:cNvSpPr>
            <a:spLocks noChangeArrowheads="1"/>
          </p:cNvSpPr>
          <p:nvPr/>
        </p:nvSpPr>
        <p:spPr bwMode="auto">
          <a:xfrm>
            <a:off x="7884466" y="4244975"/>
            <a:ext cx="726134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Fixed</a:t>
            </a:r>
          </a:p>
        </p:txBody>
      </p:sp>
      <p:sp>
        <p:nvSpPr>
          <p:cNvPr id="172057" name="Line 25"/>
          <p:cNvSpPr>
            <a:spLocks noChangeShapeType="1"/>
          </p:cNvSpPr>
          <p:nvPr/>
        </p:nvSpPr>
        <p:spPr bwMode="auto">
          <a:xfrm flipV="1">
            <a:off x="8223251" y="3587750"/>
            <a:ext cx="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72058" name="Rectangle 26"/>
          <p:cNvSpPr>
            <a:spLocks noChangeArrowheads="1"/>
          </p:cNvSpPr>
          <p:nvPr/>
        </p:nvSpPr>
        <p:spPr bwMode="auto">
          <a:xfrm>
            <a:off x="444500" y="4868863"/>
            <a:ext cx="5446713" cy="1227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</a:bodyPr>
          <a:lstStyle/>
          <a:p>
            <a:pPr marL="223838" indent="-223838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u="sng" dirty="0">
                <a:latin typeface="Calibri"/>
                <a:cs typeface="Calibri"/>
              </a:rPr>
              <a:t>Misses per inner loop iteration:</a:t>
            </a: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dirty="0">
                <a:latin typeface="Calibri"/>
                <a:cs typeface="Calibri"/>
              </a:rPr>
              <a:t>		</a:t>
            </a:r>
            <a:r>
              <a:rPr lang="en-US" sz="2400" b="0" u="sng" dirty="0">
                <a:latin typeface="Calibri"/>
                <a:cs typeface="Calibri"/>
              </a:rPr>
              <a:t>A</a:t>
            </a:r>
            <a:r>
              <a:rPr lang="en-US" sz="2400" b="0" dirty="0">
                <a:latin typeface="Calibri"/>
                <a:cs typeface="Calibri"/>
              </a:rPr>
              <a:t>	</a:t>
            </a:r>
            <a:r>
              <a:rPr lang="en-US" sz="2400" b="0" u="sng" dirty="0">
                <a:latin typeface="Calibri"/>
                <a:cs typeface="Calibri"/>
              </a:rPr>
              <a:t>B</a:t>
            </a:r>
            <a:r>
              <a:rPr lang="en-US" sz="2400" b="0" dirty="0">
                <a:latin typeface="Calibri"/>
                <a:cs typeface="Calibri"/>
              </a:rPr>
              <a:t>	</a:t>
            </a:r>
            <a:r>
              <a:rPr lang="en-US" sz="2400" b="0" u="sng" dirty="0">
                <a:latin typeface="Calibri"/>
                <a:cs typeface="Calibri"/>
              </a:rPr>
              <a:t>C</a:t>
            </a:r>
            <a:endParaRPr lang="en-US" sz="2400" b="0" dirty="0">
              <a:latin typeface="Calibri"/>
              <a:cs typeface="Calibri"/>
            </a:endParaRP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dirty="0">
                <a:latin typeface="Calibri"/>
                <a:cs typeface="Calibri"/>
              </a:rPr>
              <a:t>		0.25	1.0	0.0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3122837" y="4256291"/>
            <a:ext cx="189842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matmult</a:t>
            </a: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/</a:t>
            </a: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mm.c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5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83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Multiplication (kij)</a:t>
            </a:r>
          </a:p>
        </p:txBody>
      </p:sp>
      <p:sp>
        <p:nvSpPr>
          <p:cNvPr id="173059" name="Rectangle 3"/>
          <p:cNvSpPr>
            <a:spLocks noChangeArrowheads="1"/>
          </p:cNvSpPr>
          <p:nvPr/>
        </p:nvSpPr>
        <p:spPr bwMode="auto">
          <a:xfrm>
            <a:off x="452438" y="1770063"/>
            <a:ext cx="4264025" cy="251581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/* </a:t>
            </a:r>
            <a:r>
              <a:rPr lang="en-US" sz="1800" dirty="0" err="1">
                <a:latin typeface="Courier New" charset="0"/>
              </a:rPr>
              <a:t>kij</a:t>
            </a:r>
            <a:r>
              <a:rPr lang="en-US" sz="1800" dirty="0">
                <a:latin typeface="Courier New" charset="0"/>
              </a:rPr>
              <a:t> */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for (k=0; k&lt;n; k++)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for (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=0;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&lt;n;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r = a[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][k];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for (j=0; j&lt;n; j++)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  </a:t>
            </a:r>
            <a:r>
              <a:rPr lang="en-US" sz="1800" dirty="0">
                <a:solidFill>
                  <a:srgbClr val="FF0000"/>
                </a:solidFill>
                <a:latin typeface="Courier New" charset="0"/>
              </a:rPr>
              <a:t>c[</a:t>
            </a:r>
            <a:r>
              <a:rPr lang="en-US" sz="1800" dirty="0" err="1">
                <a:solidFill>
                  <a:srgbClr val="FF0000"/>
                </a:solidFill>
                <a:latin typeface="Courier New" charset="0"/>
              </a:rPr>
              <a:t>i</a:t>
            </a:r>
            <a:r>
              <a:rPr lang="en-US" sz="1800" dirty="0">
                <a:solidFill>
                  <a:srgbClr val="FF0000"/>
                </a:solidFill>
                <a:latin typeface="Courier New" charset="0"/>
              </a:rPr>
              <a:t>][j] += r * b[k][j];</a:t>
            </a:r>
            <a:r>
              <a:rPr lang="en-US" sz="1800" dirty="0">
                <a:latin typeface="Courier New" charset="0"/>
              </a:rPr>
              <a:t>   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}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}</a:t>
            </a:r>
          </a:p>
        </p:txBody>
      </p:sp>
      <p:sp>
        <p:nvSpPr>
          <p:cNvPr id="173060" name="Rectangle 4"/>
          <p:cNvSpPr>
            <a:spLocks noChangeArrowheads="1"/>
          </p:cNvSpPr>
          <p:nvPr/>
        </p:nvSpPr>
        <p:spPr bwMode="auto">
          <a:xfrm>
            <a:off x="5340350" y="237807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3061" name="Rectangle 5"/>
          <p:cNvSpPr>
            <a:spLocks noChangeArrowheads="1"/>
          </p:cNvSpPr>
          <p:nvPr/>
        </p:nvSpPr>
        <p:spPr bwMode="auto">
          <a:xfrm>
            <a:off x="6559550" y="237807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3062" name="Rectangle 6"/>
          <p:cNvSpPr>
            <a:spLocks noChangeArrowheads="1"/>
          </p:cNvSpPr>
          <p:nvPr/>
        </p:nvSpPr>
        <p:spPr bwMode="auto">
          <a:xfrm>
            <a:off x="7727950" y="237807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5472113" y="2959100"/>
            <a:ext cx="336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A</a:t>
            </a:r>
          </a:p>
        </p:txBody>
      </p:sp>
      <p:sp>
        <p:nvSpPr>
          <p:cNvPr id="173064" name="Rectangle 8"/>
          <p:cNvSpPr>
            <a:spLocks noChangeArrowheads="1"/>
          </p:cNvSpPr>
          <p:nvPr/>
        </p:nvSpPr>
        <p:spPr bwMode="auto">
          <a:xfrm>
            <a:off x="6691313" y="2959100"/>
            <a:ext cx="32225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</a:t>
            </a:r>
          </a:p>
        </p:txBody>
      </p:sp>
      <p:sp>
        <p:nvSpPr>
          <p:cNvPr id="173065" name="Rectangle 9"/>
          <p:cNvSpPr>
            <a:spLocks noChangeArrowheads="1"/>
          </p:cNvSpPr>
          <p:nvPr/>
        </p:nvSpPr>
        <p:spPr bwMode="auto">
          <a:xfrm>
            <a:off x="7848600" y="2959100"/>
            <a:ext cx="319498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C</a:t>
            </a:r>
          </a:p>
        </p:txBody>
      </p:sp>
      <p:sp>
        <p:nvSpPr>
          <p:cNvPr id="173066" name="Rectangle 10"/>
          <p:cNvSpPr>
            <a:spLocks noChangeArrowheads="1"/>
          </p:cNvSpPr>
          <p:nvPr/>
        </p:nvSpPr>
        <p:spPr bwMode="auto">
          <a:xfrm>
            <a:off x="8316913" y="2578100"/>
            <a:ext cx="588877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(i,*)</a:t>
            </a:r>
          </a:p>
        </p:txBody>
      </p:sp>
      <p:sp>
        <p:nvSpPr>
          <p:cNvPr id="173067" name="Line 11"/>
          <p:cNvSpPr>
            <a:spLocks noChangeShapeType="1"/>
          </p:cNvSpPr>
          <p:nvPr/>
        </p:nvSpPr>
        <p:spPr bwMode="auto">
          <a:xfrm>
            <a:off x="7734300" y="2752725"/>
            <a:ext cx="584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3068" name="Rectangle 12"/>
          <p:cNvSpPr>
            <a:spLocks noChangeArrowheads="1"/>
          </p:cNvSpPr>
          <p:nvPr/>
        </p:nvSpPr>
        <p:spPr bwMode="auto">
          <a:xfrm>
            <a:off x="5422900" y="2765425"/>
            <a:ext cx="50800" cy="50800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3069" name="Rectangle 13"/>
          <p:cNvSpPr>
            <a:spLocks noChangeArrowheads="1"/>
          </p:cNvSpPr>
          <p:nvPr/>
        </p:nvSpPr>
        <p:spPr bwMode="auto">
          <a:xfrm>
            <a:off x="5289669" y="2349500"/>
            <a:ext cx="577731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(</a:t>
            </a:r>
            <a:r>
              <a:rPr lang="en-US" sz="2000" b="0" dirty="0" err="1">
                <a:latin typeface="Calibri"/>
                <a:cs typeface="Calibri"/>
              </a:rPr>
              <a:t>i,k</a:t>
            </a:r>
            <a:r>
              <a:rPr lang="en-US" sz="2000" b="0" dirty="0">
                <a:latin typeface="Calibri"/>
                <a:cs typeface="Calibri"/>
              </a:rPr>
              <a:t>)</a:t>
            </a:r>
          </a:p>
        </p:txBody>
      </p:sp>
      <p:sp>
        <p:nvSpPr>
          <p:cNvPr id="173070" name="Rectangle 14"/>
          <p:cNvSpPr>
            <a:spLocks noChangeArrowheads="1"/>
          </p:cNvSpPr>
          <p:nvPr/>
        </p:nvSpPr>
        <p:spPr bwMode="auto">
          <a:xfrm>
            <a:off x="7148513" y="2349500"/>
            <a:ext cx="64661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(k,*)</a:t>
            </a:r>
          </a:p>
        </p:txBody>
      </p:sp>
      <p:sp>
        <p:nvSpPr>
          <p:cNvPr id="173071" name="Line 15"/>
          <p:cNvSpPr>
            <a:spLocks noChangeShapeType="1"/>
          </p:cNvSpPr>
          <p:nvPr/>
        </p:nvSpPr>
        <p:spPr bwMode="auto">
          <a:xfrm>
            <a:off x="6565900" y="2524125"/>
            <a:ext cx="584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3072" name="Rectangle 16"/>
          <p:cNvSpPr>
            <a:spLocks noChangeArrowheads="1"/>
          </p:cNvSpPr>
          <p:nvPr/>
        </p:nvSpPr>
        <p:spPr bwMode="auto">
          <a:xfrm>
            <a:off x="5383213" y="1816100"/>
            <a:ext cx="1324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Inner loop:</a:t>
            </a:r>
          </a:p>
        </p:txBody>
      </p:sp>
      <p:sp>
        <p:nvSpPr>
          <p:cNvPr id="173074" name="Rectangle 18"/>
          <p:cNvSpPr>
            <a:spLocks noChangeArrowheads="1"/>
          </p:cNvSpPr>
          <p:nvPr/>
        </p:nvSpPr>
        <p:spPr bwMode="auto">
          <a:xfrm>
            <a:off x="6324600" y="3863975"/>
            <a:ext cx="1177605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Row-wise</a:t>
            </a:r>
          </a:p>
        </p:txBody>
      </p:sp>
      <p:sp>
        <p:nvSpPr>
          <p:cNvPr id="173075" name="Line 19"/>
          <p:cNvSpPr>
            <a:spLocks noChangeShapeType="1"/>
          </p:cNvSpPr>
          <p:nvPr/>
        </p:nvSpPr>
        <p:spPr bwMode="auto">
          <a:xfrm flipV="1">
            <a:off x="6881813" y="3352800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73077" name="Rectangle 21"/>
          <p:cNvSpPr>
            <a:spLocks noChangeArrowheads="1"/>
          </p:cNvSpPr>
          <p:nvPr/>
        </p:nvSpPr>
        <p:spPr bwMode="auto">
          <a:xfrm>
            <a:off x="7467600" y="3863975"/>
            <a:ext cx="1177605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Row-wise</a:t>
            </a:r>
          </a:p>
        </p:txBody>
      </p:sp>
      <p:sp>
        <p:nvSpPr>
          <p:cNvPr id="173078" name="Line 22"/>
          <p:cNvSpPr>
            <a:spLocks noChangeShapeType="1"/>
          </p:cNvSpPr>
          <p:nvPr/>
        </p:nvSpPr>
        <p:spPr bwMode="auto">
          <a:xfrm flipV="1">
            <a:off x="8024813" y="3352800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73080" name="Rectangle 24"/>
          <p:cNvSpPr>
            <a:spLocks noChangeArrowheads="1"/>
          </p:cNvSpPr>
          <p:nvPr/>
        </p:nvSpPr>
        <p:spPr bwMode="auto">
          <a:xfrm>
            <a:off x="5293666" y="3871913"/>
            <a:ext cx="726134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Fixed</a:t>
            </a:r>
          </a:p>
        </p:txBody>
      </p:sp>
      <p:sp>
        <p:nvSpPr>
          <p:cNvPr id="173081" name="Line 25"/>
          <p:cNvSpPr>
            <a:spLocks noChangeShapeType="1"/>
          </p:cNvSpPr>
          <p:nvPr/>
        </p:nvSpPr>
        <p:spPr bwMode="auto">
          <a:xfrm flipV="1">
            <a:off x="5632451" y="3360738"/>
            <a:ext cx="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73082" name="Rectangle 26"/>
          <p:cNvSpPr>
            <a:spLocks noChangeArrowheads="1"/>
          </p:cNvSpPr>
          <p:nvPr/>
        </p:nvSpPr>
        <p:spPr bwMode="auto">
          <a:xfrm>
            <a:off x="444500" y="4868863"/>
            <a:ext cx="4965700" cy="1227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</a:bodyPr>
          <a:lstStyle/>
          <a:p>
            <a:pPr marL="223838" indent="-223838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u="sng" dirty="0">
                <a:latin typeface="Calibri"/>
                <a:cs typeface="Calibri"/>
              </a:rPr>
              <a:t>Misses per inner loop iteration:</a:t>
            </a: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dirty="0">
                <a:latin typeface="Calibri"/>
                <a:cs typeface="Calibri"/>
              </a:rPr>
              <a:t>		</a:t>
            </a:r>
            <a:r>
              <a:rPr lang="en-US" sz="2400" b="0" u="sng" dirty="0">
                <a:latin typeface="Calibri"/>
                <a:cs typeface="Calibri"/>
              </a:rPr>
              <a:t>A</a:t>
            </a:r>
            <a:r>
              <a:rPr lang="en-US" sz="2400" b="0" dirty="0">
                <a:latin typeface="Calibri"/>
                <a:cs typeface="Calibri"/>
              </a:rPr>
              <a:t>	</a:t>
            </a:r>
            <a:r>
              <a:rPr lang="en-US" sz="2400" b="0" u="sng" dirty="0">
                <a:latin typeface="Calibri"/>
                <a:cs typeface="Calibri"/>
              </a:rPr>
              <a:t>B</a:t>
            </a:r>
            <a:r>
              <a:rPr lang="en-US" sz="2400" b="0" dirty="0">
                <a:latin typeface="Calibri"/>
                <a:cs typeface="Calibri"/>
              </a:rPr>
              <a:t>	</a:t>
            </a:r>
            <a:r>
              <a:rPr lang="en-US" sz="2400" b="0" u="sng" dirty="0">
                <a:latin typeface="Calibri"/>
                <a:cs typeface="Calibri"/>
              </a:rPr>
              <a:t>C</a:t>
            </a:r>
            <a:endParaRPr lang="en-US" sz="2400" b="0" dirty="0">
              <a:latin typeface="Calibri"/>
              <a:cs typeface="Calibri"/>
            </a:endParaRP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dirty="0">
                <a:latin typeface="Calibri"/>
                <a:cs typeface="Calibri"/>
              </a:rPr>
              <a:t>		0.0	0.25	0.25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2895600" y="3962400"/>
            <a:ext cx="189842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matmult</a:t>
            </a: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/</a:t>
            </a: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mm.c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8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7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Multiplication (ikj)</a:t>
            </a:r>
          </a:p>
        </p:txBody>
      </p:sp>
      <p:sp>
        <p:nvSpPr>
          <p:cNvPr id="174083" name="Rectangle 3"/>
          <p:cNvSpPr>
            <a:spLocks noChangeArrowheads="1"/>
          </p:cNvSpPr>
          <p:nvPr/>
        </p:nvSpPr>
        <p:spPr bwMode="auto">
          <a:xfrm>
            <a:off x="490538" y="1757363"/>
            <a:ext cx="4314825" cy="251581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/* ikj */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for (i=0; i&lt;n; i++)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for (k=0; k&lt;n; k++)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r = a[i][k];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for (j=0; j&lt;n; j++)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  </a:t>
            </a:r>
            <a:r>
              <a:rPr lang="en-US" sz="1800">
                <a:solidFill>
                  <a:srgbClr val="FF0000"/>
                </a:solidFill>
                <a:latin typeface="Courier New" charset="0"/>
              </a:rPr>
              <a:t>c[i][j] += r * b[k][j];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}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}</a:t>
            </a:r>
          </a:p>
        </p:txBody>
      </p:sp>
      <p:sp>
        <p:nvSpPr>
          <p:cNvPr id="174084" name="Rectangle 4"/>
          <p:cNvSpPr>
            <a:spLocks noChangeArrowheads="1"/>
          </p:cNvSpPr>
          <p:nvPr/>
        </p:nvSpPr>
        <p:spPr bwMode="auto">
          <a:xfrm>
            <a:off x="5340350" y="237807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4085" name="Rectangle 5"/>
          <p:cNvSpPr>
            <a:spLocks noChangeArrowheads="1"/>
          </p:cNvSpPr>
          <p:nvPr/>
        </p:nvSpPr>
        <p:spPr bwMode="auto">
          <a:xfrm>
            <a:off x="6559550" y="237807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4086" name="Rectangle 6"/>
          <p:cNvSpPr>
            <a:spLocks noChangeArrowheads="1"/>
          </p:cNvSpPr>
          <p:nvPr/>
        </p:nvSpPr>
        <p:spPr bwMode="auto">
          <a:xfrm>
            <a:off x="7727950" y="237807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4087" name="Rectangle 7"/>
          <p:cNvSpPr>
            <a:spLocks noChangeArrowheads="1"/>
          </p:cNvSpPr>
          <p:nvPr/>
        </p:nvSpPr>
        <p:spPr bwMode="auto">
          <a:xfrm>
            <a:off x="5472113" y="2959100"/>
            <a:ext cx="336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A</a:t>
            </a:r>
          </a:p>
        </p:txBody>
      </p:sp>
      <p:sp>
        <p:nvSpPr>
          <p:cNvPr id="174088" name="Rectangle 8"/>
          <p:cNvSpPr>
            <a:spLocks noChangeArrowheads="1"/>
          </p:cNvSpPr>
          <p:nvPr/>
        </p:nvSpPr>
        <p:spPr bwMode="auto">
          <a:xfrm>
            <a:off x="6691313" y="2959100"/>
            <a:ext cx="32225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</a:t>
            </a:r>
          </a:p>
        </p:txBody>
      </p:sp>
      <p:sp>
        <p:nvSpPr>
          <p:cNvPr id="174089" name="Rectangle 9"/>
          <p:cNvSpPr>
            <a:spLocks noChangeArrowheads="1"/>
          </p:cNvSpPr>
          <p:nvPr/>
        </p:nvSpPr>
        <p:spPr bwMode="auto">
          <a:xfrm>
            <a:off x="7848600" y="2959100"/>
            <a:ext cx="319498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C</a:t>
            </a:r>
          </a:p>
        </p:txBody>
      </p:sp>
      <p:sp>
        <p:nvSpPr>
          <p:cNvPr id="174090" name="Rectangle 10"/>
          <p:cNvSpPr>
            <a:spLocks noChangeArrowheads="1"/>
          </p:cNvSpPr>
          <p:nvPr/>
        </p:nvSpPr>
        <p:spPr bwMode="auto">
          <a:xfrm>
            <a:off x="8316913" y="2578100"/>
            <a:ext cx="588877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(i,*)</a:t>
            </a:r>
          </a:p>
        </p:txBody>
      </p:sp>
      <p:sp>
        <p:nvSpPr>
          <p:cNvPr id="174091" name="Line 11"/>
          <p:cNvSpPr>
            <a:spLocks noChangeShapeType="1"/>
          </p:cNvSpPr>
          <p:nvPr/>
        </p:nvSpPr>
        <p:spPr bwMode="auto">
          <a:xfrm>
            <a:off x="7734300" y="2752725"/>
            <a:ext cx="584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4092" name="Rectangle 12"/>
          <p:cNvSpPr>
            <a:spLocks noChangeArrowheads="1"/>
          </p:cNvSpPr>
          <p:nvPr/>
        </p:nvSpPr>
        <p:spPr bwMode="auto">
          <a:xfrm>
            <a:off x="5422900" y="2765425"/>
            <a:ext cx="50800" cy="50800"/>
          </a:xfrm>
          <a:prstGeom prst="rect">
            <a:avLst/>
          </a:prstGeom>
          <a:solidFill>
            <a:schemeClr val="tx1"/>
          </a:solidFill>
          <a:ln w="571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4093" name="Rectangle 13"/>
          <p:cNvSpPr>
            <a:spLocks noChangeArrowheads="1"/>
          </p:cNvSpPr>
          <p:nvPr/>
        </p:nvSpPr>
        <p:spPr bwMode="auto">
          <a:xfrm>
            <a:off x="5272088" y="2349500"/>
            <a:ext cx="577731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(i,k)</a:t>
            </a:r>
          </a:p>
        </p:txBody>
      </p:sp>
      <p:sp>
        <p:nvSpPr>
          <p:cNvPr id="174094" name="Rectangle 14"/>
          <p:cNvSpPr>
            <a:spLocks noChangeArrowheads="1"/>
          </p:cNvSpPr>
          <p:nvPr/>
        </p:nvSpPr>
        <p:spPr bwMode="auto">
          <a:xfrm>
            <a:off x="7148513" y="2349500"/>
            <a:ext cx="64661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(k,*)</a:t>
            </a:r>
          </a:p>
        </p:txBody>
      </p:sp>
      <p:sp>
        <p:nvSpPr>
          <p:cNvPr id="174095" name="Line 15"/>
          <p:cNvSpPr>
            <a:spLocks noChangeShapeType="1"/>
          </p:cNvSpPr>
          <p:nvPr/>
        </p:nvSpPr>
        <p:spPr bwMode="auto">
          <a:xfrm>
            <a:off x="6565900" y="2524125"/>
            <a:ext cx="584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4096" name="Rectangle 16"/>
          <p:cNvSpPr>
            <a:spLocks noChangeArrowheads="1"/>
          </p:cNvSpPr>
          <p:nvPr/>
        </p:nvSpPr>
        <p:spPr bwMode="auto">
          <a:xfrm>
            <a:off x="5383213" y="1816100"/>
            <a:ext cx="1324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Inner loop:</a:t>
            </a:r>
          </a:p>
        </p:txBody>
      </p:sp>
      <p:sp>
        <p:nvSpPr>
          <p:cNvPr id="174098" name="Rectangle 18"/>
          <p:cNvSpPr>
            <a:spLocks noChangeArrowheads="1"/>
          </p:cNvSpPr>
          <p:nvPr/>
        </p:nvSpPr>
        <p:spPr bwMode="auto">
          <a:xfrm>
            <a:off x="6324600" y="4016375"/>
            <a:ext cx="1177605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Row-wise</a:t>
            </a:r>
          </a:p>
        </p:txBody>
      </p:sp>
      <p:sp>
        <p:nvSpPr>
          <p:cNvPr id="174099" name="Line 19"/>
          <p:cNvSpPr>
            <a:spLocks noChangeShapeType="1"/>
          </p:cNvSpPr>
          <p:nvPr/>
        </p:nvSpPr>
        <p:spPr bwMode="auto">
          <a:xfrm flipV="1">
            <a:off x="6881813" y="3352800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4101" name="Rectangle 21"/>
          <p:cNvSpPr>
            <a:spLocks noChangeArrowheads="1"/>
          </p:cNvSpPr>
          <p:nvPr/>
        </p:nvSpPr>
        <p:spPr bwMode="auto">
          <a:xfrm>
            <a:off x="7467600" y="4016375"/>
            <a:ext cx="1177605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Row-wise</a:t>
            </a:r>
          </a:p>
        </p:txBody>
      </p:sp>
      <p:sp>
        <p:nvSpPr>
          <p:cNvPr id="174102" name="Line 22"/>
          <p:cNvSpPr>
            <a:spLocks noChangeShapeType="1"/>
          </p:cNvSpPr>
          <p:nvPr/>
        </p:nvSpPr>
        <p:spPr bwMode="auto">
          <a:xfrm flipV="1">
            <a:off x="8024813" y="3352800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4104" name="Rectangle 24"/>
          <p:cNvSpPr>
            <a:spLocks noChangeArrowheads="1"/>
          </p:cNvSpPr>
          <p:nvPr/>
        </p:nvSpPr>
        <p:spPr bwMode="auto">
          <a:xfrm>
            <a:off x="5227638" y="4024313"/>
            <a:ext cx="726134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Fixed</a:t>
            </a:r>
          </a:p>
        </p:txBody>
      </p:sp>
      <p:sp>
        <p:nvSpPr>
          <p:cNvPr id="174105" name="Line 25"/>
          <p:cNvSpPr>
            <a:spLocks noChangeShapeType="1"/>
          </p:cNvSpPr>
          <p:nvPr/>
        </p:nvSpPr>
        <p:spPr bwMode="auto">
          <a:xfrm flipV="1">
            <a:off x="5632450" y="3360738"/>
            <a:ext cx="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4106" name="Rectangle 26"/>
          <p:cNvSpPr>
            <a:spLocks noChangeArrowheads="1"/>
          </p:cNvSpPr>
          <p:nvPr/>
        </p:nvSpPr>
        <p:spPr bwMode="auto">
          <a:xfrm>
            <a:off x="444500" y="4868863"/>
            <a:ext cx="5194300" cy="1227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</a:bodyPr>
          <a:lstStyle/>
          <a:p>
            <a:pPr marL="223838" indent="-223838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u="sng" dirty="0">
                <a:latin typeface="Calibri"/>
                <a:cs typeface="Calibri"/>
              </a:rPr>
              <a:t>Misses per inner loop iteration:</a:t>
            </a: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dirty="0">
                <a:latin typeface="Calibri"/>
                <a:cs typeface="Calibri"/>
              </a:rPr>
              <a:t>		</a:t>
            </a:r>
            <a:r>
              <a:rPr lang="en-US" sz="2400" b="0" u="sng" dirty="0">
                <a:latin typeface="Calibri"/>
                <a:cs typeface="Calibri"/>
              </a:rPr>
              <a:t>A</a:t>
            </a:r>
            <a:r>
              <a:rPr lang="en-US" sz="2400" b="0" dirty="0">
                <a:latin typeface="Calibri"/>
                <a:cs typeface="Calibri"/>
              </a:rPr>
              <a:t>	</a:t>
            </a:r>
            <a:r>
              <a:rPr lang="en-US" sz="2400" b="0" u="sng" dirty="0">
                <a:latin typeface="Calibri"/>
                <a:cs typeface="Calibri"/>
              </a:rPr>
              <a:t>B</a:t>
            </a:r>
            <a:r>
              <a:rPr lang="en-US" sz="2400" b="0" dirty="0">
                <a:latin typeface="Calibri"/>
                <a:cs typeface="Calibri"/>
              </a:rPr>
              <a:t>	</a:t>
            </a:r>
            <a:r>
              <a:rPr lang="en-US" sz="2400" b="0" u="sng" dirty="0">
                <a:latin typeface="Calibri"/>
                <a:cs typeface="Calibri"/>
              </a:rPr>
              <a:t>C</a:t>
            </a:r>
            <a:endParaRPr lang="en-US" sz="2400" b="0" dirty="0">
              <a:latin typeface="Calibri"/>
              <a:cs typeface="Calibri"/>
            </a:endParaRP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dirty="0">
                <a:latin typeface="Calibri"/>
                <a:cs typeface="Calibri"/>
              </a:rPr>
              <a:t>		0.0	0.25	0.25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2971800" y="3962400"/>
            <a:ext cx="189842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matmult</a:t>
            </a: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/</a:t>
            </a: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mm.c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31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Multiplication (jki)</a:t>
            </a:r>
          </a:p>
        </p:txBody>
      </p:sp>
      <p:sp>
        <p:nvSpPr>
          <p:cNvPr id="175107" name="Rectangle 3"/>
          <p:cNvSpPr>
            <a:spLocks noChangeArrowheads="1"/>
          </p:cNvSpPr>
          <p:nvPr/>
        </p:nvSpPr>
        <p:spPr bwMode="auto">
          <a:xfrm>
            <a:off x="566738" y="1766888"/>
            <a:ext cx="4352925" cy="2515817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/* </a:t>
            </a:r>
            <a:r>
              <a:rPr lang="en-US" sz="1800" dirty="0" err="1">
                <a:latin typeface="Courier New" charset="0"/>
              </a:rPr>
              <a:t>jki</a:t>
            </a:r>
            <a:r>
              <a:rPr lang="en-US" sz="1800" dirty="0">
                <a:latin typeface="Courier New" charset="0"/>
              </a:rPr>
              <a:t> */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for (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=0;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&lt;</a:t>
            </a:r>
            <a:r>
              <a:rPr lang="en-US" sz="1800" dirty="0" err="1">
                <a:latin typeface="Courier New" charset="0"/>
              </a:rPr>
              <a:t>n</a:t>
            </a:r>
            <a:r>
              <a:rPr lang="en-US" sz="1800" dirty="0">
                <a:latin typeface="Courier New" charset="0"/>
              </a:rPr>
              <a:t>; </a:t>
            </a:r>
            <a:r>
              <a:rPr lang="en-US" sz="1800" dirty="0" err="1">
                <a:latin typeface="Courier New" charset="0"/>
              </a:rPr>
              <a:t>j</a:t>
            </a:r>
            <a:r>
              <a:rPr lang="en-US" sz="1800" dirty="0">
                <a:latin typeface="Courier New" charset="0"/>
              </a:rPr>
              <a:t>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for (</a:t>
            </a:r>
            <a:r>
              <a:rPr lang="en-US" sz="1800" dirty="0" err="1">
                <a:latin typeface="Courier New" charset="0"/>
              </a:rPr>
              <a:t>k</a:t>
            </a:r>
            <a:r>
              <a:rPr lang="en-US" sz="1800" dirty="0">
                <a:latin typeface="Courier New" charset="0"/>
              </a:rPr>
              <a:t>=0; </a:t>
            </a:r>
            <a:r>
              <a:rPr lang="en-US" sz="1800" dirty="0" err="1">
                <a:latin typeface="Courier New" charset="0"/>
              </a:rPr>
              <a:t>k</a:t>
            </a:r>
            <a:r>
              <a:rPr lang="en-US" sz="1800" dirty="0">
                <a:latin typeface="Courier New" charset="0"/>
              </a:rPr>
              <a:t>&lt;</a:t>
            </a:r>
            <a:r>
              <a:rPr lang="en-US" sz="1800" dirty="0" err="1">
                <a:latin typeface="Courier New" charset="0"/>
              </a:rPr>
              <a:t>n</a:t>
            </a:r>
            <a:r>
              <a:rPr lang="en-US" sz="1800" dirty="0">
                <a:latin typeface="Courier New" charset="0"/>
              </a:rPr>
              <a:t>; </a:t>
            </a:r>
            <a:r>
              <a:rPr lang="en-US" sz="1800" dirty="0" err="1">
                <a:latin typeface="Courier New" charset="0"/>
              </a:rPr>
              <a:t>k</a:t>
            </a:r>
            <a:r>
              <a:rPr lang="en-US" sz="1800" dirty="0">
                <a:latin typeface="Courier New" charset="0"/>
              </a:rPr>
              <a:t>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</a:t>
            </a:r>
            <a:r>
              <a:rPr lang="en-US" sz="1800" dirty="0" err="1">
                <a:latin typeface="Courier New" charset="0"/>
              </a:rPr>
              <a:t>r</a:t>
            </a:r>
            <a:r>
              <a:rPr lang="en-US" sz="1800" dirty="0">
                <a:latin typeface="Courier New" charset="0"/>
              </a:rPr>
              <a:t> = </a:t>
            </a:r>
            <a:r>
              <a:rPr lang="en-US" sz="1800" dirty="0" err="1">
                <a:latin typeface="Courier New" charset="0"/>
              </a:rPr>
              <a:t>b[k][j</a:t>
            </a:r>
            <a:r>
              <a:rPr lang="en-US" sz="1800" dirty="0">
                <a:latin typeface="Courier New" charset="0"/>
              </a:rPr>
              <a:t>];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for (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=0;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&lt;</a:t>
            </a:r>
            <a:r>
              <a:rPr lang="en-US" sz="1800" dirty="0" err="1">
                <a:latin typeface="Courier New" charset="0"/>
              </a:rPr>
              <a:t>n</a:t>
            </a:r>
            <a:r>
              <a:rPr lang="en-US" sz="1800" dirty="0">
                <a:latin typeface="Courier New" charset="0"/>
              </a:rPr>
              <a:t>; </a:t>
            </a:r>
            <a:r>
              <a:rPr lang="en-US" sz="1800" dirty="0" err="1">
                <a:latin typeface="Courier New" charset="0"/>
              </a:rPr>
              <a:t>i</a:t>
            </a:r>
            <a:r>
              <a:rPr lang="en-US" sz="1800" dirty="0">
                <a:latin typeface="Courier New" charset="0"/>
              </a:rPr>
              <a:t>++)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    </a:t>
            </a:r>
            <a:r>
              <a:rPr lang="en-US" sz="1800" dirty="0" err="1">
                <a:solidFill>
                  <a:srgbClr val="FF0000"/>
                </a:solidFill>
                <a:latin typeface="Courier New" charset="0"/>
              </a:rPr>
              <a:t>c[i][j</a:t>
            </a:r>
            <a:r>
              <a:rPr lang="en-US" sz="1800" dirty="0">
                <a:solidFill>
                  <a:srgbClr val="FF0000"/>
                </a:solidFill>
                <a:latin typeface="Courier New" charset="0"/>
              </a:rPr>
              <a:t>] += </a:t>
            </a:r>
            <a:r>
              <a:rPr lang="en-US" sz="1800" dirty="0" err="1">
                <a:solidFill>
                  <a:srgbClr val="FF0000"/>
                </a:solidFill>
                <a:latin typeface="Courier New" charset="0"/>
              </a:rPr>
              <a:t>a[i][k</a:t>
            </a:r>
            <a:r>
              <a:rPr lang="en-US" sz="1800" dirty="0">
                <a:solidFill>
                  <a:srgbClr val="FF0000"/>
                </a:solidFill>
                <a:latin typeface="Courier New" charset="0"/>
              </a:rPr>
              <a:t>] * </a:t>
            </a:r>
            <a:r>
              <a:rPr lang="en-US" sz="1800" dirty="0" err="1">
                <a:solidFill>
                  <a:srgbClr val="FF0000"/>
                </a:solidFill>
                <a:latin typeface="Courier New" charset="0"/>
              </a:rPr>
              <a:t>r</a:t>
            </a:r>
            <a:r>
              <a:rPr lang="en-US" sz="1800" dirty="0">
                <a:solidFill>
                  <a:srgbClr val="FF0000"/>
                </a:solidFill>
                <a:latin typeface="Courier New" charset="0"/>
              </a:rPr>
              <a:t>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  }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 dirty="0">
                <a:latin typeface="Courier New" charset="0"/>
              </a:rPr>
              <a:t>}	</a:t>
            </a:r>
          </a:p>
        </p:txBody>
      </p:sp>
      <p:sp>
        <p:nvSpPr>
          <p:cNvPr id="175108" name="Rectangle 4"/>
          <p:cNvSpPr>
            <a:spLocks noChangeArrowheads="1"/>
          </p:cNvSpPr>
          <p:nvPr/>
        </p:nvSpPr>
        <p:spPr bwMode="auto">
          <a:xfrm>
            <a:off x="5340350" y="2432050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6559550" y="2432050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7727950" y="2432050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5111" name="Rectangle 7"/>
          <p:cNvSpPr>
            <a:spLocks noChangeArrowheads="1"/>
          </p:cNvSpPr>
          <p:nvPr/>
        </p:nvSpPr>
        <p:spPr bwMode="auto">
          <a:xfrm>
            <a:off x="5472113" y="2959100"/>
            <a:ext cx="336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A</a:t>
            </a:r>
          </a:p>
        </p:txBody>
      </p:sp>
      <p:sp>
        <p:nvSpPr>
          <p:cNvPr id="175112" name="Rectangle 8"/>
          <p:cNvSpPr>
            <a:spLocks noChangeArrowheads="1"/>
          </p:cNvSpPr>
          <p:nvPr/>
        </p:nvSpPr>
        <p:spPr bwMode="auto">
          <a:xfrm>
            <a:off x="6691313" y="2959100"/>
            <a:ext cx="32225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</a:t>
            </a:r>
          </a:p>
        </p:txBody>
      </p:sp>
      <p:sp>
        <p:nvSpPr>
          <p:cNvPr id="175113" name="Rectangle 9"/>
          <p:cNvSpPr>
            <a:spLocks noChangeArrowheads="1"/>
          </p:cNvSpPr>
          <p:nvPr/>
        </p:nvSpPr>
        <p:spPr bwMode="auto">
          <a:xfrm>
            <a:off x="7848600" y="2959100"/>
            <a:ext cx="319498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C</a:t>
            </a:r>
          </a:p>
        </p:txBody>
      </p:sp>
      <p:sp>
        <p:nvSpPr>
          <p:cNvPr id="175114" name="Rectangle 10"/>
          <p:cNvSpPr>
            <a:spLocks noChangeArrowheads="1"/>
          </p:cNvSpPr>
          <p:nvPr/>
        </p:nvSpPr>
        <p:spPr bwMode="auto">
          <a:xfrm>
            <a:off x="7656513" y="2057400"/>
            <a:ext cx="591382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(*,</a:t>
            </a:r>
            <a:r>
              <a:rPr lang="en-US" sz="2000" b="0" dirty="0" err="1">
                <a:latin typeface="Calibri"/>
                <a:cs typeface="Calibri"/>
              </a:rPr>
              <a:t>j</a:t>
            </a:r>
            <a:r>
              <a:rPr lang="en-US" sz="2000" b="0" dirty="0">
                <a:latin typeface="Calibri"/>
                <a:cs typeface="Calibri"/>
              </a:rPr>
              <a:t>)</a:t>
            </a:r>
          </a:p>
        </p:txBody>
      </p:sp>
      <p:sp>
        <p:nvSpPr>
          <p:cNvPr id="175115" name="Rectangle 11"/>
          <p:cNvSpPr>
            <a:spLocks noChangeArrowheads="1"/>
          </p:cNvSpPr>
          <p:nvPr/>
        </p:nvSpPr>
        <p:spPr bwMode="auto">
          <a:xfrm>
            <a:off x="6692900" y="2832100"/>
            <a:ext cx="50800" cy="50800"/>
          </a:xfrm>
          <a:prstGeom prst="rect">
            <a:avLst/>
          </a:prstGeom>
          <a:solidFill>
            <a:srgbClr val="FF0000"/>
          </a:solidFill>
          <a:ln w="571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5116" name="Rectangle 12"/>
          <p:cNvSpPr>
            <a:spLocks noChangeArrowheads="1"/>
          </p:cNvSpPr>
          <p:nvPr/>
        </p:nvSpPr>
        <p:spPr bwMode="auto">
          <a:xfrm>
            <a:off x="6475413" y="2416175"/>
            <a:ext cx="580236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(k,j)</a:t>
            </a:r>
          </a:p>
        </p:txBody>
      </p:sp>
      <p:sp>
        <p:nvSpPr>
          <p:cNvPr id="175117" name="Rectangle 13"/>
          <p:cNvSpPr>
            <a:spLocks noChangeArrowheads="1"/>
          </p:cNvSpPr>
          <p:nvPr/>
        </p:nvSpPr>
        <p:spPr bwMode="auto">
          <a:xfrm>
            <a:off x="5268913" y="1600200"/>
            <a:ext cx="1324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Inner loop:</a:t>
            </a:r>
          </a:p>
        </p:txBody>
      </p:sp>
      <p:sp>
        <p:nvSpPr>
          <p:cNvPr id="175118" name="Line 14"/>
          <p:cNvSpPr>
            <a:spLocks noChangeShapeType="1"/>
          </p:cNvSpPr>
          <p:nvPr/>
        </p:nvSpPr>
        <p:spPr bwMode="auto">
          <a:xfrm flipV="1">
            <a:off x="5803900" y="2425700"/>
            <a:ext cx="0" cy="533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5119" name="Line 15"/>
          <p:cNvSpPr>
            <a:spLocks noChangeShapeType="1"/>
          </p:cNvSpPr>
          <p:nvPr/>
        </p:nvSpPr>
        <p:spPr bwMode="auto">
          <a:xfrm flipV="1">
            <a:off x="7886700" y="2438400"/>
            <a:ext cx="0" cy="533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5120" name="Rectangle 16"/>
          <p:cNvSpPr>
            <a:spLocks noChangeArrowheads="1"/>
          </p:cNvSpPr>
          <p:nvPr/>
        </p:nvSpPr>
        <p:spPr bwMode="auto">
          <a:xfrm>
            <a:off x="5522913" y="2057400"/>
            <a:ext cx="64661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(*,</a:t>
            </a:r>
            <a:r>
              <a:rPr lang="en-US" sz="2000" b="0" dirty="0" err="1">
                <a:latin typeface="Calibri"/>
                <a:cs typeface="Calibri"/>
              </a:rPr>
              <a:t>k</a:t>
            </a:r>
            <a:r>
              <a:rPr lang="en-US" sz="2000" b="0" dirty="0">
                <a:latin typeface="Calibri"/>
                <a:cs typeface="Calibri"/>
              </a:rPr>
              <a:t>)</a:t>
            </a:r>
          </a:p>
        </p:txBody>
      </p:sp>
      <p:sp>
        <p:nvSpPr>
          <p:cNvPr id="175122" name="Rectangle 18"/>
          <p:cNvSpPr>
            <a:spLocks noChangeArrowheads="1"/>
          </p:cNvSpPr>
          <p:nvPr/>
        </p:nvSpPr>
        <p:spPr bwMode="auto">
          <a:xfrm>
            <a:off x="5133853" y="3866679"/>
            <a:ext cx="1067599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Column-</a:t>
            </a:r>
          </a:p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wise</a:t>
            </a:r>
          </a:p>
        </p:txBody>
      </p:sp>
      <p:sp>
        <p:nvSpPr>
          <p:cNvPr id="175123" name="Line 19"/>
          <p:cNvSpPr>
            <a:spLocks noChangeShapeType="1"/>
          </p:cNvSpPr>
          <p:nvPr/>
        </p:nvSpPr>
        <p:spPr bwMode="auto">
          <a:xfrm flipV="1">
            <a:off x="5638800" y="3335983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75125" name="Rectangle 21"/>
          <p:cNvSpPr>
            <a:spLocks noChangeArrowheads="1"/>
          </p:cNvSpPr>
          <p:nvPr/>
        </p:nvSpPr>
        <p:spPr bwMode="auto">
          <a:xfrm>
            <a:off x="7467600" y="3866679"/>
            <a:ext cx="1067599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Column-</a:t>
            </a:r>
          </a:p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wise</a:t>
            </a:r>
          </a:p>
        </p:txBody>
      </p:sp>
      <p:sp>
        <p:nvSpPr>
          <p:cNvPr id="175126" name="Line 22"/>
          <p:cNvSpPr>
            <a:spLocks noChangeShapeType="1"/>
          </p:cNvSpPr>
          <p:nvPr/>
        </p:nvSpPr>
        <p:spPr bwMode="auto">
          <a:xfrm flipV="1">
            <a:off x="8024813" y="3335983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75128" name="Rectangle 24"/>
          <p:cNvSpPr>
            <a:spLocks noChangeArrowheads="1"/>
          </p:cNvSpPr>
          <p:nvPr/>
        </p:nvSpPr>
        <p:spPr bwMode="auto">
          <a:xfrm>
            <a:off x="6477000" y="3866679"/>
            <a:ext cx="726134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Fixed</a:t>
            </a:r>
          </a:p>
        </p:txBody>
      </p:sp>
      <p:sp>
        <p:nvSpPr>
          <p:cNvPr id="175129" name="Line 25"/>
          <p:cNvSpPr>
            <a:spLocks noChangeShapeType="1"/>
          </p:cNvSpPr>
          <p:nvPr/>
        </p:nvSpPr>
        <p:spPr bwMode="auto">
          <a:xfrm flipV="1">
            <a:off x="6815785" y="3343921"/>
            <a:ext cx="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/>
              <a:cs typeface="Calibri"/>
            </a:endParaRPr>
          </a:p>
        </p:txBody>
      </p:sp>
      <p:sp>
        <p:nvSpPr>
          <p:cNvPr id="175130" name="Rectangle 26"/>
          <p:cNvSpPr>
            <a:spLocks noChangeArrowheads="1"/>
          </p:cNvSpPr>
          <p:nvPr/>
        </p:nvSpPr>
        <p:spPr bwMode="auto">
          <a:xfrm>
            <a:off x="444500" y="4868863"/>
            <a:ext cx="5492750" cy="1227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</a:bodyPr>
          <a:lstStyle/>
          <a:p>
            <a:pPr marL="223838" indent="-223838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b="0" u="sng" dirty="0">
                <a:latin typeface="Calibri"/>
                <a:cs typeface="Calibri"/>
              </a:rPr>
              <a:t>Misses per inner loop iteration:</a:t>
            </a: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b="0" dirty="0">
                <a:latin typeface="Calibri"/>
                <a:cs typeface="Calibri"/>
              </a:rPr>
              <a:t>		</a:t>
            </a:r>
            <a:r>
              <a:rPr lang="en-US" b="0" u="sng" dirty="0">
                <a:latin typeface="Calibri"/>
                <a:cs typeface="Calibri"/>
              </a:rPr>
              <a:t>A</a:t>
            </a:r>
            <a:r>
              <a:rPr lang="en-US" b="0" dirty="0">
                <a:latin typeface="Calibri"/>
                <a:cs typeface="Calibri"/>
              </a:rPr>
              <a:t>	</a:t>
            </a:r>
            <a:r>
              <a:rPr lang="en-US" b="0" u="sng" dirty="0">
                <a:latin typeface="Calibri"/>
                <a:cs typeface="Calibri"/>
              </a:rPr>
              <a:t>B</a:t>
            </a:r>
            <a:r>
              <a:rPr lang="en-US" b="0" dirty="0">
                <a:latin typeface="Calibri"/>
                <a:cs typeface="Calibri"/>
              </a:rPr>
              <a:t>	</a:t>
            </a:r>
            <a:r>
              <a:rPr lang="en-US" b="0" u="sng" dirty="0">
                <a:latin typeface="Calibri"/>
                <a:cs typeface="Calibri"/>
              </a:rPr>
              <a:t>C</a:t>
            </a:r>
            <a:endParaRPr lang="en-US" b="0" dirty="0">
              <a:latin typeface="Calibri"/>
              <a:cs typeface="Calibri"/>
            </a:endParaRP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b="0" dirty="0">
                <a:latin typeface="Calibri"/>
                <a:cs typeface="Calibri"/>
              </a:rPr>
              <a:t>		1.0	0.0	1.0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3122837" y="3985737"/>
            <a:ext cx="189842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matmult</a:t>
            </a: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/</a:t>
            </a: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mm.c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3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55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Matrix Multiplication (kji)</a:t>
            </a:r>
          </a:p>
        </p:txBody>
      </p:sp>
      <p:sp>
        <p:nvSpPr>
          <p:cNvPr id="176131" name="Rectangle 3"/>
          <p:cNvSpPr>
            <a:spLocks noChangeArrowheads="1"/>
          </p:cNvSpPr>
          <p:nvPr/>
        </p:nvSpPr>
        <p:spPr bwMode="auto">
          <a:xfrm>
            <a:off x="617538" y="1782763"/>
            <a:ext cx="4518025" cy="251581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/* kji */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for (k=0; k&lt;n; k++)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for (j=0; j&lt;n; j++) {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r = b[k][j];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for (i=0; i&lt;n; i++)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    </a:t>
            </a:r>
            <a:r>
              <a:rPr lang="en-US" sz="1800">
                <a:solidFill>
                  <a:srgbClr val="FF0000"/>
                </a:solidFill>
                <a:latin typeface="Courier New" charset="0"/>
              </a:rPr>
              <a:t>c[i][j] += a[i][k] * r;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  }</a:t>
            </a:r>
          </a:p>
          <a:p>
            <a:pPr algn="l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latin typeface="Courier New" charset="0"/>
              </a:rPr>
              <a:t>}	</a:t>
            </a:r>
          </a:p>
        </p:txBody>
      </p:sp>
      <p:sp>
        <p:nvSpPr>
          <p:cNvPr id="176132" name="Rectangle 4"/>
          <p:cNvSpPr>
            <a:spLocks noChangeArrowheads="1"/>
          </p:cNvSpPr>
          <p:nvPr/>
        </p:nvSpPr>
        <p:spPr bwMode="auto">
          <a:xfrm>
            <a:off x="5657850" y="260667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6877050" y="260667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6134" name="Rectangle 6"/>
          <p:cNvSpPr>
            <a:spLocks noChangeArrowheads="1"/>
          </p:cNvSpPr>
          <p:nvPr/>
        </p:nvSpPr>
        <p:spPr bwMode="auto">
          <a:xfrm>
            <a:off x="8045450" y="2606675"/>
            <a:ext cx="596900" cy="520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6135" name="Rectangle 7"/>
          <p:cNvSpPr>
            <a:spLocks noChangeArrowheads="1"/>
          </p:cNvSpPr>
          <p:nvPr/>
        </p:nvSpPr>
        <p:spPr bwMode="auto">
          <a:xfrm>
            <a:off x="5789613" y="3124200"/>
            <a:ext cx="336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A</a:t>
            </a:r>
          </a:p>
        </p:txBody>
      </p:sp>
      <p:sp>
        <p:nvSpPr>
          <p:cNvPr id="176136" name="Rectangle 8"/>
          <p:cNvSpPr>
            <a:spLocks noChangeArrowheads="1"/>
          </p:cNvSpPr>
          <p:nvPr/>
        </p:nvSpPr>
        <p:spPr bwMode="auto">
          <a:xfrm>
            <a:off x="7008813" y="3124200"/>
            <a:ext cx="32225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B</a:t>
            </a:r>
          </a:p>
        </p:txBody>
      </p:sp>
      <p:sp>
        <p:nvSpPr>
          <p:cNvPr id="176137" name="Rectangle 9"/>
          <p:cNvSpPr>
            <a:spLocks noChangeArrowheads="1"/>
          </p:cNvSpPr>
          <p:nvPr/>
        </p:nvSpPr>
        <p:spPr bwMode="auto">
          <a:xfrm>
            <a:off x="8229600" y="3124200"/>
            <a:ext cx="319498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C</a:t>
            </a:r>
          </a:p>
        </p:txBody>
      </p:sp>
      <p:sp>
        <p:nvSpPr>
          <p:cNvPr id="176138" name="Rectangle 10"/>
          <p:cNvSpPr>
            <a:spLocks noChangeArrowheads="1"/>
          </p:cNvSpPr>
          <p:nvPr/>
        </p:nvSpPr>
        <p:spPr bwMode="auto">
          <a:xfrm>
            <a:off x="7974013" y="2273300"/>
            <a:ext cx="591382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(*,j)</a:t>
            </a:r>
          </a:p>
        </p:txBody>
      </p:sp>
      <p:sp>
        <p:nvSpPr>
          <p:cNvPr id="176139" name="Rectangle 11"/>
          <p:cNvSpPr>
            <a:spLocks noChangeArrowheads="1"/>
          </p:cNvSpPr>
          <p:nvPr/>
        </p:nvSpPr>
        <p:spPr bwMode="auto">
          <a:xfrm>
            <a:off x="7010400" y="3006725"/>
            <a:ext cx="50800" cy="50800"/>
          </a:xfrm>
          <a:prstGeom prst="rect">
            <a:avLst/>
          </a:prstGeom>
          <a:solidFill>
            <a:schemeClr val="tx1"/>
          </a:solidFill>
          <a:ln w="571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6140" name="Rectangle 12"/>
          <p:cNvSpPr>
            <a:spLocks noChangeArrowheads="1"/>
          </p:cNvSpPr>
          <p:nvPr/>
        </p:nvSpPr>
        <p:spPr bwMode="auto">
          <a:xfrm>
            <a:off x="6792913" y="2590800"/>
            <a:ext cx="580236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(k,j)</a:t>
            </a:r>
          </a:p>
        </p:txBody>
      </p:sp>
      <p:sp>
        <p:nvSpPr>
          <p:cNvPr id="176141" name="Rectangle 13"/>
          <p:cNvSpPr>
            <a:spLocks noChangeArrowheads="1"/>
          </p:cNvSpPr>
          <p:nvPr/>
        </p:nvSpPr>
        <p:spPr bwMode="auto">
          <a:xfrm>
            <a:off x="5586413" y="1828800"/>
            <a:ext cx="132463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Inner loop:</a:t>
            </a:r>
          </a:p>
        </p:txBody>
      </p:sp>
      <p:sp>
        <p:nvSpPr>
          <p:cNvPr id="176142" name="Line 14"/>
          <p:cNvSpPr>
            <a:spLocks noChangeShapeType="1"/>
          </p:cNvSpPr>
          <p:nvPr/>
        </p:nvSpPr>
        <p:spPr bwMode="auto">
          <a:xfrm flipV="1">
            <a:off x="6121400" y="2600325"/>
            <a:ext cx="0" cy="533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6143" name="Line 15"/>
          <p:cNvSpPr>
            <a:spLocks noChangeShapeType="1"/>
          </p:cNvSpPr>
          <p:nvPr/>
        </p:nvSpPr>
        <p:spPr bwMode="auto">
          <a:xfrm flipV="1">
            <a:off x="8204200" y="2613025"/>
            <a:ext cx="0" cy="533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6144" name="Rectangle 16"/>
          <p:cNvSpPr>
            <a:spLocks noChangeArrowheads="1"/>
          </p:cNvSpPr>
          <p:nvPr/>
        </p:nvSpPr>
        <p:spPr bwMode="auto">
          <a:xfrm>
            <a:off x="5840413" y="2273300"/>
            <a:ext cx="64661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(*,k)</a:t>
            </a:r>
          </a:p>
        </p:txBody>
      </p:sp>
      <p:sp>
        <p:nvSpPr>
          <p:cNvPr id="176146" name="Rectangle 18"/>
          <p:cNvSpPr>
            <a:spLocks noChangeArrowheads="1"/>
          </p:cNvSpPr>
          <p:nvPr/>
        </p:nvSpPr>
        <p:spPr bwMode="auto">
          <a:xfrm>
            <a:off x="6817666" y="4165600"/>
            <a:ext cx="726134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Fixed</a:t>
            </a:r>
          </a:p>
        </p:txBody>
      </p:sp>
      <p:sp>
        <p:nvSpPr>
          <p:cNvPr id="176147" name="Line 19"/>
          <p:cNvSpPr>
            <a:spLocks noChangeShapeType="1"/>
          </p:cNvSpPr>
          <p:nvPr/>
        </p:nvSpPr>
        <p:spPr bwMode="auto">
          <a:xfrm flipV="1">
            <a:off x="7156451" y="3509963"/>
            <a:ext cx="0" cy="627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6149" name="Rectangle 21"/>
          <p:cNvSpPr>
            <a:spLocks noChangeArrowheads="1"/>
          </p:cNvSpPr>
          <p:nvPr/>
        </p:nvSpPr>
        <p:spPr bwMode="auto">
          <a:xfrm>
            <a:off x="5410200" y="4165600"/>
            <a:ext cx="1067599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Column-</a:t>
            </a:r>
          </a:p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wise</a:t>
            </a:r>
          </a:p>
        </p:txBody>
      </p:sp>
      <p:sp>
        <p:nvSpPr>
          <p:cNvPr id="176150" name="Line 22"/>
          <p:cNvSpPr>
            <a:spLocks noChangeShapeType="1"/>
          </p:cNvSpPr>
          <p:nvPr/>
        </p:nvSpPr>
        <p:spPr bwMode="auto">
          <a:xfrm flipV="1">
            <a:off x="5967413" y="3502025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6152" name="Rectangle 24"/>
          <p:cNvSpPr>
            <a:spLocks noChangeArrowheads="1"/>
          </p:cNvSpPr>
          <p:nvPr/>
        </p:nvSpPr>
        <p:spPr bwMode="auto">
          <a:xfrm>
            <a:off x="7924001" y="4165600"/>
            <a:ext cx="1067599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Column-</a:t>
            </a:r>
          </a:p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/>
                <a:cs typeface="Calibri"/>
              </a:rPr>
              <a:t>wise</a:t>
            </a:r>
          </a:p>
        </p:txBody>
      </p:sp>
      <p:sp>
        <p:nvSpPr>
          <p:cNvPr id="176153" name="Line 25"/>
          <p:cNvSpPr>
            <a:spLocks noChangeShapeType="1"/>
          </p:cNvSpPr>
          <p:nvPr/>
        </p:nvSpPr>
        <p:spPr bwMode="auto">
          <a:xfrm flipV="1">
            <a:off x="8405813" y="3502025"/>
            <a:ext cx="0" cy="627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Calibri"/>
              <a:cs typeface="Calibri"/>
            </a:endParaRPr>
          </a:p>
        </p:txBody>
      </p:sp>
      <p:sp>
        <p:nvSpPr>
          <p:cNvPr id="176154" name="Rectangle 26"/>
          <p:cNvSpPr>
            <a:spLocks noChangeArrowheads="1"/>
          </p:cNvSpPr>
          <p:nvPr/>
        </p:nvSpPr>
        <p:spPr bwMode="auto">
          <a:xfrm>
            <a:off x="444500" y="4868863"/>
            <a:ext cx="4965700" cy="1227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</a:bodyPr>
          <a:lstStyle/>
          <a:p>
            <a:pPr marL="223838" indent="-223838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u="sng" dirty="0">
                <a:latin typeface="Calibri"/>
                <a:cs typeface="Calibri"/>
              </a:rPr>
              <a:t>Misses per inner loop iteration:</a:t>
            </a: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dirty="0">
                <a:latin typeface="Calibri"/>
                <a:cs typeface="Calibri"/>
              </a:rPr>
              <a:t>		</a:t>
            </a:r>
            <a:r>
              <a:rPr lang="en-US" sz="2400" b="0" u="sng" dirty="0">
                <a:latin typeface="Calibri"/>
                <a:cs typeface="Calibri"/>
              </a:rPr>
              <a:t>A</a:t>
            </a:r>
            <a:r>
              <a:rPr lang="en-US" sz="2400" b="0" dirty="0">
                <a:latin typeface="Calibri"/>
                <a:cs typeface="Calibri"/>
              </a:rPr>
              <a:t>	</a:t>
            </a:r>
            <a:r>
              <a:rPr lang="en-US" sz="2400" b="0" u="sng" dirty="0">
                <a:latin typeface="Calibri"/>
                <a:cs typeface="Calibri"/>
              </a:rPr>
              <a:t>B</a:t>
            </a:r>
            <a:r>
              <a:rPr lang="en-US" sz="2400" b="0" dirty="0">
                <a:latin typeface="Calibri"/>
                <a:cs typeface="Calibri"/>
              </a:rPr>
              <a:t>	</a:t>
            </a:r>
            <a:r>
              <a:rPr lang="en-US" sz="2400" b="0" u="sng" dirty="0">
                <a:latin typeface="Calibri"/>
                <a:cs typeface="Calibri"/>
              </a:rPr>
              <a:t>C</a:t>
            </a:r>
            <a:endParaRPr lang="en-US" sz="2400" b="0" dirty="0">
              <a:latin typeface="Calibri"/>
              <a:cs typeface="Calibri"/>
            </a:endParaRPr>
          </a:p>
          <a:p>
            <a:pPr marL="560388" lvl="1" indent="-222250" algn="l" defTabSz="895350">
              <a:lnSpc>
                <a:spcPct val="100000"/>
              </a:lnSpc>
              <a:tabLst>
                <a:tab pos="971550" algn="ctr"/>
                <a:tab pos="2343150" algn="ctr"/>
                <a:tab pos="3657600" algn="ctr"/>
              </a:tabLst>
            </a:pPr>
            <a:r>
              <a:rPr lang="en-US" sz="2400" b="0" dirty="0">
                <a:latin typeface="Calibri"/>
                <a:cs typeface="Calibri"/>
              </a:rPr>
              <a:t>		1.0	0.0	1.0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3283174" y="3962400"/>
            <a:ext cx="189842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matmult</a:t>
            </a: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/</a:t>
            </a: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mm.c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5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61" name="Rectangle 9"/>
          <p:cNvSpPr>
            <a:spLocks noGrp="1" noChangeArrowheads="1"/>
          </p:cNvSpPr>
          <p:nvPr>
            <p:ph type="title"/>
          </p:nvPr>
        </p:nvSpPr>
        <p:spPr>
          <a:xfrm>
            <a:off x="357018" y="304800"/>
            <a:ext cx="7592093" cy="762000"/>
          </a:xfrm>
        </p:spPr>
        <p:txBody>
          <a:bodyPr/>
          <a:lstStyle/>
          <a:p>
            <a:r>
              <a:rPr lang="en-US" dirty="0"/>
              <a:t>Summary of Matrix Multiplication</a:t>
            </a:r>
          </a:p>
        </p:txBody>
      </p:sp>
      <p:sp>
        <p:nvSpPr>
          <p:cNvPr id="177156" name="Rectangle 4"/>
          <p:cNvSpPr>
            <a:spLocks noChangeArrowheads="1"/>
          </p:cNvSpPr>
          <p:nvPr/>
        </p:nvSpPr>
        <p:spPr bwMode="auto">
          <a:xfrm>
            <a:off x="5486400" y="1371600"/>
            <a:ext cx="2324353" cy="10130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  <a:tabLst>
                <a:tab pos="228600" algn="l"/>
              </a:tabLst>
            </a:pPr>
            <a:r>
              <a:rPr lang="en-US" sz="2000" dirty="0" err="1">
                <a:latin typeface="Calibri"/>
                <a:cs typeface="Calibri"/>
              </a:rPr>
              <a:t>ijk</a:t>
            </a:r>
            <a:r>
              <a:rPr lang="en-US" sz="2000" dirty="0">
                <a:latin typeface="Calibri"/>
                <a:cs typeface="Calibri"/>
              </a:rPr>
              <a:t> (&amp; </a:t>
            </a:r>
            <a:r>
              <a:rPr lang="en-US" sz="2000" dirty="0" err="1">
                <a:latin typeface="Calibri"/>
                <a:cs typeface="Calibri"/>
              </a:rPr>
              <a:t>jik</a:t>
            </a:r>
            <a:r>
              <a:rPr lang="en-US" sz="2000" dirty="0">
                <a:latin typeface="Calibri"/>
                <a:cs typeface="Calibri"/>
              </a:rPr>
              <a:t>): </a:t>
            </a:r>
          </a:p>
          <a:p>
            <a:pPr marL="114300" lvl="1" algn="l">
              <a:lnSpc>
                <a:spcPct val="100000"/>
              </a:lnSpc>
              <a:buFontTx/>
              <a:buChar char="•"/>
              <a:tabLst>
                <a:tab pos="228600" algn="l"/>
              </a:tabLst>
            </a:pP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b="0" dirty="0">
                <a:latin typeface="Calibri"/>
                <a:cs typeface="Calibri"/>
              </a:rPr>
              <a:t>2 loads, 0 stores</a:t>
            </a:r>
          </a:p>
          <a:p>
            <a:pPr marL="114300" lvl="1" algn="l">
              <a:lnSpc>
                <a:spcPct val="100000"/>
              </a:lnSpc>
              <a:buFontTx/>
              <a:buChar char="•"/>
              <a:tabLst>
                <a:tab pos="228600" algn="l"/>
              </a:tabLst>
            </a:pPr>
            <a:r>
              <a:rPr lang="en-US" sz="2000" b="0" dirty="0">
                <a:latin typeface="Calibri"/>
                <a:cs typeface="Calibri"/>
              </a:rPr>
              <a:t> misses/</a:t>
            </a:r>
            <a:r>
              <a:rPr lang="en-US" sz="2000" b="0" dirty="0" err="1">
                <a:latin typeface="Calibri"/>
                <a:cs typeface="Calibri"/>
              </a:rPr>
              <a:t>iter</a:t>
            </a:r>
            <a:r>
              <a:rPr lang="en-US" sz="2000" b="0" dirty="0">
                <a:latin typeface="Calibri"/>
                <a:cs typeface="Calibri"/>
              </a:rPr>
              <a:t> = </a:t>
            </a:r>
            <a:r>
              <a:rPr lang="en-US" sz="2000" dirty="0">
                <a:latin typeface="Calibri"/>
                <a:cs typeface="Calibri"/>
              </a:rPr>
              <a:t>1.25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5486400" y="3313113"/>
            <a:ext cx="2196113" cy="10130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  <a:tabLst>
                <a:tab pos="228600" algn="l"/>
              </a:tabLst>
            </a:pPr>
            <a:r>
              <a:rPr lang="en-US" sz="2000">
                <a:latin typeface="Calibri"/>
                <a:cs typeface="Calibri"/>
              </a:rPr>
              <a:t>kij (&amp; ikj): </a:t>
            </a:r>
          </a:p>
          <a:p>
            <a:pPr marL="114300" lvl="1" algn="l">
              <a:lnSpc>
                <a:spcPct val="100000"/>
              </a:lnSpc>
              <a:buFontTx/>
              <a:buChar char="•"/>
              <a:tabLst>
                <a:tab pos="228600" algn="l"/>
              </a:tabLst>
            </a:pPr>
            <a:r>
              <a:rPr lang="en-US" sz="2000">
                <a:latin typeface="Calibri"/>
                <a:cs typeface="Calibri"/>
              </a:rPr>
              <a:t> </a:t>
            </a:r>
            <a:r>
              <a:rPr lang="en-US" sz="2000" b="0">
                <a:latin typeface="Calibri"/>
                <a:cs typeface="Calibri"/>
              </a:rPr>
              <a:t>2 loads, 1 store</a:t>
            </a:r>
          </a:p>
          <a:p>
            <a:pPr marL="114300" lvl="1" algn="l">
              <a:lnSpc>
                <a:spcPct val="100000"/>
              </a:lnSpc>
              <a:buFontTx/>
              <a:buChar char="•"/>
              <a:tabLst>
                <a:tab pos="228600" algn="l"/>
              </a:tabLst>
            </a:pPr>
            <a:r>
              <a:rPr lang="en-US" sz="2000" b="0">
                <a:latin typeface="Calibri"/>
                <a:cs typeface="Calibri"/>
              </a:rPr>
              <a:t> misses/iter = </a:t>
            </a:r>
            <a:r>
              <a:rPr lang="en-US" sz="2000">
                <a:latin typeface="Calibri"/>
                <a:cs typeface="Calibri"/>
              </a:rPr>
              <a:t>0.5</a:t>
            </a:r>
            <a:endParaRPr lang="en-US" sz="2000" b="0">
              <a:latin typeface="Calibri"/>
              <a:cs typeface="Calibri"/>
            </a:endParaRPr>
          </a:p>
        </p:txBody>
      </p:sp>
      <p:sp>
        <p:nvSpPr>
          <p:cNvPr id="177160" name="Rectangle 8"/>
          <p:cNvSpPr>
            <a:spLocks noChangeArrowheads="1"/>
          </p:cNvSpPr>
          <p:nvPr/>
        </p:nvSpPr>
        <p:spPr bwMode="auto">
          <a:xfrm>
            <a:off x="5486400" y="5184775"/>
            <a:ext cx="2221761" cy="10130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  <a:tabLst>
                <a:tab pos="228600" algn="l"/>
              </a:tabLst>
            </a:pPr>
            <a:r>
              <a:rPr lang="en-US" sz="2000">
                <a:latin typeface="Calibri"/>
                <a:cs typeface="Calibri"/>
              </a:rPr>
              <a:t>jki (&amp; kji): </a:t>
            </a:r>
          </a:p>
          <a:p>
            <a:pPr marL="114300" lvl="1" algn="l">
              <a:lnSpc>
                <a:spcPct val="100000"/>
              </a:lnSpc>
              <a:buFontTx/>
              <a:buChar char="•"/>
              <a:tabLst>
                <a:tab pos="228600" algn="l"/>
              </a:tabLst>
            </a:pPr>
            <a:r>
              <a:rPr lang="en-US" sz="2000">
                <a:latin typeface="Calibri"/>
                <a:cs typeface="Calibri"/>
              </a:rPr>
              <a:t> </a:t>
            </a:r>
            <a:r>
              <a:rPr lang="en-US" sz="2000" b="0">
                <a:latin typeface="Calibri"/>
                <a:cs typeface="Calibri"/>
              </a:rPr>
              <a:t>2 loads, 1 store</a:t>
            </a:r>
          </a:p>
          <a:p>
            <a:pPr marL="114300" lvl="1" algn="l">
              <a:lnSpc>
                <a:spcPct val="100000"/>
              </a:lnSpc>
              <a:buFontTx/>
              <a:buChar char="•"/>
              <a:tabLst>
                <a:tab pos="228600" algn="l"/>
              </a:tabLst>
            </a:pPr>
            <a:r>
              <a:rPr lang="en-US" sz="2000" b="0">
                <a:latin typeface="Calibri"/>
                <a:cs typeface="Calibri"/>
              </a:rPr>
              <a:t> misses/iter = </a:t>
            </a:r>
            <a:r>
              <a:rPr lang="en-US" sz="2000">
                <a:latin typeface="Calibri"/>
                <a:cs typeface="Calibri"/>
              </a:rPr>
              <a:t>2.0</a:t>
            </a:r>
            <a:endParaRPr lang="en-US" sz="2000" b="0">
              <a:latin typeface="Calibri"/>
              <a:cs typeface="Calibri"/>
            </a:endParaRPr>
          </a:p>
        </p:txBody>
      </p:sp>
      <p:sp>
        <p:nvSpPr>
          <p:cNvPr id="177155" name="Rectangle 3"/>
          <p:cNvSpPr>
            <a:spLocks noChangeArrowheads="1"/>
          </p:cNvSpPr>
          <p:nvPr/>
        </p:nvSpPr>
        <p:spPr bwMode="auto">
          <a:xfrm>
            <a:off x="1295400" y="1058863"/>
            <a:ext cx="3481388" cy="2082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 dirty="0">
                <a:latin typeface="Courier New" charset="0"/>
              </a:rPr>
              <a:t>for (</a:t>
            </a:r>
            <a:r>
              <a:rPr lang="en-US" sz="1400" dirty="0" err="1">
                <a:latin typeface="Courier New" charset="0"/>
              </a:rPr>
              <a:t>i</a:t>
            </a:r>
            <a:r>
              <a:rPr lang="en-US" sz="1400" dirty="0">
                <a:latin typeface="Courier New" charset="0"/>
              </a:rPr>
              <a:t>=0; </a:t>
            </a:r>
            <a:r>
              <a:rPr lang="en-US" sz="1400" dirty="0" err="1">
                <a:latin typeface="Courier New" charset="0"/>
              </a:rPr>
              <a:t>i</a:t>
            </a:r>
            <a:r>
              <a:rPr lang="en-US" sz="1400" dirty="0">
                <a:latin typeface="Courier New" charset="0"/>
              </a:rPr>
              <a:t>&lt;</a:t>
            </a:r>
            <a:r>
              <a:rPr lang="en-US" sz="1400" dirty="0" err="1">
                <a:latin typeface="Courier New" charset="0"/>
              </a:rPr>
              <a:t>n</a:t>
            </a:r>
            <a:r>
              <a:rPr lang="en-US" sz="1400" dirty="0">
                <a:latin typeface="Courier New" charset="0"/>
              </a:rPr>
              <a:t>; </a:t>
            </a:r>
            <a:r>
              <a:rPr lang="en-US" sz="1400" dirty="0" err="1">
                <a:latin typeface="Courier New" charset="0"/>
              </a:rPr>
              <a:t>i</a:t>
            </a:r>
            <a:r>
              <a:rPr lang="en-US" sz="1400" dirty="0">
                <a:latin typeface="Courier New" charset="0"/>
              </a:rPr>
              <a:t>++) {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 dirty="0">
                <a:latin typeface="Courier New" charset="0"/>
              </a:rPr>
              <a:t>  for (</a:t>
            </a:r>
            <a:r>
              <a:rPr lang="en-US" sz="1400" dirty="0" err="1">
                <a:latin typeface="Courier New" charset="0"/>
              </a:rPr>
              <a:t>j</a:t>
            </a:r>
            <a:r>
              <a:rPr lang="en-US" sz="1400" dirty="0">
                <a:latin typeface="Courier New" charset="0"/>
              </a:rPr>
              <a:t>=0; </a:t>
            </a:r>
            <a:r>
              <a:rPr lang="en-US" sz="1400" dirty="0" err="1">
                <a:latin typeface="Courier New" charset="0"/>
              </a:rPr>
              <a:t>j</a:t>
            </a:r>
            <a:r>
              <a:rPr lang="en-US" sz="1400" dirty="0">
                <a:latin typeface="Courier New" charset="0"/>
              </a:rPr>
              <a:t>&lt;</a:t>
            </a:r>
            <a:r>
              <a:rPr lang="en-US" sz="1400" dirty="0" err="1">
                <a:latin typeface="Courier New" charset="0"/>
              </a:rPr>
              <a:t>n</a:t>
            </a:r>
            <a:r>
              <a:rPr lang="en-US" sz="1400" dirty="0">
                <a:latin typeface="Courier New" charset="0"/>
              </a:rPr>
              <a:t>; </a:t>
            </a:r>
            <a:r>
              <a:rPr lang="en-US" sz="1400" dirty="0" err="1">
                <a:latin typeface="Courier New" charset="0"/>
              </a:rPr>
              <a:t>j</a:t>
            </a:r>
            <a:r>
              <a:rPr lang="en-US" sz="1400" dirty="0">
                <a:latin typeface="Courier New" charset="0"/>
              </a:rPr>
              <a:t>++) {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 dirty="0">
                <a:latin typeface="Courier New" charset="0"/>
              </a:rPr>
              <a:t>   sum = 0.0;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 dirty="0">
                <a:latin typeface="Courier New" charset="0"/>
              </a:rPr>
              <a:t>   for (</a:t>
            </a:r>
            <a:r>
              <a:rPr lang="en-US" sz="1400" dirty="0" err="1">
                <a:latin typeface="Courier New" charset="0"/>
              </a:rPr>
              <a:t>k</a:t>
            </a:r>
            <a:r>
              <a:rPr lang="en-US" sz="1400" dirty="0">
                <a:latin typeface="Courier New" charset="0"/>
              </a:rPr>
              <a:t>=0; </a:t>
            </a:r>
            <a:r>
              <a:rPr lang="en-US" sz="1400" dirty="0" err="1">
                <a:latin typeface="Courier New" charset="0"/>
              </a:rPr>
              <a:t>k</a:t>
            </a:r>
            <a:r>
              <a:rPr lang="en-US" sz="1400" dirty="0">
                <a:latin typeface="Courier New" charset="0"/>
              </a:rPr>
              <a:t>&lt;</a:t>
            </a:r>
            <a:r>
              <a:rPr lang="en-US" sz="1400" dirty="0" err="1">
                <a:latin typeface="Courier New" charset="0"/>
              </a:rPr>
              <a:t>n</a:t>
            </a:r>
            <a:r>
              <a:rPr lang="en-US" sz="1400" dirty="0">
                <a:latin typeface="Courier New" charset="0"/>
              </a:rPr>
              <a:t>; </a:t>
            </a:r>
            <a:r>
              <a:rPr lang="en-US" sz="1400" dirty="0" err="1">
                <a:latin typeface="Courier New" charset="0"/>
              </a:rPr>
              <a:t>k</a:t>
            </a:r>
            <a:r>
              <a:rPr lang="en-US" sz="1400" dirty="0">
                <a:latin typeface="Courier New" charset="0"/>
              </a:rPr>
              <a:t>++) 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 dirty="0">
                <a:latin typeface="Courier New" charset="0"/>
              </a:rPr>
              <a:t>     sum += </a:t>
            </a:r>
            <a:r>
              <a:rPr lang="en-US" sz="1400" dirty="0" err="1">
                <a:latin typeface="Courier New" charset="0"/>
              </a:rPr>
              <a:t>a[i][k</a:t>
            </a:r>
            <a:r>
              <a:rPr lang="en-US" sz="1400" dirty="0">
                <a:latin typeface="Courier New" charset="0"/>
              </a:rPr>
              <a:t>] * </a:t>
            </a:r>
            <a:r>
              <a:rPr lang="en-US" sz="1400" dirty="0" err="1">
                <a:latin typeface="Courier New" charset="0"/>
              </a:rPr>
              <a:t>b[k][j</a:t>
            </a:r>
            <a:r>
              <a:rPr lang="en-US" sz="1400" dirty="0">
                <a:latin typeface="Courier New" charset="0"/>
              </a:rPr>
              <a:t>];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 dirty="0">
                <a:latin typeface="Courier New" charset="0"/>
              </a:rPr>
              <a:t>   </a:t>
            </a:r>
            <a:r>
              <a:rPr lang="en-US" sz="1400" dirty="0" err="1">
                <a:latin typeface="Courier New" charset="0"/>
              </a:rPr>
              <a:t>c[i][j</a:t>
            </a:r>
            <a:r>
              <a:rPr lang="en-US" sz="1400" dirty="0">
                <a:latin typeface="Courier New" charset="0"/>
              </a:rPr>
              <a:t>] = sum;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 dirty="0">
                <a:latin typeface="Courier New" charset="0"/>
              </a:rPr>
              <a:t> }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 dirty="0">
                <a:latin typeface="Courier New" charset="0"/>
              </a:rPr>
              <a:t>} </a:t>
            </a:r>
          </a:p>
        </p:txBody>
      </p:sp>
      <p:sp>
        <p:nvSpPr>
          <p:cNvPr id="177157" name="Rectangle 5"/>
          <p:cNvSpPr>
            <a:spLocks noChangeArrowheads="1"/>
          </p:cNvSpPr>
          <p:nvPr/>
        </p:nvSpPr>
        <p:spPr bwMode="auto">
          <a:xfrm>
            <a:off x="1295400" y="3221038"/>
            <a:ext cx="3481388" cy="17843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for (k=0; k&lt;n; k++) {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 for (i=0; i&lt;n; i++) {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  r = a[i][k];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  for (j=0; j&lt;n; j++)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   c[i][j] += r * b[k][j];   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 }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}</a:t>
            </a:r>
          </a:p>
        </p:txBody>
      </p:sp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1295400" y="5073650"/>
            <a:ext cx="3481388" cy="17843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for (j=0; j&lt;n; j++) {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 for (k=0; k&lt;n; k++) {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   r = b[k][j];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   for (i=0; i&lt;n; i++)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    c[i][j] += a[i][k] * r;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 }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sz="1400">
                <a:latin typeface="Courier New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i7 Matrix Multiply Performance</a:t>
            </a:r>
          </a:p>
        </p:txBody>
      </p:sp>
      <p:graphicFrame>
        <p:nvGraphicFramePr>
          <p:cNvPr id="9" name="Chart 8"/>
          <p:cNvGraphicFramePr>
            <a:graphicFrameLocks noChangeAspect="1"/>
          </p:cNvGraphicFramePr>
          <p:nvPr/>
        </p:nvGraphicFramePr>
        <p:xfrm>
          <a:off x="228600" y="1447800"/>
          <a:ext cx="8686800" cy="52507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13501" y="3124200"/>
            <a:ext cx="21066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33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ijk</a:t>
            </a:r>
            <a:r>
              <a:rPr lang="en-US" sz="2000" dirty="0">
                <a:solidFill>
                  <a:srgbClr val="336699"/>
                </a:solidFill>
                <a:latin typeface="Calibri" pitchFamily="34" charset="0"/>
              </a:rPr>
              <a:t> / </a:t>
            </a:r>
            <a:r>
              <a:rPr lang="en-US" sz="2000" dirty="0" err="1">
                <a:solidFill>
                  <a:srgbClr val="33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jik</a:t>
            </a:r>
            <a:r>
              <a:rPr lang="en-US" sz="2000" dirty="0">
                <a:solidFill>
                  <a:srgbClr val="33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33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(1.25)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62600" y="1549933"/>
            <a:ext cx="1976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jki</a:t>
            </a:r>
            <a:r>
              <a:rPr lang="en-US" sz="2000" dirty="0">
                <a:solidFill>
                  <a:srgbClr val="C00000"/>
                </a:solidFill>
                <a:latin typeface="Calibri" pitchFamily="34" charset="0"/>
              </a:rPr>
              <a:t> / </a:t>
            </a:r>
            <a:r>
              <a:rPr lang="en-US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kji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0445" y="5486400"/>
            <a:ext cx="1976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kij</a:t>
            </a:r>
            <a:r>
              <a:rPr lang="en-US" sz="2000" dirty="0">
                <a:solidFill>
                  <a:srgbClr val="008000"/>
                </a:solidFill>
                <a:latin typeface="Calibri" pitchFamily="34" charset="0"/>
              </a:rPr>
              <a:t> / </a:t>
            </a:r>
            <a:r>
              <a:rPr lang="en-US" sz="2000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ikj</a:t>
            </a:r>
            <a:r>
              <a:rPr lang="en-US" sz="20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(0.5)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1156750"/>
            <a:ext cx="2420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itchFamily="34" charset="0"/>
              </a:rPr>
              <a:t>Cycles per inner loop iteration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Cache organization and operation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Performance impact of caches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memory mountain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Rearranging loops to improve spatial locality</a:t>
            </a:r>
          </a:p>
          <a:p>
            <a:pPr lvl="1"/>
            <a:r>
              <a:rPr lang="en-US" dirty="0"/>
              <a:t>Using blocking to improve temporal locality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439" y="445070"/>
            <a:ext cx="7591425" cy="762000"/>
          </a:xfrm>
        </p:spPr>
        <p:txBody>
          <a:bodyPr/>
          <a:lstStyle/>
          <a:p>
            <a:r>
              <a:rPr lang="en-US" dirty="0"/>
              <a:t>Example: Matrix Multiplication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2284665" y="45720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a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884865" y="45720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b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2284665" y="5427663"/>
            <a:ext cx="1143000" cy="1588"/>
          </a:xfrm>
          <a:prstGeom prst="line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 rot="5400000">
            <a:off x="3998371" y="5142706"/>
            <a:ext cx="1143000" cy="1588"/>
          </a:xfrm>
          <a:prstGeom prst="line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2087560" y="5242573"/>
            <a:ext cx="240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i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70399" y="3936999"/>
            <a:ext cx="243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9997" y="498629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*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499532" y="45720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5782" y="487680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=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1185332" y="5410200"/>
            <a:ext cx="76200" cy="76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499532" y="1413396"/>
            <a:ext cx="6537045" cy="2305759"/>
          </a:xfrm>
          <a:prstGeom prst="rect">
            <a:avLst/>
          </a:prstGeom>
          <a:solidFill>
            <a:srgbClr val="F6F5BD"/>
          </a:solidFill>
          <a:ln w="1270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Multiply n x n matrices a and b  */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</a:rPr>
              <a:t>mmm</a:t>
            </a:r>
            <a:r>
              <a:rPr lang="en-US" sz="1600" dirty="0">
                <a:latin typeface="Courier New" pitchFamily="49" charset="0"/>
              </a:rPr>
              <a:t>(double *a, double *b, double *c,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n) {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, j, k;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for (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= 0;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&lt; n;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++)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for (j = 0; j &lt; n; j++)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         for (k = 0; k &lt; n; k++)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         c[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][j] += a[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][k] * b[k][j];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}</a:t>
            </a:r>
          </a:p>
          <a:p>
            <a:pPr algn="l">
              <a:lnSpc>
                <a:spcPct val="100000"/>
              </a:lnSpc>
            </a:pPr>
            <a:endParaRPr lang="en-US" sz="1600" dirty="0">
              <a:latin typeface="Courier New" pitchFamily="49" charset="0"/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396875" y="5562599"/>
            <a:ext cx="7896225" cy="7715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Miss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209675"/>
            <a:ext cx="7896225" cy="3057525"/>
          </a:xfrm>
        </p:spPr>
        <p:txBody>
          <a:bodyPr/>
          <a:lstStyle/>
          <a:p>
            <a:r>
              <a:rPr lang="en-US" dirty="0"/>
              <a:t>Assume: </a:t>
            </a:r>
          </a:p>
          <a:p>
            <a:pPr lvl="1"/>
            <a:r>
              <a:rPr lang="en-US" dirty="0"/>
              <a:t>Matrix elements are doubles</a:t>
            </a:r>
          </a:p>
          <a:p>
            <a:pPr lvl="1"/>
            <a:r>
              <a:rPr lang="en-US" dirty="0"/>
              <a:t>Cache block = 8 doubles</a:t>
            </a:r>
          </a:p>
          <a:p>
            <a:pPr lvl="1"/>
            <a:r>
              <a:rPr lang="en-US" dirty="0"/>
              <a:t>Cache size C &lt;&lt; n (much smaller than n)</a:t>
            </a:r>
          </a:p>
          <a:p>
            <a:endParaRPr lang="en-US" dirty="0"/>
          </a:p>
          <a:p>
            <a:r>
              <a:rPr lang="en-US" dirty="0"/>
              <a:t>First iteration:</a:t>
            </a:r>
          </a:p>
          <a:p>
            <a:pPr lvl="1"/>
            <a:r>
              <a:rPr lang="en-US" dirty="0"/>
              <a:t>n/8 + n = 9n/8 misses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Afterwards </a:t>
            </a:r>
            <a:r>
              <a:rPr lang="en-US" dirty="0">
                <a:solidFill>
                  <a:srgbClr val="C00000"/>
                </a:solidFill>
              </a:rPr>
              <a:t>in cache:</a:t>
            </a:r>
            <a:br>
              <a:rPr lang="en-US" dirty="0"/>
            </a:br>
            <a:r>
              <a:rPr lang="en-US" dirty="0"/>
              <a:t>(schematic)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710367" y="36576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310567" y="36576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5710367" y="3657601"/>
            <a:ext cx="1143000" cy="1588"/>
          </a:xfrm>
          <a:prstGeom prst="line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 rot="5400000">
            <a:off x="6741196" y="4228306"/>
            <a:ext cx="1143000" cy="1588"/>
          </a:xfrm>
          <a:prstGeom prst="line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895699" y="407189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*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3925234" y="36576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91484" y="396240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=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3925234" y="3657601"/>
            <a:ext cx="76200" cy="76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4" name="AutoShape 16"/>
          <p:cNvSpPr>
            <a:spLocks/>
          </p:cNvSpPr>
          <p:nvPr/>
        </p:nvSpPr>
        <p:spPr bwMode="auto">
          <a:xfrm rot="5400000" flipV="1">
            <a:off x="7755466" y="2819400"/>
            <a:ext cx="228600" cy="114300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21601" y="2907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n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5715000" y="52578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7315200" y="52578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5715000" y="5257801"/>
            <a:ext cx="1143000" cy="1588"/>
          </a:xfrm>
          <a:prstGeom prst="line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rot="5400000">
            <a:off x="6745829" y="5828506"/>
            <a:ext cx="1143000" cy="1588"/>
          </a:xfrm>
          <a:prstGeom prst="line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6900332" y="567209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*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3929867" y="52578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96117" y="556260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=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3929867" y="5257801"/>
            <a:ext cx="76200" cy="76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cxnSp>
        <p:nvCxnSpPr>
          <p:cNvPr id="24" name="Straight Connector 23"/>
          <p:cNvCxnSpPr/>
          <p:nvPr/>
        </p:nvCxnSpPr>
        <p:spPr bwMode="auto">
          <a:xfrm>
            <a:off x="6477000" y="5257800"/>
            <a:ext cx="381000" cy="529"/>
          </a:xfrm>
          <a:prstGeom prst="lin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ectangle 25"/>
          <p:cNvSpPr/>
          <p:nvPr/>
        </p:nvSpPr>
        <p:spPr bwMode="auto">
          <a:xfrm>
            <a:off x="7298266" y="6155842"/>
            <a:ext cx="245534" cy="253425"/>
          </a:xfrm>
          <a:prstGeom prst="rect">
            <a:avLst/>
          </a:prstGeom>
          <a:solidFill>
            <a:srgbClr val="C00000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95064" y="6400800"/>
            <a:ext cx="67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Calibri" pitchFamily="34" charset="0"/>
              </a:rPr>
              <a:t>8 wide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/>
      <p:bldP spid="21" grpId="0" animBg="1"/>
      <p:bldP spid="22" grpId="0"/>
      <p:bldP spid="23" grpId="0" animBg="1"/>
      <p:bldP spid="26" grpId="0" animBg="1"/>
      <p:bldP spid="2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Miss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209675"/>
            <a:ext cx="7896225" cy="3057525"/>
          </a:xfrm>
        </p:spPr>
        <p:txBody>
          <a:bodyPr/>
          <a:lstStyle/>
          <a:p>
            <a:r>
              <a:rPr lang="en-US" dirty="0"/>
              <a:t>Assume: </a:t>
            </a:r>
          </a:p>
          <a:p>
            <a:pPr lvl="1"/>
            <a:r>
              <a:rPr lang="en-US" dirty="0"/>
              <a:t>Matrix elements are doubles</a:t>
            </a:r>
          </a:p>
          <a:p>
            <a:pPr lvl="1"/>
            <a:r>
              <a:rPr lang="en-US" dirty="0"/>
              <a:t>Cache block = 8 doubles</a:t>
            </a:r>
          </a:p>
          <a:p>
            <a:pPr lvl="1"/>
            <a:r>
              <a:rPr lang="en-US" dirty="0"/>
              <a:t>Cache size C &lt;&lt; n (much smaller than n)</a:t>
            </a:r>
          </a:p>
          <a:p>
            <a:endParaRPr lang="en-US" dirty="0"/>
          </a:p>
          <a:p>
            <a:r>
              <a:rPr lang="en-US" dirty="0"/>
              <a:t>Second iteration:</a:t>
            </a:r>
          </a:p>
          <a:p>
            <a:pPr lvl="1"/>
            <a:r>
              <a:rPr lang="en-US" dirty="0"/>
              <a:t>Again:</a:t>
            </a:r>
            <a:br>
              <a:rPr lang="en-US" dirty="0"/>
            </a:br>
            <a:r>
              <a:rPr lang="en-US" dirty="0"/>
              <a:t>n/8 + n = 9n/8 misses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Total misses:</a:t>
            </a:r>
          </a:p>
          <a:p>
            <a:pPr lvl="1"/>
            <a:r>
              <a:rPr lang="en-US" dirty="0"/>
              <a:t>9n/8 * n</a:t>
            </a:r>
            <a:r>
              <a:rPr lang="en-US" baseline="30000" dirty="0"/>
              <a:t>2</a:t>
            </a:r>
            <a:r>
              <a:rPr lang="en-US" dirty="0"/>
              <a:t> = (9/8) * n</a:t>
            </a:r>
            <a:r>
              <a:rPr lang="en-US" baseline="30000" dirty="0"/>
              <a:t>3</a:t>
            </a:r>
            <a:r>
              <a:rPr lang="en-US" dirty="0"/>
              <a:t> </a:t>
            </a:r>
          </a:p>
        </p:txBody>
      </p:sp>
      <p:sp>
        <p:nvSpPr>
          <p:cNvPr id="14" name="AutoShape 16"/>
          <p:cNvSpPr>
            <a:spLocks/>
          </p:cNvSpPr>
          <p:nvPr/>
        </p:nvSpPr>
        <p:spPr bwMode="auto">
          <a:xfrm rot="5400000" flipV="1">
            <a:off x="7755466" y="2819400"/>
            <a:ext cx="228600" cy="114300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21601" y="2907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n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5715000" y="3654623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7315200" y="3654623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5715000" y="3654624"/>
            <a:ext cx="1143000" cy="1588"/>
          </a:xfrm>
          <a:prstGeom prst="line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rot="5400000">
            <a:off x="6836039" y="4225329"/>
            <a:ext cx="1143000" cy="1588"/>
          </a:xfrm>
          <a:prstGeom prst="line">
            <a:avLst/>
          </a:prstGeom>
          <a:noFill/>
          <a:ln w="571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6900332" y="406891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*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3929867" y="3654623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96117" y="3959423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=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4004732" y="3654624"/>
            <a:ext cx="76200" cy="76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cxnSp>
        <p:nvCxnSpPr>
          <p:cNvPr id="24" name="Straight Connector 23"/>
          <p:cNvCxnSpPr/>
          <p:nvPr/>
        </p:nvCxnSpPr>
        <p:spPr bwMode="auto">
          <a:xfrm>
            <a:off x="6477000" y="3654623"/>
            <a:ext cx="381000" cy="529"/>
          </a:xfrm>
          <a:prstGeom prst="lin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ectangle 25"/>
          <p:cNvSpPr/>
          <p:nvPr/>
        </p:nvSpPr>
        <p:spPr bwMode="auto">
          <a:xfrm>
            <a:off x="7298266" y="4552665"/>
            <a:ext cx="245534" cy="253425"/>
          </a:xfrm>
          <a:prstGeom prst="rect">
            <a:avLst/>
          </a:prstGeom>
          <a:solidFill>
            <a:srgbClr val="C00000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95064" y="4797623"/>
            <a:ext cx="67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Calibri" pitchFamily="34" charset="0"/>
              </a:rPr>
              <a:t>8 wide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Blocked Matrix Multiplication</a:t>
            </a: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52400" y="1143000"/>
            <a:ext cx="8839200" cy="3536865"/>
          </a:xfrm>
          <a:prstGeom prst="rect">
            <a:avLst/>
          </a:prstGeom>
          <a:solidFill>
            <a:srgbClr val="F6F5BD"/>
          </a:solidFill>
          <a:ln w="1270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c = (double *) </a:t>
            </a:r>
            <a:r>
              <a:rPr lang="en-US" sz="1600" dirty="0" err="1">
                <a:latin typeface="Courier New" pitchFamily="49" charset="0"/>
              </a:rPr>
              <a:t>calloc</a:t>
            </a:r>
            <a:r>
              <a:rPr lang="en-US" sz="1600" dirty="0">
                <a:latin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</a:rPr>
              <a:t>sizeof</a:t>
            </a:r>
            <a:r>
              <a:rPr lang="en-US" sz="1600" dirty="0">
                <a:latin typeface="Courier New" pitchFamily="49" charset="0"/>
              </a:rPr>
              <a:t>(double), n*n);</a:t>
            </a:r>
          </a:p>
          <a:p>
            <a:pPr algn="l">
              <a:lnSpc>
                <a:spcPct val="100000"/>
              </a:lnSpc>
            </a:pP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Multiply n x n matrices a and b  */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void </a:t>
            </a:r>
            <a:r>
              <a:rPr lang="en-US" sz="1600" dirty="0" err="1">
                <a:latin typeface="Courier New" pitchFamily="49" charset="0"/>
              </a:rPr>
              <a:t>mmm</a:t>
            </a:r>
            <a:r>
              <a:rPr lang="en-US" sz="1600" dirty="0">
                <a:latin typeface="Courier New" pitchFamily="49" charset="0"/>
              </a:rPr>
              <a:t>(double *a, double *b, double *c,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n) {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, j, k;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for (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= 0;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&lt; n;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+=B)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for (j = 0; j &lt; n; j+=B)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         for (k = 0; k &lt; n; k+=B)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	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B x B mini matrix multiplications */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              for (i1 =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; i1 &lt; </a:t>
            </a:r>
            <a:r>
              <a:rPr lang="en-US" sz="1600" dirty="0" err="1">
                <a:latin typeface="Courier New" pitchFamily="49" charset="0"/>
              </a:rPr>
              <a:t>i+B</a:t>
            </a:r>
            <a:r>
              <a:rPr lang="en-US" sz="1600" dirty="0">
                <a:latin typeface="Courier New" pitchFamily="49" charset="0"/>
              </a:rPr>
              <a:t>;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++)</a:t>
            </a:r>
          </a:p>
          <a:p>
            <a:r>
              <a:rPr lang="en-US" sz="1600" dirty="0">
                <a:latin typeface="Courier New" pitchFamily="49" charset="0"/>
              </a:rPr>
              <a:t>                      for (j1 = j; j1 &lt; </a:t>
            </a:r>
            <a:r>
              <a:rPr lang="en-US" sz="1600" dirty="0" err="1">
                <a:latin typeface="Courier New" pitchFamily="49" charset="0"/>
              </a:rPr>
              <a:t>j+B</a:t>
            </a:r>
            <a:r>
              <a:rPr lang="en-US" sz="1600" dirty="0">
                <a:latin typeface="Courier New" pitchFamily="49" charset="0"/>
              </a:rPr>
              <a:t>; j++)</a:t>
            </a:r>
          </a:p>
          <a:p>
            <a:r>
              <a:rPr lang="en-US" sz="1600" dirty="0">
                <a:latin typeface="Courier New" pitchFamily="49" charset="0"/>
              </a:rPr>
              <a:t>                          for (k1 = k; k1 &lt; </a:t>
            </a:r>
            <a:r>
              <a:rPr lang="en-US" sz="1600" dirty="0" err="1">
                <a:latin typeface="Courier New" pitchFamily="49" charset="0"/>
              </a:rPr>
              <a:t>k+B</a:t>
            </a:r>
            <a:r>
              <a:rPr lang="en-US" sz="1600" dirty="0">
                <a:latin typeface="Courier New" pitchFamily="49" charset="0"/>
              </a:rPr>
              <a:t>; k++)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                      c[i1][j1] += a[i1][k1]*b[k1][j1];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2284665" y="51816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884865" y="51816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200" y="5852173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i1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4196" y="4659868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j1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9997" y="559589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*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499532" y="51816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5782" y="548640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=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1143000" y="5969001"/>
            <a:ext cx="186268" cy="1862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5528732" y="51816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3864" y="548640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2284665" y="5943600"/>
            <a:ext cx="1143000" cy="228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 rot="5400000">
            <a:off x="3996268" y="5638800"/>
            <a:ext cx="1143000" cy="228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cxnSp>
        <p:nvCxnSpPr>
          <p:cNvPr id="23" name="Straight Connector 22"/>
          <p:cNvCxnSpPr/>
          <p:nvPr/>
        </p:nvCxnSpPr>
        <p:spPr bwMode="auto">
          <a:xfrm rot="5400000">
            <a:off x="2848242" y="6048639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 rot="5400000">
            <a:off x="3085309" y="6048639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 rot="5400000">
            <a:off x="2384163" y="6048639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/>
          <p:nvPr/>
        </p:nvCxnSpPr>
        <p:spPr bwMode="auto">
          <a:xfrm rot="5400000">
            <a:off x="2612763" y="6048639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Group 30"/>
          <p:cNvGrpSpPr/>
          <p:nvPr/>
        </p:nvGrpSpPr>
        <p:grpSpPr>
          <a:xfrm rot="5400000">
            <a:off x="4207934" y="5647267"/>
            <a:ext cx="702734" cy="228600"/>
            <a:chOff x="2650069" y="6316133"/>
            <a:chExt cx="702734" cy="228600"/>
          </a:xfrm>
        </p:grpSpPr>
        <p:cxnSp>
          <p:nvCxnSpPr>
            <p:cNvPr id="27" name="Straight Connector 26"/>
            <p:cNvCxnSpPr/>
            <p:nvPr/>
          </p:nvCxnSpPr>
          <p:spPr bwMode="auto">
            <a:xfrm rot="5400000">
              <a:off x="3000642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 rot="5400000">
              <a:off x="3237709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/>
            <p:cNvCxnSpPr/>
            <p:nvPr/>
          </p:nvCxnSpPr>
          <p:spPr bwMode="auto">
            <a:xfrm rot="5400000">
              <a:off x="2536563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 rot="5400000">
              <a:off x="2765163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2" name="TextBox 31"/>
          <p:cNvSpPr txBox="1"/>
          <p:nvPr/>
        </p:nvSpPr>
        <p:spPr>
          <a:xfrm>
            <a:off x="3756917" y="6488668"/>
            <a:ext cx="162788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Block size B x B</a:t>
            </a:r>
          </a:p>
        </p:txBody>
      </p:sp>
      <p:cxnSp>
        <p:nvCxnSpPr>
          <p:cNvPr id="34" name="Straight Arrow Connector 33"/>
          <p:cNvCxnSpPr>
            <a:stCxn id="32" idx="0"/>
            <a:endCxn id="20" idx="3"/>
          </p:cNvCxnSpPr>
          <p:nvPr/>
        </p:nvCxnSpPr>
        <p:spPr bwMode="auto">
          <a:xfrm flipH="1" flipV="1">
            <a:off x="4567768" y="6324600"/>
            <a:ext cx="3090" cy="16406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7010400" y="4343400"/>
            <a:ext cx="2036948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matmult</a:t>
            </a:r>
            <a:r>
              <a:rPr lang="en-GB" sz="18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/</a:t>
            </a: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bmm.c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Miss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209675"/>
            <a:ext cx="7896225" cy="3057525"/>
          </a:xfrm>
        </p:spPr>
        <p:txBody>
          <a:bodyPr/>
          <a:lstStyle/>
          <a:p>
            <a:r>
              <a:rPr lang="en-US" dirty="0"/>
              <a:t>Assume: </a:t>
            </a:r>
          </a:p>
          <a:p>
            <a:pPr lvl="1"/>
            <a:r>
              <a:rPr lang="en-US" dirty="0"/>
              <a:t>Cache block = 8 doubles</a:t>
            </a:r>
          </a:p>
          <a:p>
            <a:pPr lvl="1"/>
            <a:r>
              <a:rPr lang="en-US" dirty="0"/>
              <a:t>Cache size C &lt;&lt; n (much smaller than n)</a:t>
            </a:r>
          </a:p>
          <a:p>
            <a:pPr lvl="1"/>
            <a:r>
              <a:rPr lang="en-US" dirty="0"/>
              <a:t>Three blocks       fit into cache: 3B</a:t>
            </a:r>
            <a:r>
              <a:rPr lang="en-US" baseline="30000" dirty="0"/>
              <a:t>2</a:t>
            </a:r>
            <a:r>
              <a:rPr lang="en-US" dirty="0"/>
              <a:t> &lt; C</a:t>
            </a:r>
          </a:p>
          <a:p>
            <a:endParaRPr lang="en-US" dirty="0"/>
          </a:p>
          <a:p>
            <a:r>
              <a:rPr lang="en-US" dirty="0"/>
              <a:t>First (block) iteration:</a:t>
            </a:r>
          </a:p>
          <a:p>
            <a:pPr lvl="1"/>
            <a:r>
              <a:rPr lang="en-US" dirty="0"/>
              <a:t>B</a:t>
            </a:r>
            <a:r>
              <a:rPr lang="en-US" baseline="30000" dirty="0"/>
              <a:t>2</a:t>
            </a:r>
            <a:r>
              <a:rPr lang="en-US" dirty="0"/>
              <a:t>/8 misses for each block</a:t>
            </a:r>
          </a:p>
          <a:p>
            <a:pPr lvl="1"/>
            <a:r>
              <a:rPr lang="en-US" dirty="0"/>
              <a:t>2n/B * B</a:t>
            </a:r>
            <a:r>
              <a:rPr lang="en-US" baseline="30000" dirty="0"/>
              <a:t>2</a:t>
            </a:r>
            <a:r>
              <a:rPr lang="en-US" dirty="0"/>
              <a:t>/8 = </a:t>
            </a:r>
            <a:r>
              <a:rPr lang="en-US" dirty="0" err="1"/>
              <a:t>nB</a:t>
            </a:r>
            <a:r>
              <a:rPr lang="en-US" dirty="0"/>
              <a:t>/4</a:t>
            </a:r>
            <a:br>
              <a:rPr lang="en-US" dirty="0"/>
            </a:br>
            <a:r>
              <a:rPr lang="en-US" dirty="0"/>
              <a:t>(omitting matrix c)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Afterwards in cache</a:t>
            </a:r>
            <a:br>
              <a:rPr lang="en-US" dirty="0"/>
            </a:br>
            <a:r>
              <a:rPr lang="en-US" dirty="0"/>
              <a:t>(schematic)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5899933" y="55626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7500133" y="55626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85265" y="597689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*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4114800" y="55626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81050" y="586740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=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4114800" y="5562600"/>
            <a:ext cx="186268" cy="1862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5899933" y="5560734"/>
            <a:ext cx="1143000" cy="228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 rot="5400000">
            <a:off x="7029618" y="6019800"/>
            <a:ext cx="1143000" cy="228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cxnSp>
        <p:nvCxnSpPr>
          <p:cNvPr id="39" name="Straight Connector 38"/>
          <p:cNvCxnSpPr/>
          <p:nvPr/>
        </p:nvCxnSpPr>
        <p:spPr bwMode="auto">
          <a:xfrm rot="5400000">
            <a:off x="6463510" y="5665773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/>
          <p:nvPr/>
        </p:nvCxnSpPr>
        <p:spPr bwMode="auto">
          <a:xfrm rot="5400000">
            <a:off x="6700577" y="5665773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/>
          <p:cNvCxnSpPr/>
          <p:nvPr/>
        </p:nvCxnSpPr>
        <p:spPr bwMode="auto">
          <a:xfrm rot="5400000">
            <a:off x="5999431" y="5665773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/>
          <p:cNvCxnSpPr/>
          <p:nvPr/>
        </p:nvCxnSpPr>
        <p:spPr bwMode="auto">
          <a:xfrm rot="5400000">
            <a:off x="6228031" y="5665773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" name="Group 30"/>
          <p:cNvGrpSpPr/>
          <p:nvPr/>
        </p:nvGrpSpPr>
        <p:grpSpPr>
          <a:xfrm rot="5400000">
            <a:off x="7241284" y="6028267"/>
            <a:ext cx="702734" cy="228600"/>
            <a:chOff x="2650069" y="6316133"/>
            <a:chExt cx="702734" cy="228600"/>
          </a:xfrm>
        </p:grpSpPr>
        <p:cxnSp>
          <p:nvCxnSpPr>
            <p:cNvPr id="44" name="Straight Connector 43"/>
            <p:cNvCxnSpPr/>
            <p:nvPr/>
          </p:nvCxnSpPr>
          <p:spPr bwMode="auto">
            <a:xfrm rot="5400000">
              <a:off x="3000642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rot="5400000">
              <a:off x="3237709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/>
            <p:nvPr/>
          </p:nvCxnSpPr>
          <p:spPr bwMode="auto">
            <a:xfrm rot="5400000">
              <a:off x="2536563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 rot="5400000">
              <a:off x="2765163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0" name="Rectangle 49"/>
          <p:cNvSpPr/>
          <p:nvPr/>
        </p:nvSpPr>
        <p:spPr bwMode="auto">
          <a:xfrm>
            <a:off x="2650066" y="2480732"/>
            <a:ext cx="186268" cy="1862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6814083" y="5552267"/>
            <a:ext cx="227262" cy="226893"/>
          </a:xfrm>
          <a:prstGeom prst="rect">
            <a:avLst/>
          </a:prstGeom>
          <a:solidFill>
            <a:srgbClr val="C00000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5899933" y="37338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7500133" y="37338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085265" y="414809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*</a:t>
            </a:r>
          </a:p>
        </p:txBody>
      </p:sp>
      <p:sp>
        <p:nvSpPr>
          <p:cNvPr id="58" name="Rectangle 57"/>
          <p:cNvSpPr/>
          <p:nvPr/>
        </p:nvSpPr>
        <p:spPr bwMode="auto">
          <a:xfrm>
            <a:off x="4114800" y="37338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81050" y="403860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=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4114800" y="3733800"/>
            <a:ext cx="186268" cy="1862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5899933" y="3731934"/>
            <a:ext cx="1143000" cy="228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 rot="5400000">
            <a:off x="7010400" y="4191000"/>
            <a:ext cx="1143000" cy="228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cxnSp>
        <p:nvCxnSpPr>
          <p:cNvPr id="63" name="Straight Connector 62"/>
          <p:cNvCxnSpPr/>
          <p:nvPr/>
        </p:nvCxnSpPr>
        <p:spPr bwMode="auto">
          <a:xfrm rot="5400000">
            <a:off x="6463510" y="3836973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63"/>
          <p:cNvCxnSpPr/>
          <p:nvPr/>
        </p:nvCxnSpPr>
        <p:spPr bwMode="auto">
          <a:xfrm rot="5400000">
            <a:off x="6700577" y="3836973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Straight Connector 64"/>
          <p:cNvCxnSpPr/>
          <p:nvPr/>
        </p:nvCxnSpPr>
        <p:spPr bwMode="auto">
          <a:xfrm rot="5400000">
            <a:off x="5999431" y="3836973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/>
          <p:cNvCxnSpPr/>
          <p:nvPr/>
        </p:nvCxnSpPr>
        <p:spPr bwMode="auto">
          <a:xfrm rot="5400000">
            <a:off x="6228031" y="3836973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Group 30"/>
          <p:cNvGrpSpPr/>
          <p:nvPr/>
        </p:nvGrpSpPr>
        <p:grpSpPr>
          <a:xfrm rot="5400000">
            <a:off x="7230692" y="4199467"/>
            <a:ext cx="702734" cy="228600"/>
            <a:chOff x="2650069" y="6316133"/>
            <a:chExt cx="702734" cy="228600"/>
          </a:xfrm>
        </p:grpSpPr>
        <p:cxnSp>
          <p:nvCxnSpPr>
            <p:cNvPr id="68" name="Straight Connector 67"/>
            <p:cNvCxnSpPr/>
            <p:nvPr/>
          </p:nvCxnSpPr>
          <p:spPr bwMode="auto">
            <a:xfrm rot="5400000">
              <a:off x="3000642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 rot="5400000">
              <a:off x="3237709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 bwMode="auto">
            <a:xfrm rot="5400000">
              <a:off x="2536563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 rot="5400000">
              <a:off x="2765163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2" name="TextBox 71"/>
          <p:cNvSpPr txBox="1"/>
          <p:nvPr/>
        </p:nvSpPr>
        <p:spPr>
          <a:xfrm>
            <a:off x="7058918" y="5252534"/>
            <a:ext cx="1627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Block size B x B</a:t>
            </a:r>
          </a:p>
        </p:txBody>
      </p:sp>
      <p:cxnSp>
        <p:nvCxnSpPr>
          <p:cNvPr id="73" name="Straight Arrow Connector 72"/>
          <p:cNvCxnSpPr/>
          <p:nvPr/>
        </p:nvCxnSpPr>
        <p:spPr bwMode="auto">
          <a:xfrm rot="16200000" flipV="1">
            <a:off x="7354845" y="5060489"/>
            <a:ext cx="381000" cy="309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4" name="AutoShape 16"/>
          <p:cNvSpPr>
            <a:spLocks/>
          </p:cNvSpPr>
          <p:nvPr/>
        </p:nvSpPr>
        <p:spPr bwMode="auto">
          <a:xfrm rot="5400000" flipV="1">
            <a:off x="7941734" y="2960132"/>
            <a:ext cx="228600" cy="114300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823199" y="3048000"/>
            <a:ext cx="1189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n/B blocks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7488157" y="6493935"/>
            <a:ext cx="227262" cy="226893"/>
          </a:xfrm>
          <a:prstGeom prst="rect">
            <a:avLst/>
          </a:prstGeom>
          <a:solidFill>
            <a:srgbClr val="C00000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116138" y="5560734"/>
            <a:ext cx="227262" cy="226893"/>
          </a:xfrm>
          <a:prstGeom prst="rect">
            <a:avLst/>
          </a:prstGeom>
          <a:solidFill>
            <a:srgbClr val="C00000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8" grpId="0" animBg="1"/>
      <p:bldP spid="31" grpId="0"/>
      <p:bldP spid="32" grpId="0" animBg="1"/>
      <p:bldP spid="33" grpId="0"/>
      <p:bldP spid="34" grpId="0" animBg="1"/>
      <p:bldP spid="37" grpId="0" animBg="1"/>
      <p:bldP spid="38" grpId="0" animBg="1"/>
      <p:bldP spid="53" grpId="0" animBg="1"/>
      <p:bldP spid="48" grpId="0" animBg="1"/>
      <p:bldP spid="4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Miss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209675"/>
            <a:ext cx="7896225" cy="5343525"/>
          </a:xfrm>
        </p:spPr>
        <p:txBody>
          <a:bodyPr/>
          <a:lstStyle/>
          <a:p>
            <a:r>
              <a:rPr lang="en-US" dirty="0"/>
              <a:t>Assume: </a:t>
            </a:r>
          </a:p>
          <a:p>
            <a:pPr lvl="1"/>
            <a:r>
              <a:rPr lang="en-US" dirty="0"/>
              <a:t>Cache block = 8 doubles</a:t>
            </a:r>
          </a:p>
          <a:p>
            <a:pPr lvl="1"/>
            <a:r>
              <a:rPr lang="en-US" dirty="0"/>
              <a:t>Cache size C &lt;&lt; n (much smaller than n)</a:t>
            </a:r>
          </a:p>
          <a:p>
            <a:pPr lvl="1"/>
            <a:r>
              <a:rPr lang="en-US" dirty="0"/>
              <a:t>Three blocks       fit into cache: 3B</a:t>
            </a:r>
            <a:r>
              <a:rPr lang="en-US" baseline="30000" dirty="0"/>
              <a:t>2</a:t>
            </a:r>
            <a:r>
              <a:rPr lang="en-US" dirty="0"/>
              <a:t> &lt; C</a:t>
            </a:r>
          </a:p>
          <a:p>
            <a:endParaRPr lang="en-US" dirty="0"/>
          </a:p>
          <a:p>
            <a:r>
              <a:rPr lang="en-US" dirty="0"/>
              <a:t>Second (block) iteration:</a:t>
            </a:r>
          </a:p>
          <a:p>
            <a:pPr lvl="1"/>
            <a:r>
              <a:rPr lang="en-US" dirty="0"/>
              <a:t>Same as first iteration</a:t>
            </a:r>
          </a:p>
          <a:p>
            <a:pPr lvl="1"/>
            <a:r>
              <a:rPr lang="en-US" dirty="0"/>
              <a:t>2n/B * B</a:t>
            </a:r>
            <a:r>
              <a:rPr lang="en-US" baseline="30000" dirty="0"/>
              <a:t>2</a:t>
            </a:r>
            <a:r>
              <a:rPr lang="en-US" dirty="0"/>
              <a:t>/8 = </a:t>
            </a:r>
            <a:r>
              <a:rPr lang="en-US" dirty="0" err="1"/>
              <a:t>nB</a:t>
            </a:r>
            <a:r>
              <a:rPr lang="en-US" dirty="0"/>
              <a:t>/4</a:t>
            </a:r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  <a:p>
            <a:r>
              <a:rPr lang="en-US" dirty="0"/>
              <a:t>Total misses:</a:t>
            </a:r>
          </a:p>
          <a:p>
            <a:pPr lvl="1"/>
            <a:r>
              <a:rPr lang="en-US" dirty="0" err="1"/>
              <a:t>nB</a:t>
            </a:r>
            <a:r>
              <a:rPr lang="en-US" dirty="0"/>
              <a:t>/4 * (n/B)</a:t>
            </a:r>
            <a:r>
              <a:rPr lang="en-US" baseline="30000" dirty="0"/>
              <a:t>2</a:t>
            </a:r>
            <a:r>
              <a:rPr lang="en-US" dirty="0"/>
              <a:t> = n</a:t>
            </a:r>
            <a:r>
              <a:rPr lang="en-US" baseline="30000" dirty="0"/>
              <a:t>3</a:t>
            </a:r>
            <a:r>
              <a:rPr lang="en-US" dirty="0"/>
              <a:t>/(4B)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5899933" y="37338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7500133" y="37338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85265" y="414809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*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4114800" y="3733800"/>
            <a:ext cx="1143000" cy="1143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81050" y="403860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=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4114800" y="3733800"/>
            <a:ext cx="186268" cy="1862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5899933" y="3740560"/>
            <a:ext cx="1143000" cy="228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 rot="5400000">
            <a:off x="7264401" y="4191000"/>
            <a:ext cx="1143000" cy="228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cxnSp>
        <p:nvCxnSpPr>
          <p:cNvPr id="39" name="Straight Connector 38"/>
          <p:cNvCxnSpPr/>
          <p:nvPr/>
        </p:nvCxnSpPr>
        <p:spPr bwMode="auto">
          <a:xfrm rot="5400000">
            <a:off x="6463510" y="3845599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/>
          <p:nvPr/>
        </p:nvCxnSpPr>
        <p:spPr bwMode="auto">
          <a:xfrm rot="5400000">
            <a:off x="6700577" y="3845599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/>
          <p:cNvCxnSpPr/>
          <p:nvPr/>
        </p:nvCxnSpPr>
        <p:spPr bwMode="auto">
          <a:xfrm rot="5400000">
            <a:off x="5999431" y="3845599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/>
          <p:cNvCxnSpPr/>
          <p:nvPr/>
        </p:nvCxnSpPr>
        <p:spPr bwMode="auto">
          <a:xfrm rot="5400000">
            <a:off x="6228031" y="3845599"/>
            <a:ext cx="228600" cy="1588"/>
          </a:xfrm>
          <a:prstGeom prst="lin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" name="Group 30"/>
          <p:cNvGrpSpPr/>
          <p:nvPr/>
        </p:nvGrpSpPr>
        <p:grpSpPr>
          <a:xfrm rot="5400000">
            <a:off x="7476067" y="4199467"/>
            <a:ext cx="702734" cy="228600"/>
            <a:chOff x="2650069" y="6316133"/>
            <a:chExt cx="702734" cy="228600"/>
          </a:xfrm>
        </p:grpSpPr>
        <p:cxnSp>
          <p:nvCxnSpPr>
            <p:cNvPr id="44" name="Straight Connector 43"/>
            <p:cNvCxnSpPr/>
            <p:nvPr/>
          </p:nvCxnSpPr>
          <p:spPr bwMode="auto">
            <a:xfrm rot="5400000">
              <a:off x="3000642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rot="5400000">
              <a:off x="3237709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/>
            <p:nvPr/>
          </p:nvCxnSpPr>
          <p:spPr bwMode="auto">
            <a:xfrm rot="5400000">
              <a:off x="2536563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 rot="5400000">
              <a:off x="2765163" y="6429639"/>
              <a:ext cx="228600" cy="1588"/>
            </a:xfrm>
            <a:prstGeom prst="line">
              <a:avLst/>
            </a:pr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8" name="TextBox 47"/>
          <p:cNvSpPr txBox="1"/>
          <p:nvPr/>
        </p:nvSpPr>
        <p:spPr>
          <a:xfrm>
            <a:off x="7016583" y="5252534"/>
            <a:ext cx="1627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Block size B x B</a:t>
            </a:r>
          </a:p>
        </p:txBody>
      </p:sp>
      <p:cxnSp>
        <p:nvCxnSpPr>
          <p:cNvPr id="49" name="Straight Arrow Connector 48"/>
          <p:cNvCxnSpPr>
            <a:stCxn id="48" idx="0"/>
          </p:cNvCxnSpPr>
          <p:nvPr/>
        </p:nvCxnSpPr>
        <p:spPr bwMode="auto">
          <a:xfrm rot="16200000" flipV="1">
            <a:off x="7638479" y="5060489"/>
            <a:ext cx="381000" cy="309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0" name="Rectangle 49"/>
          <p:cNvSpPr/>
          <p:nvPr/>
        </p:nvSpPr>
        <p:spPr bwMode="auto">
          <a:xfrm>
            <a:off x="2650066" y="2480732"/>
            <a:ext cx="186268" cy="1862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51" name="AutoShape 16"/>
          <p:cNvSpPr>
            <a:spLocks/>
          </p:cNvSpPr>
          <p:nvPr/>
        </p:nvSpPr>
        <p:spPr bwMode="auto">
          <a:xfrm rot="5400000" flipV="1">
            <a:off x="7941734" y="2960132"/>
            <a:ext cx="228600" cy="114300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23199" y="3048000"/>
            <a:ext cx="1189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n/B blocks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blocking: (9/8) * n</a:t>
            </a:r>
            <a:r>
              <a:rPr lang="en-US" baseline="30000" dirty="0"/>
              <a:t>3</a:t>
            </a:r>
          </a:p>
          <a:p>
            <a:r>
              <a:rPr lang="en-US" dirty="0"/>
              <a:t>Blocking: 1/(4B) * n</a:t>
            </a:r>
            <a:r>
              <a:rPr lang="en-US" baseline="30000" dirty="0"/>
              <a:t>3</a:t>
            </a:r>
            <a:endParaRPr lang="en-US" dirty="0"/>
          </a:p>
          <a:p>
            <a:endParaRPr lang="en-US" dirty="0"/>
          </a:p>
          <a:p>
            <a:r>
              <a:rPr lang="en-US" dirty="0"/>
              <a:t>Suggest largest possible block size B, but limit 3B</a:t>
            </a:r>
            <a:r>
              <a:rPr lang="en-US" baseline="30000" dirty="0"/>
              <a:t>2</a:t>
            </a:r>
            <a:r>
              <a:rPr lang="en-US" dirty="0"/>
              <a:t> &lt; C!</a:t>
            </a:r>
            <a:endParaRPr lang="en-US" sz="2000" b="0" dirty="0"/>
          </a:p>
          <a:p>
            <a:endParaRPr lang="en-US" dirty="0"/>
          </a:p>
          <a:p>
            <a:r>
              <a:rPr lang="en-US" dirty="0"/>
              <a:t>Reason for dramatic difference:</a:t>
            </a:r>
          </a:p>
          <a:p>
            <a:pPr lvl="1"/>
            <a:r>
              <a:rPr lang="en-US" dirty="0"/>
              <a:t>Matrix multiplication has inherent temporal locality:</a:t>
            </a:r>
          </a:p>
          <a:p>
            <a:pPr lvl="2"/>
            <a:r>
              <a:rPr lang="en-US" dirty="0"/>
              <a:t>Input data: 3n</a:t>
            </a:r>
            <a:r>
              <a:rPr lang="en-US" baseline="30000" dirty="0"/>
              <a:t>2</a:t>
            </a:r>
            <a:r>
              <a:rPr lang="en-US" dirty="0"/>
              <a:t>, computation 2n</a:t>
            </a:r>
            <a:r>
              <a:rPr lang="en-US" baseline="30000" dirty="0"/>
              <a:t>3</a:t>
            </a:r>
          </a:p>
          <a:p>
            <a:pPr lvl="2"/>
            <a:r>
              <a:rPr lang="en-US" dirty="0"/>
              <a:t>Every array elements used O(n) times!</a:t>
            </a:r>
          </a:p>
          <a:p>
            <a:pPr lvl="1"/>
            <a:r>
              <a:rPr lang="en-US" dirty="0"/>
              <a:t>But program has to be written properly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Summary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Cache memories can have significant performance impact</a:t>
            </a:r>
          </a:p>
          <a:p>
            <a:endParaRPr lang="en-US" dirty="0"/>
          </a:p>
          <a:p>
            <a:r>
              <a:rPr lang="en-US" dirty="0"/>
              <a:t>You can write your programs to exploit this!</a:t>
            </a:r>
          </a:p>
          <a:p>
            <a:pPr lvl="1"/>
            <a:r>
              <a:rPr lang="en-US" dirty="0"/>
              <a:t>Focus on the inner loops, where bulk of computations and memory accesses occur. </a:t>
            </a:r>
          </a:p>
          <a:p>
            <a:pPr lvl="1"/>
            <a:r>
              <a:rPr lang="en-US" dirty="0"/>
              <a:t>Try to maximize spatial locality by reading data objects with sequentially with stride 1.</a:t>
            </a:r>
          </a:p>
          <a:p>
            <a:pPr lvl="1"/>
            <a:r>
              <a:rPr lang="en-US" dirty="0"/>
              <a:t>Try to maximize temporal locality by using a data object as often as possible once it’s read from memory. </a:t>
            </a:r>
          </a:p>
        </p:txBody>
      </p:sp>
    </p:spTree>
    <p:extLst>
      <p:ext uri="{BB962C8B-B14F-4D97-AF65-F5344CB8AC3E}">
        <p14:creationId xmlns:p14="http://schemas.microsoft.com/office/powerpoint/2010/main" val="3757263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Supplemental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164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5862638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Recall: Modern CPU Design</a:t>
            </a:r>
          </a:p>
        </p:txBody>
      </p:sp>
      <p:sp>
        <p:nvSpPr>
          <p:cNvPr id="421891" name="Rectangle 3"/>
          <p:cNvSpPr>
            <a:spLocks noChangeArrowheads="1"/>
          </p:cNvSpPr>
          <p:nvPr/>
        </p:nvSpPr>
        <p:spPr bwMode="auto">
          <a:xfrm>
            <a:off x="1542040" y="3505200"/>
            <a:ext cx="6510337" cy="30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b" anchorCtr="0"/>
          <a:lstStyle/>
          <a:p>
            <a:pPr eaLnBrk="1" hangingPunct="1">
              <a:lnSpc>
                <a:spcPct val="100000"/>
              </a:lnSpc>
              <a:defRPr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Execution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2057400" y="3900160"/>
            <a:ext cx="5706052" cy="762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Functional</a:t>
            </a:r>
          </a:p>
          <a:p>
            <a:pPr algn="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Units</a:t>
            </a:r>
          </a:p>
        </p:txBody>
      </p:sp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1542040" y="1219200"/>
            <a:ext cx="6510337" cy="1905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t" anchorCtr="0"/>
          <a:lstStyle/>
          <a:p>
            <a:pPr eaLnBrk="1" hangingPunct="1">
              <a:lnSpc>
                <a:spcPct val="100000"/>
              </a:lnSpc>
              <a:defRPr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Instruction Control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2216727" y="4038600"/>
            <a:ext cx="676275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Branch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3759777" y="4038600"/>
            <a:ext cx="676275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</a:rPr>
              <a:t>Arith</a:t>
            </a:r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4532890" y="4038600"/>
            <a:ext cx="674687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</a:rPr>
              <a:t>Arith</a:t>
            </a:r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5302827" y="4038600"/>
            <a:ext cx="676275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Load</a:t>
            </a: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6074352" y="4038600"/>
            <a:ext cx="676275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Store</a:t>
            </a:r>
          </a:p>
        </p:txBody>
      </p: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6460115" y="1676400"/>
            <a:ext cx="1303337" cy="11430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Instruction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Cache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5302827" y="5562600"/>
            <a:ext cx="1447800" cy="6096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Data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Cache</a:t>
            </a:r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4242377" y="1676400"/>
            <a:ext cx="1157288" cy="5334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Fetch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Control</a:t>
            </a: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4242377" y="2286000"/>
            <a:ext cx="1157288" cy="5334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Instruction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Decode</a:t>
            </a:r>
          </a:p>
        </p:txBody>
      </p:sp>
      <p:sp>
        <p:nvSpPr>
          <p:cNvPr id="11279" name="Line 15"/>
          <p:cNvSpPr>
            <a:spLocks noChangeShapeType="1"/>
          </p:cNvSpPr>
          <p:nvPr/>
        </p:nvSpPr>
        <p:spPr bwMode="auto">
          <a:xfrm>
            <a:off x="5399665" y="1948130"/>
            <a:ext cx="1060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 flipH="1">
            <a:off x="5399665" y="2562880"/>
            <a:ext cx="1060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>
            <a:off x="4820227" y="28194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2" name="Freeform 18"/>
          <p:cNvSpPr>
            <a:spLocks/>
          </p:cNvSpPr>
          <p:nvPr/>
        </p:nvSpPr>
        <p:spPr bwMode="auto">
          <a:xfrm flipH="1">
            <a:off x="2313565" y="1752600"/>
            <a:ext cx="1928812" cy="2286000"/>
          </a:xfrm>
          <a:custGeom>
            <a:avLst/>
            <a:gdLst>
              <a:gd name="T0" fmla="*/ 0 w 144"/>
              <a:gd name="T1" fmla="*/ 0 h 864"/>
              <a:gd name="T2" fmla="*/ 144 w 144"/>
              <a:gd name="T3" fmla="*/ 0 h 864"/>
              <a:gd name="T4" fmla="*/ 144 w 144"/>
              <a:gd name="T5" fmla="*/ 864 h 864"/>
              <a:gd name="T6" fmla="*/ 0 60000 65536"/>
              <a:gd name="T7" fmla="*/ 0 60000 65536"/>
              <a:gd name="T8" fmla="*/ 0 60000 65536"/>
              <a:gd name="T9" fmla="*/ 0 w 144"/>
              <a:gd name="T10" fmla="*/ 0 h 864"/>
              <a:gd name="T11" fmla="*/ 144 w 144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864">
                <a:moveTo>
                  <a:pt x="0" y="0"/>
                </a:moveTo>
                <a:lnTo>
                  <a:pt x="144" y="0"/>
                </a:lnTo>
                <a:lnTo>
                  <a:pt x="144" y="864"/>
                </a:lnTo>
              </a:path>
            </a:pathLst>
          </a:custGeom>
          <a:noFill/>
          <a:ln w="28575">
            <a:solidFill>
              <a:schemeClr val="tx1"/>
            </a:solidFill>
            <a:prstDash val="sysDot"/>
            <a:round/>
            <a:headEnd type="triangle" w="med" len="med"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3" name="Line 19"/>
          <p:cNvSpPr>
            <a:spLocks noChangeShapeType="1"/>
          </p:cNvSpPr>
          <p:nvPr/>
        </p:nvSpPr>
        <p:spPr bwMode="auto">
          <a:xfrm rot="5400000">
            <a:off x="4963102" y="5029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4" name="Line 20"/>
          <p:cNvSpPr>
            <a:spLocks noChangeShapeType="1"/>
          </p:cNvSpPr>
          <p:nvPr/>
        </p:nvSpPr>
        <p:spPr bwMode="auto">
          <a:xfrm rot="16200000" flipV="1">
            <a:off x="5253615" y="5029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5" name="Line 21"/>
          <p:cNvSpPr>
            <a:spLocks noChangeShapeType="1"/>
          </p:cNvSpPr>
          <p:nvPr/>
        </p:nvSpPr>
        <p:spPr bwMode="auto">
          <a:xfrm rot="5400000">
            <a:off x="5734627" y="5029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6" name="Line 22"/>
          <p:cNvSpPr>
            <a:spLocks noChangeShapeType="1"/>
          </p:cNvSpPr>
          <p:nvPr/>
        </p:nvSpPr>
        <p:spPr bwMode="auto">
          <a:xfrm rot="5400000">
            <a:off x="6023552" y="5029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5514320" y="1673423"/>
            <a:ext cx="7822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Address</a:t>
            </a:r>
          </a:p>
        </p:txBody>
      </p: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5410200" y="2286000"/>
            <a:ext cx="10691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Instructions</a:t>
            </a:r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4800600" y="2816423"/>
            <a:ext cx="101098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Operations</a:t>
            </a:r>
          </a:p>
        </p:txBody>
      </p:sp>
      <p:sp>
        <p:nvSpPr>
          <p:cNvPr id="11290" name="Text Box 26"/>
          <p:cNvSpPr txBox="1">
            <a:spLocks noChangeArrowheads="1"/>
          </p:cNvSpPr>
          <p:nvPr/>
        </p:nvSpPr>
        <p:spPr bwMode="auto">
          <a:xfrm>
            <a:off x="2286000" y="3166080"/>
            <a:ext cx="129195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Prediction OK?</a:t>
            </a:r>
          </a:p>
        </p:txBody>
      </p:sp>
      <p:sp>
        <p:nvSpPr>
          <p:cNvPr id="11291" name="Text Box 27"/>
          <p:cNvSpPr txBox="1">
            <a:spLocks noChangeArrowheads="1"/>
          </p:cNvSpPr>
          <p:nvPr/>
        </p:nvSpPr>
        <p:spPr bwMode="auto">
          <a:xfrm>
            <a:off x="6515677" y="5240179"/>
            <a:ext cx="4347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000" dirty="0">
                <a:latin typeface="Calibri" pitchFamily="34" charset="0"/>
              </a:rPr>
              <a:t>Data</a:t>
            </a:r>
          </a:p>
        </p:txBody>
      </p:sp>
      <p:sp>
        <p:nvSpPr>
          <p:cNvPr id="11292" name="Text Box 28"/>
          <p:cNvSpPr txBox="1">
            <a:spLocks noChangeArrowheads="1"/>
          </p:cNvSpPr>
          <p:nvPr/>
        </p:nvSpPr>
        <p:spPr bwMode="auto">
          <a:xfrm>
            <a:off x="5735940" y="5257800"/>
            <a:ext cx="4347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000" dirty="0">
                <a:latin typeface="Calibri" pitchFamily="34" charset="0"/>
              </a:rPr>
              <a:t>Data</a:t>
            </a:r>
          </a:p>
        </p:txBody>
      </p:sp>
      <p:sp>
        <p:nvSpPr>
          <p:cNvPr id="11293" name="Text Box 29"/>
          <p:cNvSpPr txBox="1">
            <a:spLocks noChangeArrowheads="1"/>
          </p:cNvSpPr>
          <p:nvPr/>
        </p:nvSpPr>
        <p:spPr bwMode="auto">
          <a:xfrm>
            <a:off x="5084584" y="5011579"/>
            <a:ext cx="47801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000" dirty="0" err="1">
                <a:latin typeface="Calibri" pitchFamily="34" charset="0"/>
              </a:rPr>
              <a:t>Addr</a:t>
            </a:r>
            <a:r>
              <a:rPr lang="en-US" sz="1000" dirty="0">
                <a:latin typeface="Calibri" pitchFamily="34" charset="0"/>
              </a:rPr>
              <a:t>.</a:t>
            </a:r>
          </a:p>
        </p:txBody>
      </p:sp>
      <p:sp>
        <p:nvSpPr>
          <p:cNvPr id="11294" name="Text Box 30"/>
          <p:cNvSpPr txBox="1">
            <a:spLocks noChangeArrowheads="1"/>
          </p:cNvSpPr>
          <p:nvPr/>
        </p:nvSpPr>
        <p:spPr bwMode="auto">
          <a:xfrm>
            <a:off x="5853440" y="5011579"/>
            <a:ext cx="47801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000" dirty="0" err="1">
                <a:latin typeface="Calibri" pitchFamily="34" charset="0"/>
              </a:rPr>
              <a:t>Addr</a:t>
            </a:r>
            <a:r>
              <a:rPr lang="en-US" sz="1000" dirty="0">
                <a:latin typeface="Calibri" pitchFamily="34" charset="0"/>
              </a:rPr>
              <a:t>.</a:t>
            </a:r>
          </a:p>
        </p:txBody>
      </p:sp>
      <p:sp>
        <p:nvSpPr>
          <p:cNvPr id="11295" name="Line 31"/>
          <p:cNvSpPr>
            <a:spLocks noChangeShapeType="1"/>
          </p:cNvSpPr>
          <p:nvPr/>
        </p:nvSpPr>
        <p:spPr bwMode="auto">
          <a:xfrm>
            <a:off x="2543175" y="3810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96" name="Line 32"/>
          <p:cNvSpPr>
            <a:spLocks noChangeShapeType="1"/>
          </p:cNvSpPr>
          <p:nvPr/>
        </p:nvSpPr>
        <p:spPr bwMode="auto">
          <a:xfrm>
            <a:off x="4087812" y="3810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97" name="Line 33"/>
          <p:cNvSpPr>
            <a:spLocks noChangeShapeType="1"/>
          </p:cNvSpPr>
          <p:nvPr/>
        </p:nvSpPr>
        <p:spPr bwMode="auto">
          <a:xfrm>
            <a:off x="4857750" y="3810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98" name="Line 34"/>
          <p:cNvSpPr>
            <a:spLocks noChangeShapeType="1"/>
          </p:cNvSpPr>
          <p:nvPr/>
        </p:nvSpPr>
        <p:spPr bwMode="auto">
          <a:xfrm>
            <a:off x="5630862" y="3810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299" name="Line 35"/>
          <p:cNvSpPr>
            <a:spLocks noChangeShapeType="1"/>
          </p:cNvSpPr>
          <p:nvPr/>
        </p:nvSpPr>
        <p:spPr bwMode="auto">
          <a:xfrm>
            <a:off x="6400800" y="3810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00" name="Line 36"/>
          <p:cNvSpPr>
            <a:spLocks noChangeShapeType="1"/>
          </p:cNvSpPr>
          <p:nvPr/>
        </p:nvSpPr>
        <p:spPr bwMode="auto">
          <a:xfrm>
            <a:off x="2543175" y="3810000"/>
            <a:ext cx="3857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01" name="Rectangle 37"/>
          <p:cNvSpPr>
            <a:spLocks noChangeArrowheads="1"/>
          </p:cNvSpPr>
          <p:nvPr/>
        </p:nvSpPr>
        <p:spPr bwMode="auto">
          <a:xfrm>
            <a:off x="2989840" y="4038600"/>
            <a:ext cx="673100" cy="4572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</a:rPr>
              <a:t>Arith</a:t>
            </a:r>
            <a:endParaRPr lang="en-US" sz="14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1302" name="Line 38"/>
          <p:cNvSpPr>
            <a:spLocks noChangeShapeType="1"/>
          </p:cNvSpPr>
          <p:nvPr/>
        </p:nvSpPr>
        <p:spPr bwMode="auto">
          <a:xfrm>
            <a:off x="3314700" y="3810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03" name="Line 39"/>
          <p:cNvSpPr>
            <a:spLocks noChangeShapeType="1"/>
          </p:cNvSpPr>
          <p:nvPr/>
        </p:nvSpPr>
        <p:spPr bwMode="auto">
          <a:xfrm>
            <a:off x="1735715" y="4876800"/>
            <a:ext cx="521469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2507240" y="4495800"/>
            <a:ext cx="3857625" cy="381000"/>
            <a:chOff x="768" y="2016"/>
            <a:chExt cx="1920" cy="144"/>
          </a:xfrm>
        </p:grpSpPr>
        <p:sp>
          <p:nvSpPr>
            <p:cNvPr id="11313" name="Line 41"/>
            <p:cNvSpPr>
              <a:spLocks noChangeShapeType="1"/>
            </p:cNvSpPr>
            <p:nvPr/>
          </p:nvSpPr>
          <p:spPr bwMode="auto">
            <a:xfrm>
              <a:off x="768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4" name="Line 42"/>
            <p:cNvSpPr>
              <a:spLocks noChangeShapeType="1"/>
            </p:cNvSpPr>
            <p:nvPr/>
          </p:nvSpPr>
          <p:spPr bwMode="auto">
            <a:xfrm>
              <a:off x="1536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5" name="Line 43"/>
            <p:cNvSpPr>
              <a:spLocks noChangeShapeType="1"/>
            </p:cNvSpPr>
            <p:nvPr/>
          </p:nvSpPr>
          <p:spPr bwMode="auto">
            <a:xfrm>
              <a:off x="1920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6" name="Line 44"/>
            <p:cNvSpPr>
              <a:spLocks noChangeShapeType="1"/>
            </p:cNvSpPr>
            <p:nvPr/>
          </p:nvSpPr>
          <p:spPr bwMode="auto">
            <a:xfrm>
              <a:off x="2304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7" name="Line 45"/>
            <p:cNvSpPr>
              <a:spLocks noChangeShapeType="1"/>
            </p:cNvSpPr>
            <p:nvPr/>
          </p:nvSpPr>
          <p:spPr bwMode="auto">
            <a:xfrm>
              <a:off x="2688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11318" name="Line 46"/>
            <p:cNvSpPr>
              <a:spLocks noChangeShapeType="1"/>
            </p:cNvSpPr>
            <p:nvPr/>
          </p:nvSpPr>
          <p:spPr bwMode="auto">
            <a:xfrm>
              <a:off x="1152" y="201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11305" name="Rectangle 47"/>
          <p:cNvSpPr>
            <a:spLocks noChangeArrowheads="1"/>
          </p:cNvSpPr>
          <p:nvPr/>
        </p:nvSpPr>
        <p:spPr bwMode="auto">
          <a:xfrm>
            <a:off x="2796165" y="4829175"/>
            <a:ext cx="15149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Operation Results</a:t>
            </a:r>
          </a:p>
        </p:txBody>
      </p:sp>
      <p:sp>
        <p:nvSpPr>
          <p:cNvPr id="11306" name="Rectangle 48"/>
          <p:cNvSpPr>
            <a:spLocks noChangeArrowheads="1"/>
          </p:cNvSpPr>
          <p:nvPr/>
        </p:nvSpPr>
        <p:spPr bwMode="auto">
          <a:xfrm>
            <a:off x="2796165" y="1828800"/>
            <a:ext cx="1157287" cy="990600"/>
          </a:xfrm>
          <a:prstGeom prst="rect">
            <a:avLst/>
          </a:prstGeom>
          <a:solidFill>
            <a:srgbClr val="8C404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Retirement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Unit</a:t>
            </a:r>
          </a:p>
        </p:txBody>
      </p:sp>
      <p:sp>
        <p:nvSpPr>
          <p:cNvPr id="11307" name="Rectangle 49"/>
          <p:cNvSpPr>
            <a:spLocks noChangeArrowheads="1"/>
          </p:cNvSpPr>
          <p:nvPr/>
        </p:nvSpPr>
        <p:spPr bwMode="auto">
          <a:xfrm>
            <a:off x="2989840" y="2286000"/>
            <a:ext cx="769937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Register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</a:rPr>
              <a:t>File</a:t>
            </a:r>
          </a:p>
        </p:txBody>
      </p:sp>
      <p:sp>
        <p:nvSpPr>
          <p:cNvPr id="11308" name="Line 50"/>
          <p:cNvSpPr>
            <a:spLocks noChangeShapeType="1"/>
          </p:cNvSpPr>
          <p:nvPr/>
        </p:nvSpPr>
        <p:spPr bwMode="auto">
          <a:xfrm>
            <a:off x="2313565" y="2209800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09" name="Freeform 51"/>
          <p:cNvSpPr>
            <a:spLocks/>
          </p:cNvSpPr>
          <p:nvPr/>
        </p:nvSpPr>
        <p:spPr bwMode="auto">
          <a:xfrm flipH="1">
            <a:off x="1904999" y="2667000"/>
            <a:ext cx="891166" cy="2209800"/>
          </a:xfrm>
          <a:custGeom>
            <a:avLst/>
            <a:gdLst>
              <a:gd name="T0" fmla="*/ 0 w 144"/>
              <a:gd name="T1" fmla="*/ 0 h 864"/>
              <a:gd name="T2" fmla="*/ 144 w 144"/>
              <a:gd name="T3" fmla="*/ 0 h 864"/>
              <a:gd name="T4" fmla="*/ 144 w 144"/>
              <a:gd name="T5" fmla="*/ 864 h 864"/>
              <a:gd name="T6" fmla="*/ 0 60000 65536"/>
              <a:gd name="T7" fmla="*/ 0 60000 65536"/>
              <a:gd name="T8" fmla="*/ 0 60000 65536"/>
              <a:gd name="T9" fmla="*/ 0 w 144"/>
              <a:gd name="T10" fmla="*/ 0 h 864"/>
              <a:gd name="T11" fmla="*/ 144 w 144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864">
                <a:moveTo>
                  <a:pt x="0" y="0"/>
                </a:moveTo>
                <a:lnTo>
                  <a:pt x="144" y="0"/>
                </a:lnTo>
                <a:lnTo>
                  <a:pt x="144" y="86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10" name="Text Box 52"/>
          <p:cNvSpPr txBox="1">
            <a:spLocks noChangeArrowheads="1"/>
          </p:cNvSpPr>
          <p:nvPr/>
        </p:nvSpPr>
        <p:spPr bwMode="auto">
          <a:xfrm>
            <a:off x="457200" y="3159100"/>
            <a:ext cx="14452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Register Updates</a:t>
            </a:r>
          </a:p>
        </p:txBody>
      </p:sp>
      <p:sp>
        <p:nvSpPr>
          <p:cNvPr id="11311" name="Line 53"/>
          <p:cNvSpPr>
            <a:spLocks noChangeShapeType="1"/>
          </p:cNvSpPr>
          <p:nvPr/>
        </p:nvSpPr>
        <p:spPr bwMode="auto">
          <a:xfrm>
            <a:off x="3759777" y="2514600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312" name="Freeform 54"/>
          <p:cNvSpPr>
            <a:spLocks/>
          </p:cNvSpPr>
          <p:nvPr/>
        </p:nvSpPr>
        <p:spPr bwMode="auto">
          <a:xfrm>
            <a:off x="3856615" y="2819400"/>
            <a:ext cx="963612" cy="228600"/>
          </a:xfrm>
          <a:custGeom>
            <a:avLst/>
            <a:gdLst>
              <a:gd name="T0" fmla="*/ 480 w 480"/>
              <a:gd name="T1" fmla="*/ 144 h 144"/>
              <a:gd name="T2" fmla="*/ 0 w 480"/>
              <a:gd name="T3" fmla="*/ 144 h 144"/>
              <a:gd name="T4" fmla="*/ 0 w 480"/>
              <a:gd name="T5" fmla="*/ 0 h 144"/>
              <a:gd name="T6" fmla="*/ 0 60000 65536"/>
              <a:gd name="T7" fmla="*/ 0 60000 65536"/>
              <a:gd name="T8" fmla="*/ 0 60000 65536"/>
              <a:gd name="T9" fmla="*/ 0 w 480"/>
              <a:gd name="T10" fmla="*/ 0 h 144"/>
              <a:gd name="T11" fmla="*/ 480 w 48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144">
                <a:moveTo>
                  <a:pt x="480" y="144"/>
                </a:moveTo>
                <a:lnTo>
                  <a:pt x="0" y="144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913872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58200" cy="573087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en-US" dirty="0"/>
              <a:t>What it Really Looks Like</a:t>
            </a:r>
          </a:p>
        </p:txBody>
      </p:sp>
      <p:pic>
        <p:nvPicPr>
          <p:cNvPr id="2050" name="Picture 2" descr="Image result for i7 die photo">
            <a:extLst>
              <a:ext uri="{FF2B5EF4-FFF2-40B4-BE49-F238E27FC236}">
                <a16:creationId xmlns:a16="http://schemas.microsoft.com/office/drawing/2014/main" id="{B1887E71-B29F-4F34-8EDA-6D5C78B26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66800"/>
            <a:ext cx="376946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tel Core i7-3960X processor die detail">
            <a:extLst>
              <a:ext uri="{FF2B5EF4-FFF2-40B4-BE49-F238E27FC236}">
                <a16:creationId xmlns:a16="http://schemas.microsoft.com/office/drawing/2014/main" id="{A0BA3D36-A924-463C-94FF-CEE3C9902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644041"/>
            <a:ext cx="3429000" cy="304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MD FX-8150 processor die detail">
            <a:extLst>
              <a:ext uri="{FF2B5EF4-FFF2-40B4-BE49-F238E27FC236}">
                <a16:creationId xmlns:a16="http://schemas.microsoft.com/office/drawing/2014/main" id="{EA4165A0-8221-4FBA-B3AF-E0C4BE93D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657600"/>
            <a:ext cx="3769468" cy="3042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223">
            <a:extLst>
              <a:ext uri="{FF2B5EF4-FFF2-40B4-BE49-F238E27FC236}">
                <a16:creationId xmlns:a16="http://schemas.microsoft.com/office/drawing/2014/main" id="{703E7852-B76A-4541-9EB6-B027F461EB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9097" y="1197113"/>
            <a:ext cx="3379788" cy="21971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rnd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>
              <a:latin typeface="Calibri" panose="020F0502020204030204" pitchFamily="34" charset="0"/>
            </a:endParaRPr>
          </a:p>
        </p:txBody>
      </p:sp>
      <p:sp>
        <p:nvSpPr>
          <p:cNvPr id="37" name="Rectangle 206">
            <a:extLst>
              <a:ext uri="{FF2B5EF4-FFF2-40B4-BE49-F238E27FC236}">
                <a16:creationId xmlns:a16="http://schemas.microsoft.com/office/drawing/2014/main" id="{F37B263F-1A9A-481D-832E-D696FF2881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61497" y="2735400"/>
            <a:ext cx="2374900" cy="520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>
                <a:latin typeface="Calibri" panose="020F0502020204030204" pitchFamily="34" charset="0"/>
              </a:rPr>
              <a:t>Bus interface</a:t>
            </a:r>
          </a:p>
        </p:txBody>
      </p:sp>
      <p:sp>
        <p:nvSpPr>
          <p:cNvPr id="38" name="Rectangle 207">
            <a:extLst>
              <a:ext uri="{FF2B5EF4-FFF2-40B4-BE49-F238E27FC236}">
                <a16:creationId xmlns:a16="http://schemas.microsoft.com/office/drawing/2014/main" id="{D97DB48D-62C5-4EB5-924D-E9801E0746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74385" y="1540013"/>
            <a:ext cx="615950" cy="138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>
              <a:latin typeface="Calibri" panose="020F0502020204030204" pitchFamily="34" charset="0"/>
            </a:endParaRPr>
          </a:p>
        </p:txBody>
      </p:sp>
      <p:sp>
        <p:nvSpPr>
          <p:cNvPr id="39" name="Rectangle 208">
            <a:extLst>
              <a:ext uri="{FF2B5EF4-FFF2-40B4-BE49-F238E27FC236}">
                <a16:creationId xmlns:a16="http://schemas.microsoft.com/office/drawing/2014/main" id="{F28A7C25-0D6E-4E3A-8C28-900BB3E91C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74385" y="1678125"/>
            <a:ext cx="615950" cy="136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>
              <a:latin typeface="Calibri" panose="020F0502020204030204" pitchFamily="34" charset="0"/>
            </a:endParaRPr>
          </a:p>
        </p:txBody>
      </p:sp>
      <p:sp>
        <p:nvSpPr>
          <p:cNvPr id="40" name="Rectangle 210">
            <a:extLst>
              <a:ext uri="{FF2B5EF4-FFF2-40B4-BE49-F238E27FC236}">
                <a16:creationId xmlns:a16="http://schemas.microsoft.com/office/drawing/2014/main" id="{3B10FE98-01EA-4A16-B1A4-FE70F259F1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74385" y="1814650"/>
            <a:ext cx="615950" cy="1381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>
              <a:latin typeface="Calibri" panose="020F0502020204030204" pitchFamily="34" charset="0"/>
            </a:endParaRPr>
          </a:p>
        </p:txBody>
      </p:sp>
      <p:sp>
        <p:nvSpPr>
          <p:cNvPr id="41" name="Rectangle 211">
            <a:extLst>
              <a:ext uri="{FF2B5EF4-FFF2-40B4-BE49-F238E27FC236}">
                <a16:creationId xmlns:a16="http://schemas.microsoft.com/office/drawing/2014/main" id="{3B26E941-5A41-4BD6-B704-1C9CAA287D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74385" y="1952763"/>
            <a:ext cx="615950" cy="136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>
              <a:latin typeface="Calibri" panose="020F0502020204030204" pitchFamily="34" charset="0"/>
            </a:endParaRPr>
          </a:p>
        </p:txBody>
      </p:sp>
      <p:sp>
        <p:nvSpPr>
          <p:cNvPr id="42" name="Rectangle 212">
            <a:extLst>
              <a:ext uri="{FF2B5EF4-FFF2-40B4-BE49-F238E27FC236}">
                <a16:creationId xmlns:a16="http://schemas.microsoft.com/office/drawing/2014/main" id="{1846FDFB-0747-4935-AC0C-1DDDC2A06B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74385" y="2089288"/>
            <a:ext cx="615950" cy="138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>
              <a:latin typeface="Calibri" panose="020F0502020204030204" pitchFamily="34" charset="0"/>
            </a:endParaRPr>
          </a:p>
        </p:txBody>
      </p:sp>
      <p:sp>
        <p:nvSpPr>
          <p:cNvPr id="43" name="AutoShape 214">
            <a:extLst>
              <a:ext uri="{FF2B5EF4-FFF2-40B4-BE49-F238E27FC236}">
                <a16:creationId xmlns:a16="http://schemas.microsoft.com/office/drawing/2014/main" id="{479F46FC-59B3-454D-9CAD-65FA21B275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71297" y="1540013"/>
            <a:ext cx="400050" cy="342900"/>
          </a:xfrm>
          <a:prstGeom prst="rightArrow">
            <a:avLst>
              <a:gd name="adj1" fmla="val 50000"/>
              <a:gd name="adj2" fmla="val 2916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>
              <a:latin typeface="Calibri" panose="020F0502020204030204" pitchFamily="34" charset="0"/>
            </a:endParaRPr>
          </a:p>
        </p:txBody>
      </p:sp>
      <p:sp>
        <p:nvSpPr>
          <p:cNvPr id="44" name="AutoShape 215">
            <a:extLst>
              <a:ext uri="{FF2B5EF4-FFF2-40B4-BE49-F238E27FC236}">
                <a16:creationId xmlns:a16="http://schemas.microsoft.com/office/drawing/2014/main" id="{C4836188-40A9-4C0D-A006-CED7CCBDAD3A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7490335" y="1882913"/>
            <a:ext cx="400050" cy="344487"/>
          </a:xfrm>
          <a:prstGeom prst="rightArrow">
            <a:avLst>
              <a:gd name="adj1" fmla="val 50000"/>
              <a:gd name="adj2" fmla="val 29032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>
              <a:latin typeface="Calibri" panose="020F0502020204030204" pitchFamily="34" charset="0"/>
            </a:endParaRPr>
          </a:p>
        </p:txBody>
      </p:sp>
      <p:sp>
        <p:nvSpPr>
          <p:cNvPr id="45" name="Rectangle 220">
            <a:extLst>
              <a:ext uri="{FF2B5EF4-FFF2-40B4-BE49-F238E27FC236}">
                <a16:creationId xmlns:a16="http://schemas.microsoft.com/office/drawing/2014/main" id="{33996122-17FF-4B7D-986E-E43E63A65F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71347" y="1403488"/>
            <a:ext cx="479425" cy="960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>
                <a:latin typeface="Calibri" panose="020F0502020204030204" pitchFamily="34" charset="0"/>
              </a:rPr>
              <a:t>ALU</a:t>
            </a:r>
          </a:p>
        </p:txBody>
      </p:sp>
      <p:sp>
        <p:nvSpPr>
          <p:cNvPr id="46" name="Text Box 221">
            <a:extLst>
              <a:ext uri="{FF2B5EF4-FFF2-40B4-BE49-F238E27FC236}">
                <a16:creationId xmlns:a16="http://schemas.microsoft.com/office/drawing/2014/main" id="{2C96D842-0C7C-41C7-A921-977A3F2FE6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606463" y="1234211"/>
            <a:ext cx="118513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latin typeface="Calibri" panose="020F0502020204030204" pitchFamily="34" charset="0"/>
              </a:rPr>
              <a:t>Register file</a:t>
            </a:r>
          </a:p>
        </p:txBody>
      </p:sp>
      <p:sp>
        <p:nvSpPr>
          <p:cNvPr id="47" name="AutoShape 222">
            <a:extLst>
              <a:ext uri="{FF2B5EF4-FFF2-40B4-BE49-F238E27FC236}">
                <a16:creationId xmlns:a16="http://schemas.microsoft.com/office/drawing/2014/main" id="{0457010B-9BEE-430A-B716-B417335E5E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41060" y="2295663"/>
            <a:ext cx="549275" cy="411162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>
              <a:latin typeface="Calibri" panose="020F0502020204030204" pitchFamily="34" charset="0"/>
            </a:endParaRPr>
          </a:p>
        </p:txBody>
      </p:sp>
      <p:sp>
        <p:nvSpPr>
          <p:cNvPr id="48" name="Text Box 225">
            <a:extLst>
              <a:ext uri="{FF2B5EF4-FFF2-40B4-BE49-F238E27FC236}">
                <a16:creationId xmlns:a16="http://schemas.microsoft.com/office/drawing/2014/main" id="{E8B61CA0-9B4B-4D15-B4D9-5139F9BDEFA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86570" y="905598"/>
            <a:ext cx="93246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</a:rPr>
              <a:t>CPU chip</a:t>
            </a:r>
          </a:p>
        </p:txBody>
      </p:sp>
      <p:sp>
        <p:nvSpPr>
          <p:cNvPr id="49" name="Rectangle 233">
            <a:extLst>
              <a:ext uri="{FF2B5EF4-FFF2-40B4-BE49-F238E27FC236}">
                <a16:creationId xmlns:a16="http://schemas.microsoft.com/office/drawing/2014/main" id="{F7CC7E4E-1A22-4B91-92E6-33CD56BC2B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61497" y="1636850"/>
            <a:ext cx="1066800" cy="5207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</a:rPr>
              <a:t>Cache </a:t>
            </a:r>
          </a:p>
          <a:p>
            <a:pPr algn="ctr"/>
            <a:r>
              <a:rPr lang="en-US" sz="1600" dirty="0">
                <a:latin typeface="Calibri" panose="020F0502020204030204" pitchFamily="34" charset="0"/>
              </a:rPr>
              <a:t>memory</a:t>
            </a:r>
          </a:p>
        </p:txBody>
      </p:sp>
      <p:sp>
        <p:nvSpPr>
          <p:cNvPr id="50" name="AutoShape 234">
            <a:extLst>
              <a:ext uri="{FF2B5EF4-FFF2-40B4-BE49-F238E27FC236}">
                <a16:creationId xmlns:a16="http://schemas.microsoft.com/office/drawing/2014/main" id="{F9DCFCFF-79AE-4A07-85CB-ED61298575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90097" y="2157550"/>
            <a:ext cx="549275" cy="549275"/>
          </a:xfrm>
          <a:prstGeom prst="upDownArrow">
            <a:avLst>
              <a:gd name="adj1" fmla="val 50000"/>
              <a:gd name="adj2" fmla="val 2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>
              <a:latin typeface="Calibri" panose="020F0502020204030204" pitchFamily="34" charset="0"/>
            </a:endParaRPr>
          </a:p>
        </p:txBody>
      </p:sp>
      <p:sp>
        <p:nvSpPr>
          <p:cNvPr id="51" name="AutoShape 236">
            <a:extLst>
              <a:ext uri="{FF2B5EF4-FFF2-40B4-BE49-F238E27FC236}">
                <a16:creationId xmlns:a16="http://schemas.microsoft.com/office/drawing/2014/main" id="{28707FFD-E8A3-4807-9268-B16EA8CEC85B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6453697" y="1684475"/>
            <a:ext cx="400050" cy="344488"/>
          </a:xfrm>
          <a:prstGeom prst="leftRightArrow">
            <a:avLst>
              <a:gd name="adj1" fmla="val 50000"/>
              <a:gd name="adj2" fmla="val 23226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600">
              <a:latin typeface="Calibri" panose="020F0502020204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A118EB-16EC-4006-B7C2-31278208EF96}"/>
              </a:ext>
            </a:extLst>
          </p:cNvPr>
          <p:cNvSpPr txBox="1"/>
          <p:nvPr/>
        </p:nvSpPr>
        <p:spPr>
          <a:xfrm>
            <a:off x="5105400" y="3399408"/>
            <a:ext cx="3845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</a:rPr>
              <a:t>Core i7-3960X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5A20A7-5949-4692-8425-0CAC105423E7}"/>
              </a:ext>
            </a:extLst>
          </p:cNvPr>
          <p:cNvSpPr txBox="1"/>
          <p:nvPr/>
        </p:nvSpPr>
        <p:spPr>
          <a:xfrm>
            <a:off x="3050432" y="3390035"/>
            <a:ext cx="3845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</a:rPr>
              <a:t>AMD FX 8150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FE8BC0-0295-4039-AB14-B2DE4F6C18E3}"/>
              </a:ext>
            </a:extLst>
          </p:cNvPr>
          <p:cNvSpPr txBox="1"/>
          <p:nvPr/>
        </p:nvSpPr>
        <p:spPr>
          <a:xfrm>
            <a:off x="517610" y="3298207"/>
            <a:ext cx="3845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</a:rPr>
              <a:t>Nehalem</a:t>
            </a:r>
          </a:p>
        </p:txBody>
      </p:sp>
    </p:spTree>
    <p:extLst>
      <p:ext uri="{BB962C8B-B14F-4D97-AF65-F5344CB8AC3E}">
        <p14:creationId xmlns:p14="http://schemas.microsoft.com/office/powerpoint/2010/main" val="1005079127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58200" cy="573087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en-US" dirty="0"/>
              <a:t>What it Really Looks Like (Cont.)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553200" y="4343400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</a:rPr>
              <a:t>Intel Sandy Bridge</a:t>
            </a:r>
          </a:p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</a:rPr>
              <a:t>Processor Die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30287"/>
            <a:ext cx="5575300" cy="555940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80100" y="5105400"/>
            <a:ext cx="296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L1: 32KB Instruction + 32KB Data</a:t>
            </a:r>
          </a:p>
          <a:p>
            <a:r>
              <a:rPr lang="en-US" sz="1600" dirty="0">
                <a:latin typeface="Calibri" pitchFamily="34" charset="0"/>
              </a:rPr>
              <a:t>L2: 256KB</a:t>
            </a:r>
          </a:p>
          <a:p>
            <a:r>
              <a:rPr lang="en-US" sz="1600" dirty="0">
                <a:latin typeface="Calibri" pitchFamily="34" charset="0"/>
              </a:rPr>
              <a:t>L3: 3–20MB</a:t>
            </a:r>
          </a:p>
        </p:txBody>
      </p:sp>
    </p:spTree>
    <p:extLst>
      <p:ext uri="{BB962C8B-B14F-4D97-AF65-F5344CB8AC3E}">
        <p14:creationId xmlns:p14="http://schemas.microsoft.com/office/powerpoint/2010/main" val="2786110147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Chart 23"/>
          <p:cNvGraphicFramePr>
            <a:graphicFrameLocks noGrp="1" noChangeAspect="1"/>
          </p:cNvGraphicFramePr>
          <p:nvPr/>
        </p:nvGraphicFramePr>
        <p:xfrm>
          <a:off x="742950" y="1197678"/>
          <a:ext cx="7567606" cy="5145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9" y="435678"/>
            <a:ext cx="4824581" cy="762000"/>
          </a:xfrm>
        </p:spPr>
        <p:txBody>
          <a:bodyPr/>
          <a:lstStyle/>
          <a:p>
            <a:r>
              <a:rPr lang="en-US" dirty="0"/>
              <a:t>The Memory Mountain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28600" y="2852228"/>
            <a:ext cx="4495800" cy="2691560"/>
            <a:chOff x="152400" y="2876551"/>
            <a:chExt cx="4495800" cy="2691560"/>
          </a:xfrm>
        </p:grpSpPr>
        <p:sp>
          <p:nvSpPr>
            <p:cNvPr id="62" name="TextBox 61"/>
            <p:cNvSpPr txBox="1"/>
            <p:nvPr/>
          </p:nvSpPr>
          <p:spPr>
            <a:xfrm>
              <a:off x="152400" y="4737114"/>
              <a:ext cx="990600" cy="830997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i="1" dirty="0">
                  <a:solidFill>
                    <a:srgbClr val="C00000"/>
                  </a:solidFill>
                </a:rPr>
                <a:t>Slopes </a:t>
              </a:r>
            </a:p>
            <a:p>
              <a:pPr algn="l"/>
              <a:r>
                <a:rPr lang="en-US" sz="1600" i="1" dirty="0">
                  <a:solidFill>
                    <a:srgbClr val="C00000"/>
                  </a:solidFill>
                </a:rPr>
                <a:t>of spatial locality</a:t>
              </a:r>
            </a:p>
          </p:txBody>
        </p:sp>
        <p:cxnSp>
          <p:nvCxnSpPr>
            <p:cNvPr id="63" name="Straight Arrow Connector 62"/>
            <p:cNvCxnSpPr>
              <a:stCxn id="62" idx="3"/>
            </p:cNvCxnSpPr>
            <p:nvPr/>
          </p:nvCxnSpPr>
          <p:spPr bwMode="auto">
            <a:xfrm flipV="1">
              <a:off x="1143000" y="2876551"/>
              <a:ext cx="3505200" cy="2276062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Straight Arrow Connector 63"/>
            <p:cNvCxnSpPr>
              <a:stCxn id="62" idx="3"/>
            </p:cNvCxnSpPr>
            <p:nvPr/>
          </p:nvCxnSpPr>
          <p:spPr bwMode="auto">
            <a:xfrm flipV="1">
              <a:off x="1143000" y="4523783"/>
              <a:ext cx="1390650" cy="62883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Straight Arrow Connector 64"/>
            <p:cNvCxnSpPr>
              <a:stCxn id="62" idx="3"/>
            </p:cNvCxnSpPr>
            <p:nvPr/>
          </p:nvCxnSpPr>
          <p:spPr bwMode="auto">
            <a:xfrm flipV="1">
              <a:off x="1143000" y="3591017"/>
              <a:ext cx="2590800" cy="156159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9" name="Group 68"/>
          <p:cNvGrpSpPr/>
          <p:nvPr/>
        </p:nvGrpSpPr>
        <p:grpSpPr>
          <a:xfrm>
            <a:off x="4227350" y="2180051"/>
            <a:ext cx="4764250" cy="3594569"/>
            <a:chOff x="3770150" y="2180051"/>
            <a:chExt cx="4764250" cy="3594569"/>
          </a:xfrm>
        </p:grpSpPr>
        <p:sp>
          <p:nvSpPr>
            <p:cNvPr id="54" name="TextBox 53"/>
            <p:cNvSpPr txBox="1"/>
            <p:nvPr/>
          </p:nvSpPr>
          <p:spPr>
            <a:xfrm>
              <a:off x="7163568" y="3406973"/>
              <a:ext cx="1370832" cy="830997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i="1" dirty="0">
                  <a:solidFill>
                    <a:srgbClr val="C00000"/>
                  </a:solidFill>
                </a:rPr>
                <a:t>Ridges </a:t>
              </a:r>
            </a:p>
            <a:p>
              <a:pPr algn="l"/>
              <a:r>
                <a:rPr lang="en-US" sz="1600" i="1" dirty="0">
                  <a:solidFill>
                    <a:srgbClr val="C00000"/>
                  </a:solidFill>
                </a:rPr>
                <a:t>of temporal locality</a:t>
              </a: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5928733" y="2180051"/>
              <a:ext cx="470001" cy="46166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ＭＳ Ｐゴシック" charset="0"/>
                </a:rPr>
                <a:t>L1</a:t>
              </a: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3770150" y="5312955"/>
              <a:ext cx="846707" cy="46166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ＭＳ Ｐゴシック" charset="0"/>
                </a:rPr>
                <a:t>Mem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ＭＳ Ｐゴシック" charset="0"/>
              </a:endParaRP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5424651" y="3653195"/>
              <a:ext cx="470000" cy="46166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ＭＳ Ｐゴシック" charset="0"/>
                </a:rPr>
                <a:t>L2</a:t>
              </a: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4619646" y="4460740"/>
              <a:ext cx="470001" cy="46166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ＭＳ Ｐゴシック" charset="0"/>
                </a:rPr>
                <a:t>L3</a:t>
              </a:r>
            </a:p>
          </p:txBody>
        </p:sp>
        <p:cxnSp>
          <p:nvCxnSpPr>
            <p:cNvPr id="59" name="Straight Arrow Connector 58"/>
            <p:cNvCxnSpPr>
              <a:stCxn id="54" idx="1"/>
              <a:endCxn id="55" idx="3"/>
            </p:cNvCxnSpPr>
            <p:nvPr/>
          </p:nvCxnSpPr>
          <p:spPr bwMode="auto">
            <a:xfrm flipH="1" flipV="1">
              <a:off x="6398734" y="2410884"/>
              <a:ext cx="764834" cy="141158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Straight Arrow Connector 59"/>
            <p:cNvCxnSpPr>
              <a:stCxn id="54" idx="1"/>
              <a:endCxn id="57" idx="3"/>
            </p:cNvCxnSpPr>
            <p:nvPr/>
          </p:nvCxnSpPr>
          <p:spPr bwMode="auto">
            <a:xfrm flipH="1">
              <a:off x="5894651" y="3822472"/>
              <a:ext cx="1268917" cy="6155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Straight Arrow Connector 60"/>
            <p:cNvCxnSpPr>
              <a:stCxn id="54" idx="1"/>
              <a:endCxn id="58" idx="3"/>
            </p:cNvCxnSpPr>
            <p:nvPr/>
          </p:nvCxnSpPr>
          <p:spPr bwMode="auto">
            <a:xfrm flipH="1">
              <a:off x="5089647" y="3822472"/>
              <a:ext cx="2073921" cy="869101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Straight Arrow Connector 65"/>
            <p:cNvCxnSpPr>
              <a:stCxn id="54" idx="1"/>
              <a:endCxn id="56" idx="3"/>
            </p:cNvCxnSpPr>
            <p:nvPr/>
          </p:nvCxnSpPr>
          <p:spPr bwMode="auto">
            <a:xfrm flipH="1">
              <a:off x="4616857" y="3822472"/>
              <a:ext cx="2546711" cy="1721316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2" name="Group 11"/>
          <p:cNvGrpSpPr/>
          <p:nvPr/>
        </p:nvGrpSpPr>
        <p:grpSpPr>
          <a:xfrm>
            <a:off x="0" y="1116425"/>
            <a:ext cx="3447702" cy="932541"/>
            <a:chOff x="57498" y="1371600"/>
            <a:chExt cx="3447702" cy="932541"/>
          </a:xfrm>
        </p:grpSpPr>
        <p:sp>
          <p:nvSpPr>
            <p:cNvPr id="67" name="TextBox 66"/>
            <p:cNvSpPr txBox="1"/>
            <p:nvPr/>
          </p:nvSpPr>
          <p:spPr>
            <a:xfrm>
              <a:off x="57498" y="1371600"/>
              <a:ext cx="1237902" cy="584776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i="1" dirty="0">
                  <a:solidFill>
                    <a:srgbClr val="C00000"/>
                  </a:solidFill>
                </a:rPr>
                <a:t>Aggressive prefetching</a:t>
              </a:r>
            </a:p>
          </p:txBody>
        </p:sp>
        <p:cxnSp>
          <p:nvCxnSpPr>
            <p:cNvPr id="68" name="Straight Arrow Connector 67"/>
            <p:cNvCxnSpPr>
              <a:stCxn id="67" idx="3"/>
            </p:cNvCxnSpPr>
            <p:nvPr/>
          </p:nvCxnSpPr>
          <p:spPr bwMode="auto">
            <a:xfrm>
              <a:off x="1295400" y="1663988"/>
              <a:ext cx="2209800" cy="64015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3" name="TextBox 52"/>
          <p:cNvSpPr txBox="1"/>
          <p:nvPr/>
        </p:nvSpPr>
        <p:spPr>
          <a:xfrm>
            <a:off x="7086600" y="304800"/>
            <a:ext cx="1786323" cy="175432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800" dirty="0">
                <a:latin typeface="Calibri" panose="020F0502020204030204" pitchFamily="34" charset="0"/>
              </a:rPr>
              <a:t>Core i5 </a:t>
            </a:r>
            <a:r>
              <a:rPr lang="en-US" sz="1800" dirty="0" err="1">
                <a:latin typeface="Calibri" panose="020F0502020204030204" pitchFamily="34" charset="0"/>
              </a:rPr>
              <a:t>Haswell</a:t>
            </a:r>
            <a:endParaRPr lang="en-US" sz="1800" dirty="0">
              <a:latin typeface="Calibri" panose="020F0502020204030204" pitchFamily="34" charset="0"/>
            </a:endParaRP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3.1 GHz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32 KB L1 d-cache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256 KB L2 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8 MB L3 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64 B block size</a:t>
            </a:r>
          </a:p>
        </p:txBody>
      </p:sp>
    </p:spTree>
    <p:extLst>
      <p:ext uri="{BB962C8B-B14F-4D97-AF65-F5344CB8AC3E}">
        <p14:creationId xmlns:p14="http://schemas.microsoft.com/office/powerpoint/2010/main" val="367787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85750" y="1752600"/>
          <a:ext cx="6631517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9" y="435678"/>
            <a:ext cx="6119981" cy="762000"/>
          </a:xfrm>
        </p:spPr>
        <p:txBody>
          <a:bodyPr/>
          <a:lstStyle/>
          <a:p>
            <a:r>
              <a:rPr lang="en-US" dirty="0"/>
              <a:t>Cache Capacity Effects from Memory Mountain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304800"/>
            <a:ext cx="17863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dirty="0">
                <a:latin typeface="Calibri" panose="020F0502020204030204" pitchFamily="34" charset="0"/>
              </a:rPr>
              <a:t>Core i7 </a:t>
            </a:r>
            <a:r>
              <a:rPr lang="en-US" sz="1800" dirty="0" err="1">
                <a:latin typeface="Calibri" panose="020F0502020204030204" pitchFamily="34" charset="0"/>
              </a:rPr>
              <a:t>Haswell</a:t>
            </a:r>
            <a:endParaRPr lang="en-US" sz="1800" dirty="0">
              <a:latin typeface="Calibri" panose="020F0502020204030204" pitchFamily="34" charset="0"/>
            </a:endParaRP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3.1 GHz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32 KB L1 d-cache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256 KB L2 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8 MB L3 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64 B block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95067" y="3733800"/>
            <a:ext cx="160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Slice through memory mountain with stride=8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638800" y="1905000"/>
            <a:ext cx="838200" cy="3657600"/>
          </a:xfrm>
          <a:prstGeom prst="rect">
            <a:avLst/>
          </a:prstGeom>
          <a:noFill/>
          <a:ln w="28575" cap="flat" cmpd="sng" algn="ctr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Calibri" pitchFamily="34" charset="0"/>
              </a:rPr>
              <a:t>L1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4572000" y="1905000"/>
            <a:ext cx="1066800" cy="3657600"/>
          </a:xfrm>
          <a:prstGeom prst="rect">
            <a:avLst/>
          </a:prstGeom>
          <a:noFill/>
          <a:ln w="28575" cap="flat" cmpd="sng" algn="ctr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Calibri" pitchFamily="34" charset="0"/>
              </a:rPr>
              <a:t>L2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2743200" y="1905000"/>
            <a:ext cx="1828800" cy="3657600"/>
          </a:xfrm>
          <a:prstGeom prst="rect">
            <a:avLst/>
          </a:prstGeom>
          <a:noFill/>
          <a:ln w="28575" cap="flat" cmpd="sng" algn="ctr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Calibri" pitchFamily="34" charset="0"/>
              </a:rPr>
              <a:t>L3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1219200" y="1905000"/>
            <a:ext cx="1524000" cy="3657600"/>
          </a:xfrm>
          <a:prstGeom prst="rect">
            <a:avLst/>
          </a:prstGeom>
          <a:noFill/>
          <a:ln w="28575" cap="flat" cmpd="sng" algn="ctr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Calibri" pitchFamily="34" charset="0"/>
              </a:rPr>
              <a:t>Main Memory</a:t>
            </a:r>
          </a:p>
        </p:txBody>
      </p:sp>
    </p:spTree>
    <p:extLst>
      <p:ext uri="{BB962C8B-B14F-4D97-AF65-F5344CB8AC3E}">
        <p14:creationId xmlns:p14="http://schemas.microsoft.com/office/powerpoint/2010/main" val="23106840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/>
          <p:cNvGraphicFramePr>
            <a:graphicFrameLocks/>
          </p:cNvGraphicFramePr>
          <p:nvPr/>
        </p:nvGraphicFramePr>
        <p:xfrm>
          <a:off x="255973" y="1600200"/>
          <a:ext cx="8616950" cy="497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9" y="435678"/>
            <a:ext cx="6119981" cy="762000"/>
          </a:xfrm>
        </p:spPr>
        <p:txBody>
          <a:bodyPr/>
          <a:lstStyle/>
          <a:p>
            <a:r>
              <a:rPr lang="en-US" dirty="0"/>
              <a:t>Cache Block Size Effects from Memory Mountain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304800"/>
            <a:ext cx="17863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dirty="0">
                <a:latin typeface="Calibri" panose="020F0502020204030204" pitchFamily="34" charset="0"/>
              </a:rPr>
              <a:t>Core i7 </a:t>
            </a:r>
            <a:r>
              <a:rPr lang="en-US" sz="1800" dirty="0" err="1">
                <a:latin typeface="Calibri" panose="020F0502020204030204" pitchFamily="34" charset="0"/>
              </a:rPr>
              <a:t>Haswell</a:t>
            </a:r>
            <a:endParaRPr lang="en-US" sz="1800" dirty="0">
              <a:latin typeface="Calibri" panose="020F0502020204030204" pitchFamily="34" charset="0"/>
            </a:endParaRP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2.26 GHz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32 KB L1 d-cache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256 KB L2 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8 MB L3 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64 B block size</a:t>
            </a:r>
          </a:p>
        </p:txBody>
      </p:sp>
      <p:sp>
        <p:nvSpPr>
          <p:cNvPr id="5" name="Left Brace 4"/>
          <p:cNvSpPr/>
          <p:nvPr/>
        </p:nvSpPr>
        <p:spPr bwMode="auto">
          <a:xfrm rot="5400000">
            <a:off x="5981700" y="3431695"/>
            <a:ext cx="381000" cy="2133600"/>
          </a:xfrm>
          <a:prstGeom prst="leftBrace">
            <a:avLst/>
          </a:prstGeom>
          <a:noFill/>
          <a:ln w="25400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 bwMode="auto">
          <a:xfrm rot="7430138">
            <a:off x="3293267" y="1512016"/>
            <a:ext cx="476443" cy="3816306"/>
          </a:xfrm>
          <a:prstGeom prst="leftBrace">
            <a:avLst/>
          </a:prstGeom>
          <a:noFill/>
          <a:ln w="25400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277496" y="2780268"/>
            <a:ext cx="1599304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Miss rate = s/8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3200" y="3786170"/>
            <a:ext cx="1586680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Miss rate =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0" y="6147937"/>
            <a:ext cx="896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Stride s</a:t>
            </a:r>
          </a:p>
        </p:txBody>
      </p:sp>
    </p:spTree>
    <p:extLst>
      <p:ext uri="{BB962C8B-B14F-4D97-AF65-F5344CB8AC3E}">
        <p14:creationId xmlns:p14="http://schemas.microsoft.com/office/powerpoint/2010/main" val="18837220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/>
          <p:cNvGraphicFramePr>
            <a:graphicFrameLocks/>
          </p:cNvGraphicFramePr>
          <p:nvPr/>
        </p:nvGraphicFramePr>
        <p:xfrm>
          <a:off x="255973" y="1600200"/>
          <a:ext cx="8616950" cy="497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9" y="435678"/>
            <a:ext cx="6119981" cy="762000"/>
          </a:xfrm>
        </p:spPr>
        <p:txBody>
          <a:bodyPr/>
          <a:lstStyle/>
          <a:p>
            <a:r>
              <a:rPr lang="en-US" dirty="0"/>
              <a:t>Modeling Block Size Effects from Memory Mountain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304800"/>
            <a:ext cx="17863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dirty="0">
                <a:latin typeface="Calibri" panose="020F0502020204030204" pitchFamily="34" charset="0"/>
              </a:rPr>
              <a:t>Core i7 </a:t>
            </a:r>
            <a:r>
              <a:rPr lang="en-US" sz="1800" dirty="0" err="1">
                <a:latin typeface="Calibri" panose="020F0502020204030204" pitchFamily="34" charset="0"/>
              </a:rPr>
              <a:t>Haswell</a:t>
            </a:r>
            <a:endParaRPr lang="en-US" sz="1800" dirty="0">
              <a:latin typeface="Calibri" panose="020F0502020204030204" pitchFamily="34" charset="0"/>
            </a:endParaRP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2.26 GHz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32 KB L1 d-cache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256 KB L2 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8 MB L3 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64 B block size</a:t>
            </a:r>
          </a:p>
        </p:txBody>
      </p:sp>
      <p:sp>
        <p:nvSpPr>
          <p:cNvPr id="15" name="Left Brace 14"/>
          <p:cNvSpPr/>
          <p:nvPr/>
        </p:nvSpPr>
        <p:spPr bwMode="auto">
          <a:xfrm rot="7430138">
            <a:off x="3293267" y="1512016"/>
            <a:ext cx="476443" cy="3816306"/>
          </a:xfrm>
          <a:prstGeom prst="leftBrace">
            <a:avLst/>
          </a:prstGeom>
          <a:noFill/>
          <a:ln w="25400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733800" y="2286000"/>
          <a:ext cx="4765675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73500" imgH="939800" progId="Equation.3">
                  <p:embed/>
                </p:oleObj>
              </mc:Choice>
              <mc:Fallback>
                <p:oleObj name="Equation" r:id="rId3" imgW="3873500" imgH="939800" progId="Equation.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33800" y="2286000"/>
                        <a:ext cx="4765675" cy="1157288"/>
                      </a:xfrm>
                      <a:prstGeom prst="rect">
                        <a:avLst/>
                      </a:prstGeom>
                      <a:solidFill>
                        <a:srgbClr val="F6F5BD"/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20000" y="6147937"/>
            <a:ext cx="896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Stride s</a:t>
            </a:r>
          </a:p>
        </p:txBody>
      </p:sp>
    </p:spTree>
    <p:extLst>
      <p:ext uri="{BB962C8B-B14F-4D97-AF65-F5344CB8AC3E}">
        <p14:creationId xmlns:p14="http://schemas.microsoft.com/office/powerpoint/2010/main" val="10071425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Chart 24"/>
          <p:cNvGraphicFramePr>
            <a:graphicFrameLocks noGrp="1" noChangeAspect="1"/>
          </p:cNvGraphicFramePr>
          <p:nvPr/>
        </p:nvGraphicFramePr>
        <p:xfrm>
          <a:off x="285750" y="734568"/>
          <a:ext cx="8248650" cy="5609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1505298" y="1116425"/>
            <a:ext cx="1237902" cy="58477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i="1" dirty="0">
                <a:solidFill>
                  <a:srgbClr val="C00000"/>
                </a:solidFill>
              </a:rPr>
              <a:t>No prefetching</a:t>
            </a:r>
          </a:p>
        </p:txBody>
      </p:sp>
      <p:cxnSp>
        <p:nvCxnSpPr>
          <p:cNvPr id="68" name="Straight Arrow Connector 67"/>
          <p:cNvCxnSpPr/>
          <p:nvPr/>
        </p:nvCxnSpPr>
        <p:spPr bwMode="auto">
          <a:xfrm>
            <a:off x="2743200" y="1295400"/>
            <a:ext cx="704502" cy="137160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9" y="435678"/>
            <a:ext cx="4824581" cy="762000"/>
          </a:xfrm>
          <a:solidFill>
            <a:srgbClr val="FFFFFF"/>
          </a:solidFill>
        </p:spPr>
        <p:txBody>
          <a:bodyPr/>
          <a:lstStyle/>
          <a:p>
            <a:r>
              <a:rPr lang="en-US" dirty="0"/>
              <a:t>2008 Memory Mountain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304800"/>
            <a:ext cx="1787669" cy="147732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800" dirty="0">
                <a:latin typeface="Calibri" panose="020F0502020204030204" pitchFamily="34" charset="0"/>
              </a:rPr>
              <a:t>Core 2 Duo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2.4 GHz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32 KB L1 d-cache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6MB L2 cache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</a:rPr>
              <a:t>64 B block size</a:t>
            </a:r>
          </a:p>
        </p:txBody>
      </p:sp>
    </p:spTree>
    <p:extLst>
      <p:ext uri="{BB962C8B-B14F-4D97-AF65-F5344CB8AC3E}">
        <p14:creationId xmlns:p14="http://schemas.microsoft.com/office/powerpoint/2010/main" val="42733518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00-templat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00-template</Template>
  <TotalTime>15988</TotalTime>
  <Words>5664</Words>
  <Application>Microsoft Office PowerPoint</Application>
  <PresentationFormat>On-screen Show (4:3)</PresentationFormat>
  <Paragraphs>1454</Paragraphs>
  <Slides>67</Slides>
  <Notes>48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9" baseType="lpstr">
      <vt:lpstr>Menlo-Regular</vt:lpstr>
      <vt:lpstr>Arial</vt:lpstr>
      <vt:lpstr>Arial Narrow</vt:lpstr>
      <vt:lpstr>Calibri</vt:lpstr>
      <vt:lpstr>Comic Sans MS</vt:lpstr>
      <vt:lpstr>Courier New</vt:lpstr>
      <vt:lpstr>Helvetica</vt:lpstr>
      <vt:lpstr>Times New Roman</vt:lpstr>
      <vt:lpstr>Wingdings</vt:lpstr>
      <vt:lpstr>Wingdings 2</vt:lpstr>
      <vt:lpstr>00-template</vt:lpstr>
      <vt:lpstr>Equation</vt:lpstr>
      <vt:lpstr>Cache Memories  Introduction to Computer Systems </vt:lpstr>
      <vt:lpstr>Today</vt:lpstr>
      <vt:lpstr>Recall: Locality</vt:lpstr>
      <vt:lpstr>Recall: Memory  Hierarchy</vt:lpstr>
      <vt:lpstr>Recall: General Cache Concepts</vt:lpstr>
      <vt:lpstr>General Cache Concepts: Hit</vt:lpstr>
      <vt:lpstr>General Cache Concepts: Miss</vt:lpstr>
      <vt:lpstr> Recall: General Caching Concepts:  3 Types of Cache Misses</vt:lpstr>
      <vt:lpstr>Cache Memories</vt:lpstr>
      <vt:lpstr>Example: Direct Mapped Cache (E = 1)</vt:lpstr>
      <vt:lpstr>Example: Direct Mapped Cache (E = 1)</vt:lpstr>
      <vt:lpstr>Example: Direct Mapped Cache (E = 1)</vt:lpstr>
      <vt:lpstr>Direct-Mapped Cache Simulation</vt:lpstr>
      <vt:lpstr>E-way Set Associative Cache (Here: E = 2)</vt:lpstr>
      <vt:lpstr>E-way Set Associative Cache (Here: E = 2)</vt:lpstr>
      <vt:lpstr>E-way Set Associative Cache (Here: E = 2)</vt:lpstr>
      <vt:lpstr>2-Way Set Associative Cache Simulation</vt:lpstr>
      <vt:lpstr>General Cache Organization (S, E, B)</vt:lpstr>
      <vt:lpstr>Can S/E/B not be the power of 2s? </vt:lpstr>
      <vt:lpstr>Cache Read</vt:lpstr>
      <vt:lpstr>What about writes?</vt:lpstr>
      <vt:lpstr>Practical Write-back Write-allocate</vt:lpstr>
      <vt:lpstr>Why Index Using Middle Bits? </vt:lpstr>
      <vt:lpstr>Illustration of Indexing Approaches</vt:lpstr>
      <vt:lpstr>Middle Bit Indexing</vt:lpstr>
      <vt:lpstr>High Bit Indexing</vt:lpstr>
      <vt:lpstr>Intel Core i7 Cache Hierarchy</vt:lpstr>
      <vt:lpstr>Example: Core i7 L1 Data Cache</vt:lpstr>
      <vt:lpstr>Example: Core i7 L1 Data Cache</vt:lpstr>
      <vt:lpstr>Cache Performance Metrics</vt:lpstr>
      <vt:lpstr>Let’s think about those numbers</vt:lpstr>
      <vt:lpstr>Writing Cache Friendly Code</vt:lpstr>
      <vt:lpstr>Today</vt:lpstr>
      <vt:lpstr>The Memory Mountain</vt:lpstr>
      <vt:lpstr>Memory Mountain Test Function</vt:lpstr>
      <vt:lpstr>Memory Mountain Test Function</vt:lpstr>
      <vt:lpstr>The Memory Mountain</vt:lpstr>
      <vt:lpstr>Today</vt:lpstr>
      <vt:lpstr>Matrix Multiplication Example</vt:lpstr>
      <vt:lpstr>Miss Rate Analysis for Matrix Multiply</vt:lpstr>
      <vt:lpstr>Layout of C Arrays in Memory (review)</vt:lpstr>
      <vt:lpstr>Matrix Multiplication (ijk)</vt:lpstr>
      <vt:lpstr>Matrix Multiplication (jik)</vt:lpstr>
      <vt:lpstr>Matrix Multiplication (kij)</vt:lpstr>
      <vt:lpstr>Matrix Multiplication (ikj)</vt:lpstr>
      <vt:lpstr>Matrix Multiplication (jki)</vt:lpstr>
      <vt:lpstr>Matrix Multiplication (kji)</vt:lpstr>
      <vt:lpstr>Summary of Matrix Multiplication</vt:lpstr>
      <vt:lpstr>Core i7 Matrix Multiply Performance</vt:lpstr>
      <vt:lpstr>Today</vt:lpstr>
      <vt:lpstr>Example: Matrix Multiplication</vt:lpstr>
      <vt:lpstr>Cache Miss Analysis</vt:lpstr>
      <vt:lpstr>Cache Miss Analysis</vt:lpstr>
      <vt:lpstr>Blocked Matrix Multiplication</vt:lpstr>
      <vt:lpstr>Cache Miss Analysis</vt:lpstr>
      <vt:lpstr>Cache Miss Analysis</vt:lpstr>
      <vt:lpstr>Blocking Summary</vt:lpstr>
      <vt:lpstr>Cache Summary </vt:lpstr>
      <vt:lpstr>Supplemental slides</vt:lpstr>
      <vt:lpstr>Recall: Modern CPU Design</vt:lpstr>
      <vt:lpstr>What it Really Looks Like</vt:lpstr>
      <vt:lpstr>What it Really Looks Like (Cont.)</vt:lpstr>
      <vt:lpstr>The Memory Mountain</vt:lpstr>
      <vt:lpstr>Cache Capacity Effects from Memory Mountain</vt:lpstr>
      <vt:lpstr>Cache Block Size Effects from Memory Mountain</vt:lpstr>
      <vt:lpstr>Modeling Block Size Effects from Memory Mountain</vt:lpstr>
      <vt:lpstr>2008 Memory Mountain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DIYU ZHOU</cp:lastModifiedBy>
  <cp:revision>588</cp:revision>
  <cp:lastPrinted>2012-10-02T07:07:18Z</cp:lastPrinted>
  <dcterms:created xsi:type="dcterms:W3CDTF">2012-10-02T17:26:51Z</dcterms:created>
  <dcterms:modified xsi:type="dcterms:W3CDTF">2026-10-29T04:59:34Z</dcterms:modified>
</cp:coreProperties>
</file>